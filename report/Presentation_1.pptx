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5" r:id="rId1"/>
  </p:sldMasterIdLst>
  <p:notesMasterIdLst>
    <p:notesMasterId r:id="rId56"/>
  </p:notesMasterIdLst>
  <p:sldIdLst>
    <p:sldId id="256" r:id="rId2"/>
    <p:sldId id="361" r:id="rId3"/>
    <p:sldId id="343" r:id="rId4"/>
    <p:sldId id="260" r:id="rId5"/>
    <p:sldId id="261" r:id="rId6"/>
    <p:sldId id="339" r:id="rId7"/>
    <p:sldId id="273" r:id="rId8"/>
    <p:sldId id="362" r:id="rId9"/>
    <p:sldId id="363" r:id="rId10"/>
    <p:sldId id="364" r:id="rId11"/>
    <p:sldId id="345" r:id="rId12"/>
    <p:sldId id="351" r:id="rId13"/>
    <p:sldId id="353" r:id="rId14"/>
    <p:sldId id="354" r:id="rId15"/>
    <p:sldId id="355" r:id="rId16"/>
    <p:sldId id="356" r:id="rId17"/>
    <p:sldId id="349" r:id="rId18"/>
    <p:sldId id="365" r:id="rId19"/>
    <p:sldId id="366" r:id="rId20"/>
    <p:sldId id="367" r:id="rId21"/>
    <p:sldId id="368" r:id="rId22"/>
    <p:sldId id="369" r:id="rId23"/>
    <p:sldId id="370" r:id="rId24"/>
    <p:sldId id="265" r:id="rId25"/>
    <p:sldId id="313" r:id="rId26"/>
    <p:sldId id="266" r:id="rId27"/>
    <p:sldId id="262" r:id="rId28"/>
    <p:sldId id="267" r:id="rId29"/>
    <p:sldId id="323" r:id="rId30"/>
    <p:sldId id="269" r:id="rId31"/>
    <p:sldId id="315" r:id="rId32"/>
    <p:sldId id="316" r:id="rId33"/>
    <p:sldId id="327" r:id="rId34"/>
    <p:sldId id="321" r:id="rId35"/>
    <p:sldId id="322" r:id="rId36"/>
    <p:sldId id="325" r:id="rId37"/>
    <p:sldId id="326" r:id="rId38"/>
    <p:sldId id="329" r:id="rId39"/>
    <p:sldId id="330" r:id="rId40"/>
    <p:sldId id="331" r:id="rId41"/>
    <p:sldId id="319" r:id="rId42"/>
    <p:sldId id="336" r:id="rId43"/>
    <p:sldId id="318" r:id="rId44"/>
    <p:sldId id="317" r:id="rId45"/>
    <p:sldId id="334" r:id="rId46"/>
    <p:sldId id="335" r:id="rId47"/>
    <p:sldId id="284" r:id="rId48"/>
    <p:sldId id="320" r:id="rId49"/>
    <p:sldId id="358" r:id="rId50"/>
    <p:sldId id="357" r:id="rId51"/>
    <p:sldId id="359" r:id="rId52"/>
    <p:sldId id="371" r:id="rId53"/>
    <p:sldId id="360" r:id="rId54"/>
    <p:sldId id="314"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8A1D"/>
    <a:srgbClr val="3F5A42"/>
    <a:srgbClr val="1B667A"/>
    <a:srgbClr val="E2776F"/>
    <a:srgbClr val="9DA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A0A24B-535D-4496-85AC-89E9A91CF1F9}">
  <a:tblStyle styleId="{8BA0A24B-535D-4496-85AC-89E9A91CF1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94" autoAdjust="0"/>
    <p:restoredTop sz="94660"/>
  </p:normalViewPr>
  <p:slideViewPr>
    <p:cSldViewPr snapToGrid="0">
      <p:cViewPr varScale="1">
        <p:scale>
          <a:sx n="93" d="100"/>
          <a:sy n="93" d="100"/>
        </p:scale>
        <p:origin x="342"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54A31B03-9A2E-4164-8CF7-F6512CFC91CD}">
      <dgm:prSet phldrT="[Text]" custT="1"/>
      <dgm:spPr/>
      <dgm:t>
        <a:bodyPr/>
        <a:lstStyle/>
        <a:p>
          <a:r>
            <a:rPr lang="en-US" sz="2000" b="0" dirty="0">
              <a:solidFill>
                <a:schemeClr val="bg2"/>
              </a:solidFill>
              <a:latin typeface="Poppins" panose="00000500000000000000" pitchFamily="2" charset="0"/>
              <a:cs typeface="Poppins" panose="00000500000000000000" pitchFamily="2" charset="0"/>
            </a:rPr>
            <a:t>Electric Vehicle Technology</a:t>
          </a:r>
          <a:endParaRPr lang="en-IN" sz="2000" b="0" dirty="0">
            <a:solidFill>
              <a:schemeClr val="bg2"/>
            </a:solidFill>
            <a:latin typeface="Poppins" panose="00000500000000000000" pitchFamily="2" charset="0"/>
            <a:cs typeface="Poppins" panose="00000500000000000000" pitchFamily="2" charset="0"/>
          </a:endParaRPr>
        </a:p>
      </dgm:t>
    </dgm:pt>
    <dgm:pt modelId="{E9A75BB2-789E-4C50-9A05-66D230CD8F7C}" type="parTrans" cxnId="{05B866A6-020F-4ED0-8FE7-948855EC252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72FCF3EA-3334-4C03-BBE3-2B460412FD4B}" type="sibTrans" cxnId="{05B866A6-020F-4ED0-8FE7-948855EC252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404A4599-7BCE-464E-8A78-AE35EAE7A337}" type="asst">
      <dgm:prSet phldrT="[Text]" custT="1"/>
      <dgm:spPr/>
      <dgm:t>
        <a:bodyPr/>
        <a:lstStyle/>
        <a:p>
          <a:r>
            <a:rPr lang="en-US" sz="2000" b="0" dirty="0">
              <a:solidFill>
                <a:schemeClr val="tx2"/>
              </a:solidFill>
              <a:latin typeface="Poppins" panose="00000500000000000000" pitchFamily="2" charset="0"/>
              <a:cs typeface="Poppins" panose="00000500000000000000" pitchFamily="2" charset="0"/>
            </a:rPr>
            <a:t>Electric Motor Drive System</a:t>
          </a:r>
          <a:endParaRPr lang="en-IN" sz="2000" b="0" dirty="0">
            <a:solidFill>
              <a:schemeClr val="tx2"/>
            </a:solidFill>
            <a:latin typeface="Poppins" panose="00000500000000000000" pitchFamily="2" charset="0"/>
            <a:cs typeface="Poppins" panose="00000500000000000000" pitchFamily="2" charset="0"/>
          </a:endParaRPr>
        </a:p>
      </dgm:t>
    </dgm:pt>
    <dgm:pt modelId="{E18580FE-F12B-4770-A890-8795ED5B8E96}" type="parTrans" cxnId="{4E61C210-0B65-463A-86CD-B974971BC89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9F709613-EC66-4EF7-BF23-6E5DC7BD3A63}" type="sibTrans" cxnId="{4E61C210-0B65-463A-86CD-B974971BC89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2EBBC1EE-0165-4FB0-8431-A9791C633775}"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DC/ BLDC Motor</a:t>
          </a:r>
          <a:endParaRPr lang="en-IN" sz="2000" b="0" dirty="0">
            <a:solidFill>
              <a:schemeClr val="bg1"/>
            </a:solidFill>
            <a:latin typeface="Poppins" panose="00000500000000000000" pitchFamily="2" charset="0"/>
            <a:cs typeface="Poppins" panose="00000500000000000000" pitchFamily="2" charset="0"/>
          </a:endParaRPr>
        </a:p>
      </dgm:t>
    </dgm:pt>
    <dgm:pt modelId="{5C72520A-0A8B-4D65-AE0B-88C670D9AD7F}" type="parTrans" cxnId="{C950EF7B-2CF1-4429-A4DA-2BD795983026}">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BC646BA0-EEC0-4786-B9DC-267EB329018E}" type="sibTrans" cxnId="{C950EF7B-2CF1-4429-A4DA-2BD795983026}">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0D3FC788-5955-4205-A24E-D456A3BBB652}"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Induction Motor</a:t>
          </a:r>
          <a:endParaRPr lang="en-IN" sz="2000" b="0" dirty="0">
            <a:solidFill>
              <a:schemeClr val="bg1"/>
            </a:solidFill>
            <a:latin typeface="Poppins" panose="00000500000000000000" pitchFamily="2" charset="0"/>
            <a:cs typeface="Poppins" panose="00000500000000000000" pitchFamily="2" charset="0"/>
          </a:endParaRPr>
        </a:p>
      </dgm:t>
    </dgm:pt>
    <dgm:pt modelId="{0A6A48EB-8070-4929-BCC6-8DE78423E7D5}" type="parTrans" cxnId="{6F96043B-7F86-4FCD-AB49-D7BB20B28838}">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2A4AF2D4-87F4-4381-BABA-5D1A0DB78028}" type="sibTrans" cxnId="{6F96043B-7F86-4FCD-AB49-D7BB20B28838}">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0E4333EF-DFB6-4A91-9AB5-A5D00F31C2DC}"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PMSM</a:t>
          </a:r>
          <a:endParaRPr lang="en-IN" sz="2000" b="0" dirty="0">
            <a:solidFill>
              <a:schemeClr val="bg1"/>
            </a:solidFill>
            <a:latin typeface="Poppins" panose="00000500000000000000" pitchFamily="2" charset="0"/>
            <a:cs typeface="Poppins" panose="00000500000000000000" pitchFamily="2" charset="0"/>
          </a:endParaRPr>
        </a:p>
      </dgm:t>
    </dgm:pt>
    <dgm:pt modelId="{4F8AADB1-0941-4B4C-9594-29F7A899A2CE}" type="parTrans" cxnId="{D6DA4B41-03CF-462A-9C9C-DD1BEEEE7919}">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C156A61A-8E66-4DD6-82F8-6C717483ADBB}" type="sibTrans" cxnId="{D6DA4B41-03CF-462A-9C9C-DD1BEEEE7919}">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E1129103-3EFA-4370-A55A-92BA038C7F57}" type="asst">
      <dgm:prSet phldrT="[Text]" custT="1"/>
      <dgm:spPr/>
      <dgm:t>
        <a:bodyPr/>
        <a:lstStyle/>
        <a:p>
          <a:r>
            <a:rPr lang="en-US" sz="2000" b="0" dirty="0">
              <a:solidFill>
                <a:schemeClr val="bg2"/>
              </a:solidFill>
              <a:latin typeface="Poppins" panose="00000500000000000000" pitchFamily="2" charset="0"/>
              <a:cs typeface="Poppins" panose="00000500000000000000" pitchFamily="2" charset="0"/>
            </a:rPr>
            <a:t>Motor Control Algorithms</a:t>
          </a:r>
          <a:endParaRPr lang="en-IN" sz="2000" b="0" dirty="0">
            <a:solidFill>
              <a:schemeClr val="bg2"/>
            </a:solidFill>
            <a:latin typeface="Poppins" panose="00000500000000000000" pitchFamily="2" charset="0"/>
            <a:cs typeface="Poppins" panose="00000500000000000000" pitchFamily="2" charset="0"/>
          </a:endParaRPr>
        </a:p>
      </dgm:t>
    </dgm:pt>
    <dgm:pt modelId="{D55936B0-65EE-496E-8E98-0FB1E962067B}" type="parTrans" cxnId="{9E5C1AD9-FCD4-4E0A-B2BE-A5611CB9792B}">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393EC63D-BAEF-47AC-8786-A350EBF64541}" type="sibTrans" cxnId="{9E5C1AD9-FCD4-4E0A-B2BE-A5611CB9792B}">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9BE275C6-D93A-4698-A49E-9765934A2027}" type="asst">
      <dgm:prSet phldrT="[Text]" custT="1"/>
      <dgm:spPr/>
      <dgm:t>
        <a:bodyPr/>
        <a:lstStyle/>
        <a:p>
          <a:r>
            <a:rPr lang="en-US" sz="2000" b="0" dirty="0">
              <a:solidFill>
                <a:schemeClr val="tx2"/>
              </a:solidFill>
              <a:latin typeface="Poppins" panose="00000500000000000000" pitchFamily="2" charset="0"/>
              <a:cs typeface="Poppins" panose="00000500000000000000" pitchFamily="2" charset="0"/>
            </a:rPr>
            <a:t>Regenerative Braking System</a:t>
          </a:r>
          <a:endParaRPr lang="en-IN" sz="2000" b="0" dirty="0">
            <a:solidFill>
              <a:schemeClr val="tx2"/>
            </a:solidFill>
            <a:latin typeface="Poppins" panose="00000500000000000000" pitchFamily="2" charset="0"/>
            <a:cs typeface="Poppins" panose="00000500000000000000" pitchFamily="2" charset="0"/>
          </a:endParaRPr>
        </a:p>
      </dgm:t>
    </dgm:pt>
    <dgm:pt modelId="{0835B233-48EE-4B13-BF94-920D8CB0EFA0}" type="parTrans" cxnId="{AF4CC191-4973-4CE9-B0CA-7061FB3F2823}">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FC2CF026-B13A-4D03-81BF-98C42A93A7E8}" type="sibTrans" cxnId="{AF4CC191-4973-4CE9-B0CA-7061FB3F2823}">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EA427ECC-29C6-41B4-8DA2-2BCEA4A7F3D3}" type="asst">
      <dgm:prSet phldrT="[Text]" custT="1"/>
      <dgm:spPr/>
      <dgm:t>
        <a:bodyPr/>
        <a:lstStyle/>
        <a:p>
          <a:r>
            <a:rPr lang="en-US" sz="2000" b="0" dirty="0">
              <a:solidFill>
                <a:schemeClr val="bg2"/>
              </a:solidFill>
              <a:latin typeface="Poppins" panose="00000500000000000000" pitchFamily="2" charset="0"/>
              <a:cs typeface="Poppins" panose="00000500000000000000" pitchFamily="2" charset="0"/>
            </a:rPr>
            <a:t>Vehicle Dynamics in EV’s</a:t>
          </a:r>
          <a:endParaRPr lang="en-IN" sz="2000" b="0" dirty="0">
            <a:solidFill>
              <a:schemeClr val="bg2"/>
            </a:solidFill>
            <a:latin typeface="Poppins" panose="00000500000000000000" pitchFamily="2" charset="0"/>
            <a:cs typeface="Poppins" panose="00000500000000000000" pitchFamily="2" charset="0"/>
          </a:endParaRPr>
        </a:p>
      </dgm:t>
    </dgm:pt>
    <dgm:pt modelId="{F0442485-C792-467B-B5A0-2DE573015CD8}" type="parTrans" cxnId="{7B4DED6E-28F8-43BD-AD39-0572C0270CD4}">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25E20EA8-94A9-4E39-8F28-FC4E68CD2C7A}" type="sibTrans" cxnId="{7B4DED6E-28F8-43BD-AD39-0572C0270CD4}">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F04B8707-26AF-4951-86AF-66AD0BF832A2}" type="pres">
      <dgm:prSet presAssocID="{4E61D26C-A76C-48A7-8DE8-B87A060D5519}" presName="Name0" presStyleCnt="0">
        <dgm:presLayoutVars>
          <dgm:dir/>
          <dgm:animLvl val="lvl"/>
          <dgm:resizeHandles val="exact"/>
        </dgm:presLayoutVars>
      </dgm:prSet>
      <dgm:spPr/>
    </dgm:pt>
    <dgm:pt modelId="{CD9A6037-C808-4B9F-987B-B5B3CC43D7B0}" type="pres">
      <dgm:prSet presAssocID="{EA427ECC-29C6-41B4-8DA2-2BCEA4A7F3D3}" presName="boxAndChildren" presStyleCnt="0"/>
      <dgm:spPr/>
    </dgm:pt>
    <dgm:pt modelId="{A1A55907-1020-47CA-A036-0558458B8DFD}" type="pres">
      <dgm:prSet presAssocID="{EA427ECC-29C6-41B4-8DA2-2BCEA4A7F3D3}" presName="parentTextBox" presStyleLbl="asst0" presStyleIdx="0" presStyleCnt="4"/>
      <dgm:spPr/>
    </dgm:pt>
    <dgm:pt modelId="{29EC6251-EC82-460D-B1DB-A0BCC79AF4D9}" type="pres">
      <dgm:prSet presAssocID="{FC2CF026-B13A-4D03-81BF-98C42A93A7E8}" presName="sp" presStyleCnt="0"/>
      <dgm:spPr/>
    </dgm:pt>
    <dgm:pt modelId="{4799C66B-D516-4ECA-AF7D-726B15DE022B}" type="pres">
      <dgm:prSet presAssocID="{9BE275C6-D93A-4698-A49E-9765934A2027}" presName="arrowAndChildren" presStyleCnt="0"/>
      <dgm:spPr/>
    </dgm:pt>
    <dgm:pt modelId="{C4F3736B-4067-47AC-A7BB-BFE64843A969}" type="pres">
      <dgm:prSet presAssocID="{9BE275C6-D93A-4698-A49E-9765934A2027}" presName="parentTextArrow" presStyleLbl="asst0" presStyleIdx="1" presStyleCnt="4"/>
      <dgm:spPr/>
    </dgm:pt>
    <dgm:pt modelId="{8BAD4206-E724-445B-9CB7-24B7C70C0198}" type="pres">
      <dgm:prSet presAssocID="{393EC63D-BAEF-47AC-8786-A350EBF64541}" presName="sp" presStyleCnt="0"/>
      <dgm:spPr/>
    </dgm:pt>
    <dgm:pt modelId="{9B14560A-07EB-4B7D-9524-E471E9104A35}" type="pres">
      <dgm:prSet presAssocID="{E1129103-3EFA-4370-A55A-92BA038C7F57}" presName="arrowAndChildren" presStyleCnt="0"/>
      <dgm:spPr/>
    </dgm:pt>
    <dgm:pt modelId="{125BCB8C-5B04-4201-97AD-69D82EAA3AD4}" type="pres">
      <dgm:prSet presAssocID="{E1129103-3EFA-4370-A55A-92BA038C7F57}" presName="parentTextArrow" presStyleLbl="asst0" presStyleIdx="2" presStyleCnt="4"/>
      <dgm:spPr/>
    </dgm:pt>
    <dgm:pt modelId="{4FEBAA26-696D-4B16-B4E6-76DDE47A27F0}" type="pres">
      <dgm:prSet presAssocID="{9F709613-EC66-4EF7-BF23-6E5DC7BD3A63}" presName="sp" presStyleCnt="0"/>
      <dgm:spPr/>
    </dgm:pt>
    <dgm:pt modelId="{2946484B-259B-4048-B75D-2DD460CDD727}" type="pres">
      <dgm:prSet presAssocID="{404A4599-7BCE-464E-8A78-AE35EAE7A337}" presName="arrowAndChildren" presStyleCnt="0"/>
      <dgm:spPr/>
    </dgm:pt>
    <dgm:pt modelId="{93274DE2-7276-4E01-88CD-C0B0FAB2AD3F}" type="pres">
      <dgm:prSet presAssocID="{404A4599-7BCE-464E-8A78-AE35EAE7A337}" presName="parentTextArrow" presStyleLbl="asst0" presStyleIdx="2" presStyleCnt="4"/>
      <dgm:spPr/>
    </dgm:pt>
    <dgm:pt modelId="{5C738055-09DA-4D2C-96A7-D96B8EBF932D}" type="pres">
      <dgm:prSet presAssocID="{404A4599-7BCE-464E-8A78-AE35EAE7A337}" presName="arrow" presStyleLbl="asst0" presStyleIdx="3" presStyleCnt="4"/>
      <dgm:spPr/>
    </dgm:pt>
    <dgm:pt modelId="{E180E006-03DE-45F4-9211-3C976710777C}" type="pres">
      <dgm:prSet presAssocID="{404A4599-7BCE-464E-8A78-AE35EAE7A337}" presName="descendantArrow" presStyleCnt="0"/>
      <dgm:spPr/>
    </dgm:pt>
    <dgm:pt modelId="{45DD9A4F-6D5D-4820-8B23-72ED7DB8F83A}" type="pres">
      <dgm:prSet presAssocID="{2EBBC1EE-0165-4FB0-8431-A9791C633775}" presName="childTextArrow" presStyleLbl="fgAccFollowNode1" presStyleIdx="0" presStyleCnt="3">
        <dgm:presLayoutVars>
          <dgm:bulletEnabled val="1"/>
        </dgm:presLayoutVars>
      </dgm:prSet>
      <dgm:spPr/>
    </dgm:pt>
    <dgm:pt modelId="{89B9AD49-4422-4A3A-A851-0D2D0D82088F}" type="pres">
      <dgm:prSet presAssocID="{0D3FC788-5955-4205-A24E-D456A3BBB652}" presName="childTextArrow" presStyleLbl="fgAccFollowNode1" presStyleIdx="1" presStyleCnt="3">
        <dgm:presLayoutVars>
          <dgm:bulletEnabled val="1"/>
        </dgm:presLayoutVars>
      </dgm:prSet>
      <dgm:spPr/>
    </dgm:pt>
    <dgm:pt modelId="{834C6B78-0251-4ECE-8B5F-9DA085531AC0}" type="pres">
      <dgm:prSet presAssocID="{0E4333EF-DFB6-4A91-9AB5-A5D00F31C2DC}" presName="childTextArrow" presStyleLbl="fgAccFollowNode1" presStyleIdx="2" presStyleCnt="3">
        <dgm:presLayoutVars>
          <dgm:bulletEnabled val="1"/>
        </dgm:presLayoutVars>
      </dgm:prSet>
      <dgm:spPr/>
    </dgm:pt>
    <dgm:pt modelId="{86E9734E-D6DA-40DA-9658-ED941D58396B}" type="pres">
      <dgm:prSet presAssocID="{72FCF3EA-3334-4C03-BBE3-2B460412FD4B}" presName="sp" presStyleCnt="0"/>
      <dgm:spPr/>
    </dgm:pt>
    <dgm:pt modelId="{05354DF5-9D5A-472D-A54A-4D40BA38086E}" type="pres">
      <dgm:prSet presAssocID="{54A31B03-9A2E-4164-8CF7-F6512CFC91CD}" presName="arrowAndChildren" presStyleCnt="0"/>
      <dgm:spPr/>
    </dgm:pt>
    <dgm:pt modelId="{864D984C-EB1F-4210-9F87-F6D3DC5E38A7}" type="pres">
      <dgm:prSet presAssocID="{54A31B03-9A2E-4164-8CF7-F6512CFC91CD}" presName="parentTextArrow" presStyleLbl="node1" presStyleIdx="0" presStyleCnt="1"/>
      <dgm:spPr/>
    </dgm:pt>
  </dgm:ptLst>
  <dgm:cxnLst>
    <dgm:cxn modelId="{4E61C210-0B65-463A-86CD-B974971BC89E}" srcId="{4E61D26C-A76C-48A7-8DE8-B87A060D5519}" destId="{404A4599-7BCE-464E-8A78-AE35EAE7A337}" srcOrd="1" destOrd="0" parTransId="{E18580FE-F12B-4770-A890-8795ED5B8E96}" sibTransId="{9F709613-EC66-4EF7-BF23-6E5DC7BD3A63}"/>
    <dgm:cxn modelId="{F3B8ED11-9D11-486C-88BD-D7960FC9F181}" type="presOf" srcId="{2EBBC1EE-0165-4FB0-8431-A9791C633775}" destId="{45DD9A4F-6D5D-4820-8B23-72ED7DB8F83A}" srcOrd="0" destOrd="0" presId="urn:microsoft.com/office/officeart/2005/8/layout/process4"/>
    <dgm:cxn modelId="{91FF2F26-3138-4035-A733-ACDE84CE62EC}" type="presOf" srcId="{0E4333EF-DFB6-4A91-9AB5-A5D00F31C2DC}" destId="{834C6B78-0251-4ECE-8B5F-9DA085531AC0}" srcOrd="0" destOrd="0" presId="urn:microsoft.com/office/officeart/2005/8/layout/process4"/>
    <dgm:cxn modelId="{0E542433-03D2-47B1-BE2A-F1133629B1FC}" type="presOf" srcId="{54A31B03-9A2E-4164-8CF7-F6512CFC91CD}" destId="{864D984C-EB1F-4210-9F87-F6D3DC5E38A7}" srcOrd="0" destOrd="0" presId="urn:microsoft.com/office/officeart/2005/8/layout/process4"/>
    <dgm:cxn modelId="{9B551639-B4A4-4435-93B3-B1A9B8CD3B32}" type="presOf" srcId="{EA427ECC-29C6-41B4-8DA2-2BCEA4A7F3D3}" destId="{A1A55907-1020-47CA-A036-0558458B8DFD}" srcOrd="0" destOrd="0" presId="urn:microsoft.com/office/officeart/2005/8/layout/process4"/>
    <dgm:cxn modelId="{6F96043B-7F86-4FCD-AB49-D7BB20B28838}" srcId="{404A4599-7BCE-464E-8A78-AE35EAE7A337}" destId="{0D3FC788-5955-4205-A24E-D456A3BBB652}" srcOrd="1" destOrd="0" parTransId="{0A6A48EB-8070-4929-BCC6-8DE78423E7D5}" sibTransId="{2A4AF2D4-87F4-4381-BABA-5D1A0DB78028}"/>
    <dgm:cxn modelId="{EFA8BF5F-1C60-424C-BEB3-D7DA1A7020C5}" type="presOf" srcId="{404A4599-7BCE-464E-8A78-AE35EAE7A337}" destId="{5C738055-09DA-4D2C-96A7-D96B8EBF932D}" srcOrd="1" destOrd="0" presId="urn:microsoft.com/office/officeart/2005/8/layout/process4"/>
    <dgm:cxn modelId="{D6DA4B41-03CF-462A-9C9C-DD1BEEEE7919}" srcId="{404A4599-7BCE-464E-8A78-AE35EAE7A337}" destId="{0E4333EF-DFB6-4A91-9AB5-A5D00F31C2DC}" srcOrd="2" destOrd="0" parTransId="{4F8AADB1-0941-4B4C-9594-29F7A899A2CE}" sibTransId="{C156A61A-8E66-4DD6-82F8-6C717483ADBB}"/>
    <dgm:cxn modelId="{3F20014A-C26F-49CE-B6BB-8AA0913F8DE0}" type="presOf" srcId="{9BE275C6-D93A-4698-A49E-9765934A2027}" destId="{C4F3736B-4067-47AC-A7BB-BFE64843A969}" srcOrd="0" destOrd="0" presId="urn:microsoft.com/office/officeart/2005/8/layout/process4"/>
    <dgm:cxn modelId="{7B4DED6E-28F8-43BD-AD39-0572C0270CD4}" srcId="{4E61D26C-A76C-48A7-8DE8-B87A060D5519}" destId="{EA427ECC-29C6-41B4-8DA2-2BCEA4A7F3D3}" srcOrd="4" destOrd="0" parTransId="{F0442485-C792-467B-B5A0-2DE573015CD8}" sibTransId="{25E20EA8-94A9-4E39-8F28-FC4E68CD2C7A}"/>
    <dgm:cxn modelId="{F56FEA76-091C-4962-8AE6-06FAF3BC34D7}" type="presOf" srcId="{0D3FC788-5955-4205-A24E-D456A3BBB652}" destId="{89B9AD49-4422-4A3A-A851-0D2D0D82088F}" srcOrd="0" destOrd="0" presId="urn:microsoft.com/office/officeart/2005/8/layout/process4"/>
    <dgm:cxn modelId="{C950EF7B-2CF1-4429-A4DA-2BD795983026}" srcId="{404A4599-7BCE-464E-8A78-AE35EAE7A337}" destId="{2EBBC1EE-0165-4FB0-8431-A9791C633775}" srcOrd="0" destOrd="0" parTransId="{5C72520A-0A8B-4D65-AE0B-88C670D9AD7F}" sibTransId="{BC646BA0-EEC0-4786-B9DC-267EB329018E}"/>
    <dgm:cxn modelId="{AF4CC191-4973-4CE9-B0CA-7061FB3F2823}" srcId="{4E61D26C-A76C-48A7-8DE8-B87A060D5519}" destId="{9BE275C6-D93A-4698-A49E-9765934A2027}" srcOrd="3" destOrd="0" parTransId="{0835B233-48EE-4B13-BF94-920D8CB0EFA0}" sibTransId="{FC2CF026-B13A-4D03-81BF-98C42A93A7E8}"/>
    <dgm:cxn modelId="{70B1E692-EF51-4115-9E0A-4C466508177B}" type="presOf" srcId="{404A4599-7BCE-464E-8A78-AE35EAE7A337}" destId="{93274DE2-7276-4E01-88CD-C0B0FAB2AD3F}" srcOrd="0" destOrd="0" presId="urn:microsoft.com/office/officeart/2005/8/layout/process4"/>
    <dgm:cxn modelId="{05B866A6-020F-4ED0-8FE7-948855EC252E}" srcId="{4E61D26C-A76C-48A7-8DE8-B87A060D5519}" destId="{54A31B03-9A2E-4164-8CF7-F6512CFC91CD}" srcOrd="0" destOrd="0" parTransId="{E9A75BB2-789E-4C50-9A05-66D230CD8F7C}" sibTransId="{72FCF3EA-3334-4C03-BBE3-2B460412FD4B}"/>
    <dgm:cxn modelId="{A11A25C5-35CE-4F42-97DF-2A73D2126AD2}" type="presOf" srcId="{4E61D26C-A76C-48A7-8DE8-B87A060D5519}" destId="{F04B8707-26AF-4951-86AF-66AD0BF832A2}" srcOrd="0" destOrd="0" presId="urn:microsoft.com/office/officeart/2005/8/layout/process4"/>
    <dgm:cxn modelId="{2FBB9CD7-DC30-429B-9920-84A64B368F48}" type="presOf" srcId="{E1129103-3EFA-4370-A55A-92BA038C7F57}" destId="{125BCB8C-5B04-4201-97AD-69D82EAA3AD4}" srcOrd="0" destOrd="0" presId="urn:microsoft.com/office/officeart/2005/8/layout/process4"/>
    <dgm:cxn modelId="{9E5C1AD9-FCD4-4E0A-B2BE-A5611CB9792B}" srcId="{4E61D26C-A76C-48A7-8DE8-B87A060D5519}" destId="{E1129103-3EFA-4370-A55A-92BA038C7F57}" srcOrd="2" destOrd="0" parTransId="{D55936B0-65EE-496E-8E98-0FB1E962067B}" sibTransId="{393EC63D-BAEF-47AC-8786-A350EBF64541}"/>
    <dgm:cxn modelId="{A1FC9FFF-BBFC-448A-BB31-ABDCA7E65B2D}" type="presParOf" srcId="{F04B8707-26AF-4951-86AF-66AD0BF832A2}" destId="{CD9A6037-C808-4B9F-987B-B5B3CC43D7B0}" srcOrd="0" destOrd="0" presId="urn:microsoft.com/office/officeart/2005/8/layout/process4"/>
    <dgm:cxn modelId="{E725276B-27C8-47DF-9EA8-D50A84BFC423}" type="presParOf" srcId="{CD9A6037-C808-4B9F-987B-B5B3CC43D7B0}" destId="{A1A55907-1020-47CA-A036-0558458B8DFD}" srcOrd="0" destOrd="0" presId="urn:microsoft.com/office/officeart/2005/8/layout/process4"/>
    <dgm:cxn modelId="{F77433B0-F354-4768-BDF4-AA62AC3325B5}" type="presParOf" srcId="{F04B8707-26AF-4951-86AF-66AD0BF832A2}" destId="{29EC6251-EC82-460D-B1DB-A0BCC79AF4D9}" srcOrd="1" destOrd="0" presId="urn:microsoft.com/office/officeart/2005/8/layout/process4"/>
    <dgm:cxn modelId="{46D2B77F-57AE-41C8-A994-BF7D8EA40DDA}" type="presParOf" srcId="{F04B8707-26AF-4951-86AF-66AD0BF832A2}" destId="{4799C66B-D516-4ECA-AF7D-726B15DE022B}" srcOrd="2" destOrd="0" presId="urn:microsoft.com/office/officeart/2005/8/layout/process4"/>
    <dgm:cxn modelId="{BE7D446E-25E3-4885-8BBA-46D201E620B2}" type="presParOf" srcId="{4799C66B-D516-4ECA-AF7D-726B15DE022B}" destId="{C4F3736B-4067-47AC-A7BB-BFE64843A969}" srcOrd="0" destOrd="0" presId="urn:microsoft.com/office/officeart/2005/8/layout/process4"/>
    <dgm:cxn modelId="{ADB3D90C-F2CB-48FD-9C58-F61D5F30B495}" type="presParOf" srcId="{F04B8707-26AF-4951-86AF-66AD0BF832A2}" destId="{8BAD4206-E724-445B-9CB7-24B7C70C0198}" srcOrd="3" destOrd="0" presId="urn:microsoft.com/office/officeart/2005/8/layout/process4"/>
    <dgm:cxn modelId="{D7C342F5-095C-428A-988C-34B7B436BE21}" type="presParOf" srcId="{F04B8707-26AF-4951-86AF-66AD0BF832A2}" destId="{9B14560A-07EB-4B7D-9524-E471E9104A35}" srcOrd="4" destOrd="0" presId="urn:microsoft.com/office/officeart/2005/8/layout/process4"/>
    <dgm:cxn modelId="{9D41CB48-611C-47CE-95A2-6BC28A98CC44}" type="presParOf" srcId="{9B14560A-07EB-4B7D-9524-E471E9104A35}" destId="{125BCB8C-5B04-4201-97AD-69D82EAA3AD4}" srcOrd="0" destOrd="0" presId="urn:microsoft.com/office/officeart/2005/8/layout/process4"/>
    <dgm:cxn modelId="{DEDD690B-70E4-4BAD-99BC-5667D6A1FF83}" type="presParOf" srcId="{F04B8707-26AF-4951-86AF-66AD0BF832A2}" destId="{4FEBAA26-696D-4B16-B4E6-76DDE47A27F0}" srcOrd="5" destOrd="0" presId="urn:microsoft.com/office/officeart/2005/8/layout/process4"/>
    <dgm:cxn modelId="{82004F08-4739-48EE-ACE6-6B6FD7DF2E6C}" type="presParOf" srcId="{F04B8707-26AF-4951-86AF-66AD0BF832A2}" destId="{2946484B-259B-4048-B75D-2DD460CDD727}" srcOrd="6" destOrd="0" presId="urn:microsoft.com/office/officeart/2005/8/layout/process4"/>
    <dgm:cxn modelId="{EF94E3EE-9A60-4A1D-A5AE-71BF4AAA032A}" type="presParOf" srcId="{2946484B-259B-4048-B75D-2DD460CDD727}" destId="{93274DE2-7276-4E01-88CD-C0B0FAB2AD3F}" srcOrd="0" destOrd="0" presId="urn:microsoft.com/office/officeart/2005/8/layout/process4"/>
    <dgm:cxn modelId="{4D1262DF-5565-47FD-8D08-2F1F3EC4A9D6}" type="presParOf" srcId="{2946484B-259B-4048-B75D-2DD460CDD727}" destId="{5C738055-09DA-4D2C-96A7-D96B8EBF932D}" srcOrd="1" destOrd="0" presId="urn:microsoft.com/office/officeart/2005/8/layout/process4"/>
    <dgm:cxn modelId="{BECA14CA-4C6C-4E77-B30D-518F23FDEFE0}" type="presParOf" srcId="{2946484B-259B-4048-B75D-2DD460CDD727}" destId="{E180E006-03DE-45F4-9211-3C976710777C}" srcOrd="2" destOrd="0" presId="urn:microsoft.com/office/officeart/2005/8/layout/process4"/>
    <dgm:cxn modelId="{F8F5570E-5A79-469F-BC5A-61B0D232B0E4}" type="presParOf" srcId="{E180E006-03DE-45F4-9211-3C976710777C}" destId="{45DD9A4F-6D5D-4820-8B23-72ED7DB8F83A}" srcOrd="0" destOrd="0" presId="urn:microsoft.com/office/officeart/2005/8/layout/process4"/>
    <dgm:cxn modelId="{1B3FE30F-D58E-4B83-91EB-47A6B82A9F1F}" type="presParOf" srcId="{E180E006-03DE-45F4-9211-3C976710777C}" destId="{89B9AD49-4422-4A3A-A851-0D2D0D82088F}" srcOrd="1" destOrd="0" presId="urn:microsoft.com/office/officeart/2005/8/layout/process4"/>
    <dgm:cxn modelId="{721978EF-B0D8-4E5F-9864-AA805ED1D44A}" type="presParOf" srcId="{E180E006-03DE-45F4-9211-3C976710777C}" destId="{834C6B78-0251-4ECE-8B5F-9DA085531AC0}" srcOrd="2" destOrd="0" presId="urn:microsoft.com/office/officeart/2005/8/layout/process4"/>
    <dgm:cxn modelId="{70B51925-4DF9-4396-8F9F-C2937E40FD96}" type="presParOf" srcId="{F04B8707-26AF-4951-86AF-66AD0BF832A2}" destId="{86E9734E-D6DA-40DA-9658-ED941D58396B}" srcOrd="7" destOrd="0" presId="urn:microsoft.com/office/officeart/2005/8/layout/process4"/>
    <dgm:cxn modelId="{82FC626A-6D81-4C70-9FD8-C5B431E7D0B8}" type="presParOf" srcId="{F04B8707-26AF-4951-86AF-66AD0BF832A2}" destId="{05354DF5-9D5A-472D-A54A-4D40BA38086E}" srcOrd="8" destOrd="0" presId="urn:microsoft.com/office/officeart/2005/8/layout/process4"/>
    <dgm:cxn modelId="{9A81125D-1C44-401A-B6CB-126A1D49F547}" type="presParOf" srcId="{05354DF5-9D5A-472D-A54A-4D40BA38086E}" destId="{864D984C-EB1F-4210-9F87-F6D3DC5E38A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C79B24D8-56E2-4971-B502-BC3BD09A0BD9}">
      <dgm:prSet custT="1"/>
      <dgm:spPr/>
      <dgm:t>
        <a:bodyPr/>
        <a:lstStyle/>
        <a:p>
          <a:pPr algn="ctr"/>
          <a:r>
            <a:rPr lang="en-US" sz="2000" dirty="0">
              <a:solidFill>
                <a:schemeClr val="bg2"/>
              </a:solidFill>
              <a:latin typeface="Poppins" panose="00000500000000000000" pitchFamily="2" charset="0"/>
              <a:cs typeface="Poppins" panose="00000500000000000000" pitchFamily="2" charset="0"/>
            </a:rPr>
            <a:t>Structural Design of EVs</a:t>
          </a:r>
          <a:endParaRPr lang="en-IN" sz="2000" dirty="0">
            <a:solidFill>
              <a:schemeClr val="bg2"/>
            </a:solidFill>
            <a:latin typeface="Poppins" panose="00000500000000000000" pitchFamily="2" charset="0"/>
            <a:cs typeface="Poppins" panose="00000500000000000000" pitchFamily="2" charset="0"/>
          </a:endParaRPr>
        </a:p>
      </dgm:t>
    </dgm:pt>
    <dgm:pt modelId="{E41566F0-E873-4926-9903-EA3576A88103}" type="parTrans" cxnId="{62814E12-9AB0-46E7-82DA-AF1A21516F4B}">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10823405-452B-43D2-96FE-0E291812E5DA}" type="sibTrans" cxnId="{62814E12-9AB0-46E7-82DA-AF1A21516F4B}">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FBEA52EB-608F-4909-98C3-E1602A8CF311}">
      <dgm:prSet custT="1"/>
      <dgm:spPr/>
      <dgm:t>
        <a:bodyPr/>
        <a:lstStyle/>
        <a:p>
          <a:pPr algn="ctr"/>
          <a:r>
            <a:rPr lang="en-US" sz="2000" dirty="0">
              <a:solidFill>
                <a:schemeClr val="tx2"/>
              </a:solidFill>
              <a:latin typeface="Poppins" panose="00000500000000000000" pitchFamily="2" charset="0"/>
              <a:cs typeface="Poppins" panose="00000500000000000000" pitchFamily="2" charset="0"/>
            </a:rPr>
            <a:t>Lightweight EVs Material</a:t>
          </a:r>
          <a:endParaRPr lang="en-IN" sz="2000" dirty="0">
            <a:solidFill>
              <a:schemeClr val="tx2"/>
            </a:solidFill>
            <a:latin typeface="Poppins" panose="00000500000000000000" pitchFamily="2" charset="0"/>
            <a:cs typeface="Poppins" panose="00000500000000000000" pitchFamily="2" charset="0"/>
          </a:endParaRPr>
        </a:p>
      </dgm:t>
    </dgm:pt>
    <dgm:pt modelId="{3D97C683-D562-4772-BA3D-00EC4E8E7233}" type="parTrans" cxnId="{F684DB81-46FA-44B2-A0E3-0E663343DECA}">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0F39CAD1-B160-4F06-A818-D4B389F6F983}" type="sibTrans" cxnId="{F684DB81-46FA-44B2-A0E3-0E663343DECA}">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A24CFB63-CCA1-42C6-99D3-AFA518C749C2}">
      <dgm:prSet custT="1"/>
      <dgm:spPr/>
      <dgm:t>
        <a:bodyPr/>
        <a:lstStyle/>
        <a:p>
          <a:pPr algn="ctr"/>
          <a:r>
            <a:rPr lang="en-US" sz="2000" dirty="0">
              <a:solidFill>
                <a:schemeClr val="bg2"/>
              </a:solidFill>
              <a:latin typeface="Poppins" panose="00000500000000000000" pitchFamily="2" charset="0"/>
              <a:cs typeface="Poppins" panose="00000500000000000000" pitchFamily="2" charset="0"/>
            </a:rPr>
            <a:t>Battery Technology for EV’s</a:t>
          </a:r>
          <a:endParaRPr lang="en-IN" sz="2000" dirty="0">
            <a:solidFill>
              <a:schemeClr val="bg2"/>
            </a:solidFill>
            <a:latin typeface="Poppins" panose="00000500000000000000" pitchFamily="2" charset="0"/>
            <a:cs typeface="Poppins" panose="00000500000000000000" pitchFamily="2" charset="0"/>
          </a:endParaRPr>
        </a:p>
      </dgm:t>
    </dgm:pt>
    <dgm:pt modelId="{BD859982-A146-40C7-A1F3-F456C702764D}" type="parTrans" cxnId="{F24F331C-0E87-4FB0-8711-B7CF6A3F1829}">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2972C8D7-F322-4008-A965-241DC80E9EFD}" type="sibTrans" cxnId="{F24F331C-0E87-4FB0-8711-B7CF6A3F1829}">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E0C2D3EB-D163-4B4D-B1CC-B3FEF9F578B1}">
      <dgm:prSet phldrT="[Text]" custT="1"/>
      <dgm:spPr/>
      <dgm:t>
        <a:bodyPr/>
        <a:lstStyle/>
        <a:p>
          <a:pPr algn="ctr"/>
          <a:r>
            <a:rPr lang="en-US" sz="2000" b="0" dirty="0">
              <a:solidFill>
                <a:schemeClr val="tx2"/>
              </a:solidFill>
              <a:latin typeface="Poppins" panose="00000500000000000000" pitchFamily="2" charset="0"/>
              <a:cs typeface="Poppins" panose="00000500000000000000" pitchFamily="2" charset="0"/>
            </a:rPr>
            <a:t>Vehicle Dynamics in EV’s</a:t>
          </a:r>
          <a:endParaRPr lang="en-IN" sz="2000" dirty="0">
            <a:solidFill>
              <a:schemeClr val="tx2"/>
            </a:solidFill>
            <a:latin typeface="Poppins" panose="00000500000000000000" pitchFamily="2" charset="0"/>
            <a:cs typeface="Poppins" panose="00000500000000000000" pitchFamily="2" charset="0"/>
          </a:endParaRPr>
        </a:p>
      </dgm:t>
    </dgm:pt>
    <dgm:pt modelId="{AD6C8F55-B1B2-4BE7-BA82-CC7A8F97FAB2}" type="parTrans" cxnId="{6CA7EF43-D7C1-4930-98D5-F1F2BFCD7886}">
      <dgm:prSet/>
      <dgm:spPr/>
      <dgm:t>
        <a:bodyPr/>
        <a:lstStyle/>
        <a:p>
          <a:pPr algn="ctr"/>
          <a:endParaRPr lang="en-IN"/>
        </a:p>
      </dgm:t>
    </dgm:pt>
    <dgm:pt modelId="{B1056F95-FD71-4D14-89FE-9C82056096A6}" type="sibTrans" cxnId="{6CA7EF43-D7C1-4930-98D5-F1F2BFCD7886}">
      <dgm:prSet/>
      <dgm:spPr/>
      <dgm:t>
        <a:bodyPr/>
        <a:lstStyle/>
        <a:p>
          <a:pPr algn="ctr"/>
          <a:endParaRPr lang="en-IN"/>
        </a:p>
      </dgm:t>
    </dgm:pt>
    <dgm:pt modelId="{F04B8707-26AF-4951-86AF-66AD0BF832A2}" type="pres">
      <dgm:prSet presAssocID="{4E61D26C-A76C-48A7-8DE8-B87A060D5519}" presName="Name0" presStyleCnt="0">
        <dgm:presLayoutVars>
          <dgm:dir/>
          <dgm:animLvl val="lvl"/>
          <dgm:resizeHandles val="exact"/>
        </dgm:presLayoutVars>
      </dgm:prSet>
      <dgm:spPr/>
    </dgm:pt>
    <dgm:pt modelId="{4035B608-2538-484F-9F41-630A97BB5233}" type="pres">
      <dgm:prSet presAssocID="{A24CFB63-CCA1-42C6-99D3-AFA518C749C2}" presName="boxAndChildren" presStyleCnt="0"/>
      <dgm:spPr/>
    </dgm:pt>
    <dgm:pt modelId="{BE59CB25-2E48-477D-911F-010F64759F13}" type="pres">
      <dgm:prSet presAssocID="{A24CFB63-CCA1-42C6-99D3-AFA518C749C2}" presName="parentTextBox" presStyleLbl="node1" presStyleIdx="0" presStyleCnt="4"/>
      <dgm:spPr/>
    </dgm:pt>
    <dgm:pt modelId="{129DDAFF-5139-48BB-BEF9-D0EBABFDABCB}" type="pres">
      <dgm:prSet presAssocID="{0F39CAD1-B160-4F06-A818-D4B389F6F983}" presName="sp" presStyleCnt="0"/>
      <dgm:spPr/>
    </dgm:pt>
    <dgm:pt modelId="{B0E71639-5657-4926-A54D-0E8AC37958B3}" type="pres">
      <dgm:prSet presAssocID="{FBEA52EB-608F-4909-98C3-E1602A8CF311}" presName="arrowAndChildren" presStyleCnt="0"/>
      <dgm:spPr/>
    </dgm:pt>
    <dgm:pt modelId="{296390E6-2BC7-49EE-AA2C-6C9C8A30B991}" type="pres">
      <dgm:prSet presAssocID="{FBEA52EB-608F-4909-98C3-E1602A8CF311}" presName="parentTextArrow" presStyleLbl="node1" presStyleIdx="1" presStyleCnt="4"/>
      <dgm:spPr/>
    </dgm:pt>
    <dgm:pt modelId="{2825CB63-B4CA-4C96-A06B-5C4D12988D5A}" type="pres">
      <dgm:prSet presAssocID="{10823405-452B-43D2-96FE-0E291812E5DA}" presName="sp" presStyleCnt="0"/>
      <dgm:spPr/>
    </dgm:pt>
    <dgm:pt modelId="{AF452709-CC74-47ED-AAAE-BD39EF159974}" type="pres">
      <dgm:prSet presAssocID="{C79B24D8-56E2-4971-B502-BC3BD09A0BD9}" presName="arrowAndChildren" presStyleCnt="0"/>
      <dgm:spPr/>
    </dgm:pt>
    <dgm:pt modelId="{DAB340E0-90B3-4DAB-9A93-13821A8AF6D8}" type="pres">
      <dgm:prSet presAssocID="{C79B24D8-56E2-4971-B502-BC3BD09A0BD9}" presName="parentTextArrow" presStyleLbl="node1" presStyleIdx="2" presStyleCnt="4"/>
      <dgm:spPr/>
    </dgm:pt>
    <dgm:pt modelId="{150A525F-728C-4BC6-B726-DC24B1689407}" type="pres">
      <dgm:prSet presAssocID="{B1056F95-FD71-4D14-89FE-9C82056096A6}" presName="sp" presStyleCnt="0"/>
      <dgm:spPr/>
    </dgm:pt>
    <dgm:pt modelId="{90B15907-DBC2-4BE4-8405-E37B016A93D5}" type="pres">
      <dgm:prSet presAssocID="{E0C2D3EB-D163-4B4D-B1CC-B3FEF9F578B1}" presName="arrowAndChildren" presStyleCnt="0"/>
      <dgm:spPr/>
    </dgm:pt>
    <dgm:pt modelId="{0702275E-3019-4717-8D2E-E31054C78593}" type="pres">
      <dgm:prSet presAssocID="{E0C2D3EB-D163-4B4D-B1CC-B3FEF9F578B1}" presName="parentTextArrow" presStyleLbl="node1" presStyleIdx="3" presStyleCnt="4"/>
      <dgm:spPr/>
    </dgm:pt>
  </dgm:ptLst>
  <dgm:cxnLst>
    <dgm:cxn modelId="{62814E12-9AB0-46E7-82DA-AF1A21516F4B}" srcId="{4E61D26C-A76C-48A7-8DE8-B87A060D5519}" destId="{C79B24D8-56E2-4971-B502-BC3BD09A0BD9}" srcOrd="1" destOrd="0" parTransId="{E41566F0-E873-4926-9903-EA3576A88103}" sibTransId="{10823405-452B-43D2-96FE-0E291812E5DA}"/>
    <dgm:cxn modelId="{F24F331C-0E87-4FB0-8711-B7CF6A3F1829}" srcId="{4E61D26C-A76C-48A7-8DE8-B87A060D5519}" destId="{A24CFB63-CCA1-42C6-99D3-AFA518C749C2}" srcOrd="3" destOrd="0" parTransId="{BD859982-A146-40C7-A1F3-F456C702764D}" sibTransId="{2972C8D7-F322-4008-A965-241DC80E9EFD}"/>
    <dgm:cxn modelId="{53593C2F-FA26-46A8-8CDD-91AD54C083D3}" type="presOf" srcId="{A24CFB63-CCA1-42C6-99D3-AFA518C749C2}" destId="{BE59CB25-2E48-477D-911F-010F64759F13}" srcOrd="0" destOrd="0" presId="urn:microsoft.com/office/officeart/2005/8/layout/process4"/>
    <dgm:cxn modelId="{6CA7EF43-D7C1-4930-98D5-F1F2BFCD7886}" srcId="{4E61D26C-A76C-48A7-8DE8-B87A060D5519}" destId="{E0C2D3EB-D163-4B4D-B1CC-B3FEF9F578B1}" srcOrd="0" destOrd="0" parTransId="{AD6C8F55-B1B2-4BE7-BA82-CC7A8F97FAB2}" sibTransId="{B1056F95-FD71-4D14-89FE-9C82056096A6}"/>
    <dgm:cxn modelId="{F684DB81-46FA-44B2-A0E3-0E663343DECA}" srcId="{4E61D26C-A76C-48A7-8DE8-B87A060D5519}" destId="{FBEA52EB-608F-4909-98C3-E1602A8CF311}" srcOrd="2" destOrd="0" parTransId="{3D97C683-D562-4772-BA3D-00EC4E8E7233}" sibTransId="{0F39CAD1-B160-4F06-A818-D4B389F6F983}"/>
    <dgm:cxn modelId="{41081EC0-CA84-4619-9952-94B3D2B443BD}" type="presOf" srcId="{FBEA52EB-608F-4909-98C3-E1602A8CF311}" destId="{296390E6-2BC7-49EE-AA2C-6C9C8A30B991}" srcOrd="0" destOrd="0" presId="urn:microsoft.com/office/officeart/2005/8/layout/process4"/>
    <dgm:cxn modelId="{A11A25C5-35CE-4F42-97DF-2A73D2126AD2}" type="presOf" srcId="{4E61D26C-A76C-48A7-8DE8-B87A060D5519}" destId="{F04B8707-26AF-4951-86AF-66AD0BF832A2}" srcOrd="0" destOrd="0" presId="urn:microsoft.com/office/officeart/2005/8/layout/process4"/>
    <dgm:cxn modelId="{33C69EE3-8CF7-44E0-823F-CD78B74FFE6A}" type="presOf" srcId="{E0C2D3EB-D163-4B4D-B1CC-B3FEF9F578B1}" destId="{0702275E-3019-4717-8D2E-E31054C78593}" srcOrd="0" destOrd="0" presId="urn:microsoft.com/office/officeart/2005/8/layout/process4"/>
    <dgm:cxn modelId="{DF7DA8EB-4B60-4E77-BF61-D8E6DFA9D066}" type="presOf" srcId="{C79B24D8-56E2-4971-B502-BC3BD09A0BD9}" destId="{DAB340E0-90B3-4DAB-9A93-13821A8AF6D8}" srcOrd="0" destOrd="0" presId="urn:microsoft.com/office/officeart/2005/8/layout/process4"/>
    <dgm:cxn modelId="{B739C582-CFFA-4751-9588-54518BCF1E73}" type="presParOf" srcId="{F04B8707-26AF-4951-86AF-66AD0BF832A2}" destId="{4035B608-2538-484F-9F41-630A97BB5233}" srcOrd="0" destOrd="0" presId="urn:microsoft.com/office/officeart/2005/8/layout/process4"/>
    <dgm:cxn modelId="{DCCC2C3E-7DB9-4557-AB38-D778DAB6AFC4}" type="presParOf" srcId="{4035B608-2538-484F-9F41-630A97BB5233}" destId="{BE59CB25-2E48-477D-911F-010F64759F13}" srcOrd="0" destOrd="0" presId="urn:microsoft.com/office/officeart/2005/8/layout/process4"/>
    <dgm:cxn modelId="{3F99C997-478D-4EA4-BCC0-F0CA968EDBF2}" type="presParOf" srcId="{F04B8707-26AF-4951-86AF-66AD0BF832A2}" destId="{129DDAFF-5139-48BB-BEF9-D0EBABFDABCB}" srcOrd="1" destOrd="0" presId="urn:microsoft.com/office/officeart/2005/8/layout/process4"/>
    <dgm:cxn modelId="{73A055AA-4336-47A6-BC2B-D379D4E682BE}" type="presParOf" srcId="{F04B8707-26AF-4951-86AF-66AD0BF832A2}" destId="{B0E71639-5657-4926-A54D-0E8AC37958B3}" srcOrd="2" destOrd="0" presId="urn:microsoft.com/office/officeart/2005/8/layout/process4"/>
    <dgm:cxn modelId="{80326A40-8C40-4700-A745-A72B2916159B}" type="presParOf" srcId="{B0E71639-5657-4926-A54D-0E8AC37958B3}" destId="{296390E6-2BC7-49EE-AA2C-6C9C8A30B991}" srcOrd="0" destOrd="0" presId="urn:microsoft.com/office/officeart/2005/8/layout/process4"/>
    <dgm:cxn modelId="{98FFE7F3-1E17-45E8-9C96-9E65291A5248}" type="presParOf" srcId="{F04B8707-26AF-4951-86AF-66AD0BF832A2}" destId="{2825CB63-B4CA-4C96-A06B-5C4D12988D5A}" srcOrd="3" destOrd="0" presId="urn:microsoft.com/office/officeart/2005/8/layout/process4"/>
    <dgm:cxn modelId="{DAB226CF-0F94-4480-B9A5-20223074AA4A}" type="presParOf" srcId="{F04B8707-26AF-4951-86AF-66AD0BF832A2}" destId="{AF452709-CC74-47ED-AAAE-BD39EF159974}" srcOrd="4" destOrd="0" presId="urn:microsoft.com/office/officeart/2005/8/layout/process4"/>
    <dgm:cxn modelId="{D4D10123-0EA1-4406-BE9F-A80334487453}" type="presParOf" srcId="{AF452709-CC74-47ED-AAAE-BD39EF159974}" destId="{DAB340E0-90B3-4DAB-9A93-13821A8AF6D8}" srcOrd="0" destOrd="0" presId="urn:microsoft.com/office/officeart/2005/8/layout/process4"/>
    <dgm:cxn modelId="{1CBF1FDE-7F08-44E9-9EE5-BA0B964893DD}" type="presParOf" srcId="{F04B8707-26AF-4951-86AF-66AD0BF832A2}" destId="{150A525F-728C-4BC6-B726-DC24B1689407}" srcOrd="5" destOrd="0" presId="urn:microsoft.com/office/officeart/2005/8/layout/process4"/>
    <dgm:cxn modelId="{2BD72077-EC39-471C-B191-E765B33F8684}" type="presParOf" srcId="{F04B8707-26AF-4951-86AF-66AD0BF832A2}" destId="{90B15907-DBC2-4BE4-8405-E37B016A93D5}" srcOrd="6" destOrd="0" presId="urn:microsoft.com/office/officeart/2005/8/layout/process4"/>
    <dgm:cxn modelId="{52A4478E-0BC9-4E8E-92E7-9176808770F2}" type="presParOf" srcId="{90B15907-DBC2-4BE4-8405-E37B016A93D5}" destId="{0702275E-3019-4717-8D2E-E31054C7859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54A31B03-9A2E-4164-8CF7-F6512CFC91CD}">
      <dgm:prSet phldrT="[Text]" custT="1"/>
      <dgm:spPr/>
      <dgm:t>
        <a:bodyPr/>
        <a:lstStyle/>
        <a:p>
          <a:r>
            <a:rPr lang="en-US" sz="2000" dirty="0">
              <a:solidFill>
                <a:schemeClr val="tx2"/>
              </a:solidFill>
              <a:latin typeface="Poppins" panose="00000500000000000000" pitchFamily="2" charset="0"/>
              <a:cs typeface="Poppins" panose="00000500000000000000" pitchFamily="2" charset="0"/>
            </a:rPr>
            <a:t>Battery Management System</a:t>
          </a:r>
          <a:endParaRPr lang="en-IN" sz="2000" b="0" dirty="0">
            <a:solidFill>
              <a:schemeClr val="bg2"/>
            </a:solidFill>
            <a:latin typeface="Poppins" panose="00000500000000000000" pitchFamily="2" charset="0"/>
            <a:cs typeface="Poppins" panose="00000500000000000000" pitchFamily="2" charset="0"/>
          </a:endParaRPr>
        </a:p>
      </dgm:t>
    </dgm:pt>
    <dgm:pt modelId="{E9A75BB2-789E-4C50-9A05-66D230CD8F7C}" type="parTrans" cxnId="{05B866A6-020F-4ED0-8FE7-948855EC252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72FCF3EA-3334-4C03-BBE3-2B460412FD4B}" type="sibTrans" cxnId="{05B866A6-020F-4ED0-8FE7-948855EC252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51CF0EB2-BD9E-4CBC-A709-35EB39B4C3E9}">
      <dgm:prSet/>
      <dgm:spPr/>
      <dgm:t>
        <a:bodyPr/>
        <a:lstStyle/>
        <a:p>
          <a:r>
            <a:rPr lang="en-US" dirty="0">
              <a:solidFill>
                <a:schemeClr val="bg2"/>
              </a:solidFill>
              <a:latin typeface="Poppins" panose="00000500000000000000" pitchFamily="2" charset="0"/>
              <a:cs typeface="Poppins" panose="00000500000000000000" pitchFamily="2" charset="0"/>
            </a:rPr>
            <a:t>Charging Infrastructure System</a:t>
          </a:r>
          <a:endParaRPr lang="en-IN" dirty="0">
            <a:solidFill>
              <a:schemeClr val="bg2"/>
            </a:solidFill>
            <a:latin typeface="Poppins" panose="00000500000000000000" pitchFamily="2" charset="0"/>
            <a:cs typeface="Poppins" panose="00000500000000000000" pitchFamily="2" charset="0"/>
          </a:endParaRPr>
        </a:p>
      </dgm:t>
    </dgm:pt>
    <dgm:pt modelId="{07FCDE84-249A-478D-8684-EE87E002071C}" type="parTrans" cxnId="{8866EFB0-9688-4A03-AD21-E9A3DA202B9F}">
      <dgm:prSet/>
      <dgm:spPr/>
      <dgm:t>
        <a:bodyPr/>
        <a:lstStyle/>
        <a:p>
          <a:endParaRPr lang="en-IN"/>
        </a:p>
      </dgm:t>
    </dgm:pt>
    <dgm:pt modelId="{686BE363-F9DC-4B9B-A01A-87F1C6E30C63}" type="sibTrans" cxnId="{8866EFB0-9688-4A03-AD21-E9A3DA202B9F}">
      <dgm:prSet/>
      <dgm:spPr/>
      <dgm:t>
        <a:bodyPr/>
        <a:lstStyle/>
        <a:p>
          <a:endParaRPr lang="en-IN"/>
        </a:p>
      </dgm:t>
    </dgm:pt>
    <dgm:pt modelId="{77441367-F360-45E3-8AF9-9EFEE644A5D4}">
      <dgm:prSet/>
      <dgm:spPr/>
      <dgm:t>
        <a:bodyPr/>
        <a:lstStyle/>
        <a:p>
          <a:r>
            <a:rPr lang="en-US" dirty="0">
              <a:solidFill>
                <a:schemeClr val="tx2"/>
              </a:solidFill>
              <a:latin typeface="Poppins" panose="00000500000000000000" pitchFamily="2" charset="0"/>
              <a:cs typeface="Poppins" panose="00000500000000000000" pitchFamily="2" charset="0"/>
            </a:rPr>
            <a:t>Performance, Emerging Technologies, and Innovation for EV’s </a:t>
          </a:r>
          <a:endParaRPr lang="en-IN" dirty="0">
            <a:solidFill>
              <a:schemeClr val="tx2"/>
            </a:solidFill>
            <a:latin typeface="Poppins" panose="00000500000000000000" pitchFamily="2" charset="0"/>
            <a:cs typeface="Poppins" panose="00000500000000000000" pitchFamily="2" charset="0"/>
          </a:endParaRPr>
        </a:p>
      </dgm:t>
    </dgm:pt>
    <dgm:pt modelId="{96BF6793-9E30-46E9-9466-5A1E8A5025D1}" type="parTrans" cxnId="{AE44DCC0-EA31-4B6B-8E02-385B23E99B85}">
      <dgm:prSet/>
      <dgm:spPr/>
      <dgm:t>
        <a:bodyPr/>
        <a:lstStyle/>
        <a:p>
          <a:endParaRPr lang="en-IN"/>
        </a:p>
      </dgm:t>
    </dgm:pt>
    <dgm:pt modelId="{2CBB6C86-6184-4881-B3DE-B59DA37EDC34}" type="sibTrans" cxnId="{AE44DCC0-EA31-4B6B-8E02-385B23E99B85}">
      <dgm:prSet/>
      <dgm:spPr/>
      <dgm:t>
        <a:bodyPr/>
        <a:lstStyle/>
        <a:p>
          <a:endParaRPr lang="en-IN"/>
        </a:p>
      </dgm:t>
    </dgm:pt>
    <dgm:pt modelId="{24700F86-A7E1-4BAD-82CE-A766C549C2D8}">
      <dgm:prSet/>
      <dgm:spPr/>
      <dgm:t>
        <a:bodyPr/>
        <a:lstStyle/>
        <a:p>
          <a:r>
            <a:rPr lang="en-US" dirty="0">
              <a:solidFill>
                <a:schemeClr val="bg2"/>
              </a:solidFill>
              <a:latin typeface="Poppins" panose="00000500000000000000" pitchFamily="2" charset="0"/>
              <a:cs typeface="Poppins" panose="00000500000000000000" pitchFamily="2" charset="0"/>
            </a:rPr>
            <a:t>Safety Standards for EVs</a:t>
          </a:r>
          <a:endParaRPr lang="en-IN" dirty="0">
            <a:solidFill>
              <a:schemeClr val="bg2"/>
            </a:solidFill>
            <a:latin typeface="Poppins" panose="00000500000000000000" pitchFamily="2" charset="0"/>
            <a:cs typeface="Poppins" panose="00000500000000000000" pitchFamily="2" charset="0"/>
          </a:endParaRPr>
        </a:p>
      </dgm:t>
    </dgm:pt>
    <dgm:pt modelId="{946EF949-2B63-4575-B0AA-2144080F02E0}" type="parTrans" cxnId="{4140F3D2-63A8-4845-BD88-0545791D41D9}">
      <dgm:prSet/>
      <dgm:spPr/>
      <dgm:t>
        <a:bodyPr/>
        <a:lstStyle/>
        <a:p>
          <a:endParaRPr lang="en-IN"/>
        </a:p>
      </dgm:t>
    </dgm:pt>
    <dgm:pt modelId="{0039B364-B40A-4426-BA3F-385F22C12C49}" type="sibTrans" cxnId="{4140F3D2-63A8-4845-BD88-0545791D41D9}">
      <dgm:prSet/>
      <dgm:spPr/>
      <dgm:t>
        <a:bodyPr/>
        <a:lstStyle/>
        <a:p>
          <a:endParaRPr lang="en-IN"/>
        </a:p>
      </dgm:t>
    </dgm:pt>
    <dgm:pt modelId="{F04B8707-26AF-4951-86AF-66AD0BF832A2}" type="pres">
      <dgm:prSet presAssocID="{4E61D26C-A76C-48A7-8DE8-B87A060D5519}" presName="Name0" presStyleCnt="0">
        <dgm:presLayoutVars>
          <dgm:dir/>
          <dgm:animLvl val="lvl"/>
          <dgm:resizeHandles val="exact"/>
        </dgm:presLayoutVars>
      </dgm:prSet>
      <dgm:spPr/>
    </dgm:pt>
    <dgm:pt modelId="{F9DA669A-5310-48B9-BFEF-2A7D21C59C92}" type="pres">
      <dgm:prSet presAssocID="{24700F86-A7E1-4BAD-82CE-A766C549C2D8}" presName="boxAndChildren" presStyleCnt="0"/>
      <dgm:spPr/>
    </dgm:pt>
    <dgm:pt modelId="{F2BC99F3-D8DA-4B0D-806F-8B20D1093426}" type="pres">
      <dgm:prSet presAssocID="{24700F86-A7E1-4BAD-82CE-A766C549C2D8}" presName="parentTextBox" presStyleLbl="node1" presStyleIdx="0" presStyleCnt="4"/>
      <dgm:spPr/>
    </dgm:pt>
    <dgm:pt modelId="{EC6A2425-2C21-449D-A59F-EC3B3066C77E}" type="pres">
      <dgm:prSet presAssocID="{2CBB6C86-6184-4881-B3DE-B59DA37EDC34}" presName="sp" presStyleCnt="0"/>
      <dgm:spPr/>
    </dgm:pt>
    <dgm:pt modelId="{D6DFC089-F109-4FF5-A50F-892A48BB7EA0}" type="pres">
      <dgm:prSet presAssocID="{77441367-F360-45E3-8AF9-9EFEE644A5D4}" presName="arrowAndChildren" presStyleCnt="0"/>
      <dgm:spPr/>
    </dgm:pt>
    <dgm:pt modelId="{A4E01F0E-2D04-49E3-9159-F5604FBDF3BB}" type="pres">
      <dgm:prSet presAssocID="{77441367-F360-45E3-8AF9-9EFEE644A5D4}" presName="parentTextArrow" presStyleLbl="node1" presStyleIdx="1" presStyleCnt="4"/>
      <dgm:spPr/>
    </dgm:pt>
    <dgm:pt modelId="{927CE7CA-564C-4BBF-9525-B89D237A6C8B}" type="pres">
      <dgm:prSet presAssocID="{686BE363-F9DC-4B9B-A01A-87F1C6E30C63}" presName="sp" presStyleCnt="0"/>
      <dgm:spPr/>
    </dgm:pt>
    <dgm:pt modelId="{0F11563D-88B4-45BE-8A81-21F55215EEA5}" type="pres">
      <dgm:prSet presAssocID="{51CF0EB2-BD9E-4CBC-A709-35EB39B4C3E9}" presName="arrowAndChildren" presStyleCnt="0"/>
      <dgm:spPr/>
    </dgm:pt>
    <dgm:pt modelId="{E0218708-2B53-41AA-9031-72184B881E4D}" type="pres">
      <dgm:prSet presAssocID="{51CF0EB2-BD9E-4CBC-A709-35EB39B4C3E9}" presName="parentTextArrow" presStyleLbl="node1" presStyleIdx="2" presStyleCnt="4"/>
      <dgm:spPr/>
    </dgm:pt>
    <dgm:pt modelId="{86E9734E-D6DA-40DA-9658-ED941D58396B}" type="pres">
      <dgm:prSet presAssocID="{72FCF3EA-3334-4C03-BBE3-2B460412FD4B}" presName="sp" presStyleCnt="0"/>
      <dgm:spPr/>
    </dgm:pt>
    <dgm:pt modelId="{05354DF5-9D5A-472D-A54A-4D40BA38086E}" type="pres">
      <dgm:prSet presAssocID="{54A31B03-9A2E-4164-8CF7-F6512CFC91CD}" presName="arrowAndChildren" presStyleCnt="0"/>
      <dgm:spPr/>
    </dgm:pt>
    <dgm:pt modelId="{864D984C-EB1F-4210-9F87-F6D3DC5E38A7}" type="pres">
      <dgm:prSet presAssocID="{54A31B03-9A2E-4164-8CF7-F6512CFC91CD}" presName="parentTextArrow" presStyleLbl="node1" presStyleIdx="3" presStyleCnt="4"/>
      <dgm:spPr/>
    </dgm:pt>
  </dgm:ptLst>
  <dgm:cxnLst>
    <dgm:cxn modelId="{D0264614-3DEE-421C-A137-606DC56A29D2}" type="presOf" srcId="{24700F86-A7E1-4BAD-82CE-A766C549C2D8}" destId="{F2BC99F3-D8DA-4B0D-806F-8B20D1093426}" srcOrd="0" destOrd="0" presId="urn:microsoft.com/office/officeart/2005/8/layout/process4"/>
    <dgm:cxn modelId="{0E542433-03D2-47B1-BE2A-F1133629B1FC}" type="presOf" srcId="{54A31B03-9A2E-4164-8CF7-F6512CFC91CD}" destId="{864D984C-EB1F-4210-9F87-F6D3DC5E38A7}" srcOrd="0" destOrd="0" presId="urn:microsoft.com/office/officeart/2005/8/layout/process4"/>
    <dgm:cxn modelId="{05B866A6-020F-4ED0-8FE7-948855EC252E}" srcId="{4E61D26C-A76C-48A7-8DE8-B87A060D5519}" destId="{54A31B03-9A2E-4164-8CF7-F6512CFC91CD}" srcOrd="0" destOrd="0" parTransId="{E9A75BB2-789E-4C50-9A05-66D230CD8F7C}" sibTransId="{72FCF3EA-3334-4C03-BBE3-2B460412FD4B}"/>
    <dgm:cxn modelId="{BB0C04AA-0D01-4BD3-8879-455FAEE91A38}" type="presOf" srcId="{77441367-F360-45E3-8AF9-9EFEE644A5D4}" destId="{A4E01F0E-2D04-49E3-9159-F5604FBDF3BB}" srcOrd="0" destOrd="0" presId="urn:microsoft.com/office/officeart/2005/8/layout/process4"/>
    <dgm:cxn modelId="{8866EFB0-9688-4A03-AD21-E9A3DA202B9F}" srcId="{4E61D26C-A76C-48A7-8DE8-B87A060D5519}" destId="{51CF0EB2-BD9E-4CBC-A709-35EB39B4C3E9}" srcOrd="1" destOrd="0" parTransId="{07FCDE84-249A-478D-8684-EE87E002071C}" sibTransId="{686BE363-F9DC-4B9B-A01A-87F1C6E30C63}"/>
    <dgm:cxn modelId="{AE44DCC0-EA31-4B6B-8E02-385B23E99B85}" srcId="{4E61D26C-A76C-48A7-8DE8-B87A060D5519}" destId="{77441367-F360-45E3-8AF9-9EFEE644A5D4}" srcOrd="2" destOrd="0" parTransId="{96BF6793-9E30-46E9-9466-5A1E8A5025D1}" sibTransId="{2CBB6C86-6184-4881-B3DE-B59DA37EDC34}"/>
    <dgm:cxn modelId="{A11A25C5-35CE-4F42-97DF-2A73D2126AD2}" type="presOf" srcId="{4E61D26C-A76C-48A7-8DE8-B87A060D5519}" destId="{F04B8707-26AF-4951-86AF-66AD0BF832A2}" srcOrd="0" destOrd="0" presId="urn:microsoft.com/office/officeart/2005/8/layout/process4"/>
    <dgm:cxn modelId="{60DFA1CA-6AAA-47FE-A051-0AE4085865E6}" type="presOf" srcId="{51CF0EB2-BD9E-4CBC-A709-35EB39B4C3E9}" destId="{E0218708-2B53-41AA-9031-72184B881E4D}" srcOrd="0" destOrd="0" presId="urn:microsoft.com/office/officeart/2005/8/layout/process4"/>
    <dgm:cxn modelId="{4140F3D2-63A8-4845-BD88-0545791D41D9}" srcId="{4E61D26C-A76C-48A7-8DE8-B87A060D5519}" destId="{24700F86-A7E1-4BAD-82CE-A766C549C2D8}" srcOrd="3" destOrd="0" parTransId="{946EF949-2B63-4575-B0AA-2144080F02E0}" sibTransId="{0039B364-B40A-4426-BA3F-385F22C12C49}"/>
    <dgm:cxn modelId="{3E663979-14BC-4E7B-9BE6-81478EEB72DB}" type="presParOf" srcId="{F04B8707-26AF-4951-86AF-66AD0BF832A2}" destId="{F9DA669A-5310-48B9-BFEF-2A7D21C59C92}" srcOrd="0" destOrd="0" presId="urn:microsoft.com/office/officeart/2005/8/layout/process4"/>
    <dgm:cxn modelId="{976514B0-E1D4-4DAB-A45C-A5275199F82D}" type="presParOf" srcId="{F9DA669A-5310-48B9-BFEF-2A7D21C59C92}" destId="{F2BC99F3-D8DA-4B0D-806F-8B20D1093426}" srcOrd="0" destOrd="0" presId="urn:microsoft.com/office/officeart/2005/8/layout/process4"/>
    <dgm:cxn modelId="{DAC399A6-EB2B-4491-A60A-7437B9BEF009}" type="presParOf" srcId="{F04B8707-26AF-4951-86AF-66AD0BF832A2}" destId="{EC6A2425-2C21-449D-A59F-EC3B3066C77E}" srcOrd="1" destOrd="0" presId="urn:microsoft.com/office/officeart/2005/8/layout/process4"/>
    <dgm:cxn modelId="{8135B6EF-E3E3-409A-90CB-0D3AAB06C5E8}" type="presParOf" srcId="{F04B8707-26AF-4951-86AF-66AD0BF832A2}" destId="{D6DFC089-F109-4FF5-A50F-892A48BB7EA0}" srcOrd="2" destOrd="0" presId="urn:microsoft.com/office/officeart/2005/8/layout/process4"/>
    <dgm:cxn modelId="{9DFF5B29-E249-41CE-B452-D092C0A628EE}" type="presParOf" srcId="{D6DFC089-F109-4FF5-A50F-892A48BB7EA0}" destId="{A4E01F0E-2D04-49E3-9159-F5604FBDF3BB}" srcOrd="0" destOrd="0" presId="urn:microsoft.com/office/officeart/2005/8/layout/process4"/>
    <dgm:cxn modelId="{6B7D8362-B24F-403A-8E06-99676E0A5B46}" type="presParOf" srcId="{F04B8707-26AF-4951-86AF-66AD0BF832A2}" destId="{927CE7CA-564C-4BBF-9525-B89D237A6C8B}" srcOrd="3" destOrd="0" presId="urn:microsoft.com/office/officeart/2005/8/layout/process4"/>
    <dgm:cxn modelId="{F73481BE-5A3A-40A5-8892-7531550C677E}" type="presParOf" srcId="{F04B8707-26AF-4951-86AF-66AD0BF832A2}" destId="{0F11563D-88B4-45BE-8A81-21F55215EEA5}" srcOrd="4" destOrd="0" presId="urn:microsoft.com/office/officeart/2005/8/layout/process4"/>
    <dgm:cxn modelId="{32B01719-5E78-4852-92AF-9FAB0F57BE87}" type="presParOf" srcId="{0F11563D-88B4-45BE-8A81-21F55215EEA5}" destId="{E0218708-2B53-41AA-9031-72184B881E4D}" srcOrd="0" destOrd="0" presId="urn:microsoft.com/office/officeart/2005/8/layout/process4"/>
    <dgm:cxn modelId="{70B51925-4DF9-4396-8F9F-C2937E40FD96}" type="presParOf" srcId="{F04B8707-26AF-4951-86AF-66AD0BF832A2}" destId="{86E9734E-D6DA-40DA-9658-ED941D58396B}" srcOrd="5" destOrd="0" presId="urn:microsoft.com/office/officeart/2005/8/layout/process4"/>
    <dgm:cxn modelId="{82FC626A-6D81-4C70-9FD8-C5B431E7D0B8}" type="presParOf" srcId="{F04B8707-26AF-4951-86AF-66AD0BF832A2}" destId="{05354DF5-9D5A-472D-A54A-4D40BA38086E}" srcOrd="6" destOrd="0" presId="urn:microsoft.com/office/officeart/2005/8/layout/process4"/>
    <dgm:cxn modelId="{9A81125D-1C44-401A-B6CB-126A1D49F547}" type="presParOf" srcId="{05354DF5-9D5A-472D-A54A-4D40BA38086E}" destId="{864D984C-EB1F-4210-9F87-F6D3DC5E38A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55907-1020-47CA-A036-0558458B8DFD}">
      <dsp:nvSpPr>
        <dsp:cNvPr id="0" name=""/>
        <dsp:cNvSpPr/>
      </dsp:nvSpPr>
      <dsp:spPr>
        <a:xfrm>
          <a:off x="0" y="3489570"/>
          <a:ext cx="8517834" cy="572493"/>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2"/>
              </a:solidFill>
              <a:latin typeface="Poppins" panose="00000500000000000000" pitchFamily="2" charset="0"/>
              <a:cs typeface="Poppins" panose="00000500000000000000" pitchFamily="2" charset="0"/>
            </a:rPr>
            <a:t>Vehicle Dynamics in EV’s</a:t>
          </a:r>
          <a:endParaRPr lang="en-IN" sz="2000" b="0" kern="1200" dirty="0">
            <a:solidFill>
              <a:schemeClr val="bg2"/>
            </a:solidFill>
            <a:latin typeface="Poppins" panose="00000500000000000000" pitchFamily="2" charset="0"/>
            <a:cs typeface="Poppins" panose="00000500000000000000" pitchFamily="2" charset="0"/>
          </a:endParaRPr>
        </a:p>
      </dsp:txBody>
      <dsp:txXfrm>
        <a:off x="0" y="3489570"/>
        <a:ext cx="8517834" cy="572493"/>
      </dsp:txXfrm>
    </dsp:sp>
    <dsp:sp modelId="{C4F3736B-4067-47AC-A7BB-BFE64843A969}">
      <dsp:nvSpPr>
        <dsp:cNvPr id="0" name=""/>
        <dsp:cNvSpPr/>
      </dsp:nvSpPr>
      <dsp:spPr>
        <a:xfrm rot="10800000">
          <a:off x="0" y="2617663"/>
          <a:ext cx="8517834" cy="880494"/>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2"/>
              </a:solidFill>
              <a:latin typeface="Poppins" panose="00000500000000000000" pitchFamily="2" charset="0"/>
              <a:cs typeface="Poppins" panose="00000500000000000000" pitchFamily="2" charset="0"/>
            </a:rPr>
            <a:t>Regenerative Braking System</a:t>
          </a:r>
          <a:endParaRPr lang="en-IN" sz="2000" b="0" kern="1200" dirty="0">
            <a:solidFill>
              <a:schemeClr val="tx2"/>
            </a:solidFill>
            <a:latin typeface="Poppins" panose="00000500000000000000" pitchFamily="2" charset="0"/>
            <a:cs typeface="Poppins" panose="00000500000000000000" pitchFamily="2" charset="0"/>
          </a:endParaRPr>
        </a:p>
      </dsp:txBody>
      <dsp:txXfrm rot="10800000">
        <a:off x="0" y="2617663"/>
        <a:ext cx="8517834" cy="572119"/>
      </dsp:txXfrm>
    </dsp:sp>
    <dsp:sp modelId="{125BCB8C-5B04-4201-97AD-69D82EAA3AD4}">
      <dsp:nvSpPr>
        <dsp:cNvPr id="0" name=""/>
        <dsp:cNvSpPr/>
      </dsp:nvSpPr>
      <dsp:spPr>
        <a:xfrm rot="10800000">
          <a:off x="0" y="1745756"/>
          <a:ext cx="8517834" cy="880494"/>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2"/>
              </a:solidFill>
              <a:latin typeface="Poppins" panose="00000500000000000000" pitchFamily="2" charset="0"/>
              <a:cs typeface="Poppins" panose="00000500000000000000" pitchFamily="2" charset="0"/>
            </a:rPr>
            <a:t>Motor Control Algorithms</a:t>
          </a:r>
          <a:endParaRPr lang="en-IN" sz="2000" b="0" kern="1200" dirty="0">
            <a:solidFill>
              <a:schemeClr val="bg2"/>
            </a:solidFill>
            <a:latin typeface="Poppins" panose="00000500000000000000" pitchFamily="2" charset="0"/>
            <a:cs typeface="Poppins" panose="00000500000000000000" pitchFamily="2" charset="0"/>
          </a:endParaRPr>
        </a:p>
      </dsp:txBody>
      <dsp:txXfrm rot="10800000">
        <a:off x="0" y="1745756"/>
        <a:ext cx="8517834" cy="572119"/>
      </dsp:txXfrm>
    </dsp:sp>
    <dsp:sp modelId="{5C738055-09DA-4D2C-96A7-D96B8EBF932D}">
      <dsp:nvSpPr>
        <dsp:cNvPr id="0" name=""/>
        <dsp:cNvSpPr/>
      </dsp:nvSpPr>
      <dsp:spPr>
        <a:xfrm rot="10800000">
          <a:off x="0" y="873849"/>
          <a:ext cx="8517834" cy="880494"/>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2"/>
              </a:solidFill>
              <a:latin typeface="Poppins" panose="00000500000000000000" pitchFamily="2" charset="0"/>
              <a:cs typeface="Poppins" panose="00000500000000000000" pitchFamily="2" charset="0"/>
            </a:rPr>
            <a:t>Electric Motor Drive System</a:t>
          </a:r>
          <a:endParaRPr lang="en-IN" sz="2000" b="0" kern="1200" dirty="0">
            <a:solidFill>
              <a:schemeClr val="tx2"/>
            </a:solidFill>
            <a:latin typeface="Poppins" panose="00000500000000000000" pitchFamily="2" charset="0"/>
            <a:cs typeface="Poppins" panose="00000500000000000000" pitchFamily="2" charset="0"/>
          </a:endParaRPr>
        </a:p>
      </dsp:txBody>
      <dsp:txXfrm rot="-10800000">
        <a:off x="0" y="873849"/>
        <a:ext cx="8517834" cy="309053"/>
      </dsp:txXfrm>
    </dsp:sp>
    <dsp:sp modelId="{45DD9A4F-6D5D-4820-8B23-72ED7DB8F83A}">
      <dsp:nvSpPr>
        <dsp:cNvPr id="0" name=""/>
        <dsp:cNvSpPr/>
      </dsp:nvSpPr>
      <dsp:spPr>
        <a:xfrm>
          <a:off x="4159" y="1182903"/>
          <a:ext cx="2836505" cy="263267"/>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DC/ BLDC Motor</a:t>
          </a:r>
          <a:endParaRPr lang="en-IN" sz="2000" b="0" kern="1200" dirty="0">
            <a:solidFill>
              <a:schemeClr val="bg1"/>
            </a:solidFill>
            <a:latin typeface="Poppins" panose="00000500000000000000" pitchFamily="2" charset="0"/>
            <a:cs typeface="Poppins" panose="00000500000000000000" pitchFamily="2" charset="0"/>
          </a:endParaRPr>
        </a:p>
      </dsp:txBody>
      <dsp:txXfrm>
        <a:off x="4159" y="1182903"/>
        <a:ext cx="2836505" cy="263267"/>
      </dsp:txXfrm>
    </dsp:sp>
    <dsp:sp modelId="{89B9AD49-4422-4A3A-A851-0D2D0D82088F}">
      <dsp:nvSpPr>
        <dsp:cNvPr id="0" name=""/>
        <dsp:cNvSpPr/>
      </dsp:nvSpPr>
      <dsp:spPr>
        <a:xfrm>
          <a:off x="2840664" y="1182903"/>
          <a:ext cx="2836505" cy="263267"/>
        </a:xfrm>
        <a:prstGeom prst="rect">
          <a:avLst/>
        </a:prstGeom>
        <a:solidFill>
          <a:schemeClr val="accent4">
            <a:tint val="40000"/>
            <a:alpha val="90000"/>
            <a:hueOff val="-4346911"/>
            <a:satOff val="-43734"/>
            <a:lumOff val="-103"/>
            <a:alphaOff val="0"/>
          </a:schemeClr>
        </a:solidFill>
        <a:ln w="9525" cap="flat" cmpd="sng" algn="ctr">
          <a:solidFill>
            <a:schemeClr val="accent4">
              <a:tint val="40000"/>
              <a:alpha val="90000"/>
              <a:hueOff val="-4346911"/>
              <a:satOff val="-43734"/>
              <a:lumOff val="-103"/>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Induction Motor</a:t>
          </a:r>
          <a:endParaRPr lang="en-IN" sz="2000" b="0" kern="1200" dirty="0">
            <a:solidFill>
              <a:schemeClr val="bg1"/>
            </a:solidFill>
            <a:latin typeface="Poppins" panose="00000500000000000000" pitchFamily="2" charset="0"/>
            <a:cs typeface="Poppins" panose="00000500000000000000" pitchFamily="2" charset="0"/>
          </a:endParaRPr>
        </a:p>
      </dsp:txBody>
      <dsp:txXfrm>
        <a:off x="2840664" y="1182903"/>
        <a:ext cx="2836505" cy="263267"/>
      </dsp:txXfrm>
    </dsp:sp>
    <dsp:sp modelId="{834C6B78-0251-4ECE-8B5F-9DA085531AC0}">
      <dsp:nvSpPr>
        <dsp:cNvPr id="0" name=""/>
        <dsp:cNvSpPr/>
      </dsp:nvSpPr>
      <dsp:spPr>
        <a:xfrm>
          <a:off x="5677169" y="1182903"/>
          <a:ext cx="2836505" cy="263267"/>
        </a:xfrm>
        <a:prstGeom prst="rect">
          <a:avLst/>
        </a:prstGeom>
        <a:solidFill>
          <a:schemeClr val="accent4">
            <a:tint val="40000"/>
            <a:alpha val="90000"/>
            <a:hueOff val="-8693823"/>
            <a:satOff val="-87467"/>
            <a:lumOff val="-206"/>
            <a:alphaOff val="0"/>
          </a:schemeClr>
        </a:solidFill>
        <a:ln w="9525" cap="flat" cmpd="sng" algn="ctr">
          <a:solidFill>
            <a:schemeClr val="accent4">
              <a:tint val="40000"/>
              <a:alpha val="90000"/>
              <a:hueOff val="-8693823"/>
              <a:satOff val="-87467"/>
              <a:lumOff val="-206"/>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PMSM</a:t>
          </a:r>
          <a:endParaRPr lang="en-IN" sz="2000" b="0" kern="1200" dirty="0">
            <a:solidFill>
              <a:schemeClr val="bg1"/>
            </a:solidFill>
            <a:latin typeface="Poppins" panose="00000500000000000000" pitchFamily="2" charset="0"/>
            <a:cs typeface="Poppins" panose="00000500000000000000" pitchFamily="2" charset="0"/>
          </a:endParaRPr>
        </a:p>
      </dsp:txBody>
      <dsp:txXfrm>
        <a:off x="5677169" y="1182903"/>
        <a:ext cx="2836505" cy="263267"/>
      </dsp:txXfrm>
    </dsp:sp>
    <dsp:sp modelId="{864D984C-EB1F-4210-9F87-F6D3DC5E38A7}">
      <dsp:nvSpPr>
        <dsp:cNvPr id="0" name=""/>
        <dsp:cNvSpPr/>
      </dsp:nvSpPr>
      <dsp:spPr>
        <a:xfrm rot="10800000">
          <a:off x="0" y="1942"/>
          <a:ext cx="8517834" cy="880494"/>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2"/>
              </a:solidFill>
              <a:latin typeface="Poppins" panose="00000500000000000000" pitchFamily="2" charset="0"/>
              <a:cs typeface="Poppins" panose="00000500000000000000" pitchFamily="2" charset="0"/>
            </a:rPr>
            <a:t>Electric Vehicle Technology</a:t>
          </a:r>
          <a:endParaRPr lang="en-IN" sz="2000" b="0" kern="1200" dirty="0">
            <a:solidFill>
              <a:schemeClr val="bg2"/>
            </a:solidFill>
            <a:latin typeface="Poppins" panose="00000500000000000000" pitchFamily="2" charset="0"/>
            <a:cs typeface="Poppins" panose="00000500000000000000" pitchFamily="2" charset="0"/>
          </a:endParaRPr>
        </a:p>
      </dsp:txBody>
      <dsp:txXfrm rot="10800000">
        <a:off x="0" y="1942"/>
        <a:ext cx="8517834" cy="5721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9CB25-2E48-477D-911F-010F64759F13}">
      <dsp:nvSpPr>
        <dsp:cNvPr id="0" name=""/>
        <dsp:cNvSpPr/>
      </dsp:nvSpPr>
      <dsp:spPr>
        <a:xfrm>
          <a:off x="0" y="3333365"/>
          <a:ext cx="8517834" cy="729258"/>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2"/>
              </a:solidFill>
              <a:latin typeface="Poppins" panose="00000500000000000000" pitchFamily="2" charset="0"/>
              <a:cs typeface="Poppins" panose="00000500000000000000" pitchFamily="2" charset="0"/>
            </a:rPr>
            <a:t>Battery Technology for EV’s</a:t>
          </a:r>
          <a:endParaRPr lang="en-IN" sz="2000" kern="1200" dirty="0">
            <a:solidFill>
              <a:schemeClr val="bg2"/>
            </a:solidFill>
            <a:latin typeface="Poppins" panose="00000500000000000000" pitchFamily="2" charset="0"/>
            <a:cs typeface="Poppins" panose="00000500000000000000" pitchFamily="2" charset="0"/>
          </a:endParaRPr>
        </a:p>
      </dsp:txBody>
      <dsp:txXfrm>
        <a:off x="0" y="3333365"/>
        <a:ext cx="8517834" cy="729258"/>
      </dsp:txXfrm>
    </dsp:sp>
    <dsp:sp modelId="{296390E6-2BC7-49EE-AA2C-6C9C8A30B991}">
      <dsp:nvSpPr>
        <dsp:cNvPr id="0" name=""/>
        <dsp:cNvSpPr/>
      </dsp:nvSpPr>
      <dsp:spPr>
        <a:xfrm rot="10800000">
          <a:off x="0" y="2222704"/>
          <a:ext cx="8517834" cy="1121600"/>
        </a:xfrm>
        <a:prstGeom prst="upArrowCallout">
          <a:avLst/>
        </a:prstGeom>
        <a:solidFill>
          <a:schemeClr val="accent4">
            <a:hueOff val="-2893258"/>
            <a:satOff val="-28986"/>
            <a:lumOff val="-6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2"/>
              </a:solidFill>
              <a:latin typeface="Poppins" panose="00000500000000000000" pitchFamily="2" charset="0"/>
              <a:cs typeface="Poppins" panose="00000500000000000000" pitchFamily="2" charset="0"/>
            </a:rPr>
            <a:t>Lightweight EVs Material</a:t>
          </a:r>
          <a:endParaRPr lang="en-IN" sz="2000" kern="1200" dirty="0">
            <a:solidFill>
              <a:schemeClr val="tx2"/>
            </a:solidFill>
            <a:latin typeface="Poppins" panose="00000500000000000000" pitchFamily="2" charset="0"/>
            <a:cs typeface="Poppins" panose="00000500000000000000" pitchFamily="2" charset="0"/>
          </a:endParaRPr>
        </a:p>
      </dsp:txBody>
      <dsp:txXfrm rot="10800000">
        <a:off x="0" y="2222704"/>
        <a:ext cx="8517834" cy="728782"/>
      </dsp:txXfrm>
    </dsp:sp>
    <dsp:sp modelId="{DAB340E0-90B3-4DAB-9A93-13821A8AF6D8}">
      <dsp:nvSpPr>
        <dsp:cNvPr id="0" name=""/>
        <dsp:cNvSpPr/>
      </dsp:nvSpPr>
      <dsp:spPr>
        <a:xfrm rot="10800000">
          <a:off x="0" y="1112042"/>
          <a:ext cx="8517834" cy="1121600"/>
        </a:xfrm>
        <a:prstGeom prst="upArrowCallout">
          <a:avLst/>
        </a:prstGeom>
        <a:solidFill>
          <a:schemeClr val="accent4">
            <a:hueOff val="-5786515"/>
            <a:satOff val="-57971"/>
            <a:lumOff val="-13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2"/>
              </a:solidFill>
              <a:latin typeface="Poppins" panose="00000500000000000000" pitchFamily="2" charset="0"/>
              <a:cs typeface="Poppins" panose="00000500000000000000" pitchFamily="2" charset="0"/>
            </a:rPr>
            <a:t>Structural Design of EVs</a:t>
          </a:r>
          <a:endParaRPr lang="en-IN" sz="2000" kern="1200" dirty="0">
            <a:solidFill>
              <a:schemeClr val="bg2"/>
            </a:solidFill>
            <a:latin typeface="Poppins" panose="00000500000000000000" pitchFamily="2" charset="0"/>
            <a:cs typeface="Poppins" panose="00000500000000000000" pitchFamily="2" charset="0"/>
          </a:endParaRPr>
        </a:p>
      </dsp:txBody>
      <dsp:txXfrm rot="10800000">
        <a:off x="0" y="1112042"/>
        <a:ext cx="8517834" cy="728782"/>
      </dsp:txXfrm>
    </dsp:sp>
    <dsp:sp modelId="{0702275E-3019-4717-8D2E-E31054C78593}">
      <dsp:nvSpPr>
        <dsp:cNvPr id="0" name=""/>
        <dsp:cNvSpPr/>
      </dsp:nvSpPr>
      <dsp:spPr>
        <a:xfrm rot="10800000">
          <a:off x="0" y="1381"/>
          <a:ext cx="8517834" cy="1121600"/>
        </a:xfrm>
        <a:prstGeom prst="upArrowCallout">
          <a:avLst/>
        </a:prstGeom>
        <a:solidFill>
          <a:schemeClr val="accent4">
            <a:hueOff val="-8679772"/>
            <a:satOff val="-86957"/>
            <a:lumOff val="-19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2"/>
              </a:solidFill>
              <a:latin typeface="Poppins" panose="00000500000000000000" pitchFamily="2" charset="0"/>
              <a:cs typeface="Poppins" panose="00000500000000000000" pitchFamily="2" charset="0"/>
            </a:rPr>
            <a:t>Vehicle Dynamics in EV’s</a:t>
          </a:r>
          <a:endParaRPr lang="en-IN" sz="2000" kern="1200" dirty="0">
            <a:solidFill>
              <a:schemeClr val="tx2"/>
            </a:solidFill>
            <a:latin typeface="Poppins" panose="00000500000000000000" pitchFamily="2" charset="0"/>
            <a:cs typeface="Poppins" panose="00000500000000000000" pitchFamily="2" charset="0"/>
          </a:endParaRPr>
        </a:p>
      </dsp:txBody>
      <dsp:txXfrm rot="10800000">
        <a:off x="0" y="1381"/>
        <a:ext cx="8517834" cy="7287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BC99F3-D8DA-4B0D-806F-8B20D1093426}">
      <dsp:nvSpPr>
        <dsp:cNvPr id="0" name=""/>
        <dsp:cNvSpPr/>
      </dsp:nvSpPr>
      <dsp:spPr>
        <a:xfrm>
          <a:off x="0" y="3333365"/>
          <a:ext cx="8517834" cy="729258"/>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latin typeface="Poppins" panose="00000500000000000000" pitchFamily="2" charset="0"/>
              <a:cs typeface="Poppins" panose="00000500000000000000" pitchFamily="2" charset="0"/>
            </a:rPr>
            <a:t>Safety Standards for EVs</a:t>
          </a:r>
          <a:endParaRPr lang="en-IN" sz="2100" kern="1200" dirty="0">
            <a:solidFill>
              <a:schemeClr val="bg2"/>
            </a:solidFill>
            <a:latin typeface="Poppins" panose="00000500000000000000" pitchFamily="2" charset="0"/>
            <a:cs typeface="Poppins" panose="00000500000000000000" pitchFamily="2" charset="0"/>
          </a:endParaRPr>
        </a:p>
      </dsp:txBody>
      <dsp:txXfrm>
        <a:off x="0" y="3333365"/>
        <a:ext cx="8517834" cy="729258"/>
      </dsp:txXfrm>
    </dsp:sp>
    <dsp:sp modelId="{A4E01F0E-2D04-49E3-9159-F5604FBDF3BB}">
      <dsp:nvSpPr>
        <dsp:cNvPr id="0" name=""/>
        <dsp:cNvSpPr/>
      </dsp:nvSpPr>
      <dsp:spPr>
        <a:xfrm rot="10800000">
          <a:off x="0" y="2222704"/>
          <a:ext cx="8517834" cy="1121600"/>
        </a:xfrm>
        <a:prstGeom prst="upArrowCallout">
          <a:avLst/>
        </a:prstGeom>
        <a:solidFill>
          <a:schemeClr val="accent4">
            <a:hueOff val="-2893258"/>
            <a:satOff val="-28986"/>
            <a:lumOff val="-6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latin typeface="Poppins" panose="00000500000000000000" pitchFamily="2" charset="0"/>
              <a:cs typeface="Poppins" panose="00000500000000000000" pitchFamily="2" charset="0"/>
            </a:rPr>
            <a:t>Performance, Emerging Technologies, and Innovation for EV’s </a:t>
          </a:r>
          <a:endParaRPr lang="en-IN" sz="2100" kern="1200" dirty="0">
            <a:solidFill>
              <a:schemeClr val="tx2"/>
            </a:solidFill>
            <a:latin typeface="Poppins" panose="00000500000000000000" pitchFamily="2" charset="0"/>
            <a:cs typeface="Poppins" panose="00000500000000000000" pitchFamily="2" charset="0"/>
          </a:endParaRPr>
        </a:p>
      </dsp:txBody>
      <dsp:txXfrm rot="10800000">
        <a:off x="0" y="2222704"/>
        <a:ext cx="8517834" cy="728782"/>
      </dsp:txXfrm>
    </dsp:sp>
    <dsp:sp modelId="{E0218708-2B53-41AA-9031-72184B881E4D}">
      <dsp:nvSpPr>
        <dsp:cNvPr id="0" name=""/>
        <dsp:cNvSpPr/>
      </dsp:nvSpPr>
      <dsp:spPr>
        <a:xfrm rot="10800000">
          <a:off x="0" y="1112042"/>
          <a:ext cx="8517834" cy="1121600"/>
        </a:xfrm>
        <a:prstGeom prst="upArrowCallout">
          <a:avLst/>
        </a:prstGeom>
        <a:solidFill>
          <a:schemeClr val="accent4">
            <a:hueOff val="-5786515"/>
            <a:satOff val="-57971"/>
            <a:lumOff val="-13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2"/>
              </a:solidFill>
              <a:latin typeface="Poppins" panose="00000500000000000000" pitchFamily="2" charset="0"/>
              <a:cs typeface="Poppins" panose="00000500000000000000" pitchFamily="2" charset="0"/>
            </a:rPr>
            <a:t>Charging Infrastructure System</a:t>
          </a:r>
          <a:endParaRPr lang="en-IN" sz="2100" kern="1200" dirty="0">
            <a:solidFill>
              <a:schemeClr val="bg2"/>
            </a:solidFill>
            <a:latin typeface="Poppins" panose="00000500000000000000" pitchFamily="2" charset="0"/>
            <a:cs typeface="Poppins" panose="00000500000000000000" pitchFamily="2" charset="0"/>
          </a:endParaRPr>
        </a:p>
      </dsp:txBody>
      <dsp:txXfrm rot="10800000">
        <a:off x="0" y="1112042"/>
        <a:ext cx="8517834" cy="728782"/>
      </dsp:txXfrm>
    </dsp:sp>
    <dsp:sp modelId="{864D984C-EB1F-4210-9F87-F6D3DC5E38A7}">
      <dsp:nvSpPr>
        <dsp:cNvPr id="0" name=""/>
        <dsp:cNvSpPr/>
      </dsp:nvSpPr>
      <dsp:spPr>
        <a:xfrm rot="10800000">
          <a:off x="0" y="1381"/>
          <a:ext cx="8517834" cy="1121600"/>
        </a:xfrm>
        <a:prstGeom prst="upArrowCallout">
          <a:avLst/>
        </a:prstGeom>
        <a:solidFill>
          <a:schemeClr val="accent4">
            <a:hueOff val="-8679772"/>
            <a:satOff val="-86957"/>
            <a:lumOff val="-19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2"/>
              </a:solidFill>
              <a:latin typeface="Poppins" panose="00000500000000000000" pitchFamily="2" charset="0"/>
              <a:cs typeface="Poppins" panose="00000500000000000000" pitchFamily="2" charset="0"/>
            </a:rPr>
            <a:t>Battery Management System</a:t>
          </a:r>
          <a:endParaRPr lang="en-IN" sz="2000" b="0" kern="1200" dirty="0">
            <a:solidFill>
              <a:schemeClr val="bg2"/>
            </a:solidFill>
            <a:latin typeface="Poppins" panose="00000500000000000000" pitchFamily="2" charset="0"/>
            <a:cs typeface="Poppins" panose="00000500000000000000" pitchFamily="2" charset="0"/>
          </a:endParaRPr>
        </a:p>
      </dsp:txBody>
      <dsp:txXfrm rot="10800000">
        <a:off x="0" y="1381"/>
        <a:ext cx="8517834" cy="7287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3bee41f1aa_0_27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3bee41f1aa_0_27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5008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1a8596d4f5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11a8596d4f5_2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a4aff8b98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a4aff8b98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3b9488f8bd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3b9488f8bd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8372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3b9488f8bd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3b9488f8bd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9736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2ddc63ab0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2ddc63ab0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9843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3a4aff8b98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3a4aff8b98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5"/>
        <p:cNvGrpSpPr/>
        <p:nvPr/>
      </p:nvGrpSpPr>
      <p:grpSpPr>
        <a:xfrm>
          <a:off x="0" y="0"/>
          <a:ext cx="0" cy="0"/>
          <a:chOff x="0" y="0"/>
          <a:chExt cx="0" cy="0"/>
        </a:xfrm>
      </p:grpSpPr>
      <p:sp>
        <p:nvSpPr>
          <p:cNvPr id="5126" name="Google Shape;5126;g13b9488f8bd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7" name="Google Shape;5127;g13b9488f8bd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990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2ddc63ab0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2ddc63ab0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675c7cf38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675c7cf38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13a4aff8b98_0_5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13a4aff8b98_0_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3a4aff8b98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3a4aff8b98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5"/>
        <p:cNvGrpSpPr/>
        <p:nvPr/>
      </p:nvGrpSpPr>
      <p:grpSpPr>
        <a:xfrm>
          <a:off x="0" y="0"/>
          <a:ext cx="0" cy="0"/>
          <a:chOff x="0" y="0"/>
          <a:chExt cx="0" cy="0"/>
        </a:xfrm>
      </p:grpSpPr>
      <p:sp>
        <p:nvSpPr>
          <p:cNvPr id="5126" name="Google Shape;5126;g13b9488f8bd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7" name="Google Shape;5127;g13b9488f8bd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2929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75300" y="829149"/>
            <a:ext cx="6593400" cy="1774200"/>
          </a:xfrm>
          <a:prstGeom prst="rect">
            <a:avLst/>
          </a:prstGeom>
        </p:spPr>
        <p:txBody>
          <a:bodyPr spcFirstLastPara="1" wrap="square" lIns="91425" tIns="91425" rIns="91425" bIns="91425" anchor="ctr" anchorCtr="0">
            <a:noAutofit/>
          </a:bodyPr>
          <a:lstStyle>
            <a:lvl1pPr lvl="0" algn="ctr">
              <a:spcBef>
                <a:spcPts val="0"/>
              </a:spcBef>
              <a:spcAft>
                <a:spcPts val="0"/>
              </a:spcAft>
              <a:buSzPts val="6200"/>
              <a:buNone/>
              <a:defRPr sz="4600" b="1"/>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480100" y="2759713"/>
            <a:ext cx="4183800" cy="296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400"/>
              <a:buNone/>
              <a:defRPr sz="1600" i="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868050" y="1517694"/>
            <a:ext cx="5564700" cy="9168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2"/>
              </a:buClr>
              <a:buSzPts val="3200"/>
              <a:buNone/>
              <a:defRPr sz="5900" b="1">
                <a:latin typeface="Montserrat"/>
                <a:ea typeface="Montserrat"/>
                <a:cs typeface="Montserrat"/>
                <a:sym typeface="Montserrat"/>
              </a:defRPr>
            </a:lvl1pPr>
            <a:lvl2pPr lvl="1" algn="ctr">
              <a:spcBef>
                <a:spcPts val="0"/>
              </a:spcBef>
              <a:spcAft>
                <a:spcPts val="0"/>
              </a:spcAft>
              <a:buClr>
                <a:schemeClr val="dk2"/>
              </a:buClr>
              <a:buSzPts val="3600"/>
              <a:buNone/>
              <a:defRPr sz="3600">
                <a:solidFill>
                  <a:schemeClr val="dk2"/>
                </a:solidFill>
              </a:defRPr>
            </a:lvl2pPr>
            <a:lvl3pPr lvl="2" algn="ctr">
              <a:spcBef>
                <a:spcPts val="0"/>
              </a:spcBef>
              <a:spcAft>
                <a:spcPts val="0"/>
              </a:spcAft>
              <a:buClr>
                <a:schemeClr val="dk2"/>
              </a:buClr>
              <a:buSzPts val="3600"/>
              <a:buNone/>
              <a:defRPr sz="3600">
                <a:solidFill>
                  <a:schemeClr val="dk2"/>
                </a:solidFill>
              </a:defRPr>
            </a:lvl3pPr>
            <a:lvl4pPr lvl="3" algn="ctr">
              <a:spcBef>
                <a:spcPts val="0"/>
              </a:spcBef>
              <a:spcAft>
                <a:spcPts val="0"/>
              </a:spcAft>
              <a:buClr>
                <a:schemeClr val="dk2"/>
              </a:buClr>
              <a:buSzPts val="3600"/>
              <a:buNone/>
              <a:defRPr sz="3600">
                <a:solidFill>
                  <a:schemeClr val="dk2"/>
                </a:solidFill>
              </a:defRPr>
            </a:lvl4pPr>
            <a:lvl5pPr lvl="4" algn="ctr">
              <a:spcBef>
                <a:spcPts val="0"/>
              </a:spcBef>
              <a:spcAft>
                <a:spcPts val="0"/>
              </a:spcAft>
              <a:buClr>
                <a:schemeClr val="dk2"/>
              </a:buClr>
              <a:buSzPts val="3600"/>
              <a:buNone/>
              <a:defRPr sz="3600">
                <a:solidFill>
                  <a:schemeClr val="dk2"/>
                </a:solidFill>
              </a:defRPr>
            </a:lvl5pPr>
            <a:lvl6pPr lvl="5" algn="ctr">
              <a:spcBef>
                <a:spcPts val="0"/>
              </a:spcBef>
              <a:spcAft>
                <a:spcPts val="0"/>
              </a:spcAft>
              <a:buClr>
                <a:schemeClr val="dk2"/>
              </a:buClr>
              <a:buSzPts val="3600"/>
              <a:buNone/>
              <a:defRPr sz="3600">
                <a:solidFill>
                  <a:schemeClr val="dk2"/>
                </a:solidFill>
              </a:defRPr>
            </a:lvl6pPr>
            <a:lvl7pPr lvl="6" algn="ctr">
              <a:spcBef>
                <a:spcPts val="0"/>
              </a:spcBef>
              <a:spcAft>
                <a:spcPts val="0"/>
              </a:spcAft>
              <a:buClr>
                <a:schemeClr val="dk2"/>
              </a:buClr>
              <a:buSzPts val="3600"/>
              <a:buNone/>
              <a:defRPr sz="3600">
                <a:solidFill>
                  <a:schemeClr val="dk2"/>
                </a:solidFill>
              </a:defRPr>
            </a:lvl7pPr>
            <a:lvl8pPr lvl="7" algn="ctr">
              <a:spcBef>
                <a:spcPts val="0"/>
              </a:spcBef>
              <a:spcAft>
                <a:spcPts val="0"/>
              </a:spcAft>
              <a:buClr>
                <a:schemeClr val="dk2"/>
              </a:buClr>
              <a:buSzPts val="3600"/>
              <a:buNone/>
              <a:defRPr sz="3600">
                <a:solidFill>
                  <a:schemeClr val="dk2"/>
                </a:solidFill>
              </a:defRPr>
            </a:lvl8pPr>
            <a:lvl9pPr lvl="8" algn="ctr">
              <a:spcBef>
                <a:spcPts val="0"/>
              </a:spcBef>
              <a:spcAft>
                <a:spcPts val="0"/>
              </a:spcAft>
              <a:buClr>
                <a:schemeClr val="dk2"/>
              </a:buClr>
              <a:buSzPts val="3600"/>
              <a:buNone/>
              <a:defRPr sz="3600">
                <a:solidFill>
                  <a:schemeClr val="dk2"/>
                </a:solidFill>
              </a:defRPr>
            </a:lvl9pPr>
          </a:lstStyle>
          <a:p>
            <a:endParaRPr/>
          </a:p>
        </p:txBody>
      </p:sp>
      <p:sp>
        <p:nvSpPr>
          <p:cNvPr id="13" name="Google Shape;13;p3"/>
          <p:cNvSpPr txBox="1">
            <a:spLocks noGrp="1"/>
          </p:cNvSpPr>
          <p:nvPr>
            <p:ph type="title" idx="2" hasCustomPrompt="1"/>
          </p:nvPr>
        </p:nvSpPr>
        <p:spPr>
          <a:xfrm>
            <a:off x="7236246" y="539499"/>
            <a:ext cx="1196400" cy="747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650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4" name="Google Shape;14;p3"/>
          <p:cNvSpPr txBox="1">
            <a:spLocks noGrp="1"/>
          </p:cNvSpPr>
          <p:nvPr>
            <p:ph type="subTitle" idx="1"/>
          </p:nvPr>
        </p:nvSpPr>
        <p:spPr>
          <a:xfrm>
            <a:off x="4004046" y="2837213"/>
            <a:ext cx="4183800" cy="309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2200"/>
              <a:buNone/>
              <a:defRPr sz="1600" i="0">
                <a:solidFill>
                  <a:schemeClr val="lt1"/>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713250" y="539385"/>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3200"/>
              <a:buNone/>
              <a:defRPr b="1">
                <a:latin typeface="Montserrat"/>
                <a:ea typeface="Montserrat"/>
                <a:cs typeface="Montserrat"/>
                <a:sym typeface="Montserrat"/>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24" name="Google Shape;24;p5"/>
          <p:cNvSpPr txBox="1">
            <a:spLocks noGrp="1"/>
          </p:cNvSpPr>
          <p:nvPr>
            <p:ph type="subTitle" idx="1"/>
          </p:nvPr>
        </p:nvSpPr>
        <p:spPr>
          <a:xfrm>
            <a:off x="1322627" y="1793650"/>
            <a:ext cx="2807100" cy="41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2200"/>
              <a:buNone/>
              <a:defRPr sz="2100" b="1" i="0">
                <a:solidFill>
                  <a:schemeClr val="lt1"/>
                </a:solidFill>
                <a:latin typeface="Montserrat"/>
                <a:ea typeface="Montserrat"/>
                <a:cs typeface="Montserrat"/>
                <a:sym typeface="Montserrat"/>
              </a:defRPr>
            </a:lvl1pPr>
            <a:lvl2pPr lvl="1" algn="ctr">
              <a:spcBef>
                <a:spcPts val="0"/>
              </a:spcBef>
              <a:spcAft>
                <a:spcPts val="0"/>
              </a:spcAft>
              <a:buClr>
                <a:schemeClr val="dk2"/>
              </a:buClr>
              <a:buSzPts val="2200"/>
              <a:buNone/>
              <a:defRPr sz="2200">
                <a:solidFill>
                  <a:schemeClr val="dk2"/>
                </a:solidFill>
              </a:defRPr>
            </a:lvl2pPr>
            <a:lvl3pPr lvl="2" algn="ctr">
              <a:spcBef>
                <a:spcPts val="0"/>
              </a:spcBef>
              <a:spcAft>
                <a:spcPts val="0"/>
              </a:spcAft>
              <a:buSzPts val="2200"/>
              <a:buNone/>
              <a:defRPr sz="2200"/>
            </a:lvl3pPr>
            <a:lvl4pPr lvl="3" algn="ctr">
              <a:spcBef>
                <a:spcPts val="0"/>
              </a:spcBef>
              <a:spcAft>
                <a:spcPts val="0"/>
              </a:spcAft>
              <a:buSzPts val="2200"/>
              <a:buNone/>
              <a:defRPr sz="2200"/>
            </a:lvl4pPr>
            <a:lvl5pPr lvl="4" algn="ctr">
              <a:spcBef>
                <a:spcPts val="0"/>
              </a:spcBef>
              <a:spcAft>
                <a:spcPts val="0"/>
              </a:spcAft>
              <a:buSzPts val="2200"/>
              <a:buNone/>
              <a:defRPr sz="2200"/>
            </a:lvl5pPr>
            <a:lvl6pPr lvl="5" algn="ctr">
              <a:spcBef>
                <a:spcPts val="0"/>
              </a:spcBef>
              <a:spcAft>
                <a:spcPts val="0"/>
              </a:spcAft>
              <a:buSzPts val="2200"/>
              <a:buNone/>
              <a:defRPr sz="2200"/>
            </a:lvl6pPr>
            <a:lvl7pPr lvl="6" algn="ctr">
              <a:spcBef>
                <a:spcPts val="0"/>
              </a:spcBef>
              <a:spcAft>
                <a:spcPts val="0"/>
              </a:spcAft>
              <a:buSzPts val="2200"/>
              <a:buNone/>
              <a:defRPr sz="2200"/>
            </a:lvl7pPr>
            <a:lvl8pPr lvl="7" algn="ctr">
              <a:spcBef>
                <a:spcPts val="0"/>
              </a:spcBef>
              <a:spcAft>
                <a:spcPts val="0"/>
              </a:spcAft>
              <a:buSzPts val="2200"/>
              <a:buNone/>
              <a:defRPr sz="2200"/>
            </a:lvl8pPr>
            <a:lvl9pPr lvl="8" algn="ctr">
              <a:spcBef>
                <a:spcPts val="0"/>
              </a:spcBef>
              <a:spcAft>
                <a:spcPts val="0"/>
              </a:spcAft>
              <a:buSzPts val="2200"/>
              <a:buNone/>
              <a:defRPr sz="2200"/>
            </a:lvl9pPr>
          </a:lstStyle>
          <a:p>
            <a:endParaRPr/>
          </a:p>
        </p:txBody>
      </p:sp>
      <p:sp>
        <p:nvSpPr>
          <p:cNvPr id="25" name="Google Shape;25;p5"/>
          <p:cNvSpPr txBox="1">
            <a:spLocks noGrp="1"/>
          </p:cNvSpPr>
          <p:nvPr>
            <p:ph type="body" idx="2"/>
          </p:nvPr>
        </p:nvSpPr>
        <p:spPr>
          <a:xfrm>
            <a:off x="1322630" y="2161651"/>
            <a:ext cx="2807100" cy="10059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i="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6" name="Google Shape;26;p5"/>
          <p:cNvSpPr txBox="1">
            <a:spLocks noGrp="1"/>
          </p:cNvSpPr>
          <p:nvPr>
            <p:ph type="subTitle" idx="3"/>
          </p:nvPr>
        </p:nvSpPr>
        <p:spPr>
          <a:xfrm>
            <a:off x="5624046" y="3089040"/>
            <a:ext cx="28071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dk2"/>
              </a:buClr>
              <a:buSzPts val="2200"/>
              <a:buNone/>
              <a:defRPr sz="2200">
                <a:solidFill>
                  <a:schemeClr val="dk2"/>
                </a:solidFill>
              </a:defRPr>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27" name="Google Shape;27;p5"/>
          <p:cNvSpPr txBox="1">
            <a:spLocks noGrp="1"/>
          </p:cNvSpPr>
          <p:nvPr>
            <p:ph type="body" idx="4"/>
          </p:nvPr>
        </p:nvSpPr>
        <p:spPr>
          <a:xfrm>
            <a:off x="5624046" y="3457040"/>
            <a:ext cx="2807100" cy="1005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i="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713225" y="566047"/>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3000"/>
              <a:buNone/>
              <a:defRPr sz="3000"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 name="Google Shape;38;p7"/>
          <p:cNvSpPr txBox="1">
            <a:spLocks noGrp="1"/>
          </p:cNvSpPr>
          <p:nvPr>
            <p:ph type="body" idx="1"/>
          </p:nvPr>
        </p:nvSpPr>
        <p:spPr>
          <a:xfrm>
            <a:off x="713100" y="2224475"/>
            <a:ext cx="3858900" cy="1929300"/>
          </a:xfrm>
          <a:prstGeom prst="rect">
            <a:avLst/>
          </a:prstGeom>
        </p:spPr>
        <p:txBody>
          <a:bodyPr spcFirstLastPara="1" wrap="square" lIns="91425" tIns="91425" rIns="91425" bIns="91425" anchor="b" anchorCtr="0">
            <a:noAutofit/>
          </a:bodyPr>
          <a:lstStyle>
            <a:lvl1pPr marL="457200" lvl="0" indent="-317500" rtl="0">
              <a:lnSpc>
                <a:spcPct val="100000"/>
              </a:lnSpc>
              <a:spcBef>
                <a:spcPts val="0"/>
              </a:spcBef>
              <a:spcAft>
                <a:spcPts val="0"/>
              </a:spcAft>
              <a:buSzPts val="1400"/>
              <a:buChar char="●"/>
              <a:defRPr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
        <p:nvSpPr>
          <p:cNvPr id="39" name="Google Shape;39;p7"/>
          <p:cNvSpPr/>
          <p:nvPr/>
        </p:nvSpPr>
        <p:spPr>
          <a:xfrm rot="5400000">
            <a:off x="-1187550" y="3012084"/>
            <a:ext cx="3801558" cy="836538"/>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7"/>
          <p:cNvSpPr/>
          <p:nvPr/>
        </p:nvSpPr>
        <p:spPr>
          <a:xfrm flipH="1">
            <a:off x="8222219" y="1996912"/>
            <a:ext cx="1402567" cy="33239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flipH="1">
            <a:off x="1889577" y="1412188"/>
            <a:ext cx="6541200" cy="2294400"/>
          </a:xfrm>
          <a:prstGeom prst="rect">
            <a:avLst/>
          </a:prstGeom>
        </p:spPr>
        <p:txBody>
          <a:bodyPr spcFirstLastPara="1" wrap="square" lIns="91425" tIns="91425" rIns="91425" bIns="91425" anchor="ctr" anchorCtr="0">
            <a:noAutofit/>
          </a:bodyPr>
          <a:lstStyle>
            <a:lvl1pPr lvl="0" algn="r">
              <a:spcBef>
                <a:spcPts val="0"/>
              </a:spcBef>
              <a:spcAft>
                <a:spcPts val="0"/>
              </a:spcAft>
              <a:buSzPts val="3200"/>
              <a:buFont typeface="Merriweather"/>
              <a:buNone/>
              <a:defRPr sz="8000" b="1">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1"/>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_6">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713225" y="539496"/>
            <a:ext cx="7717500" cy="5760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2"/>
              </a:buClr>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4" name="Google Shape;64;p13"/>
          <p:cNvSpPr txBox="1">
            <a:spLocks noGrp="1"/>
          </p:cNvSpPr>
          <p:nvPr>
            <p:ph type="title" idx="2" hasCustomPrompt="1"/>
          </p:nvPr>
        </p:nvSpPr>
        <p:spPr>
          <a:xfrm>
            <a:off x="713430" y="1565731"/>
            <a:ext cx="2523000" cy="365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600"/>
              <a:buFont typeface="Pangolin"/>
              <a:buNone/>
              <a:defRPr sz="3000" b="0">
                <a:solidFill>
                  <a:schemeClr val="dk2"/>
                </a:solidFill>
                <a:latin typeface="Montserrat ExtraBold"/>
                <a:ea typeface="Montserrat ExtraBold"/>
                <a:cs typeface="Montserrat ExtraBold"/>
                <a:sym typeface="Montserrat Extra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65" name="Google Shape;65;p13"/>
          <p:cNvSpPr txBox="1">
            <a:spLocks noGrp="1"/>
          </p:cNvSpPr>
          <p:nvPr>
            <p:ph type="subTitle" idx="1"/>
          </p:nvPr>
        </p:nvSpPr>
        <p:spPr>
          <a:xfrm>
            <a:off x="713430" y="1940638"/>
            <a:ext cx="2525700" cy="365700"/>
          </a:xfrm>
          <a:prstGeom prst="rect">
            <a:avLst/>
          </a:prstGeom>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accent2"/>
              </a:buClr>
              <a:buSzPts val="3000"/>
              <a:buNone/>
              <a:defRPr sz="2100" b="1" i="0">
                <a:solidFill>
                  <a:schemeClr val="lt1"/>
                </a:solidFill>
                <a:latin typeface="Montserrat"/>
                <a:ea typeface="Montserrat"/>
                <a:cs typeface="Montserrat"/>
                <a:sym typeface="Montserrat"/>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a:endParaRPr/>
          </a:p>
        </p:txBody>
      </p:sp>
      <p:sp>
        <p:nvSpPr>
          <p:cNvPr id="66" name="Google Shape;66;p13"/>
          <p:cNvSpPr txBox="1">
            <a:spLocks noGrp="1"/>
          </p:cNvSpPr>
          <p:nvPr>
            <p:ph type="subTitle" idx="3"/>
          </p:nvPr>
        </p:nvSpPr>
        <p:spPr>
          <a:xfrm>
            <a:off x="713430" y="2251704"/>
            <a:ext cx="25257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67" name="Google Shape;67;p13"/>
          <p:cNvSpPr txBox="1">
            <a:spLocks noGrp="1"/>
          </p:cNvSpPr>
          <p:nvPr>
            <p:ph type="title" idx="4" hasCustomPrompt="1"/>
          </p:nvPr>
        </p:nvSpPr>
        <p:spPr>
          <a:xfrm>
            <a:off x="4185104" y="1565738"/>
            <a:ext cx="2515500" cy="365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600"/>
              <a:buFont typeface="Pangolin"/>
              <a:buNone/>
              <a:defRPr sz="3000" b="0">
                <a:solidFill>
                  <a:schemeClr val="dk2"/>
                </a:solidFill>
                <a:latin typeface="Montserrat ExtraBold"/>
                <a:ea typeface="Montserrat ExtraBold"/>
                <a:cs typeface="Montserrat ExtraBold"/>
                <a:sym typeface="Montserrat Extra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68" name="Google Shape;68;p13"/>
          <p:cNvSpPr txBox="1">
            <a:spLocks noGrp="1"/>
          </p:cNvSpPr>
          <p:nvPr>
            <p:ph type="subTitle" idx="5"/>
          </p:nvPr>
        </p:nvSpPr>
        <p:spPr>
          <a:xfrm>
            <a:off x="4185304" y="1940643"/>
            <a:ext cx="25179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2100" b="1" i="0">
                <a:solidFill>
                  <a:schemeClr val="lt1"/>
                </a:solidFill>
                <a:latin typeface="Montserrat"/>
                <a:ea typeface="Montserrat"/>
                <a:cs typeface="Montserrat"/>
                <a:sym typeface="Montserrat"/>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69" name="Google Shape;69;p13"/>
          <p:cNvSpPr txBox="1">
            <a:spLocks noGrp="1"/>
          </p:cNvSpPr>
          <p:nvPr>
            <p:ph type="subTitle" idx="6"/>
          </p:nvPr>
        </p:nvSpPr>
        <p:spPr>
          <a:xfrm>
            <a:off x="4185304" y="2251709"/>
            <a:ext cx="25179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70" name="Google Shape;70;p13"/>
          <p:cNvSpPr txBox="1">
            <a:spLocks noGrp="1"/>
          </p:cNvSpPr>
          <p:nvPr>
            <p:ph type="title" idx="7" hasCustomPrompt="1"/>
          </p:nvPr>
        </p:nvSpPr>
        <p:spPr>
          <a:xfrm>
            <a:off x="2449267" y="3134697"/>
            <a:ext cx="2523000" cy="365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600"/>
              <a:buFont typeface="Pangolin"/>
              <a:buNone/>
              <a:defRPr sz="3000" b="0">
                <a:solidFill>
                  <a:schemeClr val="dk2"/>
                </a:solidFill>
                <a:latin typeface="Montserrat ExtraBold"/>
                <a:ea typeface="Montserrat ExtraBold"/>
                <a:cs typeface="Montserrat ExtraBold"/>
                <a:sym typeface="Montserrat Extra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71" name="Google Shape;71;p13"/>
          <p:cNvSpPr txBox="1">
            <a:spLocks noGrp="1"/>
          </p:cNvSpPr>
          <p:nvPr>
            <p:ph type="subTitle" idx="8"/>
          </p:nvPr>
        </p:nvSpPr>
        <p:spPr>
          <a:xfrm>
            <a:off x="2449367" y="3509604"/>
            <a:ext cx="25257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2100" b="1" i="0">
                <a:solidFill>
                  <a:schemeClr val="lt1"/>
                </a:solidFill>
                <a:latin typeface="Montserrat"/>
                <a:ea typeface="Montserrat"/>
                <a:cs typeface="Montserrat"/>
                <a:sym typeface="Montserrat"/>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72" name="Google Shape;72;p13"/>
          <p:cNvSpPr txBox="1">
            <a:spLocks noGrp="1"/>
          </p:cNvSpPr>
          <p:nvPr>
            <p:ph type="subTitle" idx="9"/>
          </p:nvPr>
        </p:nvSpPr>
        <p:spPr>
          <a:xfrm>
            <a:off x="2449367" y="3820670"/>
            <a:ext cx="25257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73" name="Google Shape;73;p13"/>
          <p:cNvSpPr txBox="1">
            <a:spLocks noGrp="1"/>
          </p:cNvSpPr>
          <p:nvPr>
            <p:ph type="title" idx="13" hasCustomPrompt="1"/>
          </p:nvPr>
        </p:nvSpPr>
        <p:spPr>
          <a:xfrm>
            <a:off x="5913441" y="3139001"/>
            <a:ext cx="2515500" cy="3657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accent2"/>
              </a:buClr>
              <a:buSzPts val="3600"/>
              <a:buFont typeface="Pangolin"/>
              <a:buNone/>
              <a:defRPr sz="3000" b="0">
                <a:solidFill>
                  <a:schemeClr val="dk2"/>
                </a:solidFill>
                <a:latin typeface="Montserrat ExtraBold"/>
                <a:ea typeface="Montserrat ExtraBold"/>
                <a:cs typeface="Montserrat ExtraBold"/>
                <a:sym typeface="Montserrat ExtraBold"/>
              </a:defRPr>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74" name="Google Shape;74;p13"/>
          <p:cNvSpPr txBox="1">
            <a:spLocks noGrp="1"/>
          </p:cNvSpPr>
          <p:nvPr>
            <p:ph type="subTitle" idx="14"/>
          </p:nvPr>
        </p:nvSpPr>
        <p:spPr>
          <a:xfrm>
            <a:off x="5913441" y="3513906"/>
            <a:ext cx="2517900" cy="365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3000"/>
              <a:buNone/>
              <a:defRPr sz="2100" b="1" i="0">
                <a:solidFill>
                  <a:schemeClr val="lt1"/>
                </a:solidFill>
                <a:latin typeface="Montserrat"/>
                <a:ea typeface="Montserrat"/>
                <a:cs typeface="Montserrat"/>
                <a:sym typeface="Montserrat"/>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75" name="Google Shape;75;p13"/>
          <p:cNvSpPr txBox="1">
            <a:spLocks noGrp="1"/>
          </p:cNvSpPr>
          <p:nvPr>
            <p:ph type="subTitle" idx="15"/>
          </p:nvPr>
        </p:nvSpPr>
        <p:spPr>
          <a:xfrm>
            <a:off x="5913441" y="3824971"/>
            <a:ext cx="25179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CUSTOM_24">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713250" y="3093515"/>
            <a:ext cx="7717500" cy="89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200"/>
              <a:buNone/>
              <a:defRPr sz="5900"/>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78" name="Google Shape;78;p14"/>
          <p:cNvSpPr txBox="1">
            <a:spLocks noGrp="1"/>
          </p:cNvSpPr>
          <p:nvPr>
            <p:ph type="title" idx="2" hasCustomPrompt="1"/>
          </p:nvPr>
        </p:nvSpPr>
        <p:spPr>
          <a:xfrm>
            <a:off x="713250" y="1969635"/>
            <a:ext cx="1356600" cy="951600"/>
          </a:xfrm>
          <a:prstGeom prst="rect">
            <a:avLst/>
          </a:prstGeom>
        </p:spPr>
        <p:txBody>
          <a:bodyPr spcFirstLastPara="1" wrap="square" lIns="91425" tIns="91425" rIns="91425" bIns="91425" anchor="ctr" anchorCtr="0">
            <a:noAutofit/>
          </a:bodyPr>
          <a:lstStyle>
            <a:lvl1pPr lvl="0" rtl="0">
              <a:spcBef>
                <a:spcPts val="0"/>
              </a:spcBef>
              <a:spcAft>
                <a:spcPts val="0"/>
              </a:spcAft>
              <a:buSzPts val="6200"/>
              <a:buNone/>
              <a:defRPr sz="6500" b="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79" name="Google Shape;79;p14"/>
          <p:cNvSpPr txBox="1">
            <a:spLocks noGrp="1"/>
          </p:cNvSpPr>
          <p:nvPr>
            <p:ph type="subTitle" idx="1"/>
          </p:nvPr>
        </p:nvSpPr>
        <p:spPr>
          <a:xfrm>
            <a:off x="713250" y="4255100"/>
            <a:ext cx="4673400" cy="29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2200"/>
              <a:buNone/>
              <a:defRPr sz="1600" i="0">
                <a:solidFill>
                  <a:schemeClr val="accent6"/>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7_1">
    <p:spTree>
      <p:nvGrpSpPr>
        <p:cNvPr id="1" name="Shape 84"/>
        <p:cNvGrpSpPr/>
        <p:nvPr/>
      </p:nvGrpSpPr>
      <p:grpSpPr>
        <a:xfrm>
          <a:off x="0" y="0"/>
          <a:ext cx="0" cy="0"/>
          <a:chOff x="0" y="0"/>
          <a:chExt cx="0" cy="0"/>
        </a:xfrm>
      </p:grpSpPr>
      <p:grpSp>
        <p:nvGrpSpPr>
          <p:cNvPr id="85" name="Google Shape;85;p16"/>
          <p:cNvGrpSpPr/>
          <p:nvPr/>
        </p:nvGrpSpPr>
        <p:grpSpPr>
          <a:xfrm rot="5400000" flipH="1">
            <a:off x="7153454" y="-1368807"/>
            <a:ext cx="1572913" cy="4171061"/>
            <a:chOff x="7681603" y="-387311"/>
            <a:chExt cx="1692396" cy="3649861"/>
          </a:xfrm>
        </p:grpSpPr>
        <p:sp>
          <p:nvSpPr>
            <p:cNvPr id="86" name="Google Shape;86;p16"/>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16"/>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8" name="Google Shape;88;p16"/>
          <p:cNvGrpSpPr/>
          <p:nvPr/>
        </p:nvGrpSpPr>
        <p:grpSpPr>
          <a:xfrm flipH="1">
            <a:off x="-700363" y="3491239"/>
            <a:ext cx="3122400" cy="1674872"/>
            <a:chOff x="4352672" y="2230153"/>
            <a:chExt cx="4618934" cy="2913327"/>
          </a:xfrm>
        </p:grpSpPr>
        <p:sp>
          <p:nvSpPr>
            <p:cNvPr id="89" name="Google Shape;89;p16"/>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16"/>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1" name="Google Shape;91;p16"/>
          <p:cNvSpPr/>
          <p:nvPr/>
        </p:nvSpPr>
        <p:spPr>
          <a:xfrm>
            <a:off x="8209275" y="126024"/>
            <a:ext cx="1162459" cy="27547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16"/>
          <p:cNvSpPr/>
          <p:nvPr/>
        </p:nvSpPr>
        <p:spPr>
          <a:xfrm>
            <a:off x="7925" y="4696049"/>
            <a:ext cx="1410596" cy="33427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93;p16"/>
          <p:cNvSpPr/>
          <p:nvPr/>
        </p:nvSpPr>
        <p:spPr>
          <a:xfrm rot="5400000" flipH="1">
            <a:off x="-644496" y="673189"/>
            <a:ext cx="2056618" cy="452561"/>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94;p16"/>
          <p:cNvSpPr/>
          <p:nvPr/>
        </p:nvSpPr>
        <p:spPr>
          <a:xfrm rot="-5400000" flipH="1">
            <a:off x="7762191" y="4043724"/>
            <a:ext cx="2056618" cy="452561"/>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95;p16"/>
          <p:cNvSpPr txBox="1">
            <a:spLocks noGrp="1"/>
          </p:cNvSpPr>
          <p:nvPr>
            <p:ph type="title"/>
          </p:nvPr>
        </p:nvSpPr>
        <p:spPr>
          <a:xfrm>
            <a:off x="713228" y="542781"/>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CUSTOM_14">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713225" y="1680238"/>
            <a:ext cx="5577900" cy="1280100"/>
          </a:xfrm>
          <a:prstGeom prst="rect">
            <a:avLst/>
          </a:prstGeom>
        </p:spPr>
        <p:txBody>
          <a:bodyPr spcFirstLastPara="1" wrap="square" lIns="91425" tIns="91425" rIns="91425" bIns="91425" anchor="t" anchorCtr="0">
            <a:noAutofit/>
          </a:bodyPr>
          <a:lstStyle>
            <a:lvl1pPr lvl="0">
              <a:spcBef>
                <a:spcPts val="0"/>
              </a:spcBef>
              <a:spcAft>
                <a:spcPts val="0"/>
              </a:spcAft>
              <a:buSzPts val="2100"/>
              <a:buNone/>
              <a:defRPr sz="2400" b="0">
                <a:solidFill>
                  <a:schemeClr val="dk1"/>
                </a:solidFill>
                <a:latin typeface="Nanum Gothic"/>
                <a:ea typeface="Nanum Gothic"/>
                <a:cs typeface="Nanum Gothic"/>
                <a:sym typeface="Nanum Gothic"/>
              </a:defRPr>
            </a:lvl1pPr>
            <a:lvl2pPr lvl="1">
              <a:spcBef>
                <a:spcPts val="0"/>
              </a:spcBef>
              <a:spcAft>
                <a:spcPts val="0"/>
              </a:spcAft>
              <a:buSzPts val="2100"/>
              <a:buNone/>
              <a:defRPr sz="2100">
                <a:latin typeface="Nunito Medium"/>
                <a:ea typeface="Nunito Medium"/>
                <a:cs typeface="Nunito Medium"/>
                <a:sym typeface="Nunito Medium"/>
              </a:defRPr>
            </a:lvl2pPr>
            <a:lvl3pPr lvl="2">
              <a:spcBef>
                <a:spcPts val="0"/>
              </a:spcBef>
              <a:spcAft>
                <a:spcPts val="0"/>
              </a:spcAft>
              <a:buSzPts val="2100"/>
              <a:buNone/>
              <a:defRPr sz="2100">
                <a:latin typeface="Nunito Medium"/>
                <a:ea typeface="Nunito Medium"/>
                <a:cs typeface="Nunito Medium"/>
                <a:sym typeface="Nunito Medium"/>
              </a:defRPr>
            </a:lvl3pPr>
            <a:lvl4pPr lvl="3">
              <a:spcBef>
                <a:spcPts val="0"/>
              </a:spcBef>
              <a:spcAft>
                <a:spcPts val="0"/>
              </a:spcAft>
              <a:buSzPts val="2100"/>
              <a:buNone/>
              <a:defRPr sz="2100">
                <a:latin typeface="Nunito Medium"/>
                <a:ea typeface="Nunito Medium"/>
                <a:cs typeface="Nunito Medium"/>
                <a:sym typeface="Nunito Medium"/>
              </a:defRPr>
            </a:lvl4pPr>
            <a:lvl5pPr lvl="4">
              <a:spcBef>
                <a:spcPts val="0"/>
              </a:spcBef>
              <a:spcAft>
                <a:spcPts val="0"/>
              </a:spcAft>
              <a:buSzPts val="2100"/>
              <a:buNone/>
              <a:defRPr sz="2100">
                <a:latin typeface="Nunito Medium"/>
                <a:ea typeface="Nunito Medium"/>
                <a:cs typeface="Nunito Medium"/>
                <a:sym typeface="Nunito Medium"/>
              </a:defRPr>
            </a:lvl5pPr>
            <a:lvl6pPr lvl="5">
              <a:spcBef>
                <a:spcPts val="0"/>
              </a:spcBef>
              <a:spcAft>
                <a:spcPts val="0"/>
              </a:spcAft>
              <a:buSzPts val="2100"/>
              <a:buNone/>
              <a:defRPr sz="2100">
                <a:latin typeface="Nunito Medium"/>
                <a:ea typeface="Nunito Medium"/>
                <a:cs typeface="Nunito Medium"/>
                <a:sym typeface="Nunito Medium"/>
              </a:defRPr>
            </a:lvl6pPr>
            <a:lvl7pPr lvl="6">
              <a:spcBef>
                <a:spcPts val="0"/>
              </a:spcBef>
              <a:spcAft>
                <a:spcPts val="0"/>
              </a:spcAft>
              <a:buSzPts val="2100"/>
              <a:buNone/>
              <a:defRPr sz="2100">
                <a:latin typeface="Nunito Medium"/>
                <a:ea typeface="Nunito Medium"/>
                <a:cs typeface="Nunito Medium"/>
                <a:sym typeface="Nunito Medium"/>
              </a:defRPr>
            </a:lvl7pPr>
            <a:lvl8pPr lvl="7">
              <a:spcBef>
                <a:spcPts val="0"/>
              </a:spcBef>
              <a:spcAft>
                <a:spcPts val="0"/>
              </a:spcAft>
              <a:buSzPts val="2100"/>
              <a:buNone/>
              <a:defRPr sz="2100">
                <a:latin typeface="Nunito Medium"/>
                <a:ea typeface="Nunito Medium"/>
                <a:cs typeface="Nunito Medium"/>
                <a:sym typeface="Nunito Medium"/>
              </a:defRPr>
            </a:lvl8pPr>
            <a:lvl9pPr lvl="8">
              <a:spcBef>
                <a:spcPts val="0"/>
              </a:spcBef>
              <a:spcAft>
                <a:spcPts val="0"/>
              </a:spcAft>
              <a:buSzPts val="2100"/>
              <a:buNone/>
              <a:defRPr sz="2100">
                <a:latin typeface="Nunito Medium"/>
                <a:ea typeface="Nunito Medium"/>
                <a:cs typeface="Nunito Medium"/>
                <a:sym typeface="Nunito Medium"/>
              </a:defRPr>
            </a:lvl9pPr>
          </a:lstStyle>
          <a:p>
            <a:endParaRPr/>
          </a:p>
        </p:txBody>
      </p:sp>
      <p:sp>
        <p:nvSpPr>
          <p:cNvPr id="109" name="Google Shape;109;p19"/>
          <p:cNvSpPr txBox="1">
            <a:spLocks noGrp="1"/>
          </p:cNvSpPr>
          <p:nvPr>
            <p:ph type="title" idx="2"/>
          </p:nvPr>
        </p:nvSpPr>
        <p:spPr>
          <a:xfrm>
            <a:off x="713225" y="3030350"/>
            <a:ext cx="3327300" cy="432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2100"/>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sp>
        <p:nvSpPr>
          <p:cNvPr id="110" name="Google Shape;110;p19"/>
          <p:cNvSpPr/>
          <p:nvPr/>
        </p:nvSpPr>
        <p:spPr>
          <a:xfrm rot="5400000" flipH="1">
            <a:off x="-1408288" y="1569599"/>
            <a:ext cx="4287981" cy="94357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8">
    <p:spTree>
      <p:nvGrpSpPr>
        <p:cNvPr id="1" name="Shape 176"/>
        <p:cNvGrpSpPr/>
        <p:nvPr/>
      </p:nvGrpSpPr>
      <p:grpSpPr>
        <a:xfrm>
          <a:off x="0" y="0"/>
          <a:ext cx="0" cy="0"/>
          <a:chOff x="0" y="0"/>
          <a:chExt cx="0" cy="0"/>
        </a:xfrm>
      </p:grpSpPr>
      <p:sp>
        <p:nvSpPr>
          <p:cNvPr id="177" name="Google Shape;177;p26"/>
          <p:cNvSpPr txBox="1">
            <a:spLocks noGrp="1"/>
          </p:cNvSpPr>
          <p:nvPr>
            <p:ph type="title"/>
          </p:nvPr>
        </p:nvSpPr>
        <p:spPr>
          <a:xfrm>
            <a:off x="713250" y="539496"/>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78" name="Google Shape;178;p26"/>
          <p:cNvSpPr txBox="1">
            <a:spLocks noGrp="1"/>
          </p:cNvSpPr>
          <p:nvPr>
            <p:ph type="subTitle" idx="1"/>
          </p:nvPr>
        </p:nvSpPr>
        <p:spPr>
          <a:xfrm>
            <a:off x="712763" y="1997908"/>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79" name="Google Shape;179;p26"/>
          <p:cNvSpPr txBox="1">
            <a:spLocks noGrp="1"/>
          </p:cNvSpPr>
          <p:nvPr>
            <p:ph type="subTitle" idx="2"/>
          </p:nvPr>
        </p:nvSpPr>
        <p:spPr>
          <a:xfrm>
            <a:off x="712763" y="2318608"/>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0" name="Google Shape;180;p26"/>
          <p:cNvSpPr txBox="1">
            <a:spLocks noGrp="1"/>
          </p:cNvSpPr>
          <p:nvPr>
            <p:ph type="subTitle" idx="3"/>
          </p:nvPr>
        </p:nvSpPr>
        <p:spPr>
          <a:xfrm>
            <a:off x="3547693" y="1993495"/>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1" name="Google Shape;181;p26"/>
          <p:cNvSpPr txBox="1">
            <a:spLocks noGrp="1"/>
          </p:cNvSpPr>
          <p:nvPr>
            <p:ph type="subTitle" idx="4"/>
          </p:nvPr>
        </p:nvSpPr>
        <p:spPr>
          <a:xfrm>
            <a:off x="3547693" y="2314195"/>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2" name="Google Shape;182;p26"/>
          <p:cNvSpPr txBox="1">
            <a:spLocks noGrp="1"/>
          </p:cNvSpPr>
          <p:nvPr>
            <p:ph type="subTitle" idx="5"/>
          </p:nvPr>
        </p:nvSpPr>
        <p:spPr>
          <a:xfrm>
            <a:off x="6382624" y="1997908"/>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3" name="Google Shape;183;p26"/>
          <p:cNvSpPr txBox="1">
            <a:spLocks noGrp="1"/>
          </p:cNvSpPr>
          <p:nvPr>
            <p:ph type="subTitle" idx="6"/>
          </p:nvPr>
        </p:nvSpPr>
        <p:spPr>
          <a:xfrm>
            <a:off x="6382624" y="2318608"/>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4" name="Google Shape;184;p26"/>
          <p:cNvSpPr txBox="1">
            <a:spLocks noGrp="1"/>
          </p:cNvSpPr>
          <p:nvPr>
            <p:ph type="subTitle" idx="7"/>
          </p:nvPr>
        </p:nvSpPr>
        <p:spPr>
          <a:xfrm>
            <a:off x="712763" y="3745361"/>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5" name="Google Shape;185;p26"/>
          <p:cNvSpPr txBox="1">
            <a:spLocks noGrp="1"/>
          </p:cNvSpPr>
          <p:nvPr>
            <p:ph type="subTitle" idx="8"/>
          </p:nvPr>
        </p:nvSpPr>
        <p:spPr>
          <a:xfrm>
            <a:off x="712763" y="4066061"/>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6" name="Google Shape;186;p26"/>
          <p:cNvSpPr txBox="1">
            <a:spLocks noGrp="1"/>
          </p:cNvSpPr>
          <p:nvPr>
            <p:ph type="subTitle" idx="9"/>
          </p:nvPr>
        </p:nvSpPr>
        <p:spPr>
          <a:xfrm>
            <a:off x="3547693" y="3747733"/>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7" name="Google Shape;187;p26"/>
          <p:cNvSpPr txBox="1">
            <a:spLocks noGrp="1"/>
          </p:cNvSpPr>
          <p:nvPr>
            <p:ph type="subTitle" idx="13"/>
          </p:nvPr>
        </p:nvSpPr>
        <p:spPr>
          <a:xfrm>
            <a:off x="3547693" y="4068433"/>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8" name="Google Shape;188;p26"/>
          <p:cNvSpPr txBox="1">
            <a:spLocks noGrp="1"/>
          </p:cNvSpPr>
          <p:nvPr>
            <p:ph type="subTitle" idx="14"/>
          </p:nvPr>
        </p:nvSpPr>
        <p:spPr>
          <a:xfrm>
            <a:off x="6382624" y="3745361"/>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9" name="Google Shape;189;p26"/>
          <p:cNvSpPr txBox="1">
            <a:spLocks noGrp="1"/>
          </p:cNvSpPr>
          <p:nvPr>
            <p:ph type="subTitle" idx="15"/>
          </p:nvPr>
        </p:nvSpPr>
        <p:spPr>
          <a:xfrm>
            <a:off x="6382624" y="4066061"/>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0" name="Google Shape;190;p26"/>
          <p:cNvSpPr/>
          <p:nvPr/>
        </p:nvSpPr>
        <p:spPr>
          <a:xfrm rot="-5400000" flipH="1">
            <a:off x="7346043" y="4830306"/>
            <a:ext cx="2776036" cy="61087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 name="Google Shape;191;p26"/>
          <p:cNvSpPr/>
          <p:nvPr/>
        </p:nvSpPr>
        <p:spPr>
          <a:xfrm rot="5400000" flipH="1">
            <a:off x="-980207" y="570894"/>
            <a:ext cx="2776036" cy="61087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 name="Google Shape;192;p26"/>
          <p:cNvSpPr/>
          <p:nvPr/>
        </p:nvSpPr>
        <p:spPr>
          <a:xfrm flipH="1">
            <a:off x="110142" y="4650050"/>
            <a:ext cx="1129884" cy="267795"/>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 name="Google Shape;193;p26"/>
          <p:cNvSpPr/>
          <p:nvPr/>
        </p:nvSpPr>
        <p:spPr>
          <a:xfrm flipH="1">
            <a:off x="8472942" y="1115500"/>
            <a:ext cx="1129884" cy="267795"/>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20_1_1">
    <p:spTree>
      <p:nvGrpSpPr>
        <p:cNvPr id="1" name="Shape 226"/>
        <p:cNvGrpSpPr/>
        <p:nvPr/>
      </p:nvGrpSpPr>
      <p:grpSpPr>
        <a:xfrm>
          <a:off x="0" y="0"/>
          <a:ext cx="0" cy="0"/>
          <a:chOff x="0" y="0"/>
          <a:chExt cx="0" cy="0"/>
        </a:xfrm>
      </p:grpSpPr>
      <p:grpSp>
        <p:nvGrpSpPr>
          <p:cNvPr id="227" name="Google Shape;227;p30"/>
          <p:cNvGrpSpPr/>
          <p:nvPr/>
        </p:nvGrpSpPr>
        <p:grpSpPr>
          <a:xfrm rot="-5400000" flipH="1">
            <a:off x="579397" y="2178120"/>
            <a:ext cx="1879068" cy="4052440"/>
            <a:chOff x="7681603" y="-387311"/>
            <a:chExt cx="1692396" cy="3649861"/>
          </a:xfrm>
        </p:grpSpPr>
        <p:sp>
          <p:nvSpPr>
            <p:cNvPr id="228" name="Google Shape;228;p30"/>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 name="Google Shape;229;p30"/>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30" name="Google Shape;230;p30"/>
          <p:cNvGrpSpPr/>
          <p:nvPr/>
        </p:nvGrpSpPr>
        <p:grpSpPr>
          <a:xfrm rot="5400000" flipH="1">
            <a:off x="6985740" y="-978723"/>
            <a:ext cx="1692396" cy="3649861"/>
            <a:chOff x="7681603" y="-387311"/>
            <a:chExt cx="1692396" cy="3649861"/>
          </a:xfrm>
        </p:grpSpPr>
        <p:sp>
          <p:nvSpPr>
            <p:cNvPr id="231" name="Google Shape;231;p30"/>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30"/>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3" name="Google Shape;233;p30"/>
          <p:cNvSpPr txBox="1">
            <a:spLocks noGrp="1"/>
          </p:cNvSpPr>
          <p:nvPr>
            <p:ph type="title"/>
          </p:nvPr>
        </p:nvSpPr>
        <p:spPr>
          <a:xfrm>
            <a:off x="1425575" y="3551717"/>
            <a:ext cx="6292800" cy="100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3200"/>
              <a:buNone/>
              <a:defRPr b="1">
                <a:latin typeface="Montserrat"/>
                <a:ea typeface="Montserrat"/>
                <a:cs typeface="Montserrat"/>
                <a:sym typeface="Montserrat"/>
              </a:defRPr>
            </a:lvl1pPr>
            <a:lvl2pPr lvl="1" rtl="0">
              <a:lnSpc>
                <a:spcPct val="100000"/>
              </a:lnSpc>
              <a:spcBef>
                <a:spcPts val="0"/>
              </a:spcBef>
              <a:spcAft>
                <a:spcPts val="0"/>
              </a:spcAft>
              <a:buClr>
                <a:schemeClr val="lt2"/>
              </a:buClr>
              <a:buSzPts val="2800"/>
              <a:buNone/>
              <a:defRPr>
                <a:solidFill>
                  <a:schemeClr val="lt2"/>
                </a:solidFill>
              </a:defRPr>
            </a:lvl2pPr>
            <a:lvl3pPr lvl="2" rtl="0">
              <a:lnSpc>
                <a:spcPct val="100000"/>
              </a:lnSpc>
              <a:spcBef>
                <a:spcPts val="0"/>
              </a:spcBef>
              <a:spcAft>
                <a:spcPts val="0"/>
              </a:spcAft>
              <a:buClr>
                <a:schemeClr val="lt2"/>
              </a:buClr>
              <a:buSzPts val="2800"/>
              <a:buNone/>
              <a:defRPr>
                <a:solidFill>
                  <a:schemeClr val="lt2"/>
                </a:solidFill>
              </a:defRPr>
            </a:lvl3pPr>
            <a:lvl4pPr lvl="3" rtl="0">
              <a:lnSpc>
                <a:spcPct val="100000"/>
              </a:lnSpc>
              <a:spcBef>
                <a:spcPts val="0"/>
              </a:spcBef>
              <a:spcAft>
                <a:spcPts val="0"/>
              </a:spcAft>
              <a:buClr>
                <a:schemeClr val="lt2"/>
              </a:buClr>
              <a:buSzPts val="2800"/>
              <a:buNone/>
              <a:defRPr>
                <a:solidFill>
                  <a:schemeClr val="lt2"/>
                </a:solidFill>
              </a:defRPr>
            </a:lvl4pPr>
            <a:lvl5pPr lvl="4" rtl="0">
              <a:lnSpc>
                <a:spcPct val="100000"/>
              </a:lnSpc>
              <a:spcBef>
                <a:spcPts val="0"/>
              </a:spcBef>
              <a:spcAft>
                <a:spcPts val="0"/>
              </a:spcAft>
              <a:buClr>
                <a:schemeClr val="lt2"/>
              </a:buClr>
              <a:buSzPts val="2800"/>
              <a:buNone/>
              <a:defRPr>
                <a:solidFill>
                  <a:schemeClr val="lt2"/>
                </a:solidFill>
              </a:defRPr>
            </a:lvl5pPr>
            <a:lvl6pPr lvl="5" rtl="0">
              <a:lnSpc>
                <a:spcPct val="100000"/>
              </a:lnSpc>
              <a:spcBef>
                <a:spcPts val="0"/>
              </a:spcBef>
              <a:spcAft>
                <a:spcPts val="0"/>
              </a:spcAft>
              <a:buClr>
                <a:schemeClr val="lt2"/>
              </a:buClr>
              <a:buSzPts val="2800"/>
              <a:buNone/>
              <a:defRPr>
                <a:solidFill>
                  <a:schemeClr val="lt2"/>
                </a:solidFill>
              </a:defRPr>
            </a:lvl6pPr>
            <a:lvl7pPr lvl="6" rtl="0">
              <a:lnSpc>
                <a:spcPct val="100000"/>
              </a:lnSpc>
              <a:spcBef>
                <a:spcPts val="0"/>
              </a:spcBef>
              <a:spcAft>
                <a:spcPts val="0"/>
              </a:spcAft>
              <a:buClr>
                <a:schemeClr val="lt2"/>
              </a:buClr>
              <a:buSzPts val="2800"/>
              <a:buNone/>
              <a:defRPr>
                <a:solidFill>
                  <a:schemeClr val="lt2"/>
                </a:solidFill>
              </a:defRPr>
            </a:lvl7pPr>
            <a:lvl8pPr lvl="7" rtl="0">
              <a:lnSpc>
                <a:spcPct val="100000"/>
              </a:lnSpc>
              <a:spcBef>
                <a:spcPts val="0"/>
              </a:spcBef>
              <a:spcAft>
                <a:spcPts val="0"/>
              </a:spcAft>
              <a:buClr>
                <a:schemeClr val="lt2"/>
              </a:buClr>
              <a:buSzPts val="2800"/>
              <a:buNone/>
              <a:defRPr>
                <a:solidFill>
                  <a:schemeClr val="lt2"/>
                </a:solidFill>
              </a:defRPr>
            </a:lvl8pPr>
            <a:lvl9pPr lvl="8" rtl="0">
              <a:lnSpc>
                <a:spcPct val="100000"/>
              </a:lnSpc>
              <a:spcBef>
                <a:spcPts val="0"/>
              </a:spcBef>
              <a:spcAft>
                <a:spcPts val="0"/>
              </a:spcAft>
              <a:buClr>
                <a:schemeClr val="lt2"/>
              </a:buClr>
              <a:buSzPts val="2800"/>
              <a:buNone/>
              <a:defRPr>
                <a:solidFill>
                  <a:schemeClr val="lt2"/>
                </a:solidFill>
              </a:defRPr>
            </a:lvl9pPr>
          </a:lstStyle>
          <a:p>
            <a:endParaRPr/>
          </a:p>
        </p:txBody>
      </p:sp>
      <p:sp>
        <p:nvSpPr>
          <p:cNvPr id="234" name="Google Shape;234;p30"/>
          <p:cNvSpPr txBox="1">
            <a:spLocks noGrp="1"/>
          </p:cNvSpPr>
          <p:nvPr>
            <p:ph type="subTitle" idx="1"/>
          </p:nvPr>
        </p:nvSpPr>
        <p:spPr>
          <a:xfrm>
            <a:off x="712175" y="1241950"/>
            <a:ext cx="2983500" cy="114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3">
  <p:cSld name="CUSTOM_20_1_1_1_1">
    <p:spTree>
      <p:nvGrpSpPr>
        <p:cNvPr id="1" name="Shape 238"/>
        <p:cNvGrpSpPr/>
        <p:nvPr/>
      </p:nvGrpSpPr>
      <p:grpSpPr>
        <a:xfrm>
          <a:off x="0" y="0"/>
          <a:ext cx="0" cy="0"/>
          <a:chOff x="0" y="0"/>
          <a:chExt cx="0" cy="0"/>
        </a:xfrm>
      </p:grpSpPr>
      <p:sp>
        <p:nvSpPr>
          <p:cNvPr id="239" name="Google Shape;239;p32"/>
          <p:cNvSpPr txBox="1">
            <a:spLocks noGrp="1"/>
          </p:cNvSpPr>
          <p:nvPr>
            <p:ph type="subTitle" idx="1"/>
          </p:nvPr>
        </p:nvSpPr>
        <p:spPr>
          <a:xfrm>
            <a:off x="5753575" y="2720613"/>
            <a:ext cx="2677200" cy="103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0" name="Google Shape;240;p32"/>
          <p:cNvSpPr txBox="1">
            <a:spLocks noGrp="1"/>
          </p:cNvSpPr>
          <p:nvPr>
            <p:ph type="title"/>
          </p:nvPr>
        </p:nvSpPr>
        <p:spPr>
          <a:xfrm>
            <a:off x="713250" y="539496"/>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252"/>
        <p:cNvGrpSpPr/>
        <p:nvPr/>
      </p:nvGrpSpPr>
      <p:grpSpPr>
        <a:xfrm>
          <a:off x="0" y="0"/>
          <a:ext cx="0" cy="0"/>
          <a:chOff x="0" y="0"/>
          <a:chExt cx="0" cy="0"/>
        </a:xfrm>
      </p:grpSpPr>
      <p:sp>
        <p:nvSpPr>
          <p:cNvPr id="253" name="Google Shape;253;p35"/>
          <p:cNvSpPr/>
          <p:nvPr/>
        </p:nvSpPr>
        <p:spPr>
          <a:xfrm>
            <a:off x="-385204" y="3667150"/>
            <a:ext cx="1701325" cy="40320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 name="Google Shape;254;p35"/>
          <p:cNvSpPr/>
          <p:nvPr/>
        </p:nvSpPr>
        <p:spPr>
          <a:xfrm rot="5400000">
            <a:off x="-595110" y="4542839"/>
            <a:ext cx="3217346" cy="70792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55" name="Google Shape;255;p35"/>
          <p:cNvSpPr/>
          <p:nvPr/>
        </p:nvSpPr>
        <p:spPr>
          <a:xfrm>
            <a:off x="6500221" y="136300"/>
            <a:ext cx="1701325" cy="40320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256;p35"/>
          <p:cNvSpPr/>
          <p:nvPr/>
        </p:nvSpPr>
        <p:spPr>
          <a:xfrm rot="-5400000">
            <a:off x="6521765" y="-107261"/>
            <a:ext cx="3217346" cy="70792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57" name="Google Shape;257;p35"/>
          <p:cNvSpPr/>
          <p:nvPr/>
        </p:nvSpPr>
        <p:spPr>
          <a:xfrm>
            <a:off x="8059749" y="1726976"/>
            <a:ext cx="1166512" cy="27645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35"/>
          <p:cNvSpPr/>
          <p:nvPr/>
        </p:nvSpPr>
        <p:spPr>
          <a:xfrm>
            <a:off x="822949" y="4545426"/>
            <a:ext cx="1166512" cy="27645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12">
    <p:spTree>
      <p:nvGrpSpPr>
        <p:cNvPr id="1" name="Shape 259"/>
        <p:cNvGrpSpPr/>
        <p:nvPr/>
      </p:nvGrpSpPr>
      <p:grpSpPr>
        <a:xfrm>
          <a:off x="0" y="0"/>
          <a:ext cx="0" cy="0"/>
          <a:chOff x="0" y="0"/>
          <a:chExt cx="0" cy="0"/>
        </a:xfrm>
      </p:grpSpPr>
      <p:grpSp>
        <p:nvGrpSpPr>
          <p:cNvPr id="260" name="Google Shape;260;p36"/>
          <p:cNvGrpSpPr/>
          <p:nvPr/>
        </p:nvGrpSpPr>
        <p:grpSpPr>
          <a:xfrm rot="5400000">
            <a:off x="6861422" y="2782455"/>
            <a:ext cx="1664472" cy="3380501"/>
            <a:chOff x="7681603" y="-387311"/>
            <a:chExt cx="1692396" cy="3649861"/>
          </a:xfrm>
        </p:grpSpPr>
        <p:sp>
          <p:nvSpPr>
            <p:cNvPr id="261" name="Google Shape;261;p36"/>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36"/>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63" name="Google Shape;263;p36"/>
          <p:cNvSpPr/>
          <p:nvPr/>
        </p:nvSpPr>
        <p:spPr>
          <a:xfrm>
            <a:off x="6684475" y="3466475"/>
            <a:ext cx="948503" cy="22477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 name="Google Shape;264;p36"/>
          <p:cNvSpPr/>
          <p:nvPr/>
        </p:nvSpPr>
        <p:spPr>
          <a:xfrm>
            <a:off x="8143314" y="2494103"/>
            <a:ext cx="1128125" cy="267342"/>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36"/>
          <p:cNvSpPr/>
          <p:nvPr/>
        </p:nvSpPr>
        <p:spPr>
          <a:xfrm>
            <a:off x="8080306" y="2581135"/>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 name="Google Shape;266;p36"/>
          <p:cNvSpPr/>
          <p:nvPr/>
        </p:nvSpPr>
        <p:spPr>
          <a:xfrm flipH="1">
            <a:off x="7670468" y="3084434"/>
            <a:ext cx="409837" cy="91407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67" name="Google Shape;267;p36"/>
          <p:cNvGrpSpPr/>
          <p:nvPr/>
        </p:nvGrpSpPr>
        <p:grpSpPr>
          <a:xfrm rot="-5400000" flipH="1">
            <a:off x="491847" y="2869480"/>
            <a:ext cx="1664472" cy="3380501"/>
            <a:chOff x="7681603" y="-387311"/>
            <a:chExt cx="1692396" cy="3649861"/>
          </a:xfrm>
        </p:grpSpPr>
        <p:sp>
          <p:nvSpPr>
            <p:cNvPr id="268" name="Google Shape;268;p36"/>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 name="Google Shape;269;p36"/>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70" name="Google Shape;270;p36"/>
          <p:cNvSpPr/>
          <p:nvPr/>
        </p:nvSpPr>
        <p:spPr>
          <a:xfrm flipH="1">
            <a:off x="112688" y="2393725"/>
            <a:ext cx="948503" cy="22477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 name="Google Shape;271;p36"/>
          <p:cNvSpPr/>
          <p:nvPr/>
        </p:nvSpPr>
        <p:spPr>
          <a:xfrm flipH="1">
            <a:off x="2002394" y="4447901"/>
            <a:ext cx="1433230" cy="33964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 name="Google Shape;272;p36"/>
          <p:cNvSpPr/>
          <p:nvPr/>
        </p:nvSpPr>
        <p:spPr>
          <a:xfrm flipH="1">
            <a:off x="236481" y="2668160"/>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 name="Google Shape;273;p36"/>
          <p:cNvSpPr/>
          <p:nvPr/>
        </p:nvSpPr>
        <p:spPr>
          <a:xfrm>
            <a:off x="937436" y="3171459"/>
            <a:ext cx="409837" cy="91407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713225" y="3007925"/>
            <a:ext cx="7717500" cy="896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200"/>
              <a:buNone/>
              <a:defRPr sz="5900"/>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82" name="Google Shape;82;p15"/>
          <p:cNvSpPr txBox="1">
            <a:spLocks noGrp="1"/>
          </p:cNvSpPr>
          <p:nvPr>
            <p:ph type="title" idx="2" hasCustomPrompt="1"/>
          </p:nvPr>
        </p:nvSpPr>
        <p:spPr>
          <a:xfrm>
            <a:off x="3893700" y="1871746"/>
            <a:ext cx="1356600" cy="95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Font typeface="Montserrat ExtraBold"/>
              <a:buNone/>
              <a:defRPr sz="6500" b="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83" name="Google Shape;83;p15"/>
          <p:cNvSpPr txBox="1">
            <a:spLocks noGrp="1"/>
          </p:cNvSpPr>
          <p:nvPr>
            <p:ph type="subTitle" idx="1"/>
          </p:nvPr>
        </p:nvSpPr>
        <p:spPr>
          <a:xfrm>
            <a:off x="2463150" y="4245700"/>
            <a:ext cx="4217700" cy="29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2200"/>
              <a:buNone/>
              <a:defRPr sz="1600" i="0">
                <a:solidFill>
                  <a:schemeClr val="accent6"/>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108794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57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2"/>
              </a:buClr>
              <a:buSzPts val="3200"/>
              <a:buFont typeface="Montserrat"/>
              <a:buNone/>
              <a:defRPr sz="3200" b="1">
                <a:solidFill>
                  <a:schemeClr val="lt2"/>
                </a:solidFill>
                <a:latin typeface="Montserrat"/>
                <a:ea typeface="Montserrat"/>
                <a:cs typeface="Montserrat"/>
                <a:sym typeface="Montserra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1pPr>
            <a:lvl2pPr marL="914400" lvl="1"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2pPr>
            <a:lvl3pPr marL="1371600" lvl="2"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3pPr>
            <a:lvl4pPr marL="1828800" lvl="3"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4pPr>
            <a:lvl5pPr marL="2286000" lvl="4"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5pPr>
            <a:lvl6pPr marL="2743200" lvl="5"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6pPr>
            <a:lvl7pPr marL="3200400" lvl="6"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7pPr>
            <a:lvl8pPr marL="3657600" lvl="7"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8pPr>
            <a:lvl9pPr marL="4114800" lvl="8" indent="-317500">
              <a:lnSpc>
                <a:spcPct val="115000"/>
              </a:lnSpc>
              <a:spcBef>
                <a:spcPts val="0"/>
              </a:spcBef>
              <a:spcAft>
                <a:spcPts val="0"/>
              </a:spcAft>
              <a:buClr>
                <a:schemeClr val="dk1"/>
              </a:buClr>
              <a:buSzPts val="1400"/>
              <a:buFont typeface="Nanum Gothic"/>
              <a:buChar char="■"/>
              <a:defRPr>
                <a:solidFill>
                  <a:schemeClr val="dk1"/>
                </a:solidFill>
                <a:latin typeface="Nanum Gothic"/>
                <a:ea typeface="Nanum Gothic"/>
                <a:cs typeface="Nanum Gothic"/>
                <a:sym typeface="Nanum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8" r:id="rId6"/>
    <p:sldLayoutId id="2147483659" r:id="rId7"/>
    <p:sldLayoutId id="2147483660" r:id="rId8"/>
    <p:sldLayoutId id="2147483662" r:id="rId9"/>
    <p:sldLayoutId id="2147483665" r:id="rId10"/>
    <p:sldLayoutId id="2147483672" r:id="rId11"/>
    <p:sldLayoutId id="2147483676" r:id="rId12"/>
    <p:sldLayoutId id="2147483678" r:id="rId13"/>
    <p:sldLayoutId id="2147483681" r:id="rId14"/>
    <p:sldLayoutId id="2147483682" r:id="rId15"/>
    <p:sldLayoutId id="2147483687" r:id="rId16"/>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9">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sv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sv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hyperlink" Target="https://electrical-engineering-portal.com/systems-motion-motor-driv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hyperlink" Target="https://webmotor.org/brushless-dc-motor-construction-and-working-principle-pdf/" TargetMode="External"/><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gif"/><Relationship Id="rId1" Type="http://schemas.openxmlformats.org/officeDocument/2006/relationships/slideLayout" Target="../slideLayouts/slideLayout15.xml"/><Relationship Id="rId4" Type="http://schemas.openxmlformats.org/officeDocument/2006/relationships/image" Target="../media/image4.sv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grpSp>
        <p:nvGrpSpPr>
          <p:cNvPr id="284" name="Google Shape;284;p40"/>
          <p:cNvGrpSpPr/>
          <p:nvPr/>
        </p:nvGrpSpPr>
        <p:grpSpPr>
          <a:xfrm>
            <a:off x="-582025" y="-217309"/>
            <a:ext cx="4596223" cy="2142865"/>
            <a:chOff x="-582025" y="-217309"/>
            <a:chExt cx="4596223" cy="2142865"/>
          </a:xfrm>
        </p:grpSpPr>
        <p:sp>
          <p:nvSpPr>
            <p:cNvPr id="285" name="Google Shape;285;p40"/>
            <p:cNvSpPr/>
            <p:nvPr/>
          </p:nvSpPr>
          <p:spPr>
            <a:xfrm rot="10800000">
              <a:off x="-582025" y="-204938"/>
              <a:ext cx="4596223" cy="2130494"/>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6" name="Google Shape;286;p40"/>
            <p:cNvSpPr/>
            <p:nvPr/>
          </p:nvSpPr>
          <p:spPr>
            <a:xfrm rot="10800000">
              <a:off x="-430480" y="-217309"/>
              <a:ext cx="4016710" cy="1777647"/>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7" name="Google Shape;287;p40"/>
          <p:cNvSpPr/>
          <p:nvPr/>
        </p:nvSpPr>
        <p:spPr>
          <a:xfrm>
            <a:off x="685860" y="2050277"/>
            <a:ext cx="7136400" cy="2466300"/>
          </a:xfrm>
          <a:prstGeom prst="round2Diag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 name="Google Shape;288;p40"/>
          <p:cNvSpPr/>
          <p:nvPr/>
        </p:nvSpPr>
        <p:spPr>
          <a:xfrm>
            <a:off x="1258309" y="4507228"/>
            <a:ext cx="41838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 name="Google Shape;289;p40"/>
          <p:cNvSpPr txBox="1">
            <a:spLocks noGrp="1"/>
          </p:cNvSpPr>
          <p:nvPr>
            <p:ph type="subTitle" idx="1"/>
          </p:nvPr>
        </p:nvSpPr>
        <p:spPr>
          <a:xfrm>
            <a:off x="1323551" y="4573792"/>
            <a:ext cx="3911573" cy="29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accent6"/>
                </a:solidFill>
                <a:latin typeface="Montserrat" panose="00000500000000000000" pitchFamily="2" charset="0"/>
                <a:ea typeface="SF Pro Text" panose="00000500000000000000" pitchFamily="2" charset="0"/>
              </a:rPr>
              <a:t>Presented By – </a:t>
            </a:r>
            <a:r>
              <a:rPr lang="en-US" dirty="0">
                <a:solidFill>
                  <a:schemeClr val="accent6"/>
                </a:solidFill>
                <a:latin typeface="Montserrat" panose="00000500000000000000" pitchFamily="2" charset="0"/>
                <a:ea typeface="SF Pro Text" panose="00000500000000000000" pitchFamily="2" charset="0"/>
              </a:rPr>
              <a:t>Anshul Yadav</a:t>
            </a:r>
            <a:endParaRPr dirty="0">
              <a:solidFill>
                <a:schemeClr val="accent6"/>
              </a:solidFill>
              <a:latin typeface="Montserrat" panose="00000500000000000000" pitchFamily="2" charset="0"/>
              <a:ea typeface="SF Pro Text" panose="00000500000000000000" pitchFamily="2" charset="0"/>
            </a:endParaRPr>
          </a:p>
        </p:txBody>
      </p:sp>
      <p:sp>
        <p:nvSpPr>
          <p:cNvPr id="290" name="Google Shape;290;p40"/>
          <p:cNvSpPr txBox="1">
            <a:spLocks noGrp="1"/>
          </p:cNvSpPr>
          <p:nvPr>
            <p:ph type="ctrTitle"/>
          </p:nvPr>
        </p:nvSpPr>
        <p:spPr>
          <a:xfrm>
            <a:off x="681471" y="2309607"/>
            <a:ext cx="7136400" cy="1774200"/>
          </a:xfrm>
          <a:prstGeom prst="rect">
            <a:avLst/>
          </a:prstGeom>
        </p:spPr>
        <p:txBody>
          <a:bodyPr spcFirstLastPara="1" wrap="square" lIns="91425" tIns="91425" rIns="91425" bIns="91425" anchor="ctr" anchorCtr="0">
            <a:noAutofit/>
          </a:bodyPr>
          <a:lstStyle/>
          <a:p>
            <a:pPr marL="0" lvl="0" indent="0" rtl="0">
              <a:spcBef>
                <a:spcPts val="0"/>
              </a:spcBef>
              <a:spcAft>
                <a:spcPts val="0"/>
              </a:spcAft>
              <a:buClr>
                <a:schemeClr val="dk1"/>
              </a:buClr>
              <a:buSzPts val="1100"/>
              <a:buFont typeface="Arial"/>
              <a:buNone/>
            </a:pPr>
            <a:r>
              <a:rPr lang="en-US" sz="2800" dirty="0"/>
              <a:t>Major Project</a:t>
            </a:r>
            <a:br>
              <a:rPr lang="en-US" sz="2800" dirty="0"/>
            </a:br>
            <a:r>
              <a:rPr lang="en-US" sz="2800" dirty="0"/>
              <a:t>Design and Performance Analysis of Electric Motor Drive System for a six seater Electric Vehicle</a:t>
            </a:r>
            <a:endParaRPr sz="2800" dirty="0">
              <a:solidFill>
                <a:schemeClr val="dk1"/>
              </a:solidFill>
            </a:endParaRPr>
          </a:p>
        </p:txBody>
      </p:sp>
      <p:sp>
        <p:nvSpPr>
          <p:cNvPr id="291" name="Google Shape;291;p40"/>
          <p:cNvSpPr/>
          <p:nvPr/>
        </p:nvSpPr>
        <p:spPr>
          <a:xfrm>
            <a:off x="6500145" y="867444"/>
            <a:ext cx="243" cy="122"/>
          </a:xfrm>
          <a:custGeom>
            <a:avLst/>
            <a:gdLst/>
            <a:ahLst/>
            <a:cxnLst/>
            <a:rect l="l" t="t" r="r" b="b"/>
            <a:pathLst>
              <a:path w="2" h="1" extrusionOk="0">
                <a:moveTo>
                  <a:pt x="1" y="0"/>
                </a:moveTo>
                <a:cubicBezTo>
                  <a:pt x="0" y="0"/>
                  <a:pt x="0" y="0"/>
                  <a:pt x="0" y="1"/>
                </a:cubicBezTo>
                <a:lnTo>
                  <a:pt x="2" y="1"/>
                </a:lnTo>
                <a:cubicBezTo>
                  <a:pt x="2" y="1"/>
                  <a:pt x="1" y="0"/>
                  <a:pt x="1" y="0"/>
                </a:cubicBezTo>
                <a:close/>
              </a:path>
            </a:pathLst>
          </a:custGeom>
          <a:solidFill>
            <a:srgbClr val="E4EE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 name="Google Shape;292;p40"/>
          <p:cNvSpPr/>
          <p:nvPr/>
        </p:nvSpPr>
        <p:spPr>
          <a:xfrm>
            <a:off x="6500145" y="863673"/>
            <a:ext cx="6933" cy="3892"/>
          </a:xfrm>
          <a:custGeom>
            <a:avLst/>
            <a:gdLst/>
            <a:ahLst/>
            <a:cxnLst/>
            <a:rect l="l" t="t" r="r" b="b"/>
            <a:pathLst>
              <a:path w="57" h="32" extrusionOk="0">
                <a:moveTo>
                  <a:pt x="57" y="1"/>
                </a:moveTo>
                <a:lnTo>
                  <a:pt x="57" y="1"/>
                </a:lnTo>
                <a:cubicBezTo>
                  <a:pt x="38" y="15"/>
                  <a:pt x="20" y="28"/>
                  <a:pt x="0" y="32"/>
                </a:cubicBezTo>
                <a:lnTo>
                  <a:pt x="2" y="32"/>
                </a:lnTo>
                <a:cubicBezTo>
                  <a:pt x="4" y="31"/>
                  <a:pt x="6" y="31"/>
                  <a:pt x="9" y="31"/>
                </a:cubicBezTo>
                <a:cubicBezTo>
                  <a:pt x="11" y="31"/>
                  <a:pt x="14" y="31"/>
                  <a:pt x="16" y="30"/>
                </a:cubicBezTo>
                <a:cubicBezTo>
                  <a:pt x="30" y="25"/>
                  <a:pt x="44" y="11"/>
                  <a:pt x="5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 name="Google Shape;293;p40"/>
          <p:cNvSpPr/>
          <p:nvPr/>
        </p:nvSpPr>
        <p:spPr>
          <a:xfrm>
            <a:off x="6510363" y="846765"/>
            <a:ext cx="9366" cy="14718"/>
          </a:xfrm>
          <a:custGeom>
            <a:avLst/>
            <a:gdLst/>
            <a:ahLst/>
            <a:cxnLst/>
            <a:rect l="l" t="t" r="r" b="b"/>
            <a:pathLst>
              <a:path w="77" h="121" extrusionOk="0">
                <a:moveTo>
                  <a:pt x="77" y="1"/>
                </a:moveTo>
                <a:cubicBezTo>
                  <a:pt x="53" y="53"/>
                  <a:pt x="27" y="92"/>
                  <a:pt x="1" y="120"/>
                </a:cubicBezTo>
                <a:cubicBezTo>
                  <a:pt x="27" y="92"/>
                  <a:pt x="53" y="53"/>
                  <a:pt x="7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40"/>
          <p:cNvSpPr/>
          <p:nvPr/>
        </p:nvSpPr>
        <p:spPr>
          <a:xfrm>
            <a:off x="7749975" y="1220613"/>
            <a:ext cx="1433613" cy="339732"/>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 name="Google Shape;295;p40"/>
          <p:cNvSpPr/>
          <p:nvPr/>
        </p:nvSpPr>
        <p:spPr>
          <a:xfrm flipH="1">
            <a:off x="-16478" y="4641297"/>
            <a:ext cx="1433668" cy="339744"/>
          </a:xfrm>
          <a:custGeom>
            <a:avLst/>
            <a:gdLst/>
            <a:ahLst/>
            <a:cxnLst/>
            <a:rect l="l" t="t" r="r" b="b"/>
            <a:pathLst>
              <a:path w="27194" h="6444" extrusionOk="0">
                <a:moveTo>
                  <a:pt x="14158" y="1"/>
                </a:moveTo>
                <a:cubicBezTo>
                  <a:pt x="12412" y="1"/>
                  <a:pt x="10904" y="5406"/>
                  <a:pt x="10904" y="5406"/>
                </a:cubicBezTo>
                <a:cubicBezTo>
                  <a:pt x="10904" y="5406"/>
                  <a:pt x="11216" y="3320"/>
                  <a:pt x="9660" y="3222"/>
                </a:cubicBezTo>
                <a:cubicBezTo>
                  <a:pt x="9625" y="3220"/>
                  <a:pt x="9591" y="3219"/>
                  <a:pt x="9557" y="3219"/>
                </a:cubicBezTo>
                <a:cubicBezTo>
                  <a:pt x="8053" y="3219"/>
                  <a:pt x="6963" y="5303"/>
                  <a:pt x="6963" y="5303"/>
                </a:cubicBezTo>
                <a:lnTo>
                  <a:pt x="0" y="6444"/>
                </a:lnTo>
                <a:lnTo>
                  <a:pt x="27194" y="6444"/>
                </a:lnTo>
                <a:cubicBezTo>
                  <a:pt x="27194" y="6444"/>
                  <a:pt x="20553" y="6029"/>
                  <a:pt x="20139" y="5406"/>
                </a:cubicBezTo>
                <a:cubicBezTo>
                  <a:pt x="19724" y="4784"/>
                  <a:pt x="19030" y="2294"/>
                  <a:pt x="17353" y="2086"/>
                </a:cubicBezTo>
                <a:cubicBezTo>
                  <a:pt x="17284" y="2077"/>
                  <a:pt x="17216" y="2073"/>
                  <a:pt x="17151" y="2073"/>
                </a:cubicBezTo>
                <a:cubicBezTo>
                  <a:pt x="16230" y="2073"/>
                  <a:pt x="15692" y="2882"/>
                  <a:pt x="15412" y="3517"/>
                </a:cubicBezTo>
                <a:lnTo>
                  <a:pt x="15412" y="3517"/>
                </a:lnTo>
                <a:cubicBezTo>
                  <a:pt x="15684" y="2529"/>
                  <a:pt x="15916" y="830"/>
                  <a:pt x="14591" y="115"/>
                </a:cubicBezTo>
                <a:cubicBezTo>
                  <a:pt x="14446" y="37"/>
                  <a:pt x="14301" y="1"/>
                  <a:pt x="14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 name="Google Shape;296;p40"/>
          <p:cNvSpPr/>
          <p:nvPr/>
        </p:nvSpPr>
        <p:spPr>
          <a:xfrm rot="5400000" flipH="1">
            <a:off x="-1646825" y="1389937"/>
            <a:ext cx="4650477" cy="1023285"/>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 name="Google Shape;297;p40"/>
          <p:cNvSpPr/>
          <p:nvPr/>
        </p:nvSpPr>
        <p:spPr>
          <a:xfrm flipH="1">
            <a:off x="2255737" y="40649"/>
            <a:ext cx="1250788" cy="296408"/>
          </a:xfrm>
          <a:custGeom>
            <a:avLst/>
            <a:gdLst/>
            <a:ahLst/>
            <a:cxnLst/>
            <a:rect l="l" t="t" r="r" b="b"/>
            <a:pathLst>
              <a:path w="27194" h="6444" extrusionOk="0">
                <a:moveTo>
                  <a:pt x="14158" y="1"/>
                </a:moveTo>
                <a:cubicBezTo>
                  <a:pt x="12412" y="1"/>
                  <a:pt x="10904" y="5406"/>
                  <a:pt x="10904" y="5406"/>
                </a:cubicBezTo>
                <a:cubicBezTo>
                  <a:pt x="10904" y="5406"/>
                  <a:pt x="11216" y="3320"/>
                  <a:pt x="9660" y="3222"/>
                </a:cubicBezTo>
                <a:cubicBezTo>
                  <a:pt x="9625" y="3220"/>
                  <a:pt x="9591" y="3219"/>
                  <a:pt x="9557" y="3219"/>
                </a:cubicBezTo>
                <a:cubicBezTo>
                  <a:pt x="8053" y="3219"/>
                  <a:pt x="6963" y="5303"/>
                  <a:pt x="6963" y="5303"/>
                </a:cubicBezTo>
                <a:lnTo>
                  <a:pt x="0" y="6444"/>
                </a:lnTo>
                <a:lnTo>
                  <a:pt x="27194" y="6444"/>
                </a:lnTo>
                <a:cubicBezTo>
                  <a:pt x="27194" y="6444"/>
                  <a:pt x="20553" y="6029"/>
                  <a:pt x="20139" y="5406"/>
                </a:cubicBezTo>
                <a:cubicBezTo>
                  <a:pt x="19724" y="4784"/>
                  <a:pt x="19030" y="2294"/>
                  <a:pt x="17353" y="2086"/>
                </a:cubicBezTo>
                <a:cubicBezTo>
                  <a:pt x="17284" y="2077"/>
                  <a:pt x="17216" y="2073"/>
                  <a:pt x="17151" y="2073"/>
                </a:cubicBezTo>
                <a:cubicBezTo>
                  <a:pt x="16230" y="2073"/>
                  <a:pt x="15692" y="2882"/>
                  <a:pt x="15412" y="3517"/>
                </a:cubicBezTo>
                <a:lnTo>
                  <a:pt x="15412" y="3517"/>
                </a:lnTo>
                <a:cubicBezTo>
                  <a:pt x="15684" y="2529"/>
                  <a:pt x="15916" y="830"/>
                  <a:pt x="14591" y="115"/>
                </a:cubicBezTo>
                <a:cubicBezTo>
                  <a:pt x="14446" y="37"/>
                  <a:pt x="14301" y="1"/>
                  <a:pt x="14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8" name="Google Shape;298;p40"/>
          <p:cNvGrpSpPr/>
          <p:nvPr/>
        </p:nvGrpSpPr>
        <p:grpSpPr>
          <a:xfrm>
            <a:off x="6087142" y="2795205"/>
            <a:ext cx="5802645" cy="2629472"/>
            <a:chOff x="3601778" y="2646022"/>
            <a:chExt cx="5802645" cy="2629472"/>
          </a:xfrm>
        </p:grpSpPr>
        <p:sp>
          <p:nvSpPr>
            <p:cNvPr id="299" name="Google Shape;299;p40"/>
            <p:cNvSpPr/>
            <p:nvPr/>
          </p:nvSpPr>
          <p:spPr>
            <a:xfrm>
              <a:off x="4808200" y="3145000"/>
              <a:ext cx="4596223" cy="2130494"/>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40"/>
            <p:cNvSpPr/>
            <p:nvPr/>
          </p:nvSpPr>
          <p:spPr>
            <a:xfrm>
              <a:off x="5227742" y="3389493"/>
              <a:ext cx="4016710" cy="1777647"/>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 name="Google Shape;301;p40"/>
            <p:cNvSpPr/>
            <p:nvPr/>
          </p:nvSpPr>
          <p:spPr>
            <a:xfrm flipH="1">
              <a:off x="7781086" y="3145011"/>
              <a:ext cx="359112" cy="45720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2" name="Google Shape;302;p40"/>
            <p:cNvGrpSpPr/>
            <p:nvPr/>
          </p:nvGrpSpPr>
          <p:grpSpPr>
            <a:xfrm>
              <a:off x="3601778" y="2646022"/>
              <a:ext cx="5360615" cy="2242771"/>
              <a:chOff x="3142804" y="2498247"/>
              <a:chExt cx="5895321" cy="2466481"/>
            </a:xfrm>
          </p:grpSpPr>
          <p:sp>
            <p:nvSpPr>
              <p:cNvPr id="303" name="Google Shape;303;p40"/>
              <p:cNvSpPr/>
              <p:nvPr/>
            </p:nvSpPr>
            <p:spPr>
              <a:xfrm>
                <a:off x="8397025" y="3389500"/>
                <a:ext cx="457200" cy="4572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4" name="Google Shape;304;p40"/>
              <p:cNvGrpSpPr/>
              <p:nvPr/>
            </p:nvGrpSpPr>
            <p:grpSpPr>
              <a:xfrm flipH="1">
                <a:off x="3142804" y="2498247"/>
                <a:ext cx="5895321" cy="2466481"/>
                <a:chOff x="2" y="-59054"/>
                <a:chExt cx="9363597" cy="3917537"/>
              </a:xfrm>
            </p:grpSpPr>
            <p:sp>
              <p:nvSpPr>
                <p:cNvPr id="305" name="Google Shape;305;p40"/>
                <p:cNvSpPr/>
                <p:nvPr/>
              </p:nvSpPr>
              <p:spPr>
                <a:xfrm>
                  <a:off x="1959561" y="1398770"/>
                  <a:ext cx="7403909" cy="2091785"/>
                </a:xfrm>
                <a:custGeom>
                  <a:avLst/>
                  <a:gdLst/>
                  <a:ahLst/>
                  <a:cxnLst/>
                  <a:rect l="l" t="t" r="r" b="b"/>
                  <a:pathLst>
                    <a:path w="63145" h="17840" extrusionOk="0">
                      <a:moveTo>
                        <a:pt x="27176" y="0"/>
                      </a:moveTo>
                      <a:cubicBezTo>
                        <a:pt x="25084" y="0"/>
                        <a:pt x="22999" y="84"/>
                        <a:pt x="20898" y="390"/>
                      </a:cubicBezTo>
                      <a:cubicBezTo>
                        <a:pt x="18203" y="783"/>
                        <a:pt x="15551" y="1450"/>
                        <a:pt x="12981" y="2349"/>
                      </a:cubicBezTo>
                      <a:cubicBezTo>
                        <a:pt x="11630" y="2821"/>
                        <a:pt x="10275" y="3457"/>
                        <a:pt x="8925" y="4002"/>
                      </a:cubicBezTo>
                      <a:cubicBezTo>
                        <a:pt x="7592" y="4539"/>
                        <a:pt x="6043" y="4745"/>
                        <a:pt x="4792" y="5445"/>
                      </a:cubicBezTo>
                      <a:cubicBezTo>
                        <a:pt x="4181" y="5785"/>
                        <a:pt x="3613" y="6200"/>
                        <a:pt x="3113" y="6676"/>
                      </a:cubicBezTo>
                      <a:cubicBezTo>
                        <a:pt x="3017" y="6768"/>
                        <a:pt x="2923" y="6861"/>
                        <a:pt x="2833" y="6956"/>
                      </a:cubicBezTo>
                      <a:cubicBezTo>
                        <a:pt x="2363" y="7452"/>
                        <a:pt x="1969" y="8010"/>
                        <a:pt x="1672" y="8624"/>
                      </a:cubicBezTo>
                      <a:cubicBezTo>
                        <a:pt x="1477" y="9028"/>
                        <a:pt x="1323" y="9456"/>
                        <a:pt x="1224" y="9907"/>
                      </a:cubicBezTo>
                      <a:cubicBezTo>
                        <a:pt x="947" y="11158"/>
                        <a:pt x="655" y="12408"/>
                        <a:pt x="373" y="13661"/>
                      </a:cubicBezTo>
                      <a:cubicBezTo>
                        <a:pt x="0" y="15322"/>
                        <a:pt x="1493" y="16187"/>
                        <a:pt x="3359" y="16663"/>
                      </a:cubicBezTo>
                      <a:cubicBezTo>
                        <a:pt x="5223" y="17140"/>
                        <a:pt x="17769" y="17839"/>
                        <a:pt x="17769" y="17839"/>
                      </a:cubicBezTo>
                      <a:lnTo>
                        <a:pt x="61256" y="17839"/>
                      </a:lnTo>
                      <a:cubicBezTo>
                        <a:pt x="62299" y="17839"/>
                        <a:pt x="63144" y="16994"/>
                        <a:pt x="63144" y="15951"/>
                      </a:cubicBezTo>
                      <a:lnTo>
                        <a:pt x="63144" y="12677"/>
                      </a:lnTo>
                      <a:cubicBezTo>
                        <a:pt x="63144" y="11444"/>
                        <a:pt x="62466" y="10310"/>
                        <a:pt x="61379" y="9726"/>
                      </a:cubicBezTo>
                      <a:cubicBezTo>
                        <a:pt x="58723" y="8297"/>
                        <a:pt x="52786" y="6231"/>
                        <a:pt x="47267" y="6166"/>
                      </a:cubicBezTo>
                      <a:cubicBezTo>
                        <a:pt x="41012" y="2854"/>
                        <a:pt x="35396" y="166"/>
                        <a:pt x="31433" y="72"/>
                      </a:cubicBezTo>
                      <a:cubicBezTo>
                        <a:pt x="30006" y="39"/>
                        <a:pt x="28589" y="0"/>
                        <a:pt x="27176" y="0"/>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40"/>
                <p:cNvSpPr/>
                <p:nvPr/>
              </p:nvSpPr>
              <p:spPr>
                <a:xfrm>
                  <a:off x="2852690" y="2628297"/>
                  <a:ext cx="5726964" cy="1087048"/>
                </a:xfrm>
                <a:custGeom>
                  <a:avLst/>
                  <a:gdLst/>
                  <a:ahLst/>
                  <a:cxnLst/>
                  <a:rect l="l" t="t" r="r" b="b"/>
                  <a:pathLst>
                    <a:path w="48843" h="9271" extrusionOk="0">
                      <a:moveTo>
                        <a:pt x="5230" y="312"/>
                      </a:moveTo>
                      <a:cubicBezTo>
                        <a:pt x="5130" y="312"/>
                        <a:pt x="2986" y="942"/>
                        <a:pt x="2986" y="942"/>
                      </a:cubicBezTo>
                      <a:lnTo>
                        <a:pt x="1306" y="2115"/>
                      </a:lnTo>
                      <a:lnTo>
                        <a:pt x="0" y="4415"/>
                      </a:lnTo>
                      <a:lnTo>
                        <a:pt x="0" y="6669"/>
                      </a:lnTo>
                      <a:cubicBezTo>
                        <a:pt x="889" y="6743"/>
                        <a:pt x="1844" y="6815"/>
                        <a:pt x="2798" y="6884"/>
                      </a:cubicBezTo>
                      <a:cubicBezTo>
                        <a:pt x="3533" y="8302"/>
                        <a:pt x="5014" y="9270"/>
                        <a:pt x="6720" y="9270"/>
                      </a:cubicBezTo>
                      <a:cubicBezTo>
                        <a:pt x="8231" y="9270"/>
                        <a:pt x="9565" y="8511"/>
                        <a:pt x="10361" y="7353"/>
                      </a:cubicBezTo>
                      <a:lnTo>
                        <a:pt x="10880" y="7353"/>
                      </a:lnTo>
                      <a:cubicBezTo>
                        <a:pt x="10931" y="7208"/>
                        <a:pt x="10975" y="7058"/>
                        <a:pt x="10975" y="6968"/>
                      </a:cubicBezTo>
                      <a:cubicBezTo>
                        <a:pt x="10975" y="6747"/>
                        <a:pt x="11136" y="5847"/>
                        <a:pt x="11136" y="5602"/>
                      </a:cubicBezTo>
                      <a:cubicBezTo>
                        <a:pt x="11136" y="5560"/>
                        <a:pt x="11123" y="5498"/>
                        <a:pt x="11100" y="5421"/>
                      </a:cubicBezTo>
                      <a:cubicBezTo>
                        <a:pt x="11124" y="5235"/>
                        <a:pt x="11136" y="5047"/>
                        <a:pt x="11136" y="4854"/>
                      </a:cubicBezTo>
                      <a:cubicBezTo>
                        <a:pt x="11136" y="2706"/>
                        <a:pt x="9601" y="917"/>
                        <a:pt x="7568" y="521"/>
                      </a:cubicBezTo>
                      <a:cubicBezTo>
                        <a:pt x="7519" y="487"/>
                        <a:pt x="7489" y="467"/>
                        <a:pt x="7489" y="467"/>
                      </a:cubicBezTo>
                      <a:cubicBezTo>
                        <a:pt x="7489" y="467"/>
                        <a:pt x="5331" y="312"/>
                        <a:pt x="5230" y="312"/>
                      </a:cubicBezTo>
                      <a:close/>
                      <a:moveTo>
                        <a:pt x="41958" y="1"/>
                      </a:moveTo>
                      <a:lnTo>
                        <a:pt x="40964" y="610"/>
                      </a:lnTo>
                      <a:cubicBezTo>
                        <a:pt x="39604" y="999"/>
                        <a:pt x="38515" y="2023"/>
                        <a:pt x="38033" y="3342"/>
                      </a:cubicBezTo>
                      <a:lnTo>
                        <a:pt x="37838" y="3612"/>
                      </a:lnTo>
                      <a:lnTo>
                        <a:pt x="37802" y="4295"/>
                      </a:lnTo>
                      <a:cubicBezTo>
                        <a:pt x="37780" y="4478"/>
                        <a:pt x="37767" y="4665"/>
                        <a:pt x="37767" y="4854"/>
                      </a:cubicBezTo>
                      <a:cubicBezTo>
                        <a:pt x="37767" y="4893"/>
                        <a:pt x="37768" y="4931"/>
                        <a:pt x="37768" y="4968"/>
                      </a:cubicBezTo>
                      <a:lnTo>
                        <a:pt x="37713" y="6087"/>
                      </a:lnTo>
                      <a:lnTo>
                        <a:pt x="37965" y="7353"/>
                      </a:lnTo>
                      <a:lnTo>
                        <a:pt x="38543" y="7353"/>
                      </a:lnTo>
                      <a:cubicBezTo>
                        <a:pt x="39339" y="8511"/>
                        <a:pt x="40672" y="9270"/>
                        <a:pt x="42184" y="9270"/>
                      </a:cubicBezTo>
                      <a:cubicBezTo>
                        <a:pt x="43695" y="9270"/>
                        <a:pt x="45028" y="8511"/>
                        <a:pt x="45824" y="7353"/>
                      </a:cubicBezTo>
                      <a:lnTo>
                        <a:pt x="48579" y="7353"/>
                      </a:lnTo>
                      <a:cubicBezTo>
                        <a:pt x="48687" y="6921"/>
                        <a:pt x="48843" y="6292"/>
                        <a:pt x="48843" y="6177"/>
                      </a:cubicBezTo>
                      <a:cubicBezTo>
                        <a:pt x="48843" y="6001"/>
                        <a:pt x="48283" y="3611"/>
                        <a:pt x="48283" y="3611"/>
                      </a:cubicBezTo>
                      <a:cubicBezTo>
                        <a:pt x="48283" y="3611"/>
                        <a:pt x="46977" y="1804"/>
                        <a:pt x="46915" y="1711"/>
                      </a:cubicBezTo>
                      <a:cubicBezTo>
                        <a:pt x="46853" y="1618"/>
                        <a:pt x="44655" y="312"/>
                        <a:pt x="44588" y="280"/>
                      </a:cubicBezTo>
                      <a:cubicBezTo>
                        <a:pt x="44522" y="249"/>
                        <a:pt x="41958" y="1"/>
                        <a:pt x="41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 name="Google Shape;307;p40"/>
                <p:cNvSpPr/>
                <p:nvPr/>
              </p:nvSpPr>
              <p:spPr>
                <a:xfrm>
                  <a:off x="3613086" y="1528335"/>
                  <a:ext cx="3765564" cy="679009"/>
                </a:xfrm>
                <a:custGeom>
                  <a:avLst/>
                  <a:gdLst/>
                  <a:ahLst/>
                  <a:cxnLst/>
                  <a:rect l="l" t="t" r="r" b="b"/>
                  <a:pathLst>
                    <a:path w="32115" h="5791" extrusionOk="0">
                      <a:moveTo>
                        <a:pt x="14324" y="0"/>
                      </a:moveTo>
                      <a:cubicBezTo>
                        <a:pt x="9789" y="0"/>
                        <a:pt x="5489" y="605"/>
                        <a:pt x="1326" y="1835"/>
                      </a:cubicBezTo>
                      <a:cubicBezTo>
                        <a:pt x="511" y="2077"/>
                        <a:pt x="0" y="2885"/>
                        <a:pt x="125" y="3726"/>
                      </a:cubicBezTo>
                      <a:lnTo>
                        <a:pt x="126" y="3731"/>
                      </a:lnTo>
                      <a:cubicBezTo>
                        <a:pt x="190" y="4160"/>
                        <a:pt x="549" y="4483"/>
                        <a:pt x="981" y="4501"/>
                      </a:cubicBezTo>
                      <a:lnTo>
                        <a:pt x="31604" y="5790"/>
                      </a:lnTo>
                      <a:cubicBezTo>
                        <a:pt x="31610" y="5790"/>
                        <a:pt x="31616" y="5790"/>
                        <a:pt x="31622" y="5790"/>
                      </a:cubicBezTo>
                      <a:cubicBezTo>
                        <a:pt x="31989" y="5790"/>
                        <a:pt x="32115" y="5292"/>
                        <a:pt x="31784" y="5120"/>
                      </a:cubicBezTo>
                      <a:cubicBezTo>
                        <a:pt x="26685" y="2471"/>
                        <a:pt x="21632" y="167"/>
                        <a:pt x="18139" y="85"/>
                      </a:cubicBezTo>
                      <a:cubicBezTo>
                        <a:pt x="17850" y="78"/>
                        <a:pt x="17532" y="68"/>
                        <a:pt x="17188" y="57"/>
                      </a:cubicBezTo>
                      <a:cubicBezTo>
                        <a:pt x="16356" y="30"/>
                        <a:pt x="15413" y="0"/>
                        <a:pt x="143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 name="Google Shape;308;p40"/>
                <p:cNvSpPr/>
                <p:nvPr/>
              </p:nvSpPr>
              <p:spPr>
                <a:xfrm>
                  <a:off x="4206512" y="1572774"/>
                  <a:ext cx="1131838" cy="505007"/>
                </a:xfrm>
                <a:custGeom>
                  <a:avLst/>
                  <a:gdLst/>
                  <a:ahLst/>
                  <a:cxnLst/>
                  <a:rect l="l" t="t" r="r" b="b"/>
                  <a:pathLst>
                    <a:path w="9653" h="4307" extrusionOk="0">
                      <a:moveTo>
                        <a:pt x="8560" y="0"/>
                      </a:moveTo>
                      <a:cubicBezTo>
                        <a:pt x="8558" y="0"/>
                        <a:pt x="8556" y="0"/>
                        <a:pt x="8554" y="0"/>
                      </a:cubicBezTo>
                      <a:cubicBezTo>
                        <a:pt x="5738" y="40"/>
                        <a:pt x="3041" y="313"/>
                        <a:pt x="404" y="829"/>
                      </a:cubicBezTo>
                      <a:cubicBezTo>
                        <a:pt x="161" y="875"/>
                        <a:pt x="1" y="1110"/>
                        <a:pt x="45" y="1353"/>
                      </a:cubicBezTo>
                      <a:lnTo>
                        <a:pt x="435" y="3581"/>
                      </a:lnTo>
                      <a:cubicBezTo>
                        <a:pt x="473" y="3791"/>
                        <a:pt x="651" y="3948"/>
                        <a:pt x="865" y="3957"/>
                      </a:cubicBezTo>
                      <a:lnTo>
                        <a:pt x="9136" y="4306"/>
                      </a:lnTo>
                      <a:cubicBezTo>
                        <a:pt x="9142" y="4306"/>
                        <a:pt x="9148" y="4306"/>
                        <a:pt x="9155" y="4306"/>
                      </a:cubicBezTo>
                      <a:cubicBezTo>
                        <a:pt x="9436" y="4306"/>
                        <a:pt x="9653" y="4052"/>
                        <a:pt x="9604" y="3771"/>
                      </a:cubicBezTo>
                      <a:lnTo>
                        <a:pt x="9008" y="378"/>
                      </a:lnTo>
                      <a:cubicBezTo>
                        <a:pt x="8970" y="160"/>
                        <a:pt x="8781" y="0"/>
                        <a:pt x="85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 name="Google Shape;309;p40"/>
                <p:cNvSpPr/>
                <p:nvPr/>
              </p:nvSpPr>
              <p:spPr>
                <a:xfrm>
                  <a:off x="5481304" y="1576057"/>
                  <a:ext cx="1829960" cy="587201"/>
                </a:xfrm>
                <a:custGeom>
                  <a:avLst/>
                  <a:gdLst/>
                  <a:ahLst/>
                  <a:cxnLst/>
                  <a:rect l="l" t="t" r="r" b="b"/>
                  <a:pathLst>
                    <a:path w="15607" h="5008" extrusionOk="0">
                      <a:moveTo>
                        <a:pt x="498" y="0"/>
                      </a:moveTo>
                      <a:cubicBezTo>
                        <a:pt x="216" y="0"/>
                        <a:pt x="1" y="255"/>
                        <a:pt x="49" y="535"/>
                      </a:cubicBezTo>
                      <a:lnTo>
                        <a:pt x="663" y="4020"/>
                      </a:lnTo>
                      <a:cubicBezTo>
                        <a:pt x="700" y="4231"/>
                        <a:pt x="878" y="4387"/>
                        <a:pt x="1091" y="4396"/>
                      </a:cubicBezTo>
                      <a:lnTo>
                        <a:pt x="15606" y="5007"/>
                      </a:lnTo>
                      <a:cubicBezTo>
                        <a:pt x="10964" y="2597"/>
                        <a:pt x="5753" y="135"/>
                        <a:pt x="2198" y="51"/>
                      </a:cubicBezTo>
                      <a:cubicBezTo>
                        <a:pt x="1907" y="44"/>
                        <a:pt x="1587" y="34"/>
                        <a:pt x="1240" y="23"/>
                      </a:cubicBezTo>
                      <a:cubicBezTo>
                        <a:pt x="1006" y="16"/>
                        <a:pt x="763" y="8"/>
                        <a:pt x="512" y="1"/>
                      </a:cubicBezTo>
                      <a:cubicBezTo>
                        <a:pt x="507" y="0"/>
                        <a:pt x="502" y="0"/>
                        <a:pt x="4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 name="Google Shape;310;p40"/>
                <p:cNvSpPr/>
                <p:nvPr/>
              </p:nvSpPr>
              <p:spPr>
                <a:xfrm>
                  <a:off x="5665394" y="1598804"/>
                  <a:ext cx="451539" cy="504772"/>
                </a:xfrm>
                <a:custGeom>
                  <a:avLst/>
                  <a:gdLst/>
                  <a:ahLst/>
                  <a:cxnLst/>
                  <a:rect l="l" t="t" r="r" b="b"/>
                  <a:pathLst>
                    <a:path w="3851" h="4305" extrusionOk="0">
                      <a:moveTo>
                        <a:pt x="2058" y="0"/>
                      </a:moveTo>
                      <a:lnTo>
                        <a:pt x="0" y="4222"/>
                      </a:lnTo>
                      <a:lnTo>
                        <a:pt x="1951" y="4304"/>
                      </a:lnTo>
                      <a:lnTo>
                        <a:pt x="3851" y="406"/>
                      </a:lnTo>
                      <a:cubicBezTo>
                        <a:pt x="3229" y="232"/>
                        <a:pt x="2629" y="93"/>
                        <a:pt x="20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 name="Google Shape;311;p40"/>
                <p:cNvSpPr/>
                <p:nvPr/>
              </p:nvSpPr>
              <p:spPr>
                <a:xfrm>
                  <a:off x="4422378" y="1587196"/>
                  <a:ext cx="454822" cy="463968"/>
                </a:xfrm>
                <a:custGeom>
                  <a:avLst/>
                  <a:gdLst/>
                  <a:ahLst/>
                  <a:cxnLst/>
                  <a:rect l="l" t="t" r="r" b="b"/>
                  <a:pathLst>
                    <a:path w="3879" h="3957" extrusionOk="0">
                      <a:moveTo>
                        <a:pt x="3879" y="0"/>
                      </a:moveTo>
                      <a:cubicBezTo>
                        <a:pt x="3176" y="51"/>
                        <a:pt x="2481" y="118"/>
                        <a:pt x="1791" y="200"/>
                      </a:cubicBezTo>
                      <a:lnTo>
                        <a:pt x="0" y="3875"/>
                      </a:lnTo>
                      <a:lnTo>
                        <a:pt x="1950" y="3957"/>
                      </a:lnTo>
                      <a:lnTo>
                        <a:pt x="38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 name="Google Shape;312;p40"/>
                <p:cNvSpPr/>
                <p:nvPr/>
              </p:nvSpPr>
              <p:spPr>
                <a:xfrm>
                  <a:off x="7400645" y="2793391"/>
                  <a:ext cx="1035574" cy="1035574"/>
                </a:xfrm>
                <a:custGeom>
                  <a:avLst/>
                  <a:gdLst/>
                  <a:ahLst/>
                  <a:cxnLst/>
                  <a:rect l="l" t="t" r="r" b="b"/>
                  <a:pathLst>
                    <a:path w="8832" h="8832" extrusionOk="0">
                      <a:moveTo>
                        <a:pt x="4416" y="1345"/>
                      </a:moveTo>
                      <a:cubicBezTo>
                        <a:pt x="6112" y="1345"/>
                        <a:pt x="7488" y="2720"/>
                        <a:pt x="7488" y="4416"/>
                      </a:cubicBezTo>
                      <a:cubicBezTo>
                        <a:pt x="7488" y="6112"/>
                        <a:pt x="6112" y="7488"/>
                        <a:pt x="4416" y="7488"/>
                      </a:cubicBezTo>
                      <a:cubicBezTo>
                        <a:pt x="2720" y="7488"/>
                        <a:pt x="1345" y="6112"/>
                        <a:pt x="1345" y="4416"/>
                      </a:cubicBezTo>
                      <a:cubicBezTo>
                        <a:pt x="1345" y="2720"/>
                        <a:pt x="2720" y="1345"/>
                        <a:pt x="4416" y="1345"/>
                      </a:cubicBezTo>
                      <a:close/>
                      <a:moveTo>
                        <a:pt x="4416" y="0"/>
                      </a:moveTo>
                      <a:cubicBezTo>
                        <a:pt x="1976" y="0"/>
                        <a:pt x="0" y="1976"/>
                        <a:pt x="0" y="4416"/>
                      </a:cubicBezTo>
                      <a:cubicBezTo>
                        <a:pt x="0" y="6854"/>
                        <a:pt x="1976" y="8832"/>
                        <a:pt x="4416" y="8832"/>
                      </a:cubicBezTo>
                      <a:cubicBezTo>
                        <a:pt x="6854" y="8832"/>
                        <a:pt x="8832" y="6854"/>
                        <a:pt x="8832" y="4416"/>
                      </a:cubicBezTo>
                      <a:cubicBezTo>
                        <a:pt x="8832" y="1978"/>
                        <a:pt x="6854" y="0"/>
                        <a:pt x="44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 name="Google Shape;313;p40"/>
                <p:cNvSpPr/>
                <p:nvPr/>
              </p:nvSpPr>
              <p:spPr>
                <a:xfrm>
                  <a:off x="7558236" y="2950864"/>
                  <a:ext cx="720399" cy="720517"/>
                </a:xfrm>
                <a:custGeom>
                  <a:avLst/>
                  <a:gdLst/>
                  <a:ahLst/>
                  <a:cxnLst/>
                  <a:rect l="l" t="t" r="r" b="b"/>
                  <a:pathLst>
                    <a:path w="6144" h="6145" extrusionOk="0">
                      <a:moveTo>
                        <a:pt x="3072" y="2144"/>
                      </a:moveTo>
                      <a:cubicBezTo>
                        <a:pt x="3001" y="2144"/>
                        <a:pt x="2945" y="2202"/>
                        <a:pt x="2945" y="2273"/>
                      </a:cubicBezTo>
                      <a:cubicBezTo>
                        <a:pt x="2945" y="2344"/>
                        <a:pt x="3001" y="2400"/>
                        <a:pt x="3072" y="2400"/>
                      </a:cubicBezTo>
                      <a:cubicBezTo>
                        <a:pt x="3143" y="2400"/>
                        <a:pt x="3201" y="2344"/>
                        <a:pt x="3201" y="2273"/>
                      </a:cubicBezTo>
                      <a:cubicBezTo>
                        <a:pt x="3201" y="2202"/>
                        <a:pt x="3143" y="2144"/>
                        <a:pt x="3072" y="2144"/>
                      </a:cubicBezTo>
                      <a:close/>
                      <a:moveTo>
                        <a:pt x="2506" y="2379"/>
                      </a:moveTo>
                      <a:cubicBezTo>
                        <a:pt x="2473" y="2379"/>
                        <a:pt x="2441" y="2392"/>
                        <a:pt x="2416" y="2417"/>
                      </a:cubicBezTo>
                      <a:cubicBezTo>
                        <a:pt x="2365" y="2467"/>
                        <a:pt x="2365" y="2547"/>
                        <a:pt x="2416" y="2598"/>
                      </a:cubicBezTo>
                      <a:cubicBezTo>
                        <a:pt x="2441" y="2623"/>
                        <a:pt x="2473" y="2635"/>
                        <a:pt x="2506" y="2635"/>
                      </a:cubicBezTo>
                      <a:cubicBezTo>
                        <a:pt x="2539" y="2635"/>
                        <a:pt x="2572" y="2623"/>
                        <a:pt x="2597" y="2598"/>
                      </a:cubicBezTo>
                      <a:cubicBezTo>
                        <a:pt x="2647" y="2547"/>
                        <a:pt x="2647" y="2467"/>
                        <a:pt x="2597" y="2417"/>
                      </a:cubicBezTo>
                      <a:cubicBezTo>
                        <a:pt x="2572" y="2392"/>
                        <a:pt x="2539" y="2379"/>
                        <a:pt x="2506" y="2379"/>
                      </a:cubicBezTo>
                      <a:close/>
                      <a:moveTo>
                        <a:pt x="3637" y="2379"/>
                      </a:moveTo>
                      <a:cubicBezTo>
                        <a:pt x="3605" y="2379"/>
                        <a:pt x="3572" y="2392"/>
                        <a:pt x="3547" y="2417"/>
                      </a:cubicBezTo>
                      <a:cubicBezTo>
                        <a:pt x="3498" y="2467"/>
                        <a:pt x="3498" y="2547"/>
                        <a:pt x="3547" y="2598"/>
                      </a:cubicBezTo>
                      <a:cubicBezTo>
                        <a:pt x="3572" y="2623"/>
                        <a:pt x="3605" y="2635"/>
                        <a:pt x="3637" y="2635"/>
                      </a:cubicBezTo>
                      <a:cubicBezTo>
                        <a:pt x="3670" y="2635"/>
                        <a:pt x="3703" y="2623"/>
                        <a:pt x="3728" y="2598"/>
                      </a:cubicBezTo>
                      <a:cubicBezTo>
                        <a:pt x="3779" y="2547"/>
                        <a:pt x="3779" y="2467"/>
                        <a:pt x="3728" y="2417"/>
                      </a:cubicBezTo>
                      <a:cubicBezTo>
                        <a:pt x="3703" y="2392"/>
                        <a:pt x="3670" y="2379"/>
                        <a:pt x="3637" y="2379"/>
                      </a:cubicBezTo>
                      <a:close/>
                      <a:moveTo>
                        <a:pt x="2272" y="2944"/>
                      </a:moveTo>
                      <a:cubicBezTo>
                        <a:pt x="2201" y="2944"/>
                        <a:pt x="2143" y="3002"/>
                        <a:pt x="2143" y="3073"/>
                      </a:cubicBezTo>
                      <a:cubicBezTo>
                        <a:pt x="2143" y="3144"/>
                        <a:pt x="2201" y="3200"/>
                        <a:pt x="2272" y="3200"/>
                      </a:cubicBezTo>
                      <a:cubicBezTo>
                        <a:pt x="2343" y="3200"/>
                        <a:pt x="2401" y="3144"/>
                        <a:pt x="2401" y="3073"/>
                      </a:cubicBezTo>
                      <a:cubicBezTo>
                        <a:pt x="2401" y="3002"/>
                        <a:pt x="2343" y="2944"/>
                        <a:pt x="2272" y="2944"/>
                      </a:cubicBezTo>
                      <a:close/>
                      <a:moveTo>
                        <a:pt x="3872" y="2944"/>
                      </a:moveTo>
                      <a:cubicBezTo>
                        <a:pt x="3801" y="2944"/>
                        <a:pt x="3745" y="3002"/>
                        <a:pt x="3745" y="3073"/>
                      </a:cubicBezTo>
                      <a:cubicBezTo>
                        <a:pt x="3745" y="3144"/>
                        <a:pt x="3801" y="3200"/>
                        <a:pt x="3872" y="3200"/>
                      </a:cubicBezTo>
                      <a:cubicBezTo>
                        <a:pt x="3943" y="3200"/>
                        <a:pt x="4001" y="3144"/>
                        <a:pt x="4001" y="3073"/>
                      </a:cubicBezTo>
                      <a:cubicBezTo>
                        <a:pt x="4001" y="3002"/>
                        <a:pt x="3943" y="2944"/>
                        <a:pt x="3872" y="2944"/>
                      </a:cubicBezTo>
                      <a:close/>
                      <a:moveTo>
                        <a:pt x="2506" y="3511"/>
                      </a:moveTo>
                      <a:cubicBezTo>
                        <a:pt x="2473" y="3511"/>
                        <a:pt x="2441" y="3523"/>
                        <a:pt x="2416" y="3548"/>
                      </a:cubicBezTo>
                      <a:cubicBezTo>
                        <a:pt x="2365" y="3599"/>
                        <a:pt x="2365" y="3679"/>
                        <a:pt x="2416" y="3729"/>
                      </a:cubicBezTo>
                      <a:cubicBezTo>
                        <a:pt x="2441" y="3754"/>
                        <a:pt x="2473" y="3767"/>
                        <a:pt x="2506" y="3767"/>
                      </a:cubicBezTo>
                      <a:cubicBezTo>
                        <a:pt x="2539" y="3767"/>
                        <a:pt x="2572" y="3754"/>
                        <a:pt x="2597" y="3729"/>
                      </a:cubicBezTo>
                      <a:cubicBezTo>
                        <a:pt x="2647" y="3679"/>
                        <a:pt x="2647" y="3597"/>
                        <a:pt x="2597" y="3548"/>
                      </a:cubicBezTo>
                      <a:cubicBezTo>
                        <a:pt x="2572" y="3523"/>
                        <a:pt x="2539" y="3511"/>
                        <a:pt x="2506" y="3511"/>
                      </a:cubicBezTo>
                      <a:close/>
                      <a:moveTo>
                        <a:pt x="3637" y="3511"/>
                      </a:moveTo>
                      <a:cubicBezTo>
                        <a:pt x="3605" y="3511"/>
                        <a:pt x="3572" y="3523"/>
                        <a:pt x="3547" y="3548"/>
                      </a:cubicBezTo>
                      <a:cubicBezTo>
                        <a:pt x="3498" y="3599"/>
                        <a:pt x="3498" y="3679"/>
                        <a:pt x="3547" y="3729"/>
                      </a:cubicBezTo>
                      <a:cubicBezTo>
                        <a:pt x="3572" y="3754"/>
                        <a:pt x="3605" y="3767"/>
                        <a:pt x="3638" y="3767"/>
                      </a:cubicBezTo>
                      <a:cubicBezTo>
                        <a:pt x="3671" y="3767"/>
                        <a:pt x="3703" y="3754"/>
                        <a:pt x="3728" y="3729"/>
                      </a:cubicBezTo>
                      <a:cubicBezTo>
                        <a:pt x="3779" y="3679"/>
                        <a:pt x="3779" y="3597"/>
                        <a:pt x="3728" y="3548"/>
                      </a:cubicBezTo>
                      <a:cubicBezTo>
                        <a:pt x="3703" y="3523"/>
                        <a:pt x="3670" y="3511"/>
                        <a:pt x="3637" y="3511"/>
                      </a:cubicBezTo>
                      <a:close/>
                      <a:moveTo>
                        <a:pt x="3072" y="3744"/>
                      </a:moveTo>
                      <a:cubicBezTo>
                        <a:pt x="3001" y="3744"/>
                        <a:pt x="2943" y="3802"/>
                        <a:pt x="2943" y="3873"/>
                      </a:cubicBezTo>
                      <a:cubicBezTo>
                        <a:pt x="2943" y="3944"/>
                        <a:pt x="3001" y="4002"/>
                        <a:pt x="3072" y="4002"/>
                      </a:cubicBezTo>
                      <a:cubicBezTo>
                        <a:pt x="3143" y="4002"/>
                        <a:pt x="3199" y="3944"/>
                        <a:pt x="3199" y="3873"/>
                      </a:cubicBezTo>
                      <a:cubicBezTo>
                        <a:pt x="3199" y="3802"/>
                        <a:pt x="3143" y="3744"/>
                        <a:pt x="3072" y="3744"/>
                      </a:cubicBezTo>
                      <a:close/>
                      <a:moveTo>
                        <a:pt x="3031" y="246"/>
                      </a:moveTo>
                      <a:lnTo>
                        <a:pt x="3031" y="246"/>
                      </a:lnTo>
                      <a:cubicBezTo>
                        <a:pt x="3006" y="420"/>
                        <a:pt x="2990" y="595"/>
                        <a:pt x="2977" y="769"/>
                      </a:cubicBezTo>
                      <a:cubicBezTo>
                        <a:pt x="2959" y="1025"/>
                        <a:pt x="2951" y="1281"/>
                        <a:pt x="2951" y="1537"/>
                      </a:cubicBezTo>
                      <a:cubicBezTo>
                        <a:pt x="2951" y="1657"/>
                        <a:pt x="2953" y="1776"/>
                        <a:pt x="2956" y="1896"/>
                      </a:cubicBezTo>
                      <a:cubicBezTo>
                        <a:pt x="2994" y="1891"/>
                        <a:pt x="3034" y="1890"/>
                        <a:pt x="3072" y="1890"/>
                      </a:cubicBezTo>
                      <a:cubicBezTo>
                        <a:pt x="3112" y="1890"/>
                        <a:pt x="3150" y="1891"/>
                        <a:pt x="3188" y="1896"/>
                      </a:cubicBezTo>
                      <a:cubicBezTo>
                        <a:pt x="3192" y="1776"/>
                        <a:pt x="3194" y="1657"/>
                        <a:pt x="3194" y="1537"/>
                      </a:cubicBezTo>
                      <a:cubicBezTo>
                        <a:pt x="3194" y="1281"/>
                        <a:pt x="3185" y="1025"/>
                        <a:pt x="3168" y="769"/>
                      </a:cubicBezTo>
                      <a:cubicBezTo>
                        <a:pt x="3155" y="595"/>
                        <a:pt x="3139" y="420"/>
                        <a:pt x="3113" y="246"/>
                      </a:cubicBezTo>
                      <a:lnTo>
                        <a:pt x="3113" y="246"/>
                      </a:lnTo>
                      <a:cubicBezTo>
                        <a:pt x="3598" y="253"/>
                        <a:pt x="4053" y="382"/>
                        <a:pt x="4450" y="604"/>
                      </a:cubicBezTo>
                      <a:cubicBezTo>
                        <a:pt x="4341" y="742"/>
                        <a:pt x="4240" y="885"/>
                        <a:pt x="4142" y="1031"/>
                      </a:cubicBezTo>
                      <a:cubicBezTo>
                        <a:pt x="3998" y="1243"/>
                        <a:pt x="3862" y="1460"/>
                        <a:pt x="3735" y="1682"/>
                      </a:cubicBezTo>
                      <a:cubicBezTo>
                        <a:pt x="3676" y="1785"/>
                        <a:pt x="3618" y="1890"/>
                        <a:pt x="3561" y="1995"/>
                      </a:cubicBezTo>
                      <a:cubicBezTo>
                        <a:pt x="3632" y="2027"/>
                        <a:pt x="3698" y="2065"/>
                        <a:pt x="3762" y="2111"/>
                      </a:cubicBezTo>
                      <a:cubicBezTo>
                        <a:pt x="3824" y="2009"/>
                        <a:pt x="3886" y="1907"/>
                        <a:pt x="3946" y="1804"/>
                      </a:cubicBezTo>
                      <a:cubicBezTo>
                        <a:pt x="4074" y="1582"/>
                        <a:pt x="4194" y="1356"/>
                        <a:pt x="4307" y="1125"/>
                      </a:cubicBezTo>
                      <a:cubicBezTo>
                        <a:pt x="4384" y="968"/>
                        <a:pt x="4456" y="809"/>
                        <a:pt x="4522" y="645"/>
                      </a:cubicBezTo>
                      <a:cubicBezTo>
                        <a:pt x="4922" y="885"/>
                        <a:pt x="5260" y="1223"/>
                        <a:pt x="5500" y="1624"/>
                      </a:cubicBezTo>
                      <a:cubicBezTo>
                        <a:pt x="5336" y="1689"/>
                        <a:pt x="5177" y="1763"/>
                        <a:pt x="5020" y="1838"/>
                      </a:cubicBezTo>
                      <a:cubicBezTo>
                        <a:pt x="4789" y="1951"/>
                        <a:pt x="4563" y="2072"/>
                        <a:pt x="4341" y="2200"/>
                      </a:cubicBezTo>
                      <a:cubicBezTo>
                        <a:pt x="4238" y="2259"/>
                        <a:pt x="4136" y="2321"/>
                        <a:pt x="4035" y="2383"/>
                      </a:cubicBezTo>
                      <a:cubicBezTo>
                        <a:pt x="4080" y="2447"/>
                        <a:pt x="4118" y="2513"/>
                        <a:pt x="4151" y="2584"/>
                      </a:cubicBezTo>
                      <a:cubicBezTo>
                        <a:pt x="4255" y="2527"/>
                        <a:pt x="4360" y="2470"/>
                        <a:pt x="4463" y="2410"/>
                      </a:cubicBezTo>
                      <a:cubicBezTo>
                        <a:pt x="4685" y="2283"/>
                        <a:pt x="4903" y="2147"/>
                        <a:pt x="5116" y="2003"/>
                      </a:cubicBezTo>
                      <a:cubicBezTo>
                        <a:pt x="5260" y="1906"/>
                        <a:pt x="5403" y="1804"/>
                        <a:pt x="5541" y="1695"/>
                      </a:cubicBezTo>
                      <a:cubicBezTo>
                        <a:pt x="5763" y="2092"/>
                        <a:pt x="5893" y="2547"/>
                        <a:pt x="5900" y="3032"/>
                      </a:cubicBezTo>
                      <a:cubicBezTo>
                        <a:pt x="5725" y="3007"/>
                        <a:pt x="5551" y="2990"/>
                        <a:pt x="5376" y="2977"/>
                      </a:cubicBezTo>
                      <a:cubicBezTo>
                        <a:pt x="5120" y="2960"/>
                        <a:pt x="4864" y="2952"/>
                        <a:pt x="4609" y="2952"/>
                      </a:cubicBezTo>
                      <a:cubicBezTo>
                        <a:pt x="4488" y="2952"/>
                        <a:pt x="4370" y="2953"/>
                        <a:pt x="4249" y="2957"/>
                      </a:cubicBezTo>
                      <a:cubicBezTo>
                        <a:pt x="4254" y="2995"/>
                        <a:pt x="4255" y="3034"/>
                        <a:pt x="4255" y="3073"/>
                      </a:cubicBezTo>
                      <a:cubicBezTo>
                        <a:pt x="4255" y="3111"/>
                        <a:pt x="4254" y="3151"/>
                        <a:pt x="4249" y="3189"/>
                      </a:cubicBezTo>
                      <a:cubicBezTo>
                        <a:pt x="4370" y="3192"/>
                        <a:pt x="4488" y="3195"/>
                        <a:pt x="4609" y="3195"/>
                      </a:cubicBezTo>
                      <a:cubicBezTo>
                        <a:pt x="4864" y="3195"/>
                        <a:pt x="5120" y="3186"/>
                        <a:pt x="5376" y="3168"/>
                      </a:cubicBezTo>
                      <a:cubicBezTo>
                        <a:pt x="5551" y="3155"/>
                        <a:pt x="5725" y="3140"/>
                        <a:pt x="5900" y="3114"/>
                      </a:cubicBezTo>
                      <a:lnTo>
                        <a:pt x="5900" y="3114"/>
                      </a:lnTo>
                      <a:cubicBezTo>
                        <a:pt x="5893" y="3599"/>
                        <a:pt x="5763" y="4054"/>
                        <a:pt x="5541" y="4451"/>
                      </a:cubicBezTo>
                      <a:cubicBezTo>
                        <a:pt x="5403" y="4342"/>
                        <a:pt x="5260" y="4241"/>
                        <a:pt x="5116" y="4142"/>
                      </a:cubicBezTo>
                      <a:cubicBezTo>
                        <a:pt x="4903" y="3999"/>
                        <a:pt x="4685" y="3863"/>
                        <a:pt x="4463" y="3736"/>
                      </a:cubicBezTo>
                      <a:cubicBezTo>
                        <a:pt x="4360" y="3677"/>
                        <a:pt x="4255" y="3619"/>
                        <a:pt x="4151" y="3562"/>
                      </a:cubicBezTo>
                      <a:cubicBezTo>
                        <a:pt x="4118" y="3633"/>
                        <a:pt x="4080" y="3699"/>
                        <a:pt x="4035" y="3763"/>
                      </a:cubicBezTo>
                      <a:cubicBezTo>
                        <a:pt x="4136" y="3825"/>
                        <a:pt x="4238" y="3887"/>
                        <a:pt x="4341" y="3947"/>
                      </a:cubicBezTo>
                      <a:cubicBezTo>
                        <a:pt x="4563" y="4074"/>
                        <a:pt x="4789" y="4195"/>
                        <a:pt x="5020" y="4308"/>
                      </a:cubicBezTo>
                      <a:cubicBezTo>
                        <a:pt x="5177" y="4383"/>
                        <a:pt x="5336" y="4457"/>
                        <a:pt x="5500" y="4522"/>
                      </a:cubicBezTo>
                      <a:cubicBezTo>
                        <a:pt x="5260" y="4923"/>
                        <a:pt x="4922" y="5261"/>
                        <a:pt x="4522" y="5501"/>
                      </a:cubicBezTo>
                      <a:cubicBezTo>
                        <a:pt x="4456" y="5337"/>
                        <a:pt x="4384" y="5178"/>
                        <a:pt x="4307" y="5021"/>
                      </a:cubicBezTo>
                      <a:cubicBezTo>
                        <a:pt x="4194" y="4790"/>
                        <a:pt x="4074" y="4564"/>
                        <a:pt x="3946" y="4342"/>
                      </a:cubicBezTo>
                      <a:cubicBezTo>
                        <a:pt x="3886" y="4239"/>
                        <a:pt x="3824" y="4137"/>
                        <a:pt x="3762" y="4036"/>
                      </a:cubicBezTo>
                      <a:cubicBezTo>
                        <a:pt x="3698" y="4081"/>
                        <a:pt x="3632" y="4119"/>
                        <a:pt x="3561" y="4152"/>
                      </a:cubicBezTo>
                      <a:cubicBezTo>
                        <a:pt x="3618" y="4256"/>
                        <a:pt x="3676" y="4361"/>
                        <a:pt x="3735" y="4464"/>
                      </a:cubicBezTo>
                      <a:cubicBezTo>
                        <a:pt x="3862" y="4686"/>
                        <a:pt x="3998" y="4904"/>
                        <a:pt x="4142" y="5116"/>
                      </a:cubicBezTo>
                      <a:cubicBezTo>
                        <a:pt x="4240" y="5261"/>
                        <a:pt x="4341" y="5404"/>
                        <a:pt x="4450" y="5542"/>
                      </a:cubicBezTo>
                      <a:cubicBezTo>
                        <a:pt x="4053" y="5764"/>
                        <a:pt x="3598" y="5893"/>
                        <a:pt x="3113" y="5900"/>
                      </a:cubicBezTo>
                      <a:cubicBezTo>
                        <a:pt x="3139" y="5726"/>
                        <a:pt x="3155" y="5551"/>
                        <a:pt x="3168" y="5377"/>
                      </a:cubicBezTo>
                      <a:cubicBezTo>
                        <a:pt x="3185" y="5121"/>
                        <a:pt x="3194" y="4865"/>
                        <a:pt x="3194" y="4610"/>
                      </a:cubicBezTo>
                      <a:cubicBezTo>
                        <a:pt x="3194" y="4489"/>
                        <a:pt x="3192" y="4371"/>
                        <a:pt x="3188" y="4251"/>
                      </a:cubicBezTo>
                      <a:cubicBezTo>
                        <a:pt x="3150" y="4255"/>
                        <a:pt x="3112" y="4256"/>
                        <a:pt x="3072" y="4256"/>
                      </a:cubicBezTo>
                      <a:cubicBezTo>
                        <a:pt x="3034" y="4256"/>
                        <a:pt x="2994" y="4255"/>
                        <a:pt x="2956" y="4251"/>
                      </a:cubicBezTo>
                      <a:cubicBezTo>
                        <a:pt x="2953" y="4371"/>
                        <a:pt x="2951" y="4489"/>
                        <a:pt x="2951" y="4610"/>
                      </a:cubicBezTo>
                      <a:cubicBezTo>
                        <a:pt x="2951" y="4865"/>
                        <a:pt x="2959" y="5121"/>
                        <a:pt x="2977" y="5377"/>
                      </a:cubicBezTo>
                      <a:cubicBezTo>
                        <a:pt x="2990" y="5551"/>
                        <a:pt x="3006" y="5726"/>
                        <a:pt x="3031" y="5900"/>
                      </a:cubicBezTo>
                      <a:cubicBezTo>
                        <a:pt x="2546" y="5893"/>
                        <a:pt x="2091" y="5764"/>
                        <a:pt x="1694" y="5542"/>
                      </a:cubicBezTo>
                      <a:cubicBezTo>
                        <a:pt x="1804" y="5404"/>
                        <a:pt x="1905" y="5261"/>
                        <a:pt x="2003" y="5116"/>
                      </a:cubicBezTo>
                      <a:cubicBezTo>
                        <a:pt x="2146" y="4904"/>
                        <a:pt x="2282" y="4686"/>
                        <a:pt x="2409" y="4464"/>
                      </a:cubicBezTo>
                      <a:cubicBezTo>
                        <a:pt x="2470" y="4361"/>
                        <a:pt x="2528" y="4256"/>
                        <a:pt x="2583" y="4152"/>
                      </a:cubicBezTo>
                      <a:cubicBezTo>
                        <a:pt x="2512" y="4119"/>
                        <a:pt x="2446" y="4081"/>
                        <a:pt x="2384" y="4036"/>
                      </a:cubicBezTo>
                      <a:cubicBezTo>
                        <a:pt x="2320" y="4136"/>
                        <a:pt x="2259" y="4239"/>
                        <a:pt x="2200" y="4342"/>
                      </a:cubicBezTo>
                      <a:cubicBezTo>
                        <a:pt x="2071" y="4564"/>
                        <a:pt x="1950" y="4790"/>
                        <a:pt x="1838" y="5021"/>
                      </a:cubicBezTo>
                      <a:cubicBezTo>
                        <a:pt x="1762" y="5178"/>
                        <a:pt x="1688" y="5337"/>
                        <a:pt x="1623" y="5501"/>
                      </a:cubicBezTo>
                      <a:cubicBezTo>
                        <a:pt x="1222" y="5261"/>
                        <a:pt x="885" y="4923"/>
                        <a:pt x="645" y="4522"/>
                      </a:cubicBezTo>
                      <a:cubicBezTo>
                        <a:pt x="808" y="4457"/>
                        <a:pt x="967" y="4383"/>
                        <a:pt x="1126" y="4308"/>
                      </a:cubicBezTo>
                      <a:cubicBezTo>
                        <a:pt x="1356" y="4195"/>
                        <a:pt x="1582" y="4074"/>
                        <a:pt x="1803" y="3947"/>
                      </a:cubicBezTo>
                      <a:cubicBezTo>
                        <a:pt x="1906" y="3887"/>
                        <a:pt x="2009" y="3825"/>
                        <a:pt x="2111" y="3763"/>
                      </a:cubicBezTo>
                      <a:cubicBezTo>
                        <a:pt x="2066" y="3699"/>
                        <a:pt x="2026" y="3633"/>
                        <a:pt x="1995" y="3562"/>
                      </a:cubicBezTo>
                      <a:cubicBezTo>
                        <a:pt x="1889" y="3619"/>
                        <a:pt x="1784" y="3677"/>
                        <a:pt x="1681" y="3736"/>
                      </a:cubicBezTo>
                      <a:cubicBezTo>
                        <a:pt x="1459" y="3863"/>
                        <a:pt x="1242" y="3999"/>
                        <a:pt x="1030" y="4142"/>
                      </a:cubicBezTo>
                      <a:cubicBezTo>
                        <a:pt x="885" y="4241"/>
                        <a:pt x="743" y="4342"/>
                        <a:pt x="604" y="4451"/>
                      </a:cubicBezTo>
                      <a:cubicBezTo>
                        <a:pt x="381" y="4054"/>
                        <a:pt x="252" y="3599"/>
                        <a:pt x="245" y="3114"/>
                      </a:cubicBezTo>
                      <a:lnTo>
                        <a:pt x="245" y="3114"/>
                      </a:lnTo>
                      <a:cubicBezTo>
                        <a:pt x="419" y="3140"/>
                        <a:pt x="594" y="3155"/>
                        <a:pt x="768" y="3169"/>
                      </a:cubicBezTo>
                      <a:cubicBezTo>
                        <a:pt x="1025" y="3186"/>
                        <a:pt x="1281" y="3195"/>
                        <a:pt x="1537" y="3195"/>
                      </a:cubicBezTo>
                      <a:cubicBezTo>
                        <a:pt x="1656" y="3195"/>
                        <a:pt x="1776" y="3192"/>
                        <a:pt x="1895" y="3189"/>
                      </a:cubicBezTo>
                      <a:cubicBezTo>
                        <a:pt x="1890" y="3151"/>
                        <a:pt x="1889" y="3113"/>
                        <a:pt x="1889" y="3073"/>
                      </a:cubicBezTo>
                      <a:cubicBezTo>
                        <a:pt x="1889" y="3034"/>
                        <a:pt x="1890" y="2995"/>
                        <a:pt x="1895" y="2957"/>
                      </a:cubicBezTo>
                      <a:cubicBezTo>
                        <a:pt x="1776" y="2953"/>
                        <a:pt x="1656" y="2952"/>
                        <a:pt x="1537" y="2952"/>
                      </a:cubicBezTo>
                      <a:cubicBezTo>
                        <a:pt x="1281" y="2952"/>
                        <a:pt x="1025" y="2960"/>
                        <a:pt x="768" y="2977"/>
                      </a:cubicBezTo>
                      <a:cubicBezTo>
                        <a:pt x="594" y="2990"/>
                        <a:pt x="419" y="3007"/>
                        <a:pt x="245" y="3032"/>
                      </a:cubicBezTo>
                      <a:cubicBezTo>
                        <a:pt x="252" y="2547"/>
                        <a:pt x="381" y="2092"/>
                        <a:pt x="604" y="1695"/>
                      </a:cubicBezTo>
                      <a:cubicBezTo>
                        <a:pt x="743" y="1804"/>
                        <a:pt x="885" y="1906"/>
                        <a:pt x="1030" y="2005"/>
                      </a:cubicBezTo>
                      <a:cubicBezTo>
                        <a:pt x="1242" y="2147"/>
                        <a:pt x="1459" y="2283"/>
                        <a:pt x="1681" y="2410"/>
                      </a:cubicBezTo>
                      <a:cubicBezTo>
                        <a:pt x="1784" y="2470"/>
                        <a:pt x="1889" y="2527"/>
                        <a:pt x="1995" y="2584"/>
                      </a:cubicBezTo>
                      <a:cubicBezTo>
                        <a:pt x="2026" y="2513"/>
                        <a:pt x="2066" y="2447"/>
                        <a:pt x="2111" y="2383"/>
                      </a:cubicBezTo>
                      <a:cubicBezTo>
                        <a:pt x="2009" y="2321"/>
                        <a:pt x="1906" y="2259"/>
                        <a:pt x="1803" y="2200"/>
                      </a:cubicBezTo>
                      <a:cubicBezTo>
                        <a:pt x="1582" y="2072"/>
                        <a:pt x="1356" y="1951"/>
                        <a:pt x="1126" y="1838"/>
                      </a:cubicBezTo>
                      <a:cubicBezTo>
                        <a:pt x="967" y="1763"/>
                        <a:pt x="808" y="1689"/>
                        <a:pt x="645" y="1624"/>
                      </a:cubicBezTo>
                      <a:cubicBezTo>
                        <a:pt x="885" y="1223"/>
                        <a:pt x="1222" y="885"/>
                        <a:pt x="1623" y="645"/>
                      </a:cubicBezTo>
                      <a:cubicBezTo>
                        <a:pt x="1688" y="809"/>
                        <a:pt x="1762" y="968"/>
                        <a:pt x="1838" y="1125"/>
                      </a:cubicBezTo>
                      <a:cubicBezTo>
                        <a:pt x="1950" y="1356"/>
                        <a:pt x="2071" y="1582"/>
                        <a:pt x="2200" y="1804"/>
                      </a:cubicBezTo>
                      <a:cubicBezTo>
                        <a:pt x="2259" y="1907"/>
                        <a:pt x="2320" y="2009"/>
                        <a:pt x="2384" y="2111"/>
                      </a:cubicBezTo>
                      <a:cubicBezTo>
                        <a:pt x="2446" y="2065"/>
                        <a:pt x="2512" y="2027"/>
                        <a:pt x="2583" y="1995"/>
                      </a:cubicBezTo>
                      <a:cubicBezTo>
                        <a:pt x="2528" y="1890"/>
                        <a:pt x="2470" y="1785"/>
                        <a:pt x="2409" y="1682"/>
                      </a:cubicBezTo>
                      <a:cubicBezTo>
                        <a:pt x="2282" y="1460"/>
                        <a:pt x="2146" y="1243"/>
                        <a:pt x="2003" y="1031"/>
                      </a:cubicBezTo>
                      <a:cubicBezTo>
                        <a:pt x="1905" y="885"/>
                        <a:pt x="1804" y="742"/>
                        <a:pt x="1694" y="604"/>
                      </a:cubicBezTo>
                      <a:cubicBezTo>
                        <a:pt x="2091" y="382"/>
                        <a:pt x="2546" y="253"/>
                        <a:pt x="3031" y="246"/>
                      </a:cubicBezTo>
                      <a:close/>
                      <a:moveTo>
                        <a:pt x="3072" y="0"/>
                      </a:moveTo>
                      <a:cubicBezTo>
                        <a:pt x="1376" y="0"/>
                        <a:pt x="1" y="1377"/>
                        <a:pt x="1" y="3073"/>
                      </a:cubicBezTo>
                      <a:cubicBezTo>
                        <a:pt x="1" y="4769"/>
                        <a:pt x="1376" y="6145"/>
                        <a:pt x="3072" y="6145"/>
                      </a:cubicBezTo>
                      <a:cubicBezTo>
                        <a:pt x="4768" y="6145"/>
                        <a:pt x="6144" y="4769"/>
                        <a:pt x="6144" y="3073"/>
                      </a:cubicBezTo>
                      <a:cubicBezTo>
                        <a:pt x="6144" y="1377"/>
                        <a:pt x="4768" y="0"/>
                        <a:pt x="307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 name="Google Shape;314;p40"/>
                <p:cNvSpPr/>
                <p:nvPr/>
              </p:nvSpPr>
              <p:spPr>
                <a:xfrm>
                  <a:off x="2691934" y="2407038"/>
                  <a:ext cx="216565" cy="216565"/>
                </a:xfrm>
                <a:custGeom>
                  <a:avLst/>
                  <a:gdLst/>
                  <a:ahLst/>
                  <a:cxnLst/>
                  <a:rect l="l" t="t" r="r" b="b"/>
                  <a:pathLst>
                    <a:path w="1847" h="1847" extrusionOk="0">
                      <a:moveTo>
                        <a:pt x="923" y="1"/>
                      </a:moveTo>
                      <a:cubicBezTo>
                        <a:pt x="414" y="1"/>
                        <a:pt x="0" y="413"/>
                        <a:pt x="0" y="924"/>
                      </a:cubicBezTo>
                      <a:cubicBezTo>
                        <a:pt x="0" y="1432"/>
                        <a:pt x="414" y="1847"/>
                        <a:pt x="923" y="1847"/>
                      </a:cubicBezTo>
                      <a:cubicBezTo>
                        <a:pt x="1434" y="1847"/>
                        <a:pt x="1846" y="1432"/>
                        <a:pt x="1846" y="924"/>
                      </a:cubicBezTo>
                      <a:cubicBezTo>
                        <a:pt x="1846" y="413"/>
                        <a:pt x="1434" y="1"/>
                        <a:pt x="9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40"/>
                <p:cNvSpPr/>
                <p:nvPr/>
              </p:nvSpPr>
              <p:spPr>
                <a:xfrm>
                  <a:off x="2739656" y="2454761"/>
                  <a:ext cx="121122" cy="121122"/>
                </a:xfrm>
                <a:custGeom>
                  <a:avLst/>
                  <a:gdLst/>
                  <a:ahLst/>
                  <a:cxnLst/>
                  <a:rect l="l" t="t" r="r" b="b"/>
                  <a:pathLst>
                    <a:path w="1033" h="1033" extrusionOk="0">
                      <a:moveTo>
                        <a:pt x="516" y="1"/>
                      </a:moveTo>
                      <a:cubicBezTo>
                        <a:pt x="232" y="1"/>
                        <a:pt x="0" y="231"/>
                        <a:pt x="0" y="517"/>
                      </a:cubicBezTo>
                      <a:cubicBezTo>
                        <a:pt x="0" y="802"/>
                        <a:pt x="232" y="1033"/>
                        <a:pt x="516" y="1033"/>
                      </a:cubicBezTo>
                      <a:cubicBezTo>
                        <a:pt x="802" y="1033"/>
                        <a:pt x="1032" y="802"/>
                        <a:pt x="1032" y="517"/>
                      </a:cubicBezTo>
                      <a:cubicBezTo>
                        <a:pt x="1032" y="231"/>
                        <a:pt x="802" y="1"/>
                        <a:pt x="5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 name="Google Shape;316;p40"/>
                <p:cNvSpPr/>
                <p:nvPr/>
              </p:nvSpPr>
              <p:spPr>
                <a:xfrm>
                  <a:off x="2155611" y="2214272"/>
                  <a:ext cx="6911214" cy="582745"/>
                </a:xfrm>
                <a:custGeom>
                  <a:avLst/>
                  <a:gdLst/>
                  <a:ahLst/>
                  <a:cxnLst/>
                  <a:rect l="l" t="t" r="r" b="b"/>
                  <a:pathLst>
                    <a:path w="58943" h="4970" extrusionOk="0">
                      <a:moveTo>
                        <a:pt x="1161" y="1"/>
                      </a:moveTo>
                      <a:cubicBezTo>
                        <a:pt x="1117" y="47"/>
                        <a:pt x="1075" y="94"/>
                        <a:pt x="1032" y="141"/>
                      </a:cubicBezTo>
                      <a:lnTo>
                        <a:pt x="1634" y="141"/>
                      </a:lnTo>
                      <a:cubicBezTo>
                        <a:pt x="1759" y="141"/>
                        <a:pt x="1859" y="243"/>
                        <a:pt x="1859" y="367"/>
                      </a:cubicBezTo>
                      <a:cubicBezTo>
                        <a:pt x="1859" y="491"/>
                        <a:pt x="1759" y="592"/>
                        <a:pt x="1634" y="592"/>
                      </a:cubicBezTo>
                      <a:lnTo>
                        <a:pt x="659" y="592"/>
                      </a:lnTo>
                      <a:cubicBezTo>
                        <a:pt x="405" y="928"/>
                        <a:pt x="184" y="1287"/>
                        <a:pt x="0" y="1669"/>
                      </a:cubicBezTo>
                      <a:lnTo>
                        <a:pt x="1309" y="1669"/>
                      </a:lnTo>
                      <a:cubicBezTo>
                        <a:pt x="2139" y="1669"/>
                        <a:pt x="2928" y="1305"/>
                        <a:pt x="3469" y="676"/>
                      </a:cubicBezTo>
                      <a:lnTo>
                        <a:pt x="3753" y="346"/>
                      </a:lnTo>
                      <a:cubicBezTo>
                        <a:pt x="3831" y="254"/>
                        <a:pt x="3801" y="159"/>
                        <a:pt x="3784" y="122"/>
                      </a:cubicBezTo>
                      <a:cubicBezTo>
                        <a:pt x="3767" y="86"/>
                        <a:pt x="3715" y="1"/>
                        <a:pt x="3595" y="1"/>
                      </a:cubicBezTo>
                      <a:close/>
                      <a:moveTo>
                        <a:pt x="57720" y="2964"/>
                      </a:moveTo>
                      <a:cubicBezTo>
                        <a:pt x="57317" y="2964"/>
                        <a:pt x="56986" y="3290"/>
                        <a:pt x="56986" y="3698"/>
                      </a:cubicBezTo>
                      <a:cubicBezTo>
                        <a:pt x="56986" y="3999"/>
                        <a:pt x="57168" y="4271"/>
                        <a:pt x="57448" y="4381"/>
                      </a:cubicBezTo>
                      <a:lnTo>
                        <a:pt x="57937" y="4576"/>
                      </a:lnTo>
                      <a:lnTo>
                        <a:pt x="58925" y="4969"/>
                      </a:lnTo>
                      <a:cubicBezTo>
                        <a:pt x="58936" y="4855"/>
                        <a:pt x="58942" y="4739"/>
                        <a:pt x="58942" y="4621"/>
                      </a:cubicBezTo>
                      <a:cubicBezTo>
                        <a:pt x="58942" y="4038"/>
                        <a:pt x="58795" y="3489"/>
                        <a:pt x="58536" y="3010"/>
                      </a:cubicBezTo>
                      <a:lnTo>
                        <a:pt x="57763" y="2965"/>
                      </a:lnTo>
                      <a:cubicBezTo>
                        <a:pt x="57749" y="2964"/>
                        <a:pt x="57735" y="2964"/>
                        <a:pt x="57720" y="296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 name="Google Shape;317;p40"/>
                <p:cNvSpPr/>
                <p:nvPr/>
              </p:nvSpPr>
              <p:spPr>
                <a:xfrm>
                  <a:off x="2" y="-59054"/>
                  <a:ext cx="1311704" cy="3343690"/>
                </a:xfrm>
                <a:custGeom>
                  <a:avLst/>
                  <a:gdLst/>
                  <a:ahLst/>
                  <a:cxnLst/>
                  <a:rect l="l" t="t" r="r" b="b"/>
                  <a:pathLst>
                    <a:path w="11187" h="28517" extrusionOk="0">
                      <a:moveTo>
                        <a:pt x="6838" y="2005"/>
                      </a:moveTo>
                      <a:lnTo>
                        <a:pt x="6838" y="3739"/>
                      </a:lnTo>
                      <a:lnTo>
                        <a:pt x="4350" y="3739"/>
                      </a:lnTo>
                      <a:lnTo>
                        <a:pt x="4350" y="2005"/>
                      </a:lnTo>
                      <a:close/>
                      <a:moveTo>
                        <a:pt x="5594" y="12566"/>
                      </a:moveTo>
                      <a:cubicBezTo>
                        <a:pt x="6913" y="12566"/>
                        <a:pt x="7983" y="13636"/>
                        <a:pt x="7983" y="14955"/>
                      </a:cubicBezTo>
                      <a:cubicBezTo>
                        <a:pt x="7983" y="16275"/>
                        <a:pt x="6913" y="17344"/>
                        <a:pt x="5594" y="17344"/>
                      </a:cubicBezTo>
                      <a:cubicBezTo>
                        <a:pt x="4275" y="17344"/>
                        <a:pt x="3205" y="16275"/>
                        <a:pt x="3205" y="14955"/>
                      </a:cubicBezTo>
                      <a:cubicBezTo>
                        <a:pt x="3205" y="13636"/>
                        <a:pt x="4275" y="12566"/>
                        <a:pt x="5594" y="12566"/>
                      </a:cubicBezTo>
                      <a:close/>
                      <a:moveTo>
                        <a:pt x="1625" y="0"/>
                      </a:moveTo>
                      <a:lnTo>
                        <a:pt x="1625" y="26924"/>
                      </a:lnTo>
                      <a:lnTo>
                        <a:pt x="1" y="26924"/>
                      </a:lnTo>
                      <a:lnTo>
                        <a:pt x="1" y="28517"/>
                      </a:lnTo>
                      <a:lnTo>
                        <a:pt x="11187" y="28517"/>
                      </a:lnTo>
                      <a:lnTo>
                        <a:pt x="11187" y="26924"/>
                      </a:lnTo>
                      <a:lnTo>
                        <a:pt x="9563" y="26924"/>
                      </a:lnTo>
                      <a:lnTo>
                        <a:pt x="9563" y="0"/>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40"/>
                <p:cNvSpPr/>
                <p:nvPr/>
              </p:nvSpPr>
              <p:spPr>
                <a:xfrm>
                  <a:off x="444162" y="130194"/>
                  <a:ext cx="423282" cy="888657"/>
                </a:xfrm>
                <a:custGeom>
                  <a:avLst/>
                  <a:gdLst/>
                  <a:ahLst/>
                  <a:cxnLst/>
                  <a:rect l="l" t="t" r="r" b="b"/>
                  <a:pathLst>
                    <a:path w="3610" h="7579" extrusionOk="0">
                      <a:moveTo>
                        <a:pt x="3050" y="392"/>
                      </a:moveTo>
                      <a:lnTo>
                        <a:pt x="3050" y="2125"/>
                      </a:lnTo>
                      <a:lnTo>
                        <a:pt x="562" y="2125"/>
                      </a:lnTo>
                      <a:lnTo>
                        <a:pt x="562" y="392"/>
                      </a:lnTo>
                      <a:close/>
                      <a:moveTo>
                        <a:pt x="1" y="1"/>
                      </a:moveTo>
                      <a:lnTo>
                        <a:pt x="1" y="7578"/>
                      </a:lnTo>
                      <a:lnTo>
                        <a:pt x="3609" y="7578"/>
                      </a:lnTo>
                      <a:lnTo>
                        <a:pt x="36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40"/>
                <p:cNvSpPr/>
                <p:nvPr/>
              </p:nvSpPr>
              <p:spPr>
                <a:xfrm>
                  <a:off x="568804" y="734289"/>
                  <a:ext cx="174120" cy="174003"/>
                </a:xfrm>
                <a:custGeom>
                  <a:avLst/>
                  <a:gdLst/>
                  <a:ahLst/>
                  <a:cxnLst/>
                  <a:rect l="l" t="t" r="r" b="b"/>
                  <a:pathLst>
                    <a:path w="1485" h="1484" extrusionOk="0">
                      <a:moveTo>
                        <a:pt x="743" y="1"/>
                      </a:moveTo>
                      <a:cubicBezTo>
                        <a:pt x="333" y="1"/>
                        <a:pt x="1" y="333"/>
                        <a:pt x="1" y="743"/>
                      </a:cubicBezTo>
                      <a:cubicBezTo>
                        <a:pt x="1" y="1151"/>
                        <a:pt x="333" y="1483"/>
                        <a:pt x="743" y="1483"/>
                      </a:cubicBezTo>
                      <a:cubicBezTo>
                        <a:pt x="1153" y="1483"/>
                        <a:pt x="1485" y="1151"/>
                        <a:pt x="1485" y="743"/>
                      </a:cubicBezTo>
                      <a:cubicBezTo>
                        <a:pt x="1485" y="333"/>
                        <a:pt x="1153" y="1"/>
                        <a:pt x="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40"/>
                <p:cNvSpPr/>
                <p:nvPr/>
              </p:nvSpPr>
              <p:spPr>
                <a:xfrm>
                  <a:off x="428389" y="1236258"/>
                  <a:ext cx="454815" cy="1165862"/>
                </a:xfrm>
                <a:custGeom>
                  <a:avLst/>
                  <a:gdLst/>
                  <a:ahLst/>
                  <a:cxnLst/>
                  <a:rect l="l" t="t" r="r" b="b"/>
                  <a:pathLst>
                    <a:path w="3232" h="6269" extrusionOk="0">
                      <a:moveTo>
                        <a:pt x="207" y="0"/>
                      </a:moveTo>
                      <a:lnTo>
                        <a:pt x="1539" y="2281"/>
                      </a:lnTo>
                      <a:lnTo>
                        <a:pt x="0" y="2310"/>
                      </a:lnTo>
                      <a:cubicBezTo>
                        <a:pt x="0" y="2310"/>
                        <a:pt x="2228" y="6269"/>
                        <a:pt x="2296" y="6269"/>
                      </a:cubicBezTo>
                      <a:cubicBezTo>
                        <a:pt x="2365" y="6269"/>
                        <a:pt x="1498" y="2942"/>
                        <a:pt x="1498" y="2942"/>
                      </a:cubicBezTo>
                      <a:lnTo>
                        <a:pt x="3231" y="2942"/>
                      </a:lnTo>
                      <a:lnTo>
                        <a:pt x="24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40"/>
                <p:cNvSpPr/>
                <p:nvPr/>
              </p:nvSpPr>
              <p:spPr>
                <a:xfrm>
                  <a:off x="2980615" y="2793391"/>
                  <a:ext cx="1035809" cy="1035574"/>
                </a:xfrm>
                <a:custGeom>
                  <a:avLst/>
                  <a:gdLst/>
                  <a:ahLst/>
                  <a:cxnLst/>
                  <a:rect l="l" t="t" r="r" b="b"/>
                  <a:pathLst>
                    <a:path w="8834" h="8832" extrusionOk="0">
                      <a:moveTo>
                        <a:pt x="4416" y="1345"/>
                      </a:moveTo>
                      <a:cubicBezTo>
                        <a:pt x="6114" y="1345"/>
                        <a:pt x="7489" y="2720"/>
                        <a:pt x="7489" y="4416"/>
                      </a:cubicBezTo>
                      <a:cubicBezTo>
                        <a:pt x="7489" y="6112"/>
                        <a:pt x="6114" y="7488"/>
                        <a:pt x="4416" y="7488"/>
                      </a:cubicBezTo>
                      <a:cubicBezTo>
                        <a:pt x="2720" y="7488"/>
                        <a:pt x="1345" y="6112"/>
                        <a:pt x="1345" y="4416"/>
                      </a:cubicBezTo>
                      <a:cubicBezTo>
                        <a:pt x="1345" y="2720"/>
                        <a:pt x="2720" y="1345"/>
                        <a:pt x="4416" y="1345"/>
                      </a:cubicBezTo>
                      <a:close/>
                      <a:moveTo>
                        <a:pt x="4416" y="0"/>
                      </a:moveTo>
                      <a:cubicBezTo>
                        <a:pt x="1978" y="0"/>
                        <a:pt x="1" y="1976"/>
                        <a:pt x="1" y="4416"/>
                      </a:cubicBezTo>
                      <a:cubicBezTo>
                        <a:pt x="1" y="6854"/>
                        <a:pt x="1978" y="8832"/>
                        <a:pt x="4416" y="8832"/>
                      </a:cubicBezTo>
                      <a:cubicBezTo>
                        <a:pt x="6856" y="8832"/>
                        <a:pt x="8833" y="6854"/>
                        <a:pt x="8833" y="4416"/>
                      </a:cubicBezTo>
                      <a:cubicBezTo>
                        <a:pt x="8833" y="1978"/>
                        <a:pt x="6856" y="0"/>
                        <a:pt x="44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40"/>
                <p:cNvSpPr/>
                <p:nvPr/>
              </p:nvSpPr>
              <p:spPr>
                <a:xfrm>
                  <a:off x="3138205" y="2950864"/>
                  <a:ext cx="720634" cy="720517"/>
                </a:xfrm>
                <a:custGeom>
                  <a:avLst/>
                  <a:gdLst/>
                  <a:ahLst/>
                  <a:cxnLst/>
                  <a:rect l="l" t="t" r="r" b="b"/>
                  <a:pathLst>
                    <a:path w="6146" h="6145" extrusionOk="0">
                      <a:moveTo>
                        <a:pt x="3031" y="246"/>
                      </a:moveTo>
                      <a:lnTo>
                        <a:pt x="3031" y="246"/>
                      </a:lnTo>
                      <a:cubicBezTo>
                        <a:pt x="3006" y="420"/>
                        <a:pt x="2990" y="595"/>
                        <a:pt x="2978" y="769"/>
                      </a:cubicBezTo>
                      <a:cubicBezTo>
                        <a:pt x="2959" y="1025"/>
                        <a:pt x="2951" y="1281"/>
                        <a:pt x="2951" y="1537"/>
                      </a:cubicBezTo>
                      <a:cubicBezTo>
                        <a:pt x="2951" y="1657"/>
                        <a:pt x="2954" y="1776"/>
                        <a:pt x="2956" y="1896"/>
                      </a:cubicBezTo>
                      <a:cubicBezTo>
                        <a:pt x="2994" y="1891"/>
                        <a:pt x="3034" y="1890"/>
                        <a:pt x="3072" y="1890"/>
                      </a:cubicBezTo>
                      <a:cubicBezTo>
                        <a:pt x="3112" y="1890"/>
                        <a:pt x="3150" y="1891"/>
                        <a:pt x="3188" y="1896"/>
                      </a:cubicBezTo>
                      <a:cubicBezTo>
                        <a:pt x="3192" y="1776"/>
                        <a:pt x="3194" y="1657"/>
                        <a:pt x="3194" y="1537"/>
                      </a:cubicBezTo>
                      <a:cubicBezTo>
                        <a:pt x="3195" y="1281"/>
                        <a:pt x="3187" y="1025"/>
                        <a:pt x="3168" y="769"/>
                      </a:cubicBezTo>
                      <a:cubicBezTo>
                        <a:pt x="3156" y="595"/>
                        <a:pt x="3139" y="420"/>
                        <a:pt x="3115" y="246"/>
                      </a:cubicBezTo>
                      <a:lnTo>
                        <a:pt x="3115" y="246"/>
                      </a:lnTo>
                      <a:cubicBezTo>
                        <a:pt x="3598" y="253"/>
                        <a:pt x="4053" y="382"/>
                        <a:pt x="4450" y="604"/>
                      </a:cubicBezTo>
                      <a:cubicBezTo>
                        <a:pt x="4342" y="742"/>
                        <a:pt x="4240" y="885"/>
                        <a:pt x="4142" y="1031"/>
                      </a:cubicBezTo>
                      <a:cubicBezTo>
                        <a:pt x="3998" y="1243"/>
                        <a:pt x="3864" y="1460"/>
                        <a:pt x="3735" y="1682"/>
                      </a:cubicBezTo>
                      <a:cubicBezTo>
                        <a:pt x="3676" y="1785"/>
                        <a:pt x="3618" y="1890"/>
                        <a:pt x="3561" y="1995"/>
                      </a:cubicBezTo>
                      <a:cubicBezTo>
                        <a:pt x="3632" y="2027"/>
                        <a:pt x="3700" y="2065"/>
                        <a:pt x="3762" y="2111"/>
                      </a:cubicBezTo>
                      <a:cubicBezTo>
                        <a:pt x="3824" y="2009"/>
                        <a:pt x="3886" y="1907"/>
                        <a:pt x="3946" y="1804"/>
                      </a:cubicBezTo>
                      <a:cubicBezTo>
                        <a:pt x="4074" y="1582"/>
                        <a:pt x="4195" y="1356"/>
                        <a:pt x="4308" y="1125"/>
                      </a:cubicBezTo>
                      <a:cubicBezTo>
                        <a:pt x="4384" y="968"/>
                        <a:pt x="4456" y="809"/>
                        <a:pt x="4522" y="645"/>
                      </a:cubicBezTo>
                      <a:cubicBezTo>
                        <a:pt x="4924" y="885"/>
                        <a:pt x="5260" y="1223"/>
                        <a:pt x="5501" y="1624"/>
                      </a:cubicBezTo>
                      <a:cubicBezTo>
                        <a:pt x="5337" y="1689"/>
                        <a:pt x="5177" y="1763"/>
                        <a:pt x="5020" y="1838"/>
                      </a:cubicBezTo>
                      <a:cubicBezTo>
                        <a:pt x="4790" y="1951"/>
                        <a:pt x="4563" y="2072"/>
                        <a:pt x="4342" y="2200"/>
                      </a:cubicBezTo>
                      <a:cubicBezTo>
                        <a:pt x="4238" y="2259"/>
                        <a:pt x="4137" y="2321"/>
                        <a:pt x="4035" y="2383"/>
                      </a:cubicBezTo>
                      <a:cubicBezTo>
                        <a:pt x="4080" y="2447"/>
                        <a:pt x="4118" y="2513"/>
                        <a:pt x="4151" y="2584"/>
                      </a:cubicBezTo>
                      <a:cubicBezTo>
                        <a:pt x="4255" y="2527"/>
                        <a:pt x="4360" y="2470"/>
                        <a:pt x="4463" y="2410"/>
                      </a:cubicBezTo>
                      <a:cubicBezTo>
                        <a:pt x="4685" y="2283"/>
                        <a:pt x="4903" y="2147"/>
                        <a:pt x="5116" y="2005"/>
                      </a:cubicBezTo>
                      <a:cubicBezTo>
                        <a:pt x="5260" y="1906"/>
                        <a:pt x="5403" y="1804"/>
                        <a:pt x="5542" y="1695"/>
                      </a:cubicBezTo>
                      <a:cubicBezTo>
                        <a:pt x="5763" y="2092"/>
                        <a:pt x="5894" y="2547"/>
                        <a:pt x="5901" y="3032"/>
                      </a:cubicBezTo>
                      <a:cubicBezTo>
                        <a:pt x="5725" y="3007"/>
                        <a:pt x="5551" y="2990"/>
                        <a:pt x="5376" y="2977"/>
                      </a:cubicBezTo>
                      <a:cubicBezTo>
                        <a:pt x="5120" y="2960"/>
                        <a:pt x="4865" y="2952"/>
                        <a:pt x="4609" y="2952"/>
                      </a:cubicBezTo>
                      <a:cubicBezTo>
                        <a:pt x="4489" y="2952"/>
                        <a:pt x="4370" y="2953"/>
                        <a:pt x="4251" y="2957"/>
                      </a:cubicBezTo>
                      <a:cubicBezTo>
                        <a:pt x="4254" y="2995"/>
                        <a:pt x="4257" y="3034"/>
                        <a:pt x="4257" y="3073"/>
                      </a:cubicBezTo>
                      <a:cubicBezTo>
                        <a:pt x="4257" y="3113"/>
                        <a:pt x="4254" y="3151"/>
                        <a:pt x="4251" y="3189"/>
                      </a:cubicBezTo>
                      <a:cubicBezTo>
                        <a:pt x="4370" y="3192"/>
                        <a:pt x="4489" y="3195"/>
                        <a:pt x="4609" y="3195"/>
                      </a:cubicBezTo>
                      <a:cubicBezTo>
                        <a:pt x="4865" y="3195"/>
                        <a:pt x="5120" y="3186"/>
                        <a:pt x="5376" y="3169"/>
                      </a:cubicBezTo>
                      <a:cubicBezTo>
                        <a:pt x="5551" y="3156"/>
                        <a:pt x="5725" y="3140"/>
                        <a:pt x="5901" y="3114"/>
                      </a:cubicBezTo>
                      <a:lnTo>
                        <a:pt x="5901" y="3114"/>
                      </a:lnTo>
                      <a:cubicBezTo>
                        <a:pt x="5894" y="3599"/>
                        <a:pt x="5763" y="4054"/>
                        <a:pt x="5542" y="4451"/>
                      </a:cubicBezTo>
                      <a:cubicBezTo>
                        <a:pt x="5403" y="4342"/>
                        <a:pt x="5260" y="4241"/>
                        <a:pt x="5116" y="4142"/>
                      </a:cubicBezTo>
                      <a:cubicBezTo>
                        <a:pt x="4903" y="3999"/>
                        <a:pt x="4685" y="3863"/>
                        <a:pt x="4463" y="3736"/>
                      </a:cubicBezTo>
                      <a:cubicBezTo>
                        <a:pt x="4360" y="3677"/>
                        <a:pt x="4257" y="3619"/>
                        <a:pt x="4151" y="3562"/>
                      </a:cubicBezTo>
                      <a:cubicBezTo>
                        <a:pt x="4118" y="3633"/>
                        <a:pt x="4080" y="3699"/>
                        <a:pt x="4035" y="3763"/>
                      </a:cubicBezTo>
                      <a:cubicBezTo>
                        <a:pt x="4137" y="3825"/>
                        <a:pt x="4238" y="3887"/>
                        <a:pt x="4342" y="3947"/>
                      </a:cubicBezTo>
                      <a:cubicBezTo>
                        <a:pt x="4563" y="4074"/>
                        <a:pt x="4790" y="4195"/>
                        <a:pt x="5020" y="4308"/>
                      </a:cubicBezTo>
                      <a:cubicBezTo>
                        <a:pt x="5178" y="4383"/>
                        <a:pt x="5337" y="4457"/>
                        <a:pt x="5501" y="4522"/>
                      </a:cubicBezTo>
                      <a:cubicBezTo>
                        <a:pt x="5260" y="4923"/>
                        <a:pt x="4924" y="5261"/>
                        <a:pt x="4522" y="5501"/>
                      </a:cubicBezTo>
                      <a:cubicBezTo>
                        <a:pt x="4456" y="5337"/>
                        <a:pt x="4384" y="5178"/>
                        <a:pt x="4308" y="5021"/>
                      </a:cubicBezTo>
                      <a:cubicBezTo>
                        <a:pt x="4195" y="4790"/>
                        <a:pt x="4074" y="4564"/>
                        <a:pt x="3946" y="4342"/>
                      </a:cubicBezTo>
                      <a:cubicBezTo>
                        <a:pt x="3886" y="4239"/>
                        <a:pt x="3826" y="4137"/>
                        <a:pt x="3762" y="4036"/>
                      </a:cubicBezTo>
                      <a:cubicBezTo>
                        <a:pt x="3700" y="4081"/>
                        <a:pt x="3632" y="4119"/>
                        <a:pt x="3561" y="4152"/>
                      </a:cubicBezTo>
                      <a:cubicBezTo>
                        <a:pt x="3618" y="4256"/>
                        <a:pt x="3676" y="4361"/>
                        <a:pt x="3735" y="4464"/>
                      </a:cubicBezTo>
                      <a:cubicBezTo>
                        <a:pt x="3864" y="4686"/>
                        <a:pt x="3998" y="4904"/>
                        <a:pt x="4142" y="5116"/>
                      </a:cubicBezTo>
                      <a:cubicBezTo>
                        <a:pt x="4240" y="5261"/>
                        <a:pt x="4342" y="5404"/>
                        <a:pt x="4450" y="5542"/>
                      </a:cubicBezTo>
                      <a:cubicBezTo>
                        <a:pt x="4055" y="5764"/>
                        <a:pt x="3598" y="5893"/>
                        <a:pt x="3115" y="5900"/>
                      </a:cubicBezTo>
                      <a:cubicBezTo>
                        <a:pt x="3139" y="5726"/>
                        <a:pt x="3156" y="5551"/>
                        <a:pt x="3168" y="5377"/>
                      </a:cubicBezTo>
                      <a:cubicBezTo>
                        <a:pt x="3187" y="5121"/>
                        <a:pt x="3195" y="4865"/>
                        <a:pt x="3194" y="4610"/>
                      </a:cubicBezTo>
                      <a:cubicBezTo>
                        <a:pt x="3194" y="4489"/>
                        <a:pt x="3192" y="4371"/>
                        <a:pt x="3188" y="4251"/>
                      </a:cubicBezTo>
                      <a:cubicBezTo>
                        <a:pt x="3150" y="4255"/>
                        <a:pt x="3112" y="4256"/>
                        <a:pt x="3072" y="4256"/>
                      </a:cubicBezTo>
                      <a:cubicBezTo>
                        <a:pt x="3034" y="4256"/>
                        <a:pt x="2994" y="4255"/>
                        <a:pt x="2956" y="4251"/>
                      </a:cubicBezTo>
                      <a:cubicBezTo>
                        <a:pt x="2954" y="4371"/>
                        <a:pt x="2951" y="4489"/>
                        <a:pt x="2951" y="4610"/>
                      </a:cubicBezTo>
                      <a:cubicBezTo>
                        <a:pt x="2951" y="4865"/>
                        <a:pt x="2959" y="5121"/>
                        <a:pt x="2978" y="5377"/>
                      </a:cubicBezTo>
                      <a:cubicBezTo>
                        <a:pt x="2990" y="5551"/>
                        <a:pt x="3006" y="5726"/>
                        <a:pt x="3031" y="5900"/>
                      </a:cubicBezTo>
                      <a:cubicBezTo>
                        <a:pt x="2546" y="5893"/>
                        <a:pt x="2091" y="5764"/>
                        <a:pt x="1696" y="5542"/>
                      </a:cubicBezTo>
                      <a:cubicBezTo>
                        <a:pt x="1804" y="5404"/>
                        <a:pt x="1905" y="5261"/>
                        <a:pt x="2004" y="5116"/>
                      </a:cubicBezTo>
                      <a:cubicBezTo>
                        <a:pt x="2146" y="4904"/>
                        <a:pt x="2282" y="4686"/>
                        <a:pt x="2411" y="4464"/>
                      </a:cubicBezTo>
                      <a:cubicBezTo>
                        <a:pt x="2470" y="4361"/>
                        <a:pt x="2528" y="4256"/>
                        <a:pt x="2585" y="4152"/>
                      </a:cubicBezTo>
                      <a:cubicBezTo>
                        <a:pt x="2512" y="4119"/>
                        <a:pt x="2446" y="4081"/>
                        <a:pt x="2384" y="4036"/>
                      </a:cubicBezTo>
                      <a:cubicBezTo>
                        <a:pt x="2320" y="4136"/>
                        <a:pt x="2259" y="4239"/>
                        <a:pt x="2200" y="4342"/>
                      </a:cubicBezTo>
                      <a:cubicBezTo>
                        <a:pt x="2071" y="4564"/>
                        <a:pt x="1950" y="4790"/>
                        <a:pt x="1838" y="5021"/>
                      </a:cubicBezTo>
                      <a:cubicBezTo>
                        <a:pt x="1762" y="5178"/>
                        <a:pt x="1688" y="5337"/>
                        <a:pt x="1623" y="5501"/>
                      </a:cubicBezTo>
                      <a:cubicBezTo>
                        <a:pt x="1222" y="5261"/>
                        <a:pt x="886" y="4923"/>
                        <a:pt x="645" y="4522"/>
                      </a:cubicBezTo>
                      <a:cubicBezTo>
                        <a:pt x="808" y="4457"/>
                        <a:pt x="968" y="4383"/>
                        <a:pt x="1126" y="4308"/>
                      </a:cubicBezTo>
                      <a:cubicBezTo>
                        <a:pt x="1356" y="4195"/>
                        <a:pt x="1582" y="4074"/>
                        <a:pt x="1803" y="3947"/>
                      </a:cubicBezTo>
                      <a:cubicBezTo>
                        <a:pt x="1906" y="3887"/>
                        <a:pt x="2009" y="3825"/>
                        <a:pt x="2111" y="3763"/>
                      </a:cubicBezTo>
                      <a:cubicBezTo>
                        <a:pt x="2066" y="3699"/>
                        <a:pt x="2026" y="3633"/>
                        <a:pt x="1995" y="3562"/>
                      </a:cubicBezTo>
                      <a:cubicBezTo>
                        <a:pt x="1889" y="3619"/>
                        <a:pt x="1785" y="3677"/>
                        <a:pt x="1681" y="3736"/>
                      </a:cubicBezTo>
                      <a:cubicBezTo>
                        <a:pt x="1459" y="3863"/>
                        <a:pt x="1242" y="3999"/>
                        <a:pt x="1030" y="4142"/>
                      </a:cubicBezTo>
                      <a:cubicBezTo>
                        <a:pt x="886" y="4241"/>
                        <a:pt x="743" y="4342"/>
                        <a:pt x="604" y="4451"/>
                      </a:cubicBezTo>
                      <a:cubicBezTo>
                        <a:pt x="381" y="4054"/>
                        <a:pt x="252" y="3599"/>
                        <a:pt x="245" y="3114"/>
                      </a:cubicBezTo>
                      <a:lnTo>
                        <a:pt x="245" y="3114"/>
                      </a:lnTo>
                      <a:cubicBezTo>
                        <a:pt x="419" y="3140"/>
                        <a:pt x="594" y="3155"/>
                        <a:pt x="768" y="3169"/>
                      </a:cubicBezTo>
                      <a:cubicBezTo>
                        <a:pt x="1026" y="3186"/>
                        <a:pt x="1281" y="3195"/>
                        <a:pt x="1537" y="3195"/>
                      </a:cubicBezTo>
                      <a:cubicBezTo>
                        <a:pt x="1656" y="3195"/>
                        <a:pt x="1776" y="3192"/>
                        <a:pt x="1895" y="3189"/>
                      </a:cubicBezTo>
                      <a:cubicBezTo>
                        <a:pt x="1891" y="3151"/>
                        <a:pt x="1889" y="3113"/>
                        <a:pt x="1889" y="3073"/>
                      </a:cubicBezTo>
                      <a:cubicBezTo>
                        <a:pt x="1889" y="3034"/>
                        <a:pt x="1891" y="2995"/>
                        <a:pt x="1895" y="2957"/>
                      </a:cubicBezTo>
                      <a:cubicBezTo>
                        <a:pt x="1776" y="2953"/>
                        <a:pt x="1656" y="2952"/>
                        <a:pt x="1537" y="2952"/>
                      </a:cubicBezTo>
                      <a:cubicBezTo>
                        <a:pt x="1281" y="2952"/>
                        <a:pt x="1026" y="2960"/>
                        <a:pt x="768" y="2977"/>
                      </a:cubicBezTo>
                      <a:cubicBezTo>
                        <a:pt x="594" y="2990"/>
                        <a:pt x="419" y="3007"/>
                        <a:pt x="245" y="3032"/>
                      </a:cubicBezTo>
                      <a:cubicBezTo>
                        <a:pt x="252" y="2547"/>
                        <a:pt x="381" y="2092"/>
                        <a:pt x="604" y="1695"/>
                      </a:cubicBezTo>
                      <a:cubicBezTo>
                        <a:pt x="743" y="1804"/>
                        <a:pt x="886" y="1906"/>
                        <a:pt x="1030" y="2005"/>
                      </a:cubicBezTo>
                      <a:cubicBezTo>
                        <a:pt x="1242" y="2147"/>
                        <a:pt x="1459" y="2283"/>
                        <a:pt x="1681" y="2410"/>
                      </a:cubicBezTo>
                      <a:cubicBezTo>
                        <a:pt x="1785" y="2470"/>
                        <a:pt x="1889" y="2527"/>
                        <a:pt x="1995" y="2584"/>
                      </a:cubicBezTo>
                      <a:cubicBezTo>
                        <a:pt x="2026" y="2513"/>
                        <a:pt x="2066" y="2447"/>
                        <a:pt x="2111" y="2383"/>
                      </a:cubicBezTo>
                      <a:cubicBezTo>
                        <a:pt x="2009" y="2321"/>
                        <a:pt x="1906" y="2259"/>
                        <a:pt x="1803" y="2200"/>
                      </a:cubicBezTo>
                      <a:cubicBezTo>
                        <a:pt x="1582" y="2072"/>
                        <a:pt x="1356" y="1951"/>
                        <a:pt x="1126" y="1838"/>
                      </a:cubicBezTo>
                      <a:cubicBezTo>
                        <a:pt x="968" y="1763"/>
                        <a:pt x="808" y="1689"/>
                        <a:pt x="645" y="1624"/>
                      </a:cubicBezTo>
                      <a:cubicBezTo>
                        <a:pt x="886" y="1223"/>
                        <a:pt x="1222" y="885"/>
                        <a:pt x="1623" y="645"/>
                      </a:cubicBezTo>
                      <a:cubicBezTo>
                        <a:pt x="1688" y="809"/>
                        <a:pt x="1762" y="968"/>
                        <a:pt x="1838" y="1125"/>
                      </a:cubicBezTo>
                      <a:cubicBezTo>
                        <a:pt x="1950" y="1356"/>
                        <a:pt x="2071" y="1582"/>
                        <a:pt x="2200" y="1804"/>
                      </a:cubicBezTo>
                      <a:cubicBezTo>
                        <a:pt x="2259" y="1907"/>
                        <a:pt x="2320" y="2009"/>
                        <a:pt x="2384" y="2111"/>
                      </a:cubicBezTo>
                      <a:cubicBezTo>
                        <a:pt x="2446" y="2065"/>
                        <a:pt x="2512" y="2027"/>
                        <a:pt x="2585" y="1995"/>
                      </a:cubicBezTo>
                      <a:cubicBezTo>
                        <a:pt x="2528" y="1890"/>
                        <a:pt x="2470" y="1785"/>
                        <a:pt x="2411" y="1682"/>
                      </a:cubicBezTo>
                      <a:cubicBezTo>
                        <a:pt x="2282" y="1460"/>
                        <a:pt x="2146" y="1243"/>
                        <a:pt x="2004" y="1031"/>
                      </a:cubicBezTo>
                      <a:cubicBezTo>
                        <a:pt x="1905" y="885"/>
                        <a:pt x="1804" y="742"/>
                        <a:pt x="1696" y="604"/>
                      </a:cubicBezTo>
                      <a:cubicBezTo>
                        <a:pt x="2091" y="382"/>
                        <a:pt x="2546" y="253"/>
                        <a:pt x="3031" y="246"/>
                      </a:cubicBezTo>
                      <a:close/>
                      <a:moveTo>
                        <a:pt x="3072" y="0"/>
                      </a:moveTo>
                      <a:cubicBezTo>
                        <a:pt x="1376" y="0"/>
                        <a:pt x="1" y="1377"/>
                        <a:pt x="1" y="3073"/>
                      </a:cubicBezTo>
                      <a:cubicBezTo>
                        <a:pt x="1" y="4769"/>
                        <a:pt x="1376" y="6145"/>
                        <a:pt x="3072" y="6145"/>
                      </a:cubicBezTo>
                      <a:cubicBezTo>
                        <a:pt x="4770" y="6145"/>
                        <a:pt x="6145" y="4769"/>
                        <a:pt x="6145" y="3073"/>
                      </a:cubicBezTo>
                      <a:cubicBezTo>
                        <a:pt x="6145" y="1377"/>
                        <a:pt x="4770" y="0"/>
                        <a:pt x="307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40"/>
                <p:cNvSpPr/>
                <p:nvPr/>
              </p:nvSpPr>
              <p:spPr>
                <a:xfrm>
                  <a:off x="3389599" y="3202257"/>
                  <a:ext cx="217738" cy="217855"/>
                </a:xfrm>
                <a:custGeom>
                  <a:avLst/>
                  <a:gdLst/>
                  <a:ahLst/>
                  <a:cxnLst/>
                  <a:rect l="l" t="t" r="r" b="b"/>
                  <a:pathLst>
                    <a:path w="1857" h="1858" extrusionOk="0">
                      <a:moveTo>
                        <a:pt x="928" y="0"/>
                      </a:moveTo>
                      <a:cubicBezTo>
                        <a:pt x="858" y="0"/>
                        <a:pt x="801" y="58"/>
                        <a:pt x="801" y="129"/>
                      </a:cubicBezTo>
                      <a:cubicBezTo>
                        <a:pt x="801" y="200"/>
                        <a:pt x="858" y="256"/>
                        <a:pt x="928" y="256"/>
                      </a:cubicBezTo>
                      <a:cubicBezTo>
                        <a:pt x="999" y="256"/>
                        <a:pt x="1057" y="200"/>
                        <a:pt x="1057" y="129"/>
                      </a:cubicBezTo>
                      <a:cubicBezTo>
                        <a:pt x="1057" y="58"/>
                        <a:pt x="999" y="0"/>
                        <a:pt x="928" y="0"/>
                      </a:cubicBezTo>
                      <a:close/>
                      <a:moveTo>
                        <a:pt x="363" y="235"/>
                      </a:moveTo>
                      <a:cubicBezTo>
                        <a:pt x="330" y="235"/>
                        <a:pt x="297" y="248"/>
                        <a:pt x="272" y="273"/>
                      </a:cubicBezTo>
                      <a:cubicBezTo>
                        <a:pt x="223" y="323"/>
                        <a:pt x="223" y="403"/>
                        <a:pt x="272" y="454"/>
                      </a:cubicBezTo>
                      <a:cubicBezTo>
                        <a:pt x="297" y="479"/>
                        <a:pt x="330" y="491"/>
                        <a:pt x="363" y="491"/>
                      </a:cubicBezTo>
                      <a:cubicBezTo>
                        <a:pt x="396" y="491"/>
                        <a:pt x="429" y="479"/>
                        <a:pt x="453" y="454"/>
                      </a:cubicBezTo>
                      <a:cubicBezTo>
                        <a:pt x="504" y="403"/>
                        <a:pt x="504" y="323"/>
                        <a:pt x="453" y="273"/>
                      </a:cubicBezTo>
                      <a:cubicBezTo>
                        <a:pt x="429" y="248"/>
                        <a:pt x="396" y="235"/>
                        <a:pt x="363" y="235"/>
                      </a:cubicBezTo>
                      <a:close/>
                      <a:moveTo>
                        <a:pt x="1494" y="235"/>
                      </a:moveTo>
                      <a:cubicBezTo>
                        <a:pt x="1462" y="235"/>
                        <a:pt x="1429" y="248"/>
                        <a:pt x="1405" y="273"/>
                      </a:cubicBezTo>
                      <a:cubicBezTo>
                        <a:pt x="1354" y="323"/>
                        <a:pt x="1354" y="403"/>
                        <a:pt x="1405" y="454"/>
                      </a:cubicBezTo>
                      <a:cubicBezTo>
                        <a:pt x="1429" y="479"/>
                        <a:pt x="1462" y="491"/>
                        <a:pt x="1494" y="491"/>
                      </a:cubicBezTo>
                      <a:cubicBezTo>
                        <a:pt x="1527" y="491"/>
                        <a:pt x="1559" y="479"/>
                        <a:pt x="1584" y="454"/>
                      </a:cubicBezTo>
                      <a:cubicBezTo>
                        <a:pt x="1635" y="403"/>
                        <a:pt x="1635" y="323"/>
                        <a:pt x="1584" y="273"/>
                      </a:cubicBezTo>
                      <a:cubicBezTo>
                        <a:pt x="1559" y="248"/>
                        <a:pt x="1527" y="235"/>
                        <a:pt x="1494" y="235"/>
                      </a:cubicBezTo>
                      <a:close/>
                      <a:moveTo>
                        <a:pt x="128" y="800"/>
                      </a:moveTo>
                      <a:cubicBezTo>
                        <a:pt x="58" y="800"/>
                        <a:pt x="1" y="858"/>
                        <a:pt x="1" y="929"/>
                      </a:cubicBezTo>
                      <a:cubicBezTo>
                        <a:pt x="1" y="1000"/>
                        <a:pt x="58" y="1056"/>
                        <a:pt x="128" y="1056"/>
                      </a:cubicBezTo>
                      <a:cubicBezTo>
                        <a:pt x="199" y="1056"/>
                        <a:pt x="257" y="1000"/>
                        <a:pt x="257" y="929"/>
                      </a:cubicBezTo>
                      <a:cubicBezTo>
                        <a:pt x="257" y="858"/>
                        <a:pt x="199" y="800"/>
                        <a:pt x="128" y="800"/>
                      </a:cubicBezTo>
                      <a:close/>
                      <a:moveTo>
                        <a:pt x="1728" y="800"/>
                      </a:moveTo>
                      <a:cubicBezTo>
                        <a:pt x="1658" y="800"/>
                        <a:pt x="1601" y="858"/>
                        <a:pt x="1601" y="929"/>
                      </a:cubicBezTo>
                      <a:cubicBezTo>
                        <a:pt x="1601" y="1000"/>
                        <a:pt x="1658" y="1056"/>
                        <a:pt x="1728" y="1056"/>
                      </a:cubicBezTo>
                      <a:cubicBezTo>
                        <a:pt x="1729" y="1056"/>
                        <a:pt x="1730" y="1056"/>
                        <a:pt x="1731" y="1056"/>
                      </a:cubicBezTo>
                      <a:cubicBezTo>
                        <a:pt x="1800" y="1056"/>
                        <a:pt x="1857" y="999"/>
                        <a:pt x="1857" y="929"/>
                      </a:cubicBezTo>
                      <a:cubicBezTo>
                        <a:pt x="1857" y="858"/>
                        <a:pt x="1799" y="800"/>
                        <a:pt x="1728" y="800"/>
                      </a:cubicBezTo>
                      <a:close/>
                      <a:moveTo>
                        <a:pt x="363" y="1367"/>
                      </a:moveTo>
                      <a:cubicBezTo>
                        <a:pt x="330" y="1367"/>
                        <a:pt x="297" y="1379"/>
                        <a:pt x="272" y="1404"/>
                      </a:cubicBezTo>
                      <a:cubicBezTo>
                        <a:pt x="223" y="1455"/>
                        <a:pt x="223" y="1535"/>
                        <a:pt x="272" y="1585"/>
                      </a:cubicBezTo>
                      <a:cubicBezTo>
                        <a:pt x="297" y="1610"/>
                        <a:pt x="330" y="1623"/>
                        <a:pt x="363" y="1623"/>
                      </a:cubicBezTo>
                      <a:cubicBezTo>
                        <a:pt x="396" y="1623"/>
                        <a:pt x="429" y="1610"/>
                        <a:pt x="453" y="1585"/>
                      </a:cubicBezTo>
                      <a:cubicBezTo>
                        <a:pt x="504" y="1535"/>
                        <a:pt x="504" y="1453"/>
                        <a:pt x="453" y="1404"/>
                      </a:cubicBezTo>
                      <a:cubicBezTo>
                        <a:pt x="429" y="1379"/>
                        <a:pt x="396" y="1367"/>
                        <a:pt x="363" y="1367"/>
                      </a:cubicBezTo>
                      <a:close/>
                      <a:moveTo>
                        <a:pt x="1494" y="1367"/>
                      </a:moveTo>
                      <a:cubicBezTo>
                        <a:pt x="1462" y="1367"/>
                        <a:pt x="1429" y="1379"/>
                        <a:pt x="1405" y="1404"/>
                      </a:cubicBezTo>
                      <a:cubicBezTo>
                        <a:pt x="1354" y="1455"/>
                        <a:pt x="1354" y="1535"/>
                        <a:pt x="1405" y="1585"/>
                      </a:cubicBezTo>
                      <a:cubicBezTo>
                        <a:pt x="1429" y="1610"/>
                        <a:pt x="1462" y="1623"/>
                        <a:pt x="1494" y="1623"/>
                      </a:cubicBezTo>
                      <a:cubicBezTo>
                        <a:pt x="1527" y="1623"/>
                        <a:pt x="1559" y="1610"/>
                        <a:pt x="1584" y="1585"/>
                      </a:cubicBezTo>
                      <a:cubicBezTo>
                        <a:pt x="1635" y="1535"/>
                        <a:pt x="1635" y="1453"/>
                        <a:pt x="1584" y="1404"/>
                      </a:cubicBezTo>
                      <a:cubicBezTo>
                        <a:pt x="1559" y="1379"/>
                        <a:pt x="1527" y="1367"/>
                        <a:pt x="1494" y="1367"/>
                      </a:cubicBezTo>
                      <a:close/>
                      <a:moveTo>
                        <a:pt x="928" y="1600"/>
                      </a:moveTo>
                      <a:cubicBezTo>
                        <a:pt x="858" y="1600"/>
                        <a:pt x="801" y="1658"/>
                        <a:pt x="801" y="1729"/>
                      </a:cubicBezTo>
                      <a:cubicBezTo>
                        <a:pt x="801" y="1800"/>
                        <a:pt x="858" y="1858"/>
                        <a:pt x="928" y="1858"/>
                      </a:cubicBezTo>
                      <a:cubicBezTo>
                        <a:pt x="999" y="1858"/>
                        <a:pt x="1057" y="1800"/>
                        <a:pt x="1057" y="1729"/>
                      </a:cubicBezTo>
                      <a:cubicBezTo>
                        <a:pt x="1057" y="1658"/>
                        <a:pt x="999" y="1600"/>
                        <a:pt x="928" y="160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40"/>
                <p:cNvSpPr/>
                <p:nvPr/>
              </p:nvSpPr>
              <p:spPr>
                <a:xfrm>
                  <a:off x="3159897" y="3432427"/>
                  <a:ext cx="1642" cy="3752"/>
                </a:xfrm>
                <a:custGeom>
                  <a:avLst/>
                  <a:gdLst/>
                  <a:ahLst/>
                  <a:cxnLst/>
                  <a:rect l="l" t="t" r="r" b="b"/>
                  <a:pathLst>
                    <a:path w="14" h="32" extrusionOk="0">
                      <a:moveTo>
                        <a:pt x="1" y="1"/>
                      </a:moveTo>
                      <a:cubicBezTo>
                        <a:pt x="5" y="11"/>
                        <a:pt x="9" y="22"/>
                        <a:pt x="14" y="32"/>
                      </a:cubicBezTo>
                      <a:lnTo>
                        <a:pt x="14" y="32"/>
                      </a:lnTo>
                      <a:cubicBezTo>
                        <a:pt x="9" y="22"/>
                        <a:pt x="5" y="11"/>
                        <a:pt x="1" y="1"/>
                      </a:cubicBezTo>
                      <a:close/>
                    </a:path>
                  </a:pathLst>
                </a:custGeom>
                <a:solidFill>
                  <a:srgbClr val="D2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40"/>
                <p:cNvSpPr/>
                <p:nvPr/>
              </p:nvSpPr>
              <p:spPr>
                <a:xfrm>
                  <a:off x="4059709" y="2236199"/>
                  <a:ext cx="198039" cy="43852"/>
                </a:xfrm>
                <a:custGeom>
                  <a:avLst/>
                  <a:gdLst/>
                  <a:ahLst/>
                  <a:cxnLst/>
                  <a:rect l="l" t="t" r="r" b="b"/>
                  <a:pathLst>
                    <a:path w="1689" h="374" extrusionOk="0">
                      <a:moveTo>
                        <a:pt x="845" y="0"/>
                      </a:moveTo>
                      <a:cubicBezTo>
                        <a:pt x="474" y="0"/>
                        <a:pt x="153" y="153"/>
                        <a:pt x="1" y="374"/>
                      </a:cubicBezTo>
                      <a:lnTo>
                        <a:pt x="1688" y="374"/>
                      </a:lnTo>
                      <a:cubicBezTo>
                        <a:pt x="1536" y="153"/>
                        <a:pt x="1215" y="0"/>
                        <a:pt x="8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40"/>
                <p:cNvSpPr/>
                <p:nvPr/>
              </p:nvSpPr>
              <p:spPr>
                <a:xfrm>
                  <a:off x="4059709" y="2348411"/>
                  <a:ext cx="198039" cy="43852"/>
                </a:xfrm>
                <a:custGeom>
                  <a:avLst/>
                  <a:gdLst/>
                  <a:ahLst/>
                  <a:cxnLst/>
                  <a:rect l="l" t="t" r="r" b="b"/>
                  <a:pathLst>
                    <a:path w="1689" h="374" extrusionOk="0">
                      <a:moveTo>
                        <a:pt x="1" y="0"/>
                      </a:moveTo>
                      <a:cubicBezTo>
                        <a:pt x="153" y="221"/>
                        <a:pt x="474" y="373"/>
                        <a:pt x="845" y="373"/>
                      </a:cubicBezTo>
                      <a:cubicBezTo>
                        <a:pt x="1215" y="373"/>
                        <a:pt x="1536" y="221"/>
                        <a:pt x="16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40"/>
                <p:cNvSpPr/>
                <p:nvPr/>
              </p:nvSpPr>
              <p:spPr>
                <a:xfrm>
                  <a:off x="5715110" y="2314290"/>
                  <a:ext cx="198039" cy="43618"/>
                </a:xfrm>
                <a:custGeom>
                  <a:avLst/>
                  <a:gdLst/>
                  <a:ahLst/>
                  <a:cxnLst/>
                  <a:rect l="l" t="t" r="r" b="b"/>
                  <a:pathLst>
                    <a:path w="1689" h="372" extrusionOk="0">
                      <a:moveTo>
                        <a:pt x="844" y="0"/>
                      </a:moveTo>
                      <a:cubicBezTo>
                        <a:pt x="474" y="0"/>
                        <a:pt x="153" y="151"/>
                        <a:pt x="0" y="372"/>
                      </a:cubicBezTo>
                      <a:lnTo>
                        <a:pt x="1688" y="372"/>
                      </a:lnTo>
                      <a:cubicBezTo>
                        <a:pt x="1537" y="151"/>
                        <a:pt x="1216" y="0"/>
                        <a:pt x="8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40"/>
                <p:cNvSpPr/>
                <p:nvPr/>
              </p:nvSpPr>
              <p:spPr>
                <a:xfrm>
                  <a:off x="1959678" y="2835134"/>
                  <a:ext cx="911286" cy="575241"/>
                </a:xfrm>
                <a:custGeom>
                  <a:avLst/>
                  <a:gdLst/>
                  <a:ahLst/>
                  <a:cxnLst/>
                  <a:rect l="l" t="t" r="r" b="b"/>
                  <a:pathLst>
                    <a:path w="7772" h="4906" extrusionOk="0">
                      <a:moveTo>
                        <a:pt x="760" y="1"/>
                      </a:moveTo>
                      <a:cubicBezTo>
                        <a:pt x="623" y="485"/>
                        <a:pt x="478" y="965"/>
                        <a:pt x="374" y="1428"/>
                      </a:cubicBezTo>
                      <a:cubicBezTo>
                        <a:pt x="1" y="3089"/>
                        <a:pt x="1493" y="3955"/>
                        <a:pt x="3359" y="4432"/>
                      </a:cubicBezTo>
                      <a:cubicBezTo>
                        <a:pt x="3987" y="4591"/>
                        <a:pt x="6989" y="4841"/>
                        <a:pt x="7644" y="4895"/>
                      </a:cubicBezTo>
                      <a:lnTo>
                        <a:pt x="7644" y="4895"/>
                      </a:lnTo>
                      <a:cubicBezTo>
                        <a:pt x="7504" y="4883"/>
                        <a:pt x="7364" y="4871"/>
                        <a:pt x="7228" y="4859"/>
                      </a:cubicBezTo>
                      <a:cubicBezTo>
                        <a:pt x="7191" y="4593"/>
                        <a:pt x="7171" y="4323"/>
                        <a:pt x="7171" y="4047"/>
                      </a:cubicBezTo>
                      <a:cubicBezTo>
                        <a:pt x="7171" y="3352"/>
                        <a:pt x="7291" y="2683"/>
                        <a:pt x="7512" y="2061"/>
                      </a:cubicBezTo>
                      <a:cubicBezTo>
                        <a:pt x="4651" y="1317"/>
                        <a:pt x="2101" y="553"/>
                        <a:pt x="760" y="1"/>
                      </a:cubicBezTo>
                      <a:close/>
                      <a:moveTo>
                        <a:pt x="7644" y="4895"/>
                      </a:moveTo>
                      <a:lnTo>
                        <a:pt x="7644" y="4895"/>
                      </a:lnTo>
                      <a:cubicBezTo>
                        <a:pt x="7652" y="4896"/>
                        <a:pt x="7660" y="4896"/>
                        <a:pt x="7667" y="4897"/>
                      </a:cubicBezTo>
                      <a:cubicBezTo>
                        <a:pt x="7701" y="4900"/>
                        <a:pt x="7736" y="4903"/>
                        <a:pt x="7770" y="4905"/>
                      </a:cubicBezTo>
                      <a:cubicBezTo>
                        <a:pt x="7772" y="4905"/>
                        <a:pt x="7727" y="4902"/>
                        <a:pt x="7644" y="48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40"/>
                <p:cNvSpPr/>
                <p:nvPr/>
              </p:nvSpPr>
              <p:spPr>
                <a:xfrm>
                  <a:off x="5715110" y="2426268"/>
                  <a:ext cx="198157" cy="43852"/>
                </a:xfrm>
                <a:custGeom>
                  <a:avLst/>
                  <a:gdLst/>
                  <a:ahLst/>
                  <a:cxnLst/>
                  <a:rect l="l" t="t" r="r" b="b"/>
                  <a:pathLst>
                    <a:path w="1690" h="374" extrusionOk="0">
                      <a:moveTo>
                        <a:pt x="0" y="1"/>
                      </a:moveTo>
                      <a:cubicBezTo>
                        <a:pt x="153" y="221"/>
                        <a:pt x="474" y="374"/>
                        <a:pt x="844" y="374"/>
                      </a:cubicBezTo>
                      <a:cubicBezTo>
                        <a:pt x="1216" y="374"/>
                        <a:pt x="1537" y="221"/>
                        <a:pt x="16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40"/>
                <p:cNvSpPr/>
                <p:nvPr/>
              </p:nvSpPr>
              <p:spPr>
                <a:xfrm>
                  <a:off x="8403524" y="3374152"/>
                  <a:ext cx="934854" cy="118542"/>
                </a:xfrm>
                <a:custGeom>
                  <a:avLst/>
                  <a:gdLst/>
                  <a:ahLst/>
                  <a:cxnLst/>
                  <a:rect l="l" t="t" r="r" b="b"/>
                  <a:pathLst>
                    <a:path w="7973" h="1011" extrusionOk="0">
                      <a:moveTo>
                        <a:pt x="1794" y="0"/>
                      </a:moveTo>
                      <a:cubicBezTo>
                        <a:pt x="1763" y="339"/>
                        <a:pt x="1704" y="672"/>
                        <a:pt x="1617" y="992"/>
                      </a:cubicBezTo>
                      <a:lnTo>
                        <a:pt x="6" y="992"/>
                      </a:lnTo>
                      <a:cubicBezTo>
                        <a:pt x="5" y="998"/>
                        <a:pt x="2" y="1005"/>
                        <a:pt x="0" y="1011"/>
                      </a:cubicBezTo>
                      <a:lnTo>
                        <a:pt x="6300" y="1011"/>
                      </a:lnTo>
                      <a:cubicBezTo>
                        <a:pt x="7027" y="1011"/>
                        <a:pt x="7656" y="601"/>
                        <a:pt x="79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40"/>
                <p:cNvSpPr/>
                <p:nvPr/>
              </p:nvSpPr>
              <p:spPr>
                <a:xfrm>
                  <a:off x="9014187" y="2932806"/>
                  <a:ext cx="349412" cy="400300"/>
                </a:xfrm>
                <a:custGeom>
                  <a:avLst/>
                  <a:gdLst/>
                  <a:ahLst/>
                  <a:cxnLst/>
                  <a:rect l="l" t="t" r="r" b="b"/>
                  <a:pathLst>
                    <a:path w="2980" h="3414" extrusionOk="0">
                      <a:moveTo>
                        <a:pt x="2193" y="0"/>
                      </a:moveTo>
                      <a:cubicBezTo>
                        <a:pt x="884" y="0"/>
                        <a:pt x="1" y="1336"/>
                        <a:pt x="511" y="2540"/>
                      </a:cubicBezTo>
                      <a:lnTo>
                        <a:pt x="761" y="3132"/>
                      </a:lnTo>
                      <a:cubicBezTo>
                        <a:pt x="833" y="3302"/>
                        <a:pt x="1000" y="3414"/>
                        <a:pt x="1185" y="3414"/>
                      </a:cubicBezTo>
                      <a:lnTo>
                        <a:pt x="2899" y="3414"/>
                      </a:lnTo>
                      <a:cubicBezTo>
                        <a:pt x="2951" y="3240"/>
                        <a:pt x="2979" y="3057"/>
                        <a:pt x="2979" y="2868"/>
                      </a:cubicBezTo>
                      <a:lnTo>
                        <a:pt x="2979" y="2427"/>
                      </a:lnTo>
                      <a:cubicBezTo>
                        <a:pt x="2979" y="2544"/>
                        <a:pt x="2962" y="2657"/>
                        <a:pt x="2930" y="2765"/>
                      </a:cubicBezTo>
                      <a:lnTo>
                        <a:pt x="1867" y="2765"/>
                      </a:lnTo>
                      <a:cubicBezTo>
                        <a:pt x="1754" y="2765"/>
                        <a:pt x="1649" y="2696"/>
                        <a:pt x="1605" y="2591"/>
                      </a:cubicBezTo>
                      <a:lnTo>
                        <a:pt x="1508" y="2359"/>
                      </a:lnTo>
                      <a:cubicBezTo>
                        <a:pt x="1164" y="1548"/>
                        <a:pt x="1759" y="649"/>
                        <a:pt x="2640" y="649"/>
                      </a:cubicBezTo>
                      <a:lnTo>
                        <a:pt x="2979" y="649"/>
                      </a:lnTo>
                      <a:lnTo>
                        <a:pt x="29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40"/>
                <p:cNvSpPr/>
                <p:nvPr/>
              </p:nvSpPr>
              <p:spPr>
                <a:xfrm>
                  <a:off x="3678866" y="2003683"/>
                  <a:ext cx="3694509" cy="1488989"/>
                </a:xfrm>
                <a:custGeom>
                  <a:avLst/>
                  <a:gdLst/>
                  <a:ahLst/>
                  <a:cxnLst/>
                  <a:rect l="l" t="t" r="r" b="b"/>
                  <a:pathLst>
                    <a:path w="31509" h="12699" extrusionOk="0">
                      <a:moveTo>
                        <a:pt x="29135" y="0"/>
                      </a:moveTo>
                      <a:cubicBezTo>
                        <a:pt x="29039" y="0"/>
                        <a:pt x="28942" y="18"/>
                        <a:pt x="28849" y="54"/>
                      </a:cubicBezTo>
                      <a:lnTo>
                        <a:pt x="27849" y="443"/>
                      </a:lnTo>
                      <a:cubicBezTo>
                        <a:pt x="27621" y="532"/>
                        <a:pt x="27471" y="751"/>
                        <a:pt x="27471" y="994"/>
                      </a:cubicBezTo>
                      <a:lnTo>
                        <a:pt x="27471" y="1431"/>
                      </a:lnTo>
                      <a:cubicBezTo>
                        <a:pt x="27471" y="1759"/>
                        <a:pt x="27737" y="2023"/>
                        <a:pt x="28064" y="2023"/>
                      </a:cubicBezTo>
                      <a:lnTo>
                        <a:pt x="30048" y="2023"/>
                      </a:lnTo>
                      <a:cubicBezTo>
                        <a:pt x="30078" y="2023"/>
                        <a:pt x="30107" y="2022"/>
                        <a:pt x="30136" y="2017"/>
                      </a:cubicBezTo>
                      <a:lnTo>
                        <a:pt x="30136" y="2017"/>
                      </a:lnTo>
                      <a:cubicBezTo>
                        <a:pt x="30139" y="3866"/>
                        <a:pt x="30093" y="9147"/>
                        <a:pt x="29538" y="11670"/>
                      </a:cubicBezTo>
                      <a:lnTo>
                        <a:pt x="15313" y="11670"/>
                      </a:lnTo>
                      <a:cubicBezTo>
                        <a:pt x="16113" y="6977"/>
                        <a:pt x="14568" y="788"/>
                        <a:pt x="14552" y="725"/>
                      </a:cubicBezTo>
                      <a:lnTo>
                        <a:pt x="14416" y="759"/>
                      </a:lnTo>
                      <a:cubicBezTo>
                        <a:pt x="14432" y="822"/>
                        <a:pt x="15976" y="7004"/>
                        <a:pt x="15171" y="11670"/>
                      </a:cubicBezTo>
                      <a:lnTo>
                        <a:pt x="5876" y="11670"/>
                      </a:lnTo>
                      <a:cubicBezTo>
                        <a:pt x="5093" y="9261"/>
                        <a:pt x="4279" y="7731"/>
                        <a:pt x="2416" y="5155"/>
                      </a:cubicBezTo>
                      <a:cubicBezTo>
                        <a:pt x="1476" y="3858"/>
                        <a:pt x="148" y="1147"/>
                        <a:pt x="306" y="202"/>
                      </a:cubicBezTo>
                      <a:lnTo>
                        <a:pt x="167" y="180"/>
                      </a:lnTo>
                      <a:lnTo>
                        <a:pt x="167" y="180"/>
                      </a:lnTo>
                      <a:cubicBezTo>
                        <a:pt x="1" y="1172"/>
                        <a:pt x="1328" y="3890"/>
                        <a:pt x="2302" y="5237"/>
                      </a:cubicBezTo>
                      <a:cubicBezTo>
                        <a:pt x="4149" y="7790"/>
                        <a:pt x="4959" y="9309"/>
                        <a:pt x="5735" y="11687"/>
                      </a:cubicBezTo>
                      <a:cubicBezTo>
                        <a:pt x="5373" y="11678"/>
                        <a:pt x="4924" y="11640"/>
                        <a:pt x="4402" y="11577"/>
                      </a:cubicBezTo>
                      <a:cubicBezTo>
                        <a:pt x="4375" y="11951"/>
                        <a:pt x="4312" y="12316"/>
                        <a:pt x="4218" y="12668"/>
                      </a:cubicBezTo>
                      <a:lnTo>
                        <a:pt x="3318" y="12668"/>
                      </a:lnTo>
                      <a:cubicBezTo>
                        <a:pt x="3311" y="12678"/>
                        <a:pt x="3302" y="12688"/>
                        <a:pt x="3295" y="12699"/>
                      </a:cubicBezTo>
                      <a:lnTo>
                        <a:pt x="31508" y="12699"/>
                      </a:lnTo>
                      <a:cubicBezTo>
                        <a:pt x="31504" y="12693"/>
                        <a:pt x="31500" y="12686"/>
                        <a:pt x="31497" y="12680"/>
                      </a:cubicBezTo>
                      <a:lnTo>
                        <a:pt x="30401" y="12680"/>
                      </a:lnTo>
                      <a:cubicBezTo>
                        <a:pt x="30317" y="12360"/>
                        <a:pt x="30257" y="12027"/>
                        <a:pt x="30226" y="11688"/>
                      </a:cubicBezTo>
                      <a:lnTo>
                        <a:pt x="29678" y="11688"/>
                      </a:lnTo>
                      <a:cubicBezTo>
                        <a:pt x="30236" y="9131"/>
                        <a:pt x="30278" y="3801"/>
                        <a:pt x="30276" y="1982"/>
                      </a:cubicBezTo>
                      <a:cubicBezTo>
                        <a:pt x="30327" y="1964"/>
                        <a:pt x="30373" y="1940"/>
                        <a:pt x="30417" y="1910"/>
                      </a:cubicBezTo>
                      <a:cubicBezTo>
                        <a:pt x="30594" y="1791"/>
                        <a:pt x="30710" y="1590"/>
                        <a:pt x="30710" y="1361"/>
                      </a:cubicBezTo>
                      <a:cubicBezTo>
                        <a:pt x="30710" y="1110"/>
                        <a:pt x="30589" y="872"/>
                        <a:pt x="30386" y="724"/>
                      </a:cubicBezTo>
                      <a:lnTo>
                        <a:pt x="29600" y="152"/>
                      </a:lnTo>
                      <a:cubicBezTo>
                        <a:pt x="29463" y="52"/>
                        <a:pt x="29300" y="0"/>
                        <a:pt x="29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40"/>
                <p:cNvSpPr/>
                <p:nvPr/>
              </p:nvSpPr>
              <p:spPr>
                <a:xfrm>
                  <a:off x="8229636" y="3490468"/>
                  <a:ext cx="1290" cy="2228"/>
                </a:xfrm>
                <a:custGeom>
                  <a:avLst/>
                  <a:gdLst/>
                  <a:ahLst/>
                  <a:cxnLst/>
                  <a:rect l="l" t="t" r="r" b="b"/>
                  <a:pathLst>
                    <a:path w="11" h="19" extrusionOk="0">
                      <a:moveTo>
                        <a:pt x="1" y="19"/>
                      </a:moveTo>
                      <a:lnTo>
                        <a:pt x="1" y="19"/>
                      </a:lnTo>
                      <a:cubicBezTo>
                        <a:pt x="3" y="12"/>
                        <a:pt x="8" y="6"/>
                        <a:pt x="10" y="0"/>
                      </a:cubicBezTo>
                      <a:lnTo>
                        <a:pt x="10" y="0"/>
                      </a:lnTo>
                      <a:cubicBezTo>
                        <a:pt x="8" y="6"/>
                        <a:pt x="3" y="12"/>
                        <a:pt x="1" y="19"/>
                      </a:cubicBezTo>
                      <a:close/>
                    </a:path>
                  </a:pathLst>
                </a:custGeom>
                <a:solidFill>
                  <a:srgbClr val="BEC1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40"/>
                <p:cNvSpPr/>
                <p:nvPr/>
              </p:nvSpPr>
              <p:spPr>
                <a:xfrm>
                  <a:off x="2800160" y="2567208"/>
                  <a:ext cx="6495789" cy="923363"/>
                </a:xfrm>
                <a:custGeom>
                  <a:avLst/>
                  <a:gdLst/>
                  <a:ahLst/>
                  <a:cxnLst/>
                  <a:rect l="l" t="t" r="r" b="b"/>
                  <a:pathLst>
                    <a:path w="55400" h="7875" extrusionOk="0">
                      <a:moveTo>
                        <a:pt x="53039" y="0"/>
                      </a:moveTo>
                      <a:lnTo>
                        <a:pt x="53039" y="0"/>
                      </a:lnTo>
                      <a:cubicBezTo>
                        <a:pt x="53298" y="479"/>
                        <a:pt x="53445" y="1028"/>
                        <a:pt x="53445" y="1611"/>
                      </a:cubicBezTo>
                      <a:cubicBezTo>
                        <a:pt x="53445" y="1729"/>
                        <a:pt x="53439" y="1845"/>
                        <a:pt x="53427" y="1959"/>
                      </a:cubicBezTo>
                      <a:lnTo>
                        <a:pt x="52440" y="1566"/>
                      </a:lnTo>
                      <a:lnTo>
                        <a:pt x="52440" y="1566"/>
                      </a:lnTo>
                      <a:lnTo>
                        <a:pt x="54529" y="2399"/>
                      </a:lnTo>
                      <a:cubicBezTo>
                        <a:pt x="54602" y="2427"/>
                        <a:pt x="54678" y="2441"/>
                        <a:pt x="54753" y="2441"/>
                      </a:cubicBezTo>
                      <a:cubicBezTo>
                        <a:pt x="54946" y="2441"/>
                        <a:pt x="55134" y="2349"/>
                        <a:pt x="55251" y="2184"/>
                      </a:cubicBezTo>
                      <a:cubicBezTo>
                        <a:pt x="55393" y="1982"/>
                        <a:pt x="55400" y="1715"/>
                        <a:pt x="55267" y="1507"/>
                      </a:cubicBezTo>
                      <a:lnTo>
                        <a:pt x="54755" y="703"/>
                      </a:lnTo>
                      <a:cubicBezTo>
                        <a:pt x="54505" y="308"/>
                        <a:pt x="54081" y="59"/>
                        <a:pt x="53615" y="33"/>
                      </a:cubicBezTo>
                      <a:lnTo>
                        <a:pt x="53039" y="0"/>
                      </a:lnTo>
                      <a:close/>
                      <a:moveTo>
                        <a:pt x="5955" y="390"/>
                      </a:moveTo>
                      <a:cubicBezTo>
                        <a:pt x="2672" y="390"/>
                        <a:pt x="0" y="3062"/>
                        <a:pt x="0" y="6345"/>
                      </a:cubicBezTo>
                      <a:cubicBezTo>
                        <a:pt x="0" y="6621"/>
                        <a:pt x="21" y="6892"/>
                        <a:pt x="58" y="7158"/>
                      </a:cubicBezTo>
                      <a:cubicBezTo>
                        <a:pt x="307" y="7179"/>
                        <a:pt x="561" y="7200"/>
                        <a:pt x="822" y="7221"/>
                      </a:cubicBezTo>
                      <a:cubicBezTo>
                        <a:pt x="773" y="6936"/>
                        <a:pt x="747" y="6643"/>
                        <a:pt x="747" y="6345"/>
                      </a:cubicBezTo>
                      <a:cubicBezTo>
                        <a:pt x="747" y="3469"/>
                        <a:pt x="3079" y="1136"/>
                        <a:pt x="5955" y="1136"/>
                      </a:cubicBezTo>
                      <a:cubicBezTo>
                        <a:pt x="8832" y="1136"/>
                        <a:pt x="11164" y="3469"/>
                        <a:pt x="11164" y="6345"/>
                      </a:cubicBezTo>
                      <a:cubicBezTo>
                        <a:pt x="11164" y="6878"/>
                        <a:pt x="11085" y="7391"/>
                        <a:pt x="10936" y="7874"/>
                      </a:cubicBezTo>
                      <a:lnTo>
                        <a:pt x="11711" y="7874"/>
                      </a:lnTo>
                      <a:cubicBezTo>
                        <a:pt x="11841" y="7387"/>
                        <a:pt x="11910" y="6874"/>
                        <a:pt x="11910" y="6345"/>
                      </a:cubicBezTo>
                      <a:cubicBezTo>
                        <a:pt x="11910" y="3062"/>
                        <a:pt x="9239" y="390"/>
                        <a:pt x="5955" y="390"/>
                      </a:cubicBezTo>
                      <a:close/>
                      <a:moveTo>
                        <a:pt x="43651" y="390"/>
                      </a:moveTo>
                      <a:cubicBezTo>
                        <a:pt x="40368" y="390"/>
                        <a:pt x="37696" y="3062"/>
                        <a:pt x="37696" y="6345"/>
                      </a:cubicBezTo>
                      <a:cubicBezTo>
                        <a:pt x="37696" y="6874"/>
                        <a:pt x="37767" y="7387"/>
                        <a:pt x="37895" y="7874"/>
                      </a:cubicBezTo>
                      <a:lnTo>
                        <a:pt x="38671" y="7874"/>
                      </a:lnTo>
                      <a:cubicBezTo>
                        <a:pt x="38523" y="7391"/>
                        <a:pt x="38442" y="6878"/>
                        <a:pt x="38442" y="6345"/>
                      </a:cubicBezTo>
                      <a:cubicBezTo>
                        <a:pt x="38442" y="3469"/>
                        <a:pt x="40775" y="1136"/>
                        <a:pt x="43651" y="1136"/>
                      </a:cubicBezTo>
                      <a:cubicBezTo>
                        <a:pt x="46527" y="1136"/>
                        <a:pt x="48860" y="3469"/>
                        <a:pt x="48860" y="6345"/>
                      </a:cubicBezTo>
                      <a:cubicBezTo>
                        <a:pt x="48860" y="6878"/>
                        <a:pt x="48779" y="7391"/>
                        <a:pt x="48631" y="7874"/>
                      </a:cubicBezTo>
                      <a:lnTo>
                        <a:pt x="49405" y="7874"/>
                      </a:lnTo>
                      <a:cubicBezTo>
                        <a:pt x="49535" y="7387"/>
                        <a:pt x="49606" y="6874"/>
                        <a:pt x="49606" y="6345"/>
                      </a:cubicBezTo>
                      <a:cubicBezTo>
                        <a:pt x="49606" y="3062"/>
                        <a:pt x="46935" y="390"/>
                        <a:pt x="43651" y="39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 name="Google Shape;335;p40"/>
                <p:cNvSpPr/>
                <p:nvPr/>
              </p:nvSpPr>
              <p:spPr>
                <a:xfrm>
                  <a:off x="626376" y="821291"/>
                  <a:ext cx="2203292" cy="3037192"/>
                </a:xfrm>
                <a:custGeom>
                  <a:avLst/>
                  <a:gdLst/>
                  <a:ahLst/>
                  <a:cxnLst/>
                  <a:rect l="l" t="t" r="r" b="b"/>
                  <a:pathLst>
                    <a:path w="18791" h="25903" extrusionOk="0">
                      <a:moveTo>
                        <a:pt x="0" y="1"/>
                      </a:moveTo>
                      <a:lnTo>
                        <a:pt x="0" y="22308"/>
                      </a:lnTo>
                      <a:cubicBezTo>
                        <a:pt x="0" y="24290"/>
                        <a:pt x="1613" y="25902"/>
                        <a:pt x="3595" y="25902"/>
                      </a:cubicBezTo>
                      <a:lnTo>
                        <a:pt x="15196" y="25902"/>
                      </a:lnTo>
                      <a:cubicBezTo>
                        <a:pt x="17178" y="25902"/>
                        <a:pt x="18791" y="24290"/>
                        <a:pt x="18791" y="22308"/>
                      </a:cubicBezTo>
                      <a:lnTo>
                        <a:pt x="18791" y="14743"/>
                      </a:lnTo>
                      <a:lnTo>
                        <a:pt x="18288" y="14743"/>
                      </a:lnTo>
                      <a:lnTo>
                        <a:pt x="18288" y="22308"/>
                      </a:lnTo>
                      <a:cubicBezTo>
                        <a:pt x="18288" y="24013"/>
                        <a:pt x="16901" y="25399"/>
                        <a:pt x="15196" y="25399"/>
                      </a:cubicBezTo>
                      <a:lnTo>
                        <a:pt x="3595" y="25399"/>
                      </a:lnTo>
                      <a:cubicBezTo>
                        <a:pt x="1890" y="25399"/>
                        <a:pt x="503" y="24013"/>
                        <a:pt x="503" y="22308"/>
                      </a:cubicBezTo>
                      <a:lnTo>
                        <a:pt x="5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36" name="Google Shape;336;p40"/>
            <p:cNvSpPr/>
            <p:nvPr/>
          </p:nvSpPr>
          <p:spPr>
            <a:xfrm>
              <a:off x="7072805" y="2760950"/>
              <a:ext cx="576522" cy="734023"/>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Subtitle 5">
            <a:extLst>
              <a:ext uri="{FF2B5EF4-FFF2-40B4-BE49-F238E27FC236}">
                <a16:creationId xmlns:a16="http://schemas.microsoft.com/office/drawing/2014/main" id="{57B4EB9D-729E-797F-66C2-E62E312A3763}"/>
              </a:ext>
            </a:extLst>
          </p:cNvPr>
          <p:cNvSpPr>
            <a:spLocks noGrp="1"/>
          </p:cNvSpPr>
          <p:nvPr/>
        </p:nvSpPr>
        <p:spPr>
          <a:xfrm>
            <a:off x="-1" y="46589"/>
            <a:ext cx="9144001" cy="1009934"/>
          </a:xfrm>
          <a:prstGeom prst="rect">
            <a:avLst/>
          </a:prstGeom>
          <a:ln>
            <a:noFill/>
          </a:ln>
        </p:spPr>
        <p:txBody>
          <a:bodyPr vert="horz" lIns="91440" tIns="45720" rIns="91440" bIns="4572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b="1" dirty="0">
                <a:solidFill>
                  <a:srgbClr val="FF0000"/>
                </a:solidFill>
                <a:latin typeface="Montserrat" panose="00000500000000000000" pitchFamily="2" charset="0"/>
                <a:ea typeface="+mn-lt"/>
                <a:cs typeface="+mn-lt"/>
              </a:rPr>
              <a:t>UNIVERSITY INSTITUTE OF TECHNOLOGY  RGPV, BHOPAL</a:t>
            </a:r>
            <a:endParaRPr lang="en-GB" dirty="0">
              <a:solidFill>
                <a:srgbClr val="FF0000"/>
              </a:solidFill>
              <a:latin typeface="Montserrat" panose="00000500000000000000" pitchFamily="2" charset="0"/>
              <a:ea typeface="+mn-lt"/>
              <a:cs typeface="+mn-lt"/>
            </a:endParaRPr>
          </a:p>
          <a:p>
            <a:endParaRPr lang="en-GB" dirty="0">
              <a:solidFill>
                <a:schemeClr val="accent1"/>
              </a:solidFill>
              <a:latin typeface="Montserrat" panose="00000500000000000000" pitchFamily="2" charset="0"/>
              <a:ea typeface="+mn-lt"/>
              <a:cs typeface="Arial"/>
            </a:endParaRPr>
          </a:p>
        </p:txBody>
      </p:sp>
      <p:pic>
        <p:nvPicPr>
          <p:cNvPr id="3" name="Picture 2" descr="A red and white logo&#10;&#10;Description automatically generated">
            <a:extLst>
              <a:ext uri="{FF2B5EF4-FFF2-40B4-BE49-F238E27FC236}">
                <a16:creationId xmlns:a16="http://schemas.microsoft.com/office/drawing/2014/main" id="{553515DC-790C-F1D6-A9A4-5C079B2E6C48}"/>
              </a:ext>
            </a:extLst>
          </p:cNvPr>
          <p:cNvPicPr>
            <a:picLocks noChangeAspect="1"/>
          </p:cNvPicPr>
          <p:nvPr/>
        </p:nvPicPr>
        <p:blipFill>
          <a:blip r:embed="rId3"/>
          <a:stretch>
            <a:fillRect/>
          </a:stretch>
        </p:blipFill>
        <p:spPr>
          <a:xfrm>
            <a:off x="3959446" y="907454"/>
            <a:ext cx="1020398" cy="11059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pSp>
        <p:nvGrpSpPr>
          <p:cNvPr id="351" name="Google Shape;351;p42"/>
          <p:cNvGrpSpPr/>
          <p:nvPr/>
        </p:nvGrpSpPr>
        <p:grpSpPr>
          <a:xfrm>
            <a:off x="7681603" y="-387311"/>
            <a:ext cx="1692396" cy="3649861"/>
            <a:chOff x="7681603" y="-387311"/>
            <a:chExt cx="1692396" cy="3649861"/>
          </a:xfrm>
        </p:grpSpPr>
        <p:sp>
          <p:nvSpPr>
            <p:cNvPr id="352" name="Google Shape;352;p42"/>
            <p:cNvSpPr/>
            <p:nvPr/>
          </p:nvSpPr>
          <p:spPr>
            <a:xfrm rot="-5400000">
              <a:off x="6702662" y="591631"/>
              <a:ext cx="3649861"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 name="Google Shape;353;p42"/>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54" name="Google Shape;354;p42"/>
          <p:cNvSpPr/>
          <p:nvPr/>
        </p:nvSpPr>
        <p:spPr>
          <a:xfrm>
            <a:off x="527250" y="579053"/>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42"/>
          <p:cNvSpPr txBox="1">
            <a:spLocks noGrp="1"/>
          </p:cNvSpPr>
          <p:nvPr>
            <p:ph type="title"/>
          </p:nvPr>
        </p:nvSpPr>
        <p:spPr>
          <a:xfrm>
            <a:off x="713225" y="539496"/>
            <a:ext cx="7717500" cy="576000"/>
          </a:xfrm>
          <a:prstGeom prst="rect">
            <a:avLst/>
          </a:prstGeom>
        </p:spPr>
        <p:txBody>
          <a:bodyPr spcFirstLastPara="1" wrap="square" lIns="0" tIns="91425" rIns="91425" bIns="91425" anchor="t" anchorCtr="0">
            <a:noAutofit/>
          </a:bodyPr>
          <a:lstStyle/>
          <a:p>
            <a:pPr marL="91440" lvl="0" indent="0" algn="ctr" rtl="0">
              <a:spcBef>
                <a:spcPts val="0"/>
              </a:spcBef>
              <a:spcAft>
                <a:spcPts val="0"/>
              </a:spcAft>
              <a:buNone/>
            </a:pPr>
            <a:r>
              <a:rPr lang="en" dirty="0">
                <a:latin typeface="Montserrat" panose="00000500000000000000" pitchFamily="2" charset="0"/>
                <a:ea typeface="SF Pro Text" panose="00000500000000000000" pitchFamily="2" charset="0"/>
              </a:rPr>
              <a:t>TABLE OF CONTENT</a:t>
            </a:r>
            <a:endParaRPr dirty="0">
              <a:latin typeface="Montserrat" panose="00000500000000000000" pitchFamily="2" charset="0"/>
              <a:ea typeface="SF Pro Text" panose="00000500000000000000" pitchFamily="2" charset="0"/>
            </a:endParaRPr>
          </a:p>
        </p:txBody>
      </p:sp>
      <p:sp>
        <p:nvSpPr>
          <p:cNvPr id="356" name="Google Shape;356;p42"/>
          <p:cNvSpPr/>
          <p:nvPr/>
        </p:nvSpPr>
        <p:spPr>
          <a:xfrm rot="-5400000" flipH="1">
            <a:off x="5499144" y="4156410"/>
            <a:ext cx="5401606" cy="118854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 name="Google Shape;357;p42"/>
          <p:cNvSpPr/>
          <p:nvPr/>
        </p:nvSpPr>
        <p:spPr>
          <a:xfrm flipH="1">
            <a:off x="6960134" y="67999"/>
            <a:ext cx="1543191" cy="36569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42"/>
          <p:cNvSpPr/>
          <p:nvPr/>
        </p:nvSpPr>
        <p:spPr>
          <a:xfrm flipH="1">
            <a:off x="2509366" y="1422895"/>
            <a:ext cx="1188534" cy="281712"/>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 name="Google Shape;362;p42"/>
          <p:cNvSpPr txBox="1">
            <a:spLocks noGrp="1"/>
          </p:cNvSpPr>
          <p:nvPr>
            <p:ph type="title" idx="4"/>
          </p:nvPr>
        </p:nvSpPr>
        <p:spPr>
          <a:xfrm>
            <a:off x="2316547" y="1565738"/>
            <a:ext cx="647417"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363" name="Google Shape;363;p42"/>
          <p:cNvSpPr txBox="1">
            <a:spLocks noGrp="1"/>
          </p:cNvSpPr>
          <p:nvPr>
            <p:ph type="subTitle" idx="5"/>
          </p:nvPr>
        </p:nvSpPr>
        <p:spPr>
          <a:xfrm>
            <a:off x="2316746" y="1940643"/>
            <a:ext cx="3239369" cy="36569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latin typeface="Montserrat" panose="00000500000000000000" pitchFamily="2" charset="0"/>
                <a:ea typeface="SF Pro Text" panose="00000500000000000000" pitchFamily="2" charset="0"/>
              </a:rPr>
              <a:t>Technical Work Details	</a:t>
            </a:r>
            <a:endParaRPr dirty="0">
              <a:latin typeface="Montserrat" panose="00000500000000000000" pitchFamily="2" charset="0"/>
              <a:ea typeface="SF Pro Text" panose="00000500000000000000" pitchFamily="2" charset="0"/>
            </a:endParaRPr>
          </a:p>
        </p:txBody>
      </p:sp>
      <p:sp>
        <p:nvSpPr>
          <p:cNvPr id="368" name="Google Shape;368;p42"/>
          <p:cNvSpPr txBox="1">
            <a:spLocks noGrp="1"/>
          </p:cNvSpPr>
          <p:nvPr>
            <p:ph type="title" idx="13"/>
          </p:nvPr>
        </p:nvSpPr>
        <p:spPr>
          <a:xfrm>
            <a:off x="4044884" y="3139001"/>
            <a:ext cx="600337"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grpSp>
        <p:nvGrpSpPr>
          <p:cNvPr id="371" name="Google Shape;371;p42"/>
          <p:cNvGrpSpPr/>
          <p:nvPr/>
        </p:nvGrpSpPr>
        <p:grpSpPr>
          <a:xfrm>
            <a:off x="-2101788" y="2212706"/>
            <a:ext cx="4412853" cy="2851385"/>
            <a:chOff x="-2101788" y="2212706"/>
            <a:chExt cx="4412853" cy="2851385"/>
          </a:xfrm>
        </p:grpSpPr>
        <p:grpSp>
          <p:nvGrpSpPr>
            <p:cNvPr id="372" name="Google Shape;372;p42"/>
            <p:cNvGrpSpPr/>
            <p:nvPr/>
          </p:nvGrpSpPr>
          <p:grpSpPr>
            <a:xfrm>
              <a:off x="-2101788" y="2212706"/>
              <a:ext cx="4412853" cy="2851385"/>
              <a:chOff x="-2101788" y="2212706"/>
              <a:chExt cx="4412853" cy="2851385"/>
            </a:xfrm>
          </p:grpSpPr>
          <p:grpSp>
            <p:nvGrpSpPr>
              <p:cNvPr id="373" name="Google Shape;373;p42"/>
              <p:cNvGrpSpPr/>
              <p:nvPr/>
            </p:nvGrpSpPr>
            <p:grpSpPr>
              <a:xfrm rot="10800000" flipH="1">
                <a:off x="-2101788" y="2212706"/>
                <a:ext cx="4249021" cy="2292344"/>
                <a:chOff x="-531511" y="9"/>
                <a:chExt cx="3416435" cy="1594341"/>
              </a:xfrm>
            </p:grpSpPr>
            <p:sp>
              <p:nvSpPr>
                <p:cNvPr id="374" name="Google Shape;374;p42"/>
                <p:cNvSpPr/>
                <p:nvPr/>
              </p:nvSpPr>
              <p:spPr>
                <a:xfrm rot="10800000">
                  <a:off x="-531511" y="536"/>
                  <a:ext cx="3416435" cy="1593814"/>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42"/>
                <p:cNvSpPr/>
                <p:nvPr/>
              </p:nvSpPr>
              <p:spPr>
                <a:xfrm rot="10800000">
                  <a:off x="-405516" y="9"/>
                  <a:ext cx="2985675" cy="1329734"/>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76" name="Google Shape;376;p42"/>
              <p:cNvGrpSpPr/>
              <p:nvPr/>
            </p:nvGrpSpPr>
            <p:grpSpPr>
              <a:xfrm>
                <a:off x="-1901430" y="3572144"/>
                <a:ext cx="4212495" cy="1491948"/>
                <a:chOff x="1347900" y="3043825"/>
                <a:chExt cx="5037664" cy="1784200"/>
              </a:xfrm>
            </p:grpSpPr>
            <p:sp>
              <p:nvSpPr>
                <p:cNvPr id="377" name="Google Shape;377;p42"/>
                <p:cNvSpPr/>
                <p:nvPr/>
              </p:nvSpPr>
              <p:spPr>
                <a:xfrm>
                  <a:off x="1787574" y="3911027"/>
                  <a:ext cx="4225116" cy="625336"/>
                </a:xfrm>
                <a:custGeom>
                  <a:avLst/>
                  <a:gdLst/>
                  <a:ahLst/>
                  <a:cxnLst/>
                  <a:rect l="l" t="t" r="r" b="b"/>
                  <a:pathLst>
                    <a:path w="62944" h="9316" extrusionOk="0">
                      <a:moveTo>
                        <a:pt x="1" y="0"/>
                      </a:moveTo>
                      <a:lnTo>
                        <a:pt x="1" y="9315"/>
                      </a:lnTo>
                      <a:lnTo>
                        <a:pt x="62944" y="9315"/>
                      </a:lnTo>
                      <a:lnTo>
                        <a:pt x="629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42"/>
                <p:cNvSpPr/>
                <p:nvPr/>
              </p:nvSpPr>
              <p:spPr>
                <a:xfrm>
                  <a:off x="1347900" y="3043825"/>
                  <a:ext cx="5037664" cy="1568376"/>
                </a:xfrm>
                <a:custGeom>
                  <a:avLst/>
                  <a:gdLst/>
                  <a:ahLst/>
                  <a:cxnLst/>
                  <a:rect l="l" t="t" r="r" b="b"/>
                  <a:pathLst>
                    <a:path w="75049" h="23365" extrusionOk="0">
                      <a:moveTo>
                        <a:pt x="31963" y="0"/>
                      </a:moveTo>
                      <a:cubicBezTo>
                        <a:pt x="20128" y="0"/>
                        <a:pt x="5859" y="5639"/>
                        <a:pt x="5711" y="5934"/>
                      </a:cubicBezTo>
                      <a:cubicBezTo>
                        <a:pt x="5662" y="6033"/>
                        <a:pt x="5439" y="6066"/>
                        <a:pt x="5164" y="6066"/>
                      </a:cubicBezTo>
                      <a:cubicBezTo>
                        <a:pt x="4615" y="6066"/>
                        <a:pt x="3857" y="5934"/>
                        <a:pt x="3857" y="5934"/>
                      </a:cubicBezTo>
                      <a:lnTo>
                        <a:pt x="3264" y="6898"/>
                      </a:lnTo>
                      <a:lnTo>
                        <a:pt x="4153" y="7492"/>
                      </a:lnTo>
                      <a:cubicBezTo>
                        <a:pt x="1" y="10977"/>
                        <a:pt x="444" y="19284"/>
                        <a:pt x="444" y="19284"/>
                      </a:cubicBezTo>
                      <a:lnTo>
                        <a:pt x="1632" y="19656"/>
                      </a:lnTo>
                      <a:cubicBezTo>
                        <a:pt x="2067" y="22267"/>
                        <a:pt x="4335" y="22721"/>
                        <a:pt x="5861" y="22721"/>
                      </a:cubicBezTo>
                      <a:cubicBezTo>
                        <a:pt x="6676" y="22721"/>
                        <a:pt x="7279" y="22592"/>
                        <a:pt x="7279" y="22592"/>
                      </a:cubicBezTo>
                      <a:cubicBezTo>
                        <a:pt x="6982" y="18958"/>
                        <a:pt x="8558" y="14655"/>
                        <a:pt x="13276" y="14168"/>
                      </a:cubicBezTo>
                      <a:cubicBezTo>
                        <a:pt x="13564" y="14138"/>
                        <a:pt x="13842" y="14124"/>
                        <a:pt x="14112" y="14124"/>
                      </a:cubicBezTo>
                      <a:cubicBezTo>
                        <a:pt x="17877" y="14124"/>
                        <a:pt x="19898" y="16887"/>
                        <a:pt x="20175" y="18617"/>
                      </a:cubicBezTo>
                      <a:cubicBezTo>
                        <a:pt x="20322" y="19544"/>
                        <a:pt x="20470" y="23365"/>
                        <a:pt x="20470" y="23365"/>
                      </a:cubicBezTo>
                      <a:lnTo>
                        <a:pt x="55776" y="23365"/>
                      </a:lnTo>
                      <a:cubicBezTo>
                        <a:pt x="55776" y="23365"/>
                        <a:pt x="54442" y="14760"/>
                        <a:pt x="61488" y="14168"/>
                      </a:cubicBezTo>
                      <a:cubicBezTo>
                        <a:pt x="61788" y="14142"/>
                        <a:pt x="62076" y="14130"/>
                        <a:pt x="62351" y="14130"/>
                      </a:cubicBezTo>
                      <a:cubicBezTo>
                        <a:pt x="69699" y="14130"/>
                        <a:pt x="68608" y="22771"/>
                        <a:pt x="68608" y="22771"/>
                      </a:cubicBezTo>
                      <a:cubicBezTo>
                        <a:pt x="68947" y="22779"/>
                        <a:pt x="69277" y="22785"/>
                        <a:pt x="69597" y="22785"/>
                      </a:cubicBezTo>
                      <a:cubicBezTo>
                        <a:pt x="72217" y="22785"/>
                        <a:pt x="74140" y="22397"/>
                        <a:pt x="74468" y="19656"/>
                      </a:cubicBezTo>
                      <a:cubicBezTo>
                        <a:pt x="75049" y="14778"/>
                        <a:pt x="71798" y="12610"/>
                        <a:pt x="71798" y="12610"/>
                      </a:cubicBezTo>
                      <a:cubicBezTo>
                        <a:pt x="69276" y="9940"/>
                        <a:pt x="58373" y="8085"/>
                        <a:pt x="58373" y="8085"/>
                      </a:cubicBezTo>
                      <a:cubicBezTo>
                        <a:pt x="50066" y="2522"/>
                        <a:pt x="41462" y="3"/>
                        <a:pt x="31968" y="0"/>
                      </a:cubicBezTo>
                      <a:cubicBezTo>
                        <a:pt x="31966" y="0"/>
                        <a:pt x="31965" y="0"/>
                        <a:pt x="31963" y="0"/>
                      </a:cubicBez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42"/>
                <p:cNvSpPr/>
                <p:nvPr/>
              </p:nvSpPr>
              <p:spPr>
                <a:xfrm>
                  <a:off x="5139971" y="4073741"/>
                  <a:ext cx="753881" cy="754284"/>
                </a:xfrm>
                <a:custGeom>
                  <a:avLst/>
                  <a:gdLst/>
                  <a:ahLst/>
                  <a:cxnLst/>
                  <a:rect l="l" t="t" r="r" b="b"/>
                  <a:pathLst>
                    <a:path w="11231" h="11237" extrusionOk="0">
                      <a:moveTo>
                        <a:pt x="5619" y="1880"/>
                      </a:moveTo>
                      <a:cubicBezTo>
                        <a:pt x="7680" y="1880"/>
                        <a:pt x="9357" y="3551"/>
                        <a:pt x="9357" y="5618"/>
                      </a:cubicBezTo>
                      <a:cubicBezTo>
                        <a:pt x="9357" y="7686"/>
                        <a:pt x="7680" y="9362"/>
                        <a:pt x="5619" y="9362"/>
                      </a:cubicBezTo>
                      <a:cubicBezTo>
                        <a:pt x="3551" y="9362"/>
                        <a:pt x="1875" y="7686"/>
                        <a:pt x="1875" y="5618"/>
                      </a:cubicBezTo>
                      <a:cubicBezTo>
                        <a:pt x="1875" y="3551"/>
                        <a:pt x="3551" y="1880"/>
                        <a:pt x="5619" y="1880"/>
                      </a:cubicBezTo>
                      <a:close/>
                      <a:moveTo>
                        <a:pt x="5619" y="1"/>
                      </a:moveTo>
                      <a:cubicBezTo>
                        <a:pt x="2512" y="1"/>
                        <a:pt x="1" y="2518"/>
                        <a:pt x="1" y="5618"/>
                      </a:cubicBezTo>
                      <a:cubicBezTo>
                        <a:pt x="1" y="8719"/>
                        <a:pt x="2512" y="11236"/>
                        <a:pt x="5619" y="11236"/>
                      </a:cubicBezTo>
                      <a:cubicBezTo>
                        <a:pt x="8719" y="11236"/>
                        <a:pt x="11231" y="8719"/>
                        <a:pt x="11231" y="5618"/>
                      </a:cubicBezTo>
                      <a:cubicBezTo>
                        <a:pt x="11231" y="2518"/>
                        <a:pt x="8719" y="1"/>
                        <a:pt x="56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 name="Google Shape;380;p42"/>
                <p:cNvSpPr/>
                <p:nvPr/>
              </p:nvSpPr>
              <p:spPr>
                <a:xfrm>
                  <a:off x="5265832" y="4199938"/>
                  <a:ext cx="502229" cy="501759"/>
                </a:xfrm>
                <a:custGeom>
                  <a:avLst/>
                  <a:gdLst/>
                  <a:ahLst/>
                  <a:cxnLst/>
                  <a:rect l="l" t="t" r="r" b="b"/>
                  <a:pathLst>
                    <a:path w="7482" h="7475" extrusionOk="0">
                      <a:moveTo>
                        <a:pt x="3744" y="0"/>
                      </a:moveTo>
                      <a:cubicBezTo>
                        <a:pt x="1674" y="0"/>
                        <a:pt x="0" y="1674"/>
                        <a:pt x="0" y="3738"/>
                      </a:cubicBezTo>
                      <a:cubicBezTo>
                        <a:pt x="0" y="5803"/>
                        <a:pt x="1674" y="7475"/>
                        <a:pt x="3744" y="7475"/>
                      </a:cubicBezTo>
                      <a:cubicBezTo>
                        <a:pt x="5809" y="7475"/>
                        <a:pt x="7482" y="5803"/>
                        <a:pt x="7482" y="3738"/>
                      </a:cubicBezTo>
                      <a:cubicBezTo>
                        <a:pt x="7482" y="1674"/>
                        <a:pt x="5809" y="0"/>
                        <a:pt x="37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 name="Google Shape;381;p42"/>
                <p:cNvSpPr/>
                <p:nvPr/>
              </p:nvSpPr>
              <p:spPr>
                <a:xfrm>
                  <a:off x="2216844" y="3173110"/>
                  <a:ext cx="2869862" cy="586605"/>
                </a:xfrm>
                <a:custGeom>
                  <a:avLst/>
                  <a:gdLst/>
                  <a:ahLst/>
                  <a:cxnLst/>
                  <a:rect l="l" t="t" r="r" b="b"/>
                  <a:pathLst>
                    <a:path w="42754" h="8739" extrusionOk="0">
                      <a:moveTo>
                        <a:pt x="19081" y="1"/>
                      </a:moveTo>
                      <a:cubicBezTo>
                        <a:pt x="9722" y="1"/>
                        <a:pt x="0" y="4585"/>
                        <a:pt x="0" y="4585"/>
                      </a:cubicBezTo>
                      <a:cubicBezTo>
                        <a:pt x="0" y="4585"/>
                        <a:pt x="2930" y="7145"/>
                        <a:pt x="4202" y="7145"/>
                      </a:cubicBezTo>
                      <a:cubicBezTo>
                        <a:pt x="5314" y="7145"/>
                        <a:pt x="31064" y="8739"/>
                        <a:pt x="38526" y="8739"/>
                      </a:cubicBezTo>
                      <a:cubicBezTo>
                        <a:pt x="39600" y="8739"/>
                        <a:pt x="40295" y="8706"/>
                        <a:pt x="40483" y="8630"/>
                      </a:cubicBezTo>
                      <a:cubicBezTo>
                        <a:pt x="41976" y="8029"/>
                        <a:pt x="42753" y="7536"/>
                        <a:pt x="42753" y="7536"/>
                      </a:cubicBezTo>
                      <a:cubicBezTo>
                        <a:pt x="42753" y="7536"/>
                        <a:pt x="29976" y="1"/>
                        <a:pt x="190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 name="Google Shape;382;p42"/>
                <p:cNvSpPr/>
                <p:nvPr/>
              </p:nvSpPr>
              <p:spPr>
                <a:xfrm>
                  <a:off x="1457382" y="4363256"/>
                  <a:ext cx="390600" cy="208155"/>
                </a:xfrm>
                <a:custGeom>
                  <a:avLst/>
                  <a:gdLst/>
                  <a:ahLst/>
                  <a:cxnLst/>
                  <a:rect l="l" t="t" r="r" b="b"/>
                  <a:pathLst>
                    <a:path w="5819" h="3101" extrusionOk="0">
                      <a:moveTo>
                        <a:pt x="1" y="0"/>
                      </a:moveTo>
                      <a:cubicBezTo>
                        <a:pt x="2" y="702"/>
                        <a:pt x="331" y="1659"/>
                        <a:pt x="1588" y="2533"/>
                      </a:cubicBezTo>
                      <a:cubicBezTo>
                        <a:pt x="2248" y="2992"/>
                        <a:pt x="3356" y="3101"/>
                        <a:pt x="4258" y="3101"/>
                      </a:cubicBezTo>
                      <a:cubicBezTo>
                        <a:pt x="5072" y="3101"/>
                        <a:pt x="5720" y="3012"/>
                        <a:pt x="5720" y="3012"/>
                      </a:cubicBezTo>
                      <a:lnTo>
                        <a:pt x="5819" y="697"/>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42"/>
                <p:cNvSpPr/>
                <p:nvPr/>
              </p:nvSpPr>
              <p:spPr>
                <a:xfrm>
                  <a:off x="5438883" y="4373593"/>
                  <a:ext cx="156200" cy="156200"/>
                </a:xfrm>
                <a:custGeom>
                  <a:avLst/>
                  <a:gdLst/>
                  <a:ahLst/>
                  <a:cxnLst/>
                  <a:rect l="l" t="t" r="r" b="b"/>
                  <a:pathLst>
                    <a:path w="2327" h="2327" extrusionOk="0">
                      <a:moveTo>
                        <a:pt x="1163" y="0"/>
                      </a:moveTo>
                      <a:cubicBezTo>
                        <a:pt x="520" y="0"/>
                        <a:pt x="0" y="522"/>
                        <a:pt x="0" y="1163"/>
                      </a:cubicBezTo>
                      <a:cubicBezTo>
                        <a:pt x="0" y="1806"/>
                        <a:pt x="520" y="2327"/>
                        <a:pt x="1163" y="2327"/>
                      </a:cubicBezTo>
                      <a:cubicBezTo>
                        <a:pt x="1805" y="2327"/>
                        <a:pt x="2327" y="1806"/>
                        <a:pt x="2327" y="1163"/>
                      </a:cubicBezTo>
                      <a:cubicBezTo>
                        <a:pt x="2327" y="522"/>
                        <a:pt x="1805" y="0"/>
                        <a:pt x="1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 name="Google Shape;384;p42"/>
                <p:cNvSpPr/>
                <p:nvPr/>
              </p:nvSpPr>
              <p:spPr>
                <a:xfrm>
                  <a:off x="1927599" y="4073741"/>
                  <a:ext cx="753881" cy="754284"/>
                </a:xfrm>
                <a:custGeom>
                  <a:avLst/>
                  <a:gdLst/>
                  <a:ahLst/>
                  <a:cxnLst/>
                  <a:rect l="l" t="t" r="r" b="b"/>
                  <a:pathLst>
                    <a:path w="11231" h="11237" extrusionOk="0">
                      <a:moveTo>
                        <a:pt x="5618" y="1880"/>
                      </a:moveTo>
                      <a:cubicBezTo>
                        <a:pt x="7680" y="1880"/>
                        <a:pt x="9357" y="3551"/>
                        <a:pt x="9357" y="5618"/>
                      </a:cubicBezTo>
                      <a:cubicBezTo>
                        <a:pt x="9357" y="7686"/>
                        <a:pt x="7680" y="9362"/>
                        <a:pt x="5618" y="9362"/>
                      </a:cubicBezTo>
                      <a:cubicBezTo>
                        <a:pt x="3552" y="9362"/>
                        <a:pt x="1875" y="7686"/>
                        <a:pt x="1875" y="5618"/>
                      </a:cubicBezTo>
                      <a:cubicBezTo>
                        <a:pt x="1875" y="3551"/>
                        <a:pt x="3552" y="1880"/>
                        <a:pt x="5618" y="1880"/>
                      </a:cubicBezTo>
                      <a:close/>
                      <a:moveTo>
                        <a:pt x="5618" y="1"/>
                      </a:moveTo>
                      <a:cubicBezTo>
                        <a:pt x="2513" y="1"/>
                        <a:pt x="1" y="2518"/>
                        <a:pt x="1" y="5618"/>
                      </a:cubicBezTo>
                      <a:cubicBezTo>
                        <a:pt x="1" y="8719"/>
                        <a:pt x="2513" y="11236"/>
                        <a:pt x="5618" y="11236"/>
                      </a:cubicBezTo>
                      <a:cubicBezTo>
                        <a:pt x="8719" y="11236"/>
                        <a:pt x="11231" y="8719"/>
                        <a:pt x="11231" y="5618"/>
                      </a:cubicBezTo>
                      <a:cubicBezTo>
                        <a:pt x="11231" y="2518"/>
                        <a:pt x="8719" y="1"/>
                        <a:pt x="5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 name="Google Shape;385;p42"/>
                <p:cNvSpPr/>
                <p:nvPr/>
              </p:nvSpPr>
              <p:spPr>
                <a:xfrm>
                  <a:off x="2053459" y="4199938"/>
                  <a:ext cx="502229" cy="501759"/>
                </a:xfrm>
                <a:custGeom>
                  <a:avLst/>
                  <a:gdLst/>
                  <a:ahLst/>
                  <a:cxnLst/>
                  <a:rect l="l" t="t" r="r" b="b"/>
                  <a:pathLst>
                    <a:path w="7482" h="7475" extrusionOk="0">
                      <a:moveTo>
                        <a:pt x="3744" y="0"/>
                      </a:moveTo>
                      <a:cubicBezTo>
                        <a:pt x="1674" y="0"/>
                        <a:pt x="0" y="1674"/>
                        <a:pt x="0" y="3738"/>
                      </a:cubicBezTo>
                      <a:cubicBezTo>
                        <a:pt x="0" y="5803"/>
                        <a:pt x="1674" y="7475"/>
                        <a:pt x="3744" y="7475"/>
                      </a:cubicBezTo>
                      <a:cubicBezTo>
                        <a:pt x="5808" y="7475"/>
                        <a:pt x="7482" y="5803"/>
                        <a:pt x="7482" y="3738"/>
                      </a:cubicBezTo>
                      <a:cubicBezTo>
                        <a:pt x="7482" y="1674"/>
                        <a:pt x="5808" y="0"/>
                        <a:pt x="37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 name="Google Shape;386;p42"/>
                <p:cNvSpPr/>
                <p:nvPr/>
              </p:nvSpPr>
              <p:spPr>
                <a:xfrm>
                  <a:off x="3023092" y="3173647"/>
                  <a:ext cx="1434260" cy="568549"/>
                </a:xfrm>
                <a:custGeom>
                  <a:avLst/>
                  <a:gdLst/>
                  <a:ahLst/>
                  <a:cxnLst/>
                  <a:rect l="l" t="t" r="r" b="b"/>
                  <a:pathLst>
                    <a:path w="21367" h="8470" extrusionOk="0">
                      <a:moveTo>
                        <a:pt x="7631" y="0"/>
                      </a:moveTo>
                      <a:lnTo>
                        <a:pt x="4619" y="92"/>
                      </a:lnTo>
                      <a:lnTo>
                        <a:pt x="1" y="7602"/>
                      </a:lnTo>
                      <a:lnTo>
                        <a:pt x="2939" y="7722"/>
                      </a:lnTo>
                      <a:lnTo>
                        <a:pt x="7631" y="0"/>
                      </a:lnTo>
                      <a:close/>
                      <a:moveTo>
                        <a:pt x="8667" y="45"/>
                      </a:moveTo>
                      <a:lnTo>
                        <a:pt x="4346" y="7722"/>
                      </a:lnTo>
                      <a:lnTo>
                        <a:pt x="5323" y="7845"/>
                      </a:lnTo>
                      <a:lnTo>
                        <a:pt x="9854" y="153"/>
                      </a:lnTo>
                      <a:lnTo>
                        <a:pt x="8667" y="45"/>
                      </a:lnTo>
                      <a:close/>
                      <a:moveTo>
                        <a:pt x="18583" y="2106"/>
                      </a:moveTo>
                      <a:cubicBezTo>
                        <a:pt x="18570" y="2106"/>
                        <a:pt x="18558" y="2107"/>
                        <a:pt x="18546" y="2107"/>
                      </a:cubicBezTo>
                      <a:lnTo>
                        <a:pt x="14796" y="8328"/>
                      </a:lnTo>
                      <a:lnTo>
                        <a:pt x="17873" y="8469"/>
                      </a:lnTo>
                      <a:lnTo>
                        <a:pt x="21367" y="3114"/>
                      </a:lnTo>
                      <a:cubicBezTo>
                        <a:pt x="21367" y="3114"/>
                        <a:pt x="19295" y="2106"/>
                        <a:pt x="18583" y="21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 name="Google Shape;387;p42"/>
                <p:cNvSpPr/>
                <p:nvPr/>
              </p:nvSpPr>
              <p:spPr>
                <a:xfrm>
                  <a:off x="1356761" y="3544049"/>
                  <a:ext cx="4901669" cy="531160"/>
                </a:xfrm>
                <a:custGeom>
                  <a:avLst/>
                  <a:gdLst/>
                  <a:ahLst/>
                  <a:cxnLst/>
                  <a:rect l="l" t="t" r="r" b="b"/>
                  <a:pathLst>
                    <a:path w="73023" h="7913" extrusionOk="0">
                      <a:moveTo>
                        <a:pt x="4297" y="1"/>
                      </a:moveTo>
                      <a:cubicBezTo>
                        <a:pt x="4211" y="1"/>
                        <a:pt x="4119" y="13"/>
                        <a:pt x="4021" y="40"/>
                      </a:cubicBezTo>
                      <a:cubicBezTo>
                        <a:pt x="4021" y="40"/>
                        <a:pt x="1023" y="2782"/>
                        <a:pt x="845" y="6024"/>
                      </a:cubicBezTo>
                      <a:cubicBezTo>
                        <a:pt x="845" y="6024"/>
                        <a:pt x="1224" y="6137"/>
                        <a:pt x="1721" y="6137"/>
                      </a:cubicBezTo>
                      <a:cubicBezTo>
                        <a:pt x="2366" y="6137"/>
                        <a:pt x="3208" y="5948"/>
                        <a:pt x="3681" y="5079"/>
                      </a:cubicBezTo>
                      <a:cubicBezTo>
                        <a:pt x="4516" y="3538"/>
                        <a:pt x="5440" y="1911"/>
                        <a:pt x="5440" y="1559"/>
                      </a:cubicBezTo>
                      <a:cubicBezTo>
                        <a:pt x="5440" y="1158"/>
                        <a:pt x="5134" y="1"/>
                        <a:pt x="4297" y="1"/>
                      </a:cubicBezTo>
                      <a:close/>
                      <a:moveTo>
                        <a:pt x="66461" y="3737"/>
                      </a:moveTo>
                      <a:cubicBezTo>
                        <a:pt x="66342" y="3737"/>
                        <a:pt x="66252" y="3758"/>
                        <a:pt x="66200" y="3802"/>
                      </a:cubicBezTo>
                      <a:cubicBezTo>
                        <a:pt x="64974" y="4833"/>
                        <a:pt x="72537" y="7872"/>
                        <a:pt x="72537" y="7872"/>
                      </a:cubicBezTo>
                      <a:cubicBezTo>
                        <a:pt x="73022" y="6396"/>
                        <a:pt x="67813" y="3737"/>
                        <a:pt x="66461" y="3737"/>
                      </a:cubicBezTo>
                      <a:close/>
                      <a:moveTo>
                        <a:pt x="707" y="6604"/>
                      </a:moveTo>
                      <a:cubicBezTo>
                        <a:pt x="390" y="6604"/>
                        <a:pt x="110" y="6834"/>
                        <a:pt x="58" y="7158"/>
                      </a:cubicBezTo>
                      <a:cubicBezTo>
                        <a:pt x="0" y="7517"/>
                        <a:pt x="245" y="7856"/>
                        <a:pt x="604" y="7913"/>
                      </a:cubicBezTo>
                      <a:lnTo>
                        <a:pt x="813" y="6612"/>
                      </a:lnTo>
                      <a:cubicBezTo>
                        <a:pt x="777" y="6607"/>
                        <a:pt x="742" y="6604"/>
                        <a:pt x="707" y="660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388;p42"/>
                <p:cNvSpPr/>
                <p:nvPr/>
              </p:nvSpPr>
              <p:spPr>
                <a:xfrm>
                  <a:off x="4133263" y="3934249"/>
                  <a:ext cx="275716" cy="531157"/>
                </a:xfrm>
                <a:custGeom>
                  <a:avLst/>
                  <a:gdLst/>
                  <a:ahLst/>
                  <a:cxnLst/>
                  <a:rect l="l" t="t" r="r" b="b"/>
                  <a:pathLst>
                    <a:path w="2955" h="5693" extrusionOk="0">
                      <a:moveTo>
                        <a:pt x="1278" y="0"/>
                      </a:moveTo>
                      <a:lnTo>
                        <a:pt x="0" y="3253"/>
                      </a:lnTo>
                      <a:lnTo>
                        <a:pt x="1545" y="3253"/>
                      </a:lnTo>
                      <a:lnTo>
                        <a:pt x="1012" y="5692"/>
                      </a:lnTo>
                      <a:lnTo>
                        <a:pt x="2609" y="2399"/>
                      </a:lnTo>
                      <a:lnTo>
                        <a:pt x="1438" y="2399"/>
                      </a:lnTo>
                      <a:lnTo>
                        <a:pt x="29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42"/>
                <p:cNvSpPr/>
                <p:nvPr/>
              </p:nvSpPr>
              <p:spPr>
                <a:xfrm>
                  <a:off x="2161129" y="3480816"/>
                  <a:ext cx="2973705" cy="430271"/>
                </a:xfrm>
                <a:custGeom>
                  <a:avLst/>
                  <a:gdLst/>
                  <a:ahLst/>
                  <a:cxnLst/>
                  <a:rect l="l" t="t" r="r" b="b"/>
                  <a:pathLst>
                    <a:path w="44301" h="6410" extrusionOk="0">
                      <a:moveTo>
                        <a:pt x="498" y="1"/>
                      </a:moveTo>
                      <a:cubicBezTo>
                        <a:pt x="498" y="1"/>
                        <a:pt x="0" y="432"/>
                        <a:pt x="498" y="944"/>
                      </a:cubicBezTo>
                      <a:cubicBezTo>
                        <a:pt x="996" y="1454"/>
                        <a:pt x="3373" y="3228"/>
                        <a:pt x="4480" y="3337"/>
                      </a:cubicBezTo>
                      <a:cubicBezTo>
                        <a:pt x="5465" y="3433"/>
                        <a:pt x="32184" y="5263"/>
                        <a:pt x="39437" y="5263"/>
                      </a:cubicBezTo>
                      <a:cubicBezTo>
                        <a:pt x="40330" y="5263"/>
                        <a:pt x="40928" y="5235"/>
                        <a:pt x="41147" y="5173"/>
                      </a:cubicBezTo>
                      <a:cubicBezTo>
                        <a:pt x="43138" y="4606"/>
                        <a:pt x="44300" y="3601"/>
                        <a:pt x="43802" y="3026"/>
                      </a:cubicBezTo>
                      <a:lnTo>
                        <a:pt x="43582" y="2952"/>
                      </a:lnTo>
                      <a:cubicBezTo>
                        <a:pt x="43582" y="2952"/>
                        <a:pt x="42806" y="3445"/>
                        <a:pt x="41313" y="4046"/>
                      </a:cubicBezTo>
                      <a:cubicBezTo>
                        <a:pt x="41125" y="4122"/>
                        <a:pt x="40430" y="4155"/>
                        <a:pt x="39356" y="4155"/>
                      </a:cubicBezTo>
                      <a:cubicBezTo>
                        <a:pt x="31894" y="4155"/>
                        <a:pt x="6144" y="2561"/>
                        <a:pt x="5032" y="2561"/>
                      </a:cubicBezTo>
                      <a:cubicBezTo>
                        <a:pt x="3859" y="2561"/>
                        <a:pt x="1273" y="381"/>
                        <a:pt x="880" y="45"/>
                      </a:cubicBezTo>
                      <a:lnTo>
                        <a:pt x="498" y="1"/>
                      </a:lnTo>
                      <a:close/>
                      <a:moveTo>
                        <a:pt x="9835" y="5443"/>
                      </a:moveTo>
                      <a:cubicBezTo>
                        <a:pt x="9301" y="5443"/>
                        <a:pt x="8869" y="5875"/>
                        <a:pt x="8869" y="6409"/>
                      </a:cubicBezTo>
                      <a:lnTo>
                        <a:pt x="12842" y="6409"/>
                      </a:lnTo>
                      <a:cubicBezTo>
                        <a:pt x="12842" y="5875"/>
                        <a:pt x="12409" y="5443"/>
                        <a:pt x="11876" y="5443"/>
                      </a:cubicBezTo>
                      <a:close/>
                      <a:moveTo>
                        <a:pt x="25324" y="5443"/>
                      </a:moveTo>
                      <a:cubicBezTo>
                        <a:pt x="24791" y="5443"/>
                        <a:pt x="24357" y="5875"/>
                        <a:pt x="24357" y="6409"/>
                      </a:cubicBezTo>
                      <a:lnTo>
                        <a:pt x="28332" y="6409"/>
                      </a:lnTo>
                      <a:cubicBezTo>
                        <a:pt x="28332" y="5875"/>
                        <a:pt x="27900" y="5443"/>
                        <a:pt x="27365" y="54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 name="Google Shape;390;p42"/>
                <p:cNvSpPr/>
                <p:nvPr/>
              </p:nvSpPr>
              <p:spPr>
                <a:xfrm>
                  <a:off x="2559118" y="3714348"/>
                  <a:ext cx="3542388" cy="900616"/>
                </a:xfrm>
                <a:custGeom>
                  <a:avLst/>
                  <a:gdLst/>
                  <a:ahLst/>
                  <a:cxnLst/>
                  <a:rect l="l" t="t" r="r" b="b"/>
                  <a:pathLst>
                    <a:path w="52773" h="13417" extrusionOk="0">
                      <a:moveTo>
                        <a:pt x="501" y="0"/>
                      </a:moveTo>
                      <a:cubicBezTo>
                        <a:pt x="147" y="749"/>
                        <a:pt x="1" y="1794"/>
                        <a:pt x="638" y="3121"/>
                      </a:cubicBezTo>
                      <a:cubicBezTo>
                        <a:pt x="1255" y="4405"/>
                        <a:pt x="1867" y="5176"/>
                        <a:pt x="2360" y="5796"/>
                      </a:cubicBezTo>
                      <a:cubicBezTo>
                        <a:pt x="2942" y="6529"/>
                        <a:pt x="3364" y="7059"/>
                        <a:pt x="3519" y="8058"/>
                      </a:cubicBezTo>
                      <a:cubicBezTo>
                        <a:pt x="3814" y="9961"/>
                        <a:pt x="3711" y="11492"/>
                        <a:pt x="3710" y="11506"/>
                      </a:cubicBezTo>
                      <a:lnTo>
                        <a:pt x="3690" y="11787"/>
                      </a:lnTo>
                      <a:lnTo>
                        <a:pt x="30827" y="11787"/>
                      </a:lnTo>
                      <a:cubicBezTo>
                        <a:pt x="32238" y="11787"/>
                        <a:pt x="33504" y="10933"/>
                        <a:pt x="33996" y="9615"/>
                      </a:cubicBezTo>
                      <a:cubicBezTo>
                        <a:pt x="34582" y="7988"/>
                        <a:pt x="34819" y="4962"/>
                        <a:pt x="34114" y="1778"/>
                      </a:cubicBezTo>
                      <a:lnTo>
                        <a:pt x="34114" y="1778"/>
                      </a:lnTo>
                      <a:cubicBezTo>
                        <a:pt x="33951" y="1781"/>
                        <a:pt x="33772" y="1784"/>
                        <a:pt x="33581" y="1784"/>
                      </a:cubicBezTo>
                      <a:cubicBezTo>
                        <a:pt x="34401" y="5336"/>
                        <a:pt x="33916" y="8295"/>
                        <a:pt x="33489" y="9479"/>
                      </a:cubicBezTo>
                      <a:cubicBezTo>
                        <a:pt x="33092" y="10546"/>
                        <a:pt x="32020" y="11263"/>
                        <a:pt x="30827" y="11263"/>
                      </a:cubicBezTo>
                      <a:lnTo>
                        <a:pt x="17887" y="11263"/>
                      </a:lnTo>
                      <a:lnTo>
                        <a:pt x="17641" y="1093"/>
                      </a:lnTo>
                      <a:cubicBezTo>
                        <a:pt x="17463" y="1082"/>
                        <a:pt x="17283" y="1072"/>
                        <a:pt x="17105" y="1062"/>
                      </a:cubicBezTo>
                      <a:lnTo>
                        <a:pt x="17105" y="1062"/>
                      </a:lnTo>
                      <a:lnTo>
                        <a:pt x="17363" y="11232"/>
                      </a:lnTo>
                      <a:lnTo>
                        <a:pt x="17363" y="11263"/>
                      </a:lnTo>
                      <a:lnTo>
                        <a:pt x="4246" y="11263"/>
                      </a:lnTo>
                      <a:cubicBezTo>
                        <a:pt x="4263" y="10727"/>
                        <a:pt x="4268" y="9478"/>
                        <a:pt x="4035" y="7978"/>
                      </a:cubicBezTo>
                      <a:cubicBezTo>
                        <a:pt x="3860" y="6841"/>
                        <a:pt x="3378" y="6237"/>
                        <a:pt x="2769" y="5470"/>
                      </a:cubicBezTo>
                      <a:cubicBezTo>
                        <a:pt x="2268" y="4840"/>
                        <a:pt x="1700" y="4125"/>
                        <a:pt x="1111" y="2895"/>
                      </a:cubicBezTo>
                      <a:cubicBezTo>
                        <a:pt x="503" y="1631"/>
                        <a:pt x="701" y="680"/>
                        <a:pt x="1058" y="40"/>
                      </a:cubicBezTo>
                      <a:cubicBezTo>
                        <a:pt x="863" y="26"/>
                        <a:pt x="677" y="13"/>
                        <a:pt x="501" y="0"/>
                      </a:cubicBezTo>
                      <a:close/>
                      <a:moveTo>
                        <a:pt x="43606" y="2398"/>
                      </a:moveTo>
                      <a:cubicBezTo>
                        <a:pt x="41359" y="2398"/>
                        <a:pt x="39539" y="3123"/>
                        <a:pt x="38184" y="4559"/>
                      </a:cubicBezTo>
                      <a:cubicBezTo>
                        <a:pt x="35165" y="7760"/>
                        <a:pt x="35571" y="13365"/>
                        <a:pt x="35578" y="13417"/>
                      </a:cubicBezTo>
                      <a:lnTo>
                        <a:pt x="36095" y="13338"/>
                      </a:lnTo>
                      <a:cubicBezTo>
                        <a:pt x="36088" y="13285"/>
                        <a:pt x="35711" y="7856"/>
                        <a:pt x="38630" y="4850"/>
                      </a:cubicBezTo>
                      <a:cubicBezTo>
                        <a:pt x="39875" y="3567"/>
                        <a:pt x="41548" y="2922"/>
                        <a:pt x="43615" y="2922"/>
                      </a:cubicBezTo>
                      <a:cubicBezTo>
                        <a:pt x="43965" y="2922"/>
                        <a:pt x="44326" y="2940"/>
                        <a:pt x="44698" y="2977"/>
                      </a:cubicBezTo>
                      <a:cubicBezTo>
                        <a:pt x="46945" y="3202"/>
                        <a:pt x="48696" y="4074"/>
                        <a:pt x="49904" y="5569"/>
                      </a:cubicBezTo>
                      <a:cubicBezTo>
                        <a:pt x="52226" y="8447"/>
                        <a:pt x="51772" y="12719"/>
                        <a:pt x="51768" y="12761"/>
                      </a:cubicBezTo>
                      <a:lnTo>
                        <a:pt x="52287" y="12820"/>
                      </a:lnTo>
                      <a:cubicBezTo>
                        <a:pt x="52308" y="12637"/>
                        <a:pt x="52773" y="8295"/>
                        <a:pt x="50312" y="5243"/>
                      </a:cubicBezTo>
                      <a:cubicBezTo>
                        <a:pt x="49014" y="3634"/>
                        <a:pt x="47143" y="2696"/>
                        <a:pt x="44750" y="2457"/>
                      </a:cubicBezTo>
                      <a:cubicBezTo>
                        <a:pt x="44357" y="2418"/>
                        <a:pt x="43976" y="2398"/>
                        <a:pt x="43606" y="23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42"/>
                <p:cNvSpPr/>
                <p:nvPr/>
              </p:nvSpPr>
              <p:spPr>
                <a:xfrm>
                  <a:off x="2226510" y="4372922"/>
                  <a:ext cx="156133" cy="156200"/>
                </a:xfrm>
                <a:custGeom>
                  <a:avLst/>
                  <a:gdLst/>
                  <a:ahLst/>
                  <a:cxnLst/>
                  <a:rect l="l" t="t" r="r" b="b"/>
                  <a:pathLst>
                    <a:path w="2326" h="2327" extrusionOk="0">
                      <a:moveTo>
                        <a:pt x="1162" y="0"/>
                      </a:moveTo>
                      <a:cubicBezTo>
                        <a:pt x="520" y="0"/>
                        <a:pt x="0" y="522"/>
                        <a:pt x="0" y="1163"/>
                      </a:cubicBezTo>
                      <a:cubicBezTo>
                        <a:pt x="0" y="1807"/>
                        <a:pt x="520" y="2327"/>
                        <a:pt x="1162" y="2327"/>
                      </a:cubicBezTo>
                      <a:cubicBezTo>
                        <a:pt x="1805" y="2327"/>
                        <a:pt x="2325" y="1807"/>
                        <a:pt x="2325" y="1163"/>
                      </a:cubicBezTo>
                      <a:cubicBezTo>
                        <a:pt x="2325" y="522"/>
                        <a:pt x="1805" y="0"/>
                        <a:pt x="11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 name="Google Shape;392;p42"/>
                <p:cNvSpPr/>
                <p:nvPr/>
              </p:nvSpPr>
              <p:spPr>
                <a:xfrm>
                  <a:off x="2640072" y="3179755"/>
                  <a:ext cx="2216266" cy="675546"/>
                </a:xfrm>
                <a:custGeom>
                  <a:avLst/>
                  <a:gdLst/>
                  <a:ahLst/>
                  <a:cxnLst/>
                  <a:rect l="l" t="t" r="r" b="b"/>
                  <a:pathLst>
                    <a:path w="33017" h="10064" extrusionOk="0">
                      <a:moveTo>
                        <a:pt x="5028" y="784"/>
                      </a:moveTo>
                      <a:lnTo>
                        <a:pt x="3560" y="1118"/>
                      </a:lnTo>
                      <a:lnTo>
                        <a:pt x="1" y="7146"/>
                      </a:lnTo>
                      <a:lnTo>
                        <a:pt x="3233" y="7325"/>
                      </a:lnTo>
                      <a:lnTo>
                        <a:pt x="3233" y="7325"/>
                      </a:lnTo>
                      <a:lnTo>
                        <a:pt x="2821" y="4486"/>
                      </a:lnTo>
                      <a:lnTo>
                        <a:pt x="5028" y="784"/>
                      </a:lnTo>
                      <a:close/>
                      <a:moveTo>
                        <a:pt x="14988" y="1"/>
                      </a:moveTo>
                      <a:lnTo>
                        <a:pt x="15478" y="7988"/>
                      </a:lnTo>
                      <a:lnTo>
                        <a:pt x="16661" y="8049"/>
                      </a:lnTo>
                      <a:lnTo>
                        <a:pt x="16142" y="124"/>
                      </a:lnTo>
                      <a:lnTo>
                        <a:pt x="14988" y="1"/>
                      </a:lnTo>
                      <a:close/>
                      <a:moveTo>
                        <a:pt x="30030" y="4486"/>
                      </a:moveTo>
                      <a:cubicBezTo>
                        <a:pt x="30030" y="4834"/>
                        <a:pt x="31893" y="8639"/>
                        <a:pt x="31893" y="8639"/>
                      </a:cubicBezTo>
                      <a:lnTo>
                        <a:pt x="33016" y="8639"/>
                      </a:lnTo>
                      <a:lnTo>
                        <a:pt x="31524" y="5012"/>
                      </a:lnTo>
                      <a:lnTo>
                        <a:pt x="30030" y="4486"/>
                      </a:lnTo>
                      <a:close/>
                      <a:moveTo>
                        <a:pt x="29291" y="6692"/>
                      </a:moveTo>
                      <a:cubicBezTo>
                        <a:pt x="28904" y="6692"/>
                        <a:pt x="28511" y="6744"/>
                        <a:pt x="28150" y="6807"/>
                      </a:cubicBezTo>
                      <a:cubicBezTo>
                        <a:pt x="27832" y="6862"/>
                        <a:pt x="27630" y="7064"/>
                        <a:pt x="27505" y="7335"/>
                      </a:cubicBezTo>
                      <a:cubicBezTo>
                        <a:pt x="27003" y="8432"/>
                        <a:pt x="27927" y="9661"/>
                        <a:pt x="29125" y="9661"/>
                      </a:cubicBezTo>
                      <a:cubicBezTo>
                        <a:pt x="29144" y="9661"/>
                        <a:pt x="29163" y="9661"/>
                        <a:pt x="29182" y="9660"/>
                      </a:cubicBezTo>
                      <a:cubicBezTo>
                        <a:pt x="29743" y="9642"/>
                        <a:pt x="30337" y="9576"/>
                        <a:pt x="30791" y="9408"/>
                      </a:cubicBezTo>
                      <a:lnTo>
                        <a:pt x="30791" y="9408"/>
                      </a:lnTo>
                      <a:lnTo>
                        <a:pt x="31224" y="9856"/>
                      </a:lnTo>
                      <a:cubicBezTo>
                        <a:pt x="31364" y="10000"/>
                        <a:pt x="31540" y="10064"/>
                        <a:pt x="31712" y="10064"/>
                      </a:cubicBezTo>
                      <a:cubicBezTo>
                        <a:pt x="32091" y="10064"/>
                        <a:pt x="32455" y="9757"/>
                        <a:pt x="32389" y="9323"/>
                      </a:cubicBezTo>
                      <a:cubicBezTo>
                        <a:pt x="32351" y="9070"/>
                        <a:pt x="32214" y="8976"/>
                        <a:pt x="32214" y="8976"/>
                      </a:cubicBezTo>
                      <a:lnTo>
                        <a:pt x="31524" y="8315"/>
                      </a:lnTo>
                      <a:lnTo>
                        <a:pt x="31524" y="8315"/>
                      </a:lnTo>
                      <a:cubicBezTo>
                        <a:pt x="31524" y="8315"/>
                        <a:pt x="31524" y="8315"/>
                        <a:pt x="31524" y="8315"/>
                      </a:cubicBezTo>
                      <a:cubicBezTo>
                        <a:pt x="31207" y="7020"/>
                        <a:pt x="30266" y="6692"/>
                        <a:pt x="29291" y="66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93" name="Google Shape;393;p42"/>
            <p:cNvSpPr/>
            <p:nvPr/>
          </p:nvSpPr>
          <p:spPr>
            <a:xfrm flipH="1">
              <a:off x="884242" y="3313775"/>
              <a:ext cx="1354239" cy="32094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 name="Google Shape;394;p42"/>
            <p:cNvSpPr/>
            <p:nvPr/>
          </p:nvSpPr>
          <p:spPr>
            <a:xfrm flipH="1">
              <a:off x="-250093" y="2817138"/>
              <a:ext cx="870506" cy="24690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95" name="Google Shape;395;p42"/>
          <p:cNvSpPr/>
          <p:nvPr/>
        </p:nvSpPr>
        <p:spPr>
          <a:xfrm flipH="1">
            <a:off x="7160406" y="2900237"/>
            <a:ext cx="806273" cy="191075"/>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369;p42">
            <a:extLst>
              <a:ext uri="{FF2B5EF4-FFF2-40B4-BE49-F238E27FC236}">
                <a16:creationId xmlns:a16="http://schemas.microsoft.com/office/drawing/2014/main" id="{6B8A1581-6932-4239-A623-731FE2F1EAA4}"/>
              </a:ext>
            </a:extLst>
          </p:cNvPr>
          <p:cNvSpPr txBox="1">
            <a:spLocks/>
          </p:cNvSpPr>
          <p:nvPr/>
        </p:nvSpPr>
        <p:spPr>
          <a:xfrm>
            <a:off x="3936430" y="3504701"/>
            <a:ext cx="2517900" cy="365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3000"/>
              <a:buFont typeface="Nanum Gothic"/>
              <a:buNone/>
              <a:defRPr sz="2100" b="1" i="0" u="none" strike="noStrike" cap="none">
                <a:solidFill>
                  <a:schemeClr val="lt1"/>
                </a:solidFill>
                <a:latin typeface="Montserrat"/>
                <a:ea typeface="Montserrat"/>
                <a:cs typeface="Montserrat"/>
                <a:sym typeface="Montserrat"/>
              </a:defRPr>
            </a:lvl1pPr>
            <a:lvl2pPr marL="914400" marR="0" lvl="1"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accent2"/>
              </a:buClr>
              <a:buSzPts val="1400"/>
              <a:buFont typeface="Nanum Gothic"/>
              <a:buNone/>
              <a:defRPr sz="1400" b="0" i="0" u="none" strike="noStrike" cap="none">
                <a:solidFill>
                  <a:schemeClr val="accent2"/>
                </a:solidFill>
                <a:latin typeface="Nanum Gothic"/>
                <a:ea typeface="Nanum Gothic"/>
                <a:cs typeface="Nanum Gothic"/>
                <a:sym typeface="Nanum Gothic"/>
              </a:defRPr>
            </a:lvl9pPr>
          </a:lstStyle>
          <a:p>
            <a:pPr marL="0" indent="0"/>
            <a:r>
              <a:rPr lang="en-US" dirty="0">
                <a:latin typeface="Montserrat" panose="00000500000000000000" pitchFamily="2" charset="0"/>
                <a:ea typeface="SF Pro Text" panose="00000500000000000000" pitchFamily="2" charset="0"/>
              </a:rPr>
              <a:t>Conclusion</a:t>
            </a:r>
          </a:p>
        </p:txBody>
      </p:sp>
    </p:spTree>
    <p:extLst>
      <p:ext uri="{BB962C8B-B14F-4D97-AF65-F5344CB8AC3E}">
        <p14:creationId xmlns:p14="http://schemas.microsoft.com/office/powerpoint/2010/main" val="4192483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AC29-3216-491A-BB84-11FF784EA95E}"/>
              </a:ext>
            </a:extLst>
          </p:cNvPr>
          <p:cNvSpPr>
            <a:spLocks noGrp="1"/>
          </p:cNvSpPr>
          <p:nvPr>
            <p:ph type="title"/>
          </p:nvPr>
        </p:nvSpPr>
        <p:spPr>
          <a:xfrm>
            <a:off x="1425600" y="132656"/>
            <a:ext cx="6257348" cy="622718"/>
          </a:xfrm>
        </p:spPr>
        <p:txBody>
          <a:bodyPr/>
          <a:lstStyle/>
          <a:p>
            <a:r>
              <a:rPr lang="en-US" dirty="0"/>
              <a:t>Abstract</a:t>
            </a:r>
            <a:endParaRPr lang="en-IN" dirty="0"/>
          </a:p>
        </p:txBody>
      </p:sp>
      <p:sp>
        <p:nvSpPr>
          <p:cNvPr id="3" name="Subtitle 2">
            <a:extLst>
              <a:ext uri="{FF2B5EF4-FFF2-40B4-BE49-F238E27FC236}">
                <a16:creationId xmlns:a16="http://schemas.microsoft.com/office/drawing/2014/main" id="{D4CD5719-1382-459D-AA5B-D01B1FF640EF}"/>
              </a:ext>
            </a:extLst>
          </p:cNvPr>
          <p:cNvSpPr>
            <a:spLocks noGrp="1"/>
          </p:cNvSpPr>
          <p:nvPr>
            <p:ph type="subTitle" idx="1"/>
          </p:nvPr>
        </p:nvSpPr>
        <p:spPr>
          <a:xfrm>
            <a:off x="457200" y="755373"/>
            <a:ext cx="7931426" cy="3826565"/>
          </a:xfrm>
        </p:spPr>
        <p:txBody>
          <a:bodyPr/>
          <a:lstStyle/>
          <a:p>
            <a:pPr algn="just">
              <a:buBlip>
                <a:blip r:embed="rId2">
                  <a:extLst>
                    <a:ext uri="{96DAC541-7B7A-43D3-8B79-37D633B846F1}">
                      <asvg:svgBlip xmlns:asvg="http://schemas.microsoft.com/office/drawing/2016/SVG/main" r:embed="rId3"/>
                    </a:ext>
                  </a:extLst>
                </a:blip>
              </a:buBlip>
            </a:pPr>
            <a:r>
              <a:rPr lang="en-US" dirty="0">
                <a:solidFill>
                  <a:schemeClr val="bg1"/>
                </a:solidFill>
              </a:rPr>
              <a:t>This six-seater Golf Cart has been designed and developed for UIT RGPV .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All components of the Golf cart like the frame of the vehicle, transmission system, brakes, batteries, motor, tires, and motor controller have been designed and fabricated.</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 The Golf Cart can sustain a maximum load of 15 KN on the bumpy and terrain road at a maximum speed of  25 Km/hr.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The batteries of the Golf Cart are placed below the seats to minimize the car space and over-turning moments on terrain roads.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The modeling of various components of the Golf cart has been done in CATEA software.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The maximum torque obtained at the 800, 1360 and 1500 RPM are the 2.1 Nm in 0.35 s.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The six-seater Golf Cart works very efficiently and smoothly on the smooth, bumpy, and terrain road.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It is very efficient to take the load of six passengers . </a:t>
            </a:r>
          </a:p>
          <a:p>
            <a:pPr algn="just">
              <a:buBlip>
                <a:blip r:embed="rId2">
                  <a:extLst>
                    <a:ext uri="{96DAC541-7B7A-43D3-8B79-37D633B846F1}">
                      <asvg:svgBlip xmlns:asvg="http://schemas.microsoft.com/office/drawing/2016/SVG/main" r:embed="rId3"/>
                    </a:ext>
                  </a:extLst>
                </a:blip>
              </a:buBlip>
            </a:pPr>
            <a:r>
              <a:rPr lang="en-US" dirty="0">
                <a:solidFill>
                  <a:schemeClr val="bg1"/>
                </a:solidFill>
              </a:rPr>
              <a:t>It did not produce noise and air pollution due to use of DC motor.</a:t>
            </a:r>
            <a:endParaRPr lang="en-IN" dirty="0">
              <a:solidFill>
                <a:schemeClr val="bg1"/>
              </a:solidFill>
            </a:endParaRPr>
          </a:p>
          <a:p>
            <a:pPr algn="just"/>
            <a:endParaRPr lang="en-US" dirty="0">
              <a:solidFill>
                <a:schemeClr val="bg1"/>
              </a:solidFill>
            </a:endParaRPr>
          </a:p>
        </p:txBody>
      </p:sp>
    </p:spTree>
    <p:extLst>
      <p:ext uri="{BB962C8B-B14F-4D97-AF65-F5344CB8AC3E}">
        <p14:creationId xmlns:p14="http://schemas.microsoft.com/office/powerpoint/2010/main" val="868631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4"/>
          <p:cNvSpPr/>
          <p:nvPr/>
        </p:nvSpPr>
        <p:spPr>
          <a:xfrm>
            <a:off x="3036750" y="1433100"/>
            <a:ext cx="53961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50" name="Google Shape;450;p44"/>
          <p:cNvGrpSpPr/>
          <p:nvPr/>
        </p:nvGrpSpPr>
        <p:grpSpPr>
          <a:xfrm>
            <a:off x="-533641" y="2362757"/>
            <a:ext cx="5083715" cy="2780837"/>
            <a:chOff x="-481288" y="2168075"/>
            <a:chExt cx="5439455" cy="2975431"/>
          </a:xfrm>
        </p:grpSpPr>
        <p:sp>
          <p:nvSpPr>
            <p:cNvPr id="451" name="Google Shape;451;p44"/>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44"/>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453;p44"/>
            <p:cNvSpPr/>
            <p:nvPr/>
          </p:nvSpPr>
          <p:spPr>
            <a:xfrm>
              <a:off x="367656" y="2499274"/>
              <a:ext cx="508313" cy="6472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54;p44"/>
            <p:cNvSpPr/>
            <p:nvPr/>
          </p:nvSpPr>
          <p:spPr>
            <a:xfrm>
              <a:off x="1587130" y="2168075"/>
              <a:ext cx="881741" cy="112264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55" name="Google Shape;455;p44"/>
          <p:cNvSpPr/>
          <p:nvPr/>
        </p:nvSpPr>
        <p:spPr>
          <a:xfrm flipH="1">
            <a:off x="3360327" y="4333453"/>
            <a:ext cx="1279148" cy="30312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 name="Google Shape;456;p44"/>
          <p:cNvSpPr txBox="1">
            <a:spLocks noGrp="1"/>
          </p:cNvSpPr>
          <p:nvPr>
            <p:ph type="title"/>
          </p:nvPr>
        </p:nvSpPr>
        <p:spPr>
          <a:xfrm>
            <a:off x="2868050" y="1517694"/>
            <a:ext cx="5564700" cy="916800"/>
          </a:xfrm>
          <a:prstGeom prst="rect">
            <a:avLst/>
          </a:prstGeom>
        </p:spPr>
        <p:txBody>
          <a:bodyPr spcFirstLastPara="1" wrap="square" lIns="0" tIns="91425" rIns="91425" bIns="91425" anchor="ctr" anchorCtr="0">
            <a:noAutofit/>
          </a:bodyPr>
          <a:lstStyle/>
          <a:p>
            <a:pPr marL="0" lvl="0" indent="0" algn="r" rtl="0">
              <a:spcBef>
                <a:spcPts val="0"/>
              </a:spcBef>
              <a:spcAft>
                <a:spcPts val="0"/>
              </a:spcAft>
              <a:buNone/>
            </a:pPr>
            <a:r>
              <a:rPr lang="en" dirty="0">
                <a:latin typeface="SF Pro Text" panose="00000500000000000000" pitchFamily="2" charset="0"/>
                <a:ea typeface="SF Pro Text" panose="00000500000000000000" pitchFamily="2" charset="0"/>
              </a:rPr>
              <a:t>Introduction</a:t>
            </a:r>
            <a:endParaRPr dirty="0">
              <a:latin typeface="SF Pro Text" panose="00000500000000000000" pitchFamily="2" charset="0"/>
              <a:ea typeface="SF Pro Text" panose="00000500000000000000" pitchFamily="2" charset="0"/>
            </a:endParaRPr>
          </a:p>
        </p:txBody>
      </p:sp>
      <p:sp>
        <p:nvSpPr>
          <p:cNvPr id="457" name="Google Shape;457;p44"/>
          <p:cNvSpPr txBox="1">
            <a:spLocks noGrp="1"/>
          </p:cNvSpPr>
          <p:nvPr>
            <p:ph type="title" idx="2"/>
          </p:nvPr>
        </p:nvSpPr>
        <p:spPr>
          <a:xfrm>
            <a:off x="7236246" y="539499"/>
            <a:ext cx="1196400" cy="747900"/>
          </a:xfrm>
          <a:prstGeom prst="rect">
            <a:avLst/>
          </a:prstGeom>
        </p:spPr>
        <p:txBody>
          <a:bodyPr spcFirstLastPara="1" wrap="square" lIns="0" tIns="91425" rIns="91425" bIns="91425" anchor="ctr" anchorCtr="0">
            <a:noAutofit/>
          </a:bodyPr>
          <a:lstStyle/>
          <a:p>
            <a:pPr marL="0" lvl="0" indent="0" algn="r" rtl="0">
              <a:spcBef>
                <a:spcPts val="0"/>
              </a:spcBef>
              <a:spcAft>
                <a:spcPts val="0"/>
              </a:spcAft>
              <a:buNone/>
            </a:pPr>
            <a:r>
              <a:rPr lang="en"/>
              <a:t>01</a:t>
            </a:r>
            <a:endParaRPr dirty="0"/>
          </a:p>
        </p:txBody>
      </p:sp>
      <p:grpSp>
        <p:nvGrpSpPr>
          <p:cNvPr id="458" name="Google Shape;458;p44"/>
          <p:cNvGrpSpPr/>
          <p:nvPr/>
        </p:nvGrpSpPr>
        <p:grpSpPr>
          <a:xfrm flipH="1">
            <a:off x="-1941462" y="2728633"/>
            <a:ext cx="5154289" cy="2414615"/>
            <a:chOff x="713225" y="2253700"/>
            <a:chExt cx="5046298" cy="2364025"/>
          </a:xfrm>
        </p:grpSpPr>
        <p:sp>
          <p:nvSpPr>
            <p:cNvPr id="459" name="Google Shape;459;p44"/>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44"/>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44"/>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44"/>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44"/>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44"/>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44"/>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44"/>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44"/>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44"/>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44"/>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44"/>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44"/>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44"/>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44"/>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44"/>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44"/>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44"/>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44"/>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44"/>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44"/>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44"/>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44"/>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44"/>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44"/>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44"/>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44"/>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44"/>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44"/>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44"/>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44"/>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44"/>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44"/>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44"/>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44"/>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4" name="Google Shape;494;p44"/>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5" name="Google Shape;495;p44"/>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6" name="Google Shape;496;p44"/>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7" name="Google Shape;497;p44"/>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8" name="Google Shape;498;p44"/>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9" name="Google Shape;499;p44"/>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0" name="Google Shape;500;p44"/>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1" name="Google Shape;501;p44"/>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2" name="Google Shape;502;p44"/>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3" name="Google Shape;503;p44"/>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4" name="Google Shape;504;p44"/>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5" name="Google Shape;505;p44"/>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06" name="Google Shape;506;p44"/>
          <p:cNvSpPr/>
          <p:nvPr/>
        </p:nvSpPr>
        <p:spPr>
          <a:xfrm>
            <a:off x="3759246" y="2746692"/>
            <a:ext cx="46734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07" name="Google Shape;507;p44"/>
          <p:cNvSpPr txBox="1">
            <a:spLocks noGrp="1"/>
          </p:cNvSpPr>
          <p:nvPr>
            <p:ph type="subTitle" idx="1"/>
          </p:nvPr>
        </p:nvSpPr>
        <p:spPr>
          <a:xfrm>
            <a:off x="3759246" y="2837213"/>
            <a:ext cx="4673400" cy="309900"/>
          </a:xfrm>
          <a:prstGeom prst="rect">
            <a:avLst/>
          </a:prstGeom>
        </p:spPr>
        <p:txBody>
          <a:bodyPr spcFirstLastPara="1" wrap="square" lIns="0" tIns="0" rIns="91425" bIns="91425" anchor="t" anchorCtr="0">
            <a:noAutofit/>
          </a:bodyPr>
          <a:lstStyle/>
          <a:p>
            <a:pPr marL="0" lvl="0" indent="0" algn="ctr" rtl="0">
              <a:spcBef>
                <a:spcPts val="0"/>
              </a:spcBef>
              <a:spcAft>
                <a:spcPts val="0"/>
              </a:spcAft>
              <a:buNone/>
            </a:pPr>
            <a:r>
              <a:rPr lang="en" dirty="0">
                <a:solidFill>
                  <a:schemeClr val="accent6"/>
                </a:solidFill>
                <a:latin typeface="SF Pro Text" panose="00000500000000000000" pitchFamily="2" charset="0"/>
                <a:ea typeface="SF Pro Text" panose="00000500000000000000" pitchFamily="2" charset="0"/>
              </a:rPr>
              <a:t>Wh</a:t>
            </a:r>
            <a:r>
              <a:rPr lang="en-IN" dirty="0">
                <a:solidFill>
                  <a:schemeClr val="accent6"/>
                </a:solidFill>
                <a:latin typeface="SF Pro Text" panose="00000500000000000000" pitchFamily="2" charset="0"/>
                <a:ea typeface="SF Pro Text" panose="00000500000000000000" pitchFamily="2" charset="0"/>
              </a:rPr>
              <a:t>y</a:t>
            </a:r>
            <a:r>
              <a:rPr lang="en" dirty="0">
                <a:solidFill>
                  <a:schemeClr val="accent6"/>
                </a:solidFill>
                <a:latin typeface="SF Pro Text" panose="00000500000000000000" pitchFamily="2" charset="0"/>
                <a:ea typeface="SF Pro Text" panose="00000500000000000000" pitchFamily="2" charset="0"/>
              </a:rPr>
              <a:t> we perceive with the 6 seater Electric Gol</a:t>
            </a:r>
            <a:r>
              <a:rPr lang="en-IN" dirty="0">
                <a:solidFill>
                  <a:schemeClr val="accent6"/>
                </a:solidFill>
                <a:latin typeface="SF Pro Text" panose="00000500000000000000" pitchFamily="2" charset="0"/>
                <a:ea typeface="SF Pro Text" panose="00000500000000000000" pitchFamily="2" charset="0"/>
              </a:rPr>
              <a:t>f Cart</a:t>
            </a:r>
            <a:r>
              <a:rPr lang="en" dirty="0">
                <a:solidFill>
                  <a:schemeClr val="accent6"/>
                </a:solidFill>
                <a:latin typeface="SF Pro Text" panose="00000500000000000000" pitchFamily="2" charset="0"/>
                <a:ea typeface="SF Pro Text" panose="00000500000000000000" pitchFamily="2" charset="0"/>
              </a:rPr>
              <a:t>?</a:t>
            </a:r>
            <a:endParaRPr dirty="0">
              <a:solidFill>
                <a:schemeClr val="accent6"/>
              </a:solidFill>
              <a:latin typeface="SF Pro Text" panose="00000500000000000000" pitchFamily="2" charset="0"/>
              <a:ea typeface="SF Pro Text" panose="00000500000000000000" pitchFamily="2" charset="0"/>
            </a:endParaRPr>
          </a:p>
        </p:txBody>
      </p:sp>
      <p:sp>
        <p:nvSpPr>
          <p:cNvPr id="508" name="Google Shape;508;p44"/>
          <p:cNvSpPr/>
          <p:nvPr/>
        </p:nvSpPr>
        <p:spPr>
          <a:xfrm flipH="1">
            <a:off x="274877" y="1079724"/>
            <a:ext cx="1746824" cy="41395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9" name="Google Shape;509;p44"/>
          <p:cNvSpPr/>
          <p:nvPr/>
        </p:nvSpPr>
        <p:spPr>
          <a:xfrm flipH="1">
            <a:off x="7160549" y="3307599"/>
            <a:ext cx="1929351" cy="45720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0" name="Google Shape;510;p44"/>
          <p:cNvSpPr/>
          <p:nvPr/>
        </p:nvSpPr>
        <p:spPr>
          <a:xfrm>
            <a:off x="5946477" y="368760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5"/>
          <p:cNvSpPr/>
          <p:nvPr/>
        </p:nvSpPr>
        <p:spPr>
          <a:xfrm flipH="1">
            <a:off x="5516805" y="2224474"/>
            <a:ext cx="1064122" cy="30959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6" name="Google Shape;516;p45"/>
          <p:cNvGrpSpPr/>
          <p:nvPr/>
        </p:nvGrpSpPr>
        <p:grpSpPr>
          <a:xfrm flipH="1">
            <a:off x="5171153" y="2859195"/>
            <a:ext cx="4276499" cy="2284315"/>
            <a:chOff x="-481288" y="2237993"/>
            <a:chExt cx="5439455" cy="2905513"/>
          </a:xfrm>
        </p:grpSpPr>
        <p:sp>
          <p:nvSpPr>
            <p:cNvPr id="517" name="Google Shape;517;p45"/>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45"/>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9" name="Google Shape;519;p45"/>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0" name="Google Shape;520;p45"/>
          <p:cNvSpPr txBox="1">
            <a:spLocks noGrp="1"/>
          </p:cNvSpPr>
          <p:nvPr>
            <p:ph type="title"/>
          </p:nvPr>
        </p:nvSpPr>
        <p:spPr>
          <a:xfrm>
            <a:off x="713225" y="566047"/>
            <a:ext cx="771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Introduction</a:t>
            </a:r>
            <a:endParaRPr sz="3200" dirty="0"/>
          </a:p>
        </p:txBody>
      </p:sp>
      <p:sp>
        <p:nvSpPr>
          <p:cNvPr id="521" name="Google Shape;521;p45"/>
          <p:cNvSpPr txBox="1">
            <a:spLocks noGrp="1"/>
          </p:cNvSpPr>
          <p:nvPr>
            <p:ph type="body" idx="1"/>
          </p:nvPr>
        </p:nvSpPr>
        <p:spPr>
          <a:xfrm>
            <a:off x="966066" y="1248409"/>
            <a:ext cx="5045226" cy="947972"/>
          </a:xfrm>
          <a:prstGeom prst="rect">
            <a:avLst/>
          </a:prstGeom>
        </p:spPr>
        <p:txBody>
          <a:bodyPr spcFirstLastPara="1" wrap="square" lIns="91425" tIns="91425" rIns="91425" bIns="91425" anchor="b" anchorCtr="0">
            <a:noAutofit/>
          </a:bodyPr>
          <a:lstStyle/>
          <a:p>
            <a:pPr marL="139700" indent="0">
              <a:buNone/>
            </a:pPr>
            <a:r>
              <a:rPr lang="en-US" b="1" dirty="0">
                <a:latin typeface="SF Pro Text"/>
              </a:rPr>
              <a:t>Electric Golf Cart with 6 Seats</a:t>
            </a:r>
          </a:p>
          <a:p>
            <a:pPr marL="139700" indent="0">
              <a:buNone/>
            </a:pPr>
            <a:endParaRPr lang="en-US" dirty="0">
              <a:latin typeface="SF Pro Text"/>
            </a:endParaRPr>
          </a:p>
          <a:p>
            <a:pPr marL="139700" indent="0">
              <a:buNone/>
            </a:pPr>
            <a:r>
              <a:rPr lang="en-US" b="1" dirty="0">
                <a:latin typeface="SF Pro Text"/>
              </a:rPr>
              <a:t>Project Aims</a:t>
            </a:r>
          </a:p>
        </p:txBody>
      </p:sp>
      <p:sp>
        <p:nvSpPr>
          <p:cNvPr id="522" name="Google Shape;522;p45"/>
          <p:cNvSpPr/>
          <p:nvPr/>
        </p:nvSpPr>
        <p:spPr>
          <a:xfrm flipH="1">
            <a:off x="7552626" y="2859209"/>
            <a:ext cx="1064122" cy="30959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23" name="Google Shape;523;p45"/>
          <p:cNvGrpSpPr/>
          <p:nvPr/>
        </p:nvGrpSpPr>
        <p:grpSpPr>
          <a:xfrm>
            <a:off x="7235560" y="3383117"/>
            <a:ext cx="3714986" cy="1701907"/>
            <a:chOff x="3764850" y="4321538"/>
            <a:chExt cx="1275050" cy="584125"/>
          </a:xfrm>
        </p:grpSpPr>
        <p:sp>
          <p:nvSpPr>
            <p:cNvPr id="524" name="Google Shape;524;p45"/>
            <p:cNvSpPr/>
            <p:nvPr/>
          </p:nvSpPr>
          <p:spPr>
            <a:xfrm>
              <a:off x="3764850" y="4321538"/>
              <a:ext cx="1275050" cy="516550"/>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45"/>
            <p:cNvSpPr/>
            <p:nvPr/>
          </p:nvSpPr>
          <p:spPr>
            <a:xfrm>
              <a:off x="4277275" y="4378488"/>
              <a:ext cx="508825" cy="154225"/>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45"/>
            <p:cNvSpPr/>
            <p:nvPr/>
          </p:nvSpPr>
          <p:spPr>
            <a:xfrm>
              <a:off x="4185775" y="4378488"/>
              <a:ext cx="798925" cy="154225"/>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45"/>
            <p:cNvSpPr/>
            <p:nvPr/>
          </p:nvSpPr>
          <p:spPr>
            <a:xfrm>
              <a:off x="4955250" y="4549338"/>
              <a:ext cx="53350" cy="64850"/>
            </a:xfrm>
            <a:custGeom>
              <a:avLst/>
              <a:gdLst/>
              <a:ahLst/>
              <a:cxnLst/>
              <a:rect l="l" t="t" r="r" b="b"/>
              <a:pathLst>
                <a:path w="2134" h="2594" extrusionOk="0">
                  <a:moveTo>
                    <a:pt x="628" y="0"/>
                  </a:moveTo>
                  <a:cubicBezTo>
                    <a:pt x="386" y="0"/>
                    <a:pt x="178" y="174"/>
                    <a:pt x="134" y="411"/>
                  </a:cubicBezTo>
                  <a:cubicBezTo>
                    <a:pt x="45" y="906"/>
                    <a:pt x="0" y="1699"/>
                    <a:pt x="556" y="1931"/>
                  </a:cubicBezTo>
                  <a:cubicBezTo>
                    <a:pt x="1378" y="2276"/>
                    <a:pt x="2133" y="2594"/>
                    <a:pt x="2133" y="2594"/>
                  </a:cubicBezTo>
                  <a:cubicBezTo>
                    <a:pt x="2133" y="2594"/>
                    <a:pt x="1962" y="782"/>
                    <a:pt x="1392" y="0"/>
                  </a:cubicBezTo>
                  <a:close/>
                </a:path>
              </a:pathLst>
            </a:custGeom>
            <a:solidFill>
              <a:srgbClr val="B4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 name="Google Shape;528;p45"/>
            <p:cNvSpPr/>
            <p:nvPr/>
          </p:nvSpPr>
          <p:spPr>
            <a:xfrm>
              <a:off x="3786800" y="4595538"/>
              <a:ext cx="1244925" cy="233125"/>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9" name="Google Shape;529;p45"/>
            <p:cNvSpPr/>
            <p:nvPr/>
          </p:nvSpPr>
          <p:spPr>
            <a:xfrm>
              <a:off x="3784300" y="4522588"/>
              <a:ext cx="1198175" cy="383075"/>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0" name="Google Shape;530;p45"/>
            <p:cNvSpPr/>
            <p:nvPr/>
          </p:nvSpPr>
          <p:spPr>
            <a:xfrm>
              <a:off x="3784300" y="4569313"/>
              <a:ext cx="1169825" cy="307975"/>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1" name="Google Shape;531;p45"/>
            <p:cNvSpPr/>
            <p:nvPr/>
          </p:nvSpPr>
          <p:spPr>
            <a:xfrm>
              <a:off x="4166075" y="4522588"/>
              <a:ext cx="704950" cy="16700"/>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2" name="Google Shape;532;p45"/>
            <p:cNvSpPr/>
            <p:nvPr/>
          </p:nvSpPr>
          <p:spPr>
            <a:xfrm>
              <a:off x="4153775" y="4357813"/>
              <a:ext cx="709575" cy="171925"/>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solidFill>
              <a:srgbClr val="28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45"/>
            <p:cNvSpPr/>
            <p:nvPr/>
          </p:nvSpPr>
          <p:spPr>
            <a:xfrm>
              <a:off x="4128750" y="4344313"/>
              <a:ext cx="883825" cy="495000"/>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34" name="Google Shape;534;p45"/>
          <p:cNvGrpSpPr/>
          <p:nvPr/>
        </p:nvGrpSpPr>
        <p:grpSpPr>
          <a:xfrm>
            <a:off x="6235665" y="1920350"/>
            <a:ext cx="1806738" cy="3035443"/>
            <a:chOff x="6484504" y="1911584"/>
            <a:chExt cx="1935860" cy="3252377"/>
          </a:xfrm>
        </p:grpSpPr>
        <p:sp>
          <p:nvSpPr>
            <p:cNvPr id="535" name="Google Shape;535;p45"/>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6" name="Google Shape;536;p45"/>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7" name="Google Shape;537;p45"/>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8" name="Google Shape;538;p45"/>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9" name="Google Shape;539;p45"/>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0" name="Google Shape;540;p45"/>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45"/>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2" name="Google Shape;542;p45"/>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3" name="Google Shape;543;p45"/>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4" name="Google Shape;544;p45"/>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5" name="Google Shape;545;p45"/>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6" name="Google Shape;546;p45"/>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7" name="Google Shape;547;p45"/>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8" name="Google Shape;548;p45"/>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6" name="Google Shape;641;p49">
            <a:extLst>
              <a:ext uri="{FF2B5EF4-FFF2-40B4-BE49-F238E27FC236}">
                <a16:creationId xmlns:a16="http://schemas.microsoft.com/office/drawing/2014/main" id="{660A80E4-71CB-452A-835C-83BC2959663C}"/>
              </a:ext>
            </a:extLst>
          </p:cNvPr>
          <p:cNvSpPr txBox="1">
            <a:spLocks/>
          </p:cNvSpPr>
          <p:nvPr/>
        </p:nvSpPr>
        <p:spPr>
          <a:xfrm>
            <a:off x="574790" y="1786373"/>
            <a:ext cx="6528009" cy="305645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Design a high-quality electric golf cart with 6 seats suitable for </a:t>
            </a:r>
          </a:p>
          <a:p>
            <a:pPr marL="0" indent="0">
              <a:lnSpc>
                <a:spcPct val="150000"/>
              </a:lnSpc>
              <a:buNone/>
            </a:pPr>
            <a:r>
              <a:rPr lang="en-US" dirty="0">
                <a:latin typeface="SF Pro Text" panose="00000500000000000000" pitchFamily="2" charset="0"/>
                <a:ea typeface="SF Pro Text" panose="00000500000000000000" pitchFamily="2" charset="0"/>
              </a:rPr>
              <a:t>         various surfaces, including grassy, muddy, wet, and concrete.</a:t>
            </a: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Ensure the vehicle's reliability, comfort, efficiency, and long mileage </a:t>
            </a:r>
          </a:p>
          <a:p>
            <a:pPr marL="0" indent="0">
              <a:lnSpc>
                <a:spcPct val="150000"/>
              </a:lnSpc>
              <a:buNone/>
            </a:pPr>
            <a:r>
              <a:rPr lang="en-US" dirty="0">
                <a:latin typeface="SF Pro Text" panose="00000500000000000000" pitchFamily="2" charset="0"/>
                <a:ea typeface="SF Pro Text" panose="00000500000000000000" pitchFamily="2" charset="0"/>
              </a:rPr>
              <a:t>         by following industry standards and considering cost and technical </a:t>
            </a:r>
          </a:p>
          <a:p>
            <a:pPr marL="0" indent="0">
              <a:lnSpc>
                <a:spcPct val="150000"/>
              </a:lnSpc>
              <a:buNone/>
            </a:pPr>
            <a:r>
              <a:rPr lang="en-US" dirty="0">
                <a:latin typeface="SF Pro Text" panose="00000500000000000000" pitchFamily="2" charset="0"/>
                <a:ea typeface="SF Pro Text" panose="00000500000000000000" pitchFamily="2" charset="0"/>
              </a:rPr>
              <a:t>         aspects.</a:t>
            </a: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Contribute to eco-friendliness and cost-effectiveness by eliminating </a:t>
            </a:r>
          </a:p>
          <a:p>
            <a:pPr marL="0" indent="0">
              <a:lnSpc>
                <a:spcPct val="150000"/>
              </a:lnSpc>
              <a:buNone/>
            </a:pPr>
            <a:r>
              <a:rPr lang="en-US" dirty="0">
                <a:latin typeface="SF Pro Text" panose="00000500000000000000" pitchFamily="2" charset="0"/>
                <a:ea typeface="SF Pro Text" panose="00000500000000000000" pitchFamily="2" charset="0"/>
              </a:rPr>
              <a:t>         the need for liquid fuels, oil changes, and complex maintenance.</a:t>
            </a:r>
          </a:p>
          <a:p>
            <a:pPr marL="0" indent="0">
              <a:lnSpc>
                <a:spcPct val="150000"/>
              </a:lnSpc>
              <a:buFont typeface="Nanum Gothic"/>
              <a:buNone/>
            </a:pP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D51C7-F4F6-4A13-A90C-4AF11BDB72E1}"/>
              </a:ext>
            </a:extLst>
          </p:cNvPr>
          <p:cNvPicPr>
            <a:picLocks noChangeAspect="1"/>
          </p:cNvPicPr>
          <p:nvPr/>
        </p:nvPicPr>
        <p:blipFill>
          <a:blip r:embed="rId2"/>
          <a:stretch>
            <a:fillRect/>
          </a:stretch>
        </p:blipFill>
        <p:spPr>
          <a:xfrm>
            <a:off x="1961164" y="366931"/>
            <a:ext cx="5221669" cy="5143500"/>
          </a:xfrm>
          <a:prstGeom prst="rect">
            <a:avLst/>
          </a:prstGeom>
        </p:spPr>
      </p:pic>
      <p:sp>
        <p:nvSpPr>
          <p:cNvPr id="5" name="Google Shape;519;p45">
            <a:extLst>
              <a:ext uri="{FF2B5EF4-FFF2-40B4-BE49-F238E27FC236}">
                <a16:creationId xmlns:a16="http://schemas.microsoft.com/office/drawing/2014/main" id="{B8EC68AC-3B21-412F-A50C-B539B5A9DCED}"/>
              </a:ext>
            </a:extLst>
          </p:cNvPr>
          <p:cNvSpPr/>
          <p:nvPr/>
        </p:nvSpPr>
        <p:spPr>
          <a:xfrm>
            <a:off x="527250" y="152423"/>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0650354F-0346-43A2-8AD3-09D728601920}"/>
              </a:ext>
            </a:extLst>
          </p:cNvPr>
          <p:cNvSpPr txBox="1"/>
          <p:nvPr/>
        </p:nvSpPr>
        <p:spPr>
          <a:xfrm>
            <a:off x="1302026" y="175448"/>
            <a:ext cx="6539948" cy="584775"/>
          </a:xfrm>
          <a:prstGeom prst="rect">
            <a:avLst/>
          </a:prstGeom>
          <a:noFill/>
        </p:spPr>
        <p:txBody>
          <a:bodyPr wrap="square" rtlCol="0">
            <a:spAutoFit/>
          </a:bodyPr>
          <a:lstStyle/>
          <a:p>
            <a:pPr algn="ctr"/>
            <a:r>
              <a:rPr lang="en-US" sz="3200" b="1" dirty="0">
                <a:solidFill>
                  <a:srgbClr val="718A1D"/>
                </a:solidFill>
                <a:latin typeface="SF Pro Text" panose="00000500000000000000"/>
              </a:rPr>
              <a:t>Expected Golf Cart</a:t>
            </a:r>
            <a:endParaRPr lang="en-IN" sz="3200" b="1" dirty="0">
              <a:solidFill>
                <a:srgbClr val="718A1D"/>
              </a:solidFill>
              <a:latin typeface="SF Pro Text" panose="00000500000000000000"/>
            </a:endParaRPr>
          </a:p>
        </p:txBody>
      </p:sp>
    </p:spTree>
    <p:extLst>
      <p:ext uri="{BB962C8B-B14F-4D97-AF65-F5344CB8AC3E}">
        <p14:creationId xmlns:p14="http://schemas.microsoft.com/office/powerpoint/2010/main" val="740110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57"/>
          <p:cNvSpPr/>
          <p:nvPr/>
        </p:nvSpPr>
        <p:spPr>
          <a:xfrm flipH="1">
            <a:off x="6046530" y="607258"/>
            <a:ext cx="2025701" cy="48007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4" name="Google Shape;884;p57"/>
          <p:cNvGrpSpPr/>
          <p:nvPr/>
        </p:nvGrpSpPr>
        <p:grpSpPr>
          <a:xfrm rot="-489577" flipH="1">
            <a:off x="206601" y="933494"/>
            <a:ext cx="3677410" cy="2373365"/>
            <a:chOff x="4352672" y="2230153"/>
            <a:chExt cx="4618934" cy="2913327"/>
          </a:xfrm>
        </p:grpSpPr>
        <p:sp>
          <p:nvSpPr>
            <p:cNvPr id="885" name="Google Shape;885;p57"/>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57"/>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87" name="Google Shape;887;p57"/>
          <p:cNvSpPr/>
          <p:nvPr/>
        </p:nvSpPr>
        <p:spPr>
          <a:xfrm flipH="1">
            <a:off x="1103691" y="514205"/>
            <a:ext cx="666326" cy="148620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57"/>
          <p:cNvSpPr/>
          <p:nvPr/>
        </p:nvSpPr>
        <p:spPr>
          <a:xfrm flipH="1">
            <a:off x="1726777" y="1153320"/>
            <a:ext cx="378799" cy="84485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9" name="Google Shape;889;p57"/>
          <p:cNvGrpSpPr/>
          <p:nvPr/>
        </p:nvGrpSpPr>
        <p:grpSpPr>
          <a:xfrm>
            <a:off x="713219" y="1516688"/>
            <a:ext cx="2897080" cy="1357186"/>
            <a:chOff x="713225" y="2253700"/>
            <a:chExt cx="5046298" cy="2364025"/>
          </a:xfrm>
        </p:grpSpPr>
        <p:sp>
          <p:nvSpPr>
            <p:cNvPr id="890" name="Google Shape;890;p57"/>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57"/>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57"/>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57"/>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57"/>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5" name="Google Shape;895;p57"/>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57"/>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57"/>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57"/>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57"/>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57"/>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57"/>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57"/>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3" name="Google Shape;903;p57"/>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4" name="Google Shape;904;p57"/>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57"/>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57"/>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57"/>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57"/>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57"/>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57"/>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57"/>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57"/>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57"/>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57"/>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57"/>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57"/>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57"/>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57"/>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57"/>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57"/>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57"/>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57"/>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57"/>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57"/>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57"/>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57"/>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57"/>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57"/>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57"/>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57"/>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57"/>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57"/>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57"/>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57"/>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57"/>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57"/>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37" name="Google Shape;937;p57"/>
          <p:cNvSpPr/>
          <p:nvPr/>
        </p:nvSpPr>
        <p:spPr>
          <a:xfrm>
            <a:off x="2235299" y="4165138"/>
            <a:ext cx="5141117"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38" name="Google Shape;938;p57"/>
          <p:cNvSpPr txBox="1">
            <a:spLocks noGrp="1"/>
          </p:cNvSpPr>
          <p:nvPr>
            <p:ph type="title" idx="2"/>
          </p:nvPr>
        </p:nvSpPr>
        <p:spPr>
          <a:xfrm>
            <a:off x="3893700" y="1871746"/>
            <a:ext cx="1356600" cy="95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dirty="0"/>
          </a:p>
        </p:txBody>
      </p:sp>
      <p:sp>
        <p:nvSpPr>
          <p:cNvPr id="939" name="Google Shape;939;p57"/>
          <p:cNvSpPr txBox="1">
            <a:spLocks noGrp="1"/>
          </p:cNvSpPr>
          <p:nvPr>
            <p:ph type="subTitle" idx="1"/>
          </p:nvPr>
        </p:nvSpPr>
        <p:spPr>
          <a:xfrm>
            <a:off x="2419350" y="4245700"/>
            <a:ext cx="4957065" cy="296100"/>
          </a:xfrm>
          <a:prstGeom prst="rect">
            <a:avLst/>
          </a:prstGeom>
        </p:spPr>
        <p:txBody>
          <a:bodyPr spcFirstLastPara="1" wrap="square" lIns="91425" tIns="91425" rIns="91425" bIns="91425" anchor="ctr" anchorCtr="0">
            <a:noAutofit/>
          </a:bodyPr>
          <a:lstStyle/>
          <a:p>
            <a:pPr marL="0" lvl="0" indent="0"/>
            <a:r>
              <a:rPr lang="en-US" dirty="0"/>
              <a:t>Exploring the Landscape of Electric Motor Drive Systems for EVs</a:t>
            </a:r>
            <a:endParaRPr sz="1400" dirty="0">
              <a:latin typeface="SF Pro Text" panose="00000500000000000000" pitchFamily="2" charset="0"/>
              <a:ea typeface="SF Pro Text" panose="00000500000000000000" pitchFamily="2" charset="0"/>
            </a:endParaRPr>
          </a:p>
        </p:txBody>
      </p:sp>
      <p:sp>
        <p:nvSpPr>
          <p:cNvPr id="940" name="Google Shape;940;p57"/>
          <p:cNvSpPr/>
          <p:nvPr/>
        </p:nvSpPr>
        <p:spPr>
          <a:xfrm>
            <a:off x="713250" y="2925596"/>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1" name="Google Shape;941;p57"/>
          <p:cNvSpPr/>
          <p:nvPr/>
        </p:nvSpPr>
        <p:spPr>
          <a:xfrm rot="-5400000">
            <a:off x="4468802" y="-103549"/>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2" name="Google Shape;942;p57"/>
          <p:cNvSpPr txBox="1">
            <a:spLocks noGrp="1"/>
          </p:cNvSpPr>
          <p:nvPr>
            <p:ph type="title"/>
          </p:nvPr>
        </p:nvSpPr>
        <p:spPr>
          <a:xfrm>
            <a:off x="713225" y="3007925"/>
            <a:ext cx="7717500" cy="896400"/>
          </a:xfrm>
          <a:prstGeom prst="rect">
            <a:avLst/>
          </a:prstGeom>
        </p:spPr>
        <p:txBody>
          <a:bodyPr spcFirstLastPara="1" wrap="square" lIns="91425" tIns="91425" rIns="91425" bIns="91425" anchor="ctr" anchorCtr="0">
            <a:noAutofit/>
          </a:bodyPr>
          <a:lstStyle/>
          <a:p>
            <a:pPr lvl="0"/>
            <a:r>
              <a:rPr lang="en-US" sz="3200" dirty="0">
                <a:latin typeface="Montserrat" panose="00000500000000000000" pitchFamily="2" charset="0"/>
              </a:rPr>
              <a:t>Literature Review</a:t>
            </a:r>
          </a:p>
        </p:txBody>
      </p:sp>
      <p:sp>
        <p:nvSpPr>
          <p:cNvPr id="943" name="Google Shape;943;p57"/>
          <p:cNvSpPr/>
          <p:nvPr/>
        </p:nvSpPr>
        <p:spPr>
          <a:xfrm>
            <a:off x="2864675" y="1391948"/>
            <a:ext cx="1029023" cy="24387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57"/>
          <p:cNvSpPr/>
          <p:nvPr/>
        </p:nvSpPr>
        <p:spPr>
          <a:xfrm flipH="1">
            <a:off x="7376417" y="1421177"/>
            <a:ext cx="1356610" cy="32150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5910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3D93-8B52-4D33-A8B7-451C49B52A93}"/>
              </a:ext>
            </a:extLst>
          </p:cNvPr>
          <p:cNvSpPr>
            <a:spLocks noGrp="1"/>
          </p:cNvSpPr>
          <p:nvPr>
            <p:ph type="title"/>
          </p:nvPr>
        </p:nvSpPr>
        <p:spPr>
          <a:xfrm>
            <a:off x="713250" y="204851"/>
            <a:ext cx="7717500" cy="576000"/>
          </a:xfrm>
        </p:spPr>
        <p:txBody>
          <a:bodyPr/>
          <a:lstStyle/>
          <a:p>
            <a:r>
              <a:rPr lang="en-US" dirty="0">
                <a:solidFill>
                  <a:schemeClr val="bg1"/>
                </a:solidFill>
              </a:rPr>
              <a:t>Research Breakdown</a:t>
            </a:r>
            <a:endParaRPr lang="en-IN" dirty="0">
              <a:solidFill>
                <a:schemeClr val="bg1"/>
              </a:solidFill>
            </a:endParaRPr>
          </a:p>
        </p:txBody>
      </p:sp>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683663758"/>
              </p:ext>
            </p:extLst>
          </p:nvPr>
        </p:nvGraphicFramePr>
        <p:xfrm>
          <a:off x="357809" y="874643"/>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293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664932838"/>
              </p:ext>
            </p:extLst>
          </p:nvPr>
        </p:nvGraphicFramePr>
        <p:xfrm>
          <a:off x="313083" y="539747"/>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3381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148517886"/>
              </p:ext>
            </p:extLst>
          </p:nvPr>
        </p:nvGraphicFramePr>
        <p:xfrm>
          <a:off x="313083" y="539747"/>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7372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0FE0DC43-2107-4D5E-94D5-D2750D267FAD}"/>
              </a:ext>
            </a:extLst>
          </p:cNvPr>
          <p:cNvSpPr>
            <a:spLocks noGrp="1"/>
          </p:cNvSpPr>
          <p:nvPr>
            <p:ph type="subTitle" idx="4294967295"/>
          </p:nvPr>
        </p:nvSpPr>
        <p:spPr>
          <a:xfrm>
            <a:off x="3588442" y="2660376"/>
            <a:ext cx="5078480" cy="1772476"/>
          </a:xfrm>
        </p:spPr>
        <p:txBody>
          <a:bodyPr/>
          <a:lstStyle/>
          <a:p>
            <a:pPr marL="139700" indent="0" algn="ctr">
              <a:buNone/>
            </a:pPr>
            <a:r>
              <a:rPr lang="en-IN" sz="3600" dirty="0">
                <a:latin typeface="Montserrat"/>
              </a:rPr>
              <a:t>Electric Motor Drive System</a:t>
            </a:r>
          </a:p>
        </p:txBody>
      </p:sp>
      <p:sp>
        <p:nvSpPr>
          <p:cNvPr id="3" name="Subtitle 2">
            <a:extLst>
              <a:ext uri="{FF2B5EF4-FFF2-40B4-BE49-F238E27FC236}">
                <a16:creationId xmlns:a16="http://schemas.microsoft.com/office/drawing/2014/main" id="{F107DCBE-5924-4F53-A9DA-30F776F509E3}"/>
              </a:ext>
            </a:extLst>
          </p:cNvPr>
          <p:cNvSpPr>
            <a:spLocks noGrp="1"/>
          </p:cNvSpPr>
          <p:nvPr>
            <p:ph type="subTitle" idx="4294967295"/>
          </p:nvPr>
        </p:nvSpPr>
        <p:spPr>
          <a:xfrm>
            <a:off x="1023730" y="585442"/>
            <a:ext cx="4283766" cy="1630983"/>
          </a:xfrm>
        </p:spPr>
        <p:txBody>
          <a:bodyPr/>
          <a:lstStyle/>
          <a:p>
            <a:pPr marL="139700" indent="0" algn="ctr">
              <a:buNone/>
            </a:pPr>
            <a:r>
              <a:rPr lang="en-IN" sz="3600" dirty="0">
                <a:latin typeface="Montserrat"/>
              </a:rPr>
              <a:t>Electric Vehicle Technology</a:t>
            </a:r>
          </a:p>
        </p:txBody>
      </p:sp>
      <p:pic>
        <p:nvPicPr>
          <p:cNvPr id="16" name="Graphic 15" descr="Rocket">
            <a:extLst>
              <a:ext uri="{FF2B5EF4-FFF2-40B4-BE49-F238E27FC236}">
                <a16:creationId xmlns:a16="http://schemas.microsoft.com/office/drawing/2014/main" id="{E84CD888-7714-47A9-8054-2A0193A127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1091477" y="883616"/>
            <a:ext cx="327993" cy="327993"/>
          </a:xfrm>
          <a:prstGeom prst="rect">
            <a:avLst/>
          </a:prstGeom>
        </p:spPr>
      </p:pic>
      <p:pic>
        <p:nvPicPr>
          <p:cNvPr id="17" name="Graphic 16" descr="Rocket">
            <a:extLst>
              <a:ext uri="{FF2B5EF4-FFF2-40B4-BE49-F238E27FC236}">
                <a16:creationId xmlns:a16="http://schemas.microsoft.com/office/drawing/2014/main" id="{722101B8-BC19-45C0-8CE4-6ABBA9B7D9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3513897" y="2994823"/>
            <a:ext cx="327993" cy="327993"/>
          </a:xfrm>
          <a:prstGeom prst="rect">
            <a:avLst/>
          </a:prstGeom>
        </p:spPr>
      </p:pic>
    </p:spTree>
    <p:extLst>
      <p:ext uri="{BB962C8B-B14F-4D97-AF65-F5344CB8AC3E}">
        <p14:creationId xmlns:p14="http://schemas.microsoft.com/office/powerpoint/2010/main" val="1849449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1" presetClass="entr" presetSubtype="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996E0A-1DA5-482E-8F49-D6093C8E5621}"/>
              </a:ext>
            </a:extLst>
          </p:cNvPr>
          <p:cNvSpPr>
            <a:spLocks noGrp="1"/>
          </p:cNvSpPr>
          <p:nvPr>
            <p:ph type="title" idx="2"/>
          </p:nvPr>
        </p:nvSpPr>
        <p:spPr>
          <a:xfrm>
            <a:off x="576469" y="177819"/>
            <a:ext cx="7991062" cy="613999"/>
          </a:xfrm>
        </p:spPr>
        <p:txBody>
          <a:bodyPr/>
          <a:lstStyle/>
          <a:p>
            <a:r>
              <a:rPr lang="en-IN" sz="3400" dirty="0"/>
              <a:t>Electric Vehicle Technology</a:t>
            </a:r>
            <a:br>
              <a:rPr lang="en-IN" sz="3400" dirty="0"/>
            </a:br>
            <a:br>
              <a:rPr lang="en-IN" sz="3400" dirty="0"/>
            </a:br>
            <a:endParaRPr lang="en-IN" sz="3400" dirty="0"/>
          </a:p>
        </p:txBody>
      </p:sp>
      <p:sp>
        <p:nvSpPr>
          <p:cNvPr id="27" name="TextBox 26">
            <a:extLst>
              <a:ext uri="{FF2B5EF4-FFF2-40B4-BE49-F238E27FC236}">
                <a16:creationId xmlns:a16="http://schemas.microsoft.com/office/drawing/2014/main" id="{A9BD4339-6959-45FC-A9CA-AA24CB5E4F8A}"/>
              </a:ext>
            </a:extLst>
          </p:cNvPr>
          <p:cNvSpPr txBox="1"/>
          <p:nvPr/>
        </p:nvSpPr>
        <p:spPr>
          <a:xfrm>
            <a:off x="2421839" y="1203604"/>
            <a:ext cx="6049611" cy="738664"/>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Barapatre, D. et al. [1] examine the shift from gasoline to electric vehicles, detailing their mechanics, advantages, and drawbacks. The paper offers a glimpse into the future of electric vehicle technology.</a:t>
            </a:r>
            <a:endParaRPr lang="en-IN" dirty="0">
              <a:solidFill>
                <a:schemeClr val="bg1"/>
              </a:solidFill>
              <a:latin typeface="Roboto" panose="02000000000000000000" pitchFamily="2" charset="0"/>
              <a:ea typeface="Roboto" panose="02000000000000000000" pitchFamily="2" charset="0"/>
            </a:endParaRPr>
          </a:p>
        </p:txBody>
      </p:sp>
      <p:sp>
        <p:nvSpPr>
          <p:cNvPr id="28" name="TextBox 27">
            <a:extLst>
              <a:ext uri="{FF2B5EF4-FFF2-40B4-BE49-F238E27FC236}">
                <a16:creationId xmlns:a16="http://schemas.microsoft.com/office/drawing/2014/main" id="{9127B214-8D00-46B8-A3FC-6971EB14599F}"/>
              </a:ext>
            </a:extLst>
          </p:cNvPr>
          <p:cNvSpPr txBox="1"/>
          <p:nvPr/>
        </p:nvSpPr>
        <p:spPr>
          <a:xfrm>
            <a:off x="2421839" y="2309897"/>
            <a:ext cx="6049606" cy="954107"/>
          </a:xfrm>
          <a:prstGeom prst="rect">
            <a:avLst/>
          </a:prstGeom>
          <a:noFill/>
        </p:spPr>
        <p:txBody>
          <a:bodyPr wrap="square" rtlCol="0">
            <a:spAutoFit/>
          </a:bodyPr>
          <a:lstStyle/>
          <a:p>
            <a:pPr algn="just"/>
            <a:r>
              <a:rPr lang="en-US" dirty="0">
                <a:solidFill>
                  <a:schemeClr val="bg2"/>
                </a:solidFill>
                <a:latin typeface="Roboto" panose="02000000000000000000" pitchFamily="2" charset="0"/>
                <a:ea typeface="Roboto" panose="02000000000000000000" pitchFamily="2" charset="0"/>
              </a:rPr>
              <a:t>Jeon (2010) [2] focuses on the market feasibility of Hybrid Electric Vehicles, Plug-In Hybrid Electric Vehicles, and Electric Vehicles. The study forecasts sales trends until 2030, considering historical factors impacting the U.S. vehicle market.</a:t>
            </a:r>
            <a:endParaRPr lang="en-IN" dirty="0">
              <a:solidFill>
                <a:schemeClr val="bg2"/>
              </a:solidFill>
              <a:latin typeface="Roboto" panose="02000000000000000000" pitchFamily="2" charset="0"/>
              <a:ea typeface="Roboto" panose="02000000000000000000" pitchFamily="2" charset="0"/>
            </a:endParaRPr>
          </a:p>
        </p:txBody>
      </p:sp>
      <p:sp>
        <p:nvSpPr>
          <p:cNvPr id="29" name="TextBox 28">
            <a:extLst>
              <a:ext uri="{FF2B5EF4-FFF2-40B4-BE49-F238E27FC236}">
                <a16:creationId xmlns:a16="http://schemas.microsoft.com/office/drawing/2014/main" id="{7A950019-9CFC-4D71-8BDD-4A609DBA20A2}"/>
              </a:ext>
            </a:extLst>
          </p:cNvPr>
          <p:cNvSpPr txBox="1"/>
          <p:nvPr/>
        </p:nvSpPr>
        <p:spPr>
          <a:xfrm>
            <a:off x="2372142" y="3824963"/>
            <a:ext cx="6099303" cy="954107"/>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Amid rising fuel prices and environmental concerns, electric vehicles emerge as a solution despite initial challenges. Barapatre, D. et al. [1] discuss the transition, while Jeon (2010) [2] explores the market potential of various electric vehicle technologies, projecting sales until 2030.</a:t>
            </a:r>
          </a:p>
        </p:txBody>
      </p:sp>
      <p:grpSp>
        <p:nvGrpSpPr>
          <p:cNvPr id="32" name="Group 31">
            <a:extLst>
              <a:ext uri="{FF2B5EF4-FFF2-40B4-BE49-F238E27FC236}">
                <a16:creationId xmlns:a16="http://schemas.microsoft.com/office/drawing/2014/main" id="{C9AFCED4-334F-42A9-B9DB-5B3F14BFFA82}"/>
              </a:ext>
            </a:extLst>
          </p:cNvPr>
          <p:cNvGrpSpPr/>
          <p:nvPr/>
        </p:nvGrpSpPr>
        <p:grpSpPr>
          <a:xfrm>
            <a:off x="1232453" y="725363"/>
            <a:ext cx="1189386" cy="4418137"/>
            <a:chOff x="1232453" y="684375"/>
            <a:chExt cx="1166193" cy="4618345"/>
          </a:xfrm>
        </p:grpSpPr>
        <p:grpSp>
          <p:nvGrpSpPr>
            <p:cNvPr id="26" name="Group 25">
              <a:extLst>
                <a:ext uri="{FF2B5EF4-FFF2-40B4-BE49-F238E27FC236}">
                  <a16:creationId xmlns:a16="http://schemas.microsoft.com/office/drawing/2014/main" id="{F4726CEC-C633-4BD8-AE29-184389E3E7A0}"/>
                </a:ext>
              </a:extLst>
            </p:cNvPr>
            <p:cNvGrpSpPr/>
            <p:nvPr/>
          </p:nvGrpSpPr>
          <p:grpSpPr>
            <a:xfrm>
              <a:off x="1232453" y="954155"/>
              <a:ext cx="1166193" cy="4094923"/>
              <a:chOff x="1123122" y="1540564"/>
              <a:chExt cx="1166193" cy="3597965"/>
            </a:xfrm>
          </p:grpSpPr>
          <p:grpSp>
            <p:nvGrpSpPr>
              <p:cNvPr id="20" name="Group 19">
                <a:extLst>
                  <a:ext uri="{FF2B5EF4-FFF2-40B4-BE49-F238E27FC236}">
                    <a16:creationId xmlns:a16="http://schemas.microsoft.com/office/drawing/2014/main" id="{8FDE0856-7A34-4AE9-A4BE-EAF7C17A32B6}"/>
                  </a:ext>
                </a:extLst>
              </p:cNvPr>
              <p:cNvGrpSpPr/>
              <p:nvPr/>
            </p:nvGrpSpPr>
            <p:grpSpPr>
              <a:xfrm>
                <a:off x="1123122" y="1540564"/>
                <a:ext cx="477078" cy="3597965"/>
                <a:chOff x="1123122" y="1431235"/>
                <a:chExt cx="477078" cy="3597965"/>
              </a:xfrm>
            </p:grpSpPr>
            <p:cxnSp>
              <p:nvCxnSpPr>
                <p:cNvPr id="5" name="Straight Connector 4">
                  <a:extLst>
                    <a:ext uri="{FF2B5EF4-FFF2-40B4-BE49-F238E27FC236}">
                      <a16:creationId xmlns:a16="http://schemas.microsoft.com/office/drawing/2014/main" id="{7FE3C139-879C-4FE8-9DC2-D0EA87D2FD79}"/>
                    </a:ext>
                  </a:extLst>
                </p:cNvPr>
                <p:cNvCxnSpPr/>
                <p:nvPr/>
              </p:nvCxnSpPr>
              <p:spPr>
                <a:xfrm>
                  <a:off x="1371600" y="1431235"/>
                  <a:ext cx="0" cy="359796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4CF18F3-E272-460F-BD6E-5D12CCFBF883}"/>
                    </a:ext>
                  </a:extLst>
                </p:cNvPr>
                <p:cNvGrpSpPr/>
                <p:nvPr/>
              </p:nvGrpSpPr>
              <p:grpSpPr>
                <a:xfrm>
                  <a:off x="1123122" y="1637472"/>
                  <a:ext cx="477078" cy="360293"/>
                  <a:chOff x="1123122" y="1637472"/>
                  <a:chExt cx="477078" cy="360293"/>
                </a:xfrm>
              </p:grpSpPr>
              <p:sp>
                <p:nvSpPr>
                  <p:cNvPr id="8" name="Rectangle: Rounded Corners 7">
                    <a:extLst>
                      <a:ext uri="{FF2B5EF4-FFF2-40B4-BE49-F238E27FC236}">
                        <a16:creationId xmlns:a16="http://schemas.microsoft.com/office/drawing/2014/main" id="{15E74B30-B889-4688-8B2F-D6AD780D12E3}"/>
                      </a:ext>
                    </a:extLst>
                  </p:cNvPr>
                  <p:cNvSpPr/>
                  <p:nvPr/>
                </p:nvSpPr>
                <p:spPr>
                  <a:xfrm>
                    <a:off x="1123122" y="1659835"/>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2" name="Graphic 11" descr="Electric car">
                    <a:extLst>
                      <a:ext uri="{FF2B5EF4-FFF2-40B4-BE49-F238E27FC236}">
                        <a16:creationId xmlns:a16="http://schemas.microsoft.com/office/drawing/2014/main" id="{E5756783-7C26-4078-A8B9-DF3443435F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637472"/>
                    <a:ext cx="360293" cy="360293"/>
                  </a:xfrm>
                  <a:prstGeom prst="rect">
                    <a:avLst/>
                  </a:prstGeom>
                </p:spPr>
              </p:pic>
            </p:grpSp>
            <p:grpSp>
              <p:nvGrpSpPr>
                <p:cNvPr id="14" name="Group 13">
                  <a:extLst>
                    <a:ext uri="{FF2B5EF4-FFF2-40B4-BE49-F238E27FC236}">
                      <a16:creationId xmlns:a16="http://schemas.microsoft.com/office/drawing/2014/main" id="{A01E7763-31E2-4727-832C-E6614D291092}"/>
                    </a:ext>
                  </a:extLst>
                </p:cNvPr>
                <p:cNvGrpSpPr/>
                <p:nvPr/>
              </p:nvGrpSpPr>
              <p:grpSpPr>
                <a:xfrm>
                  <a:off x="1123122" y="2806021"/>
                  <a:ext cx="477078" cy="360293"/>
                  <a:chOff x="1123122" y="1573569"/>
                  <a:chExt cx="477078" cy="360293"/>
                </a:xfrm>
              </p:grpSpPr>
              <p:sp>
                <p:nvSpPr>
                  <p:cNvPr id="15" name="Rectangle: Rounded Corners 14">
                    <a:extLst>
                      <a:ext uri="{FF2B5EF4-FFF2-40B4-BE49-F238E27FC236}">
                        <a16:creationId xmlns:a16="http://schemas.microsoft.com/office/drawing/2014/main" id="{F8167D3C-2675-4DA4-88D7-B07B8B066A48}"/>
                      </a:ext>
                    </a:extLst>
                  </p:cNvPr>
                  <p:cNvSpPr/>
                  <p:nvPr/>
                </p:nvSpPr>
                <p:spPr>
                  <a:xfrm>
                    <a:off x="1123122" y="1595931"/>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6" name="Graphic 15" descr="Electric car">
                    <a:extLst>
                      <a:ext uri="{FF2B5EF4-FFF2-40B4-BE49-F238E27FC236}">
                        <a16:creationId xmlns:a16="http://schemas.microsoft.com/office/drawing/2014/main" id="{D1D29753-7090-4AC3-845A-CE879759E7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573569"/>
                    <a:ext cx="360293" cy="360293"/>
                  </a:xfrm>
                  <a:prstGeom prst="rect">
                    <a:avLst/>
                  </a:prstGeom>
                </p:spPr>
              </p:pic>
            </p:grpSp>
            <p:grpSp>
              <p:nvGrpSpPr>
                <p:cNvPr id="17" name="Group 16">
                  <a:extLst>
                    <a:ext uri="{FF2B5EF4-FFF2-40B4-BE49-F238E27FC236}">
                      <a16:creationId xmlns:a16="http://schemas.microsoft.com/office/drawing/2014/main" id="{4434F911-00E4-4B97-B7F0-AEC1E9994BF1}"/>
                    </a:ext>
                  </a:extLst>
                </p:cNvPr>
                <p:cNvGrpSpPr/>
                <p:nvPr/>
              </p:nvGrpSpPr>
              <p:grpSpPr>
                <a:xfrm>
                  <a:off x="1123122" y="4012509"/>
                  <a:ext cx="477078" cy="360293"/>
                  <a:chOff x="1123122" y="1637472"/>
                  <a:chExt cx="477078" cy="360293"/>
                </a:xfrm>
              </p:grpSpPr>
              <p:sp>
                <p:nvSpPr>
                  <p:cNvPr id="18" name="Rectangle: Rounded Corners 17">
                    <a:extLst>
                      <a:ext uri="{FF2B5EF4-FFF2-40B4-BE49-F238E27FC236}">
                        <a16:creationId xmlns:a16="http://schemas.microsoft.com/office/drawing/2014/main" id="{CCEC1811-B38E-42EC-BA90-5E3A27E4DE7F}"/>
                      </a:ext>
                    </a:extLst>
                  </p:cNvPr>
                  <p:cNvSpPr/>
                  <p:nvPr/>
                </p:nvSpPr>
                <p:spPr>
                  <a:xfrm>
                    <a:off x="1123122" y="1659835"/>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9" name="Graphic 18" descr="Electric car">
                    <a:extLst>
                      <a:ext uri="{FF2B5EF4-FFF2-40B4-BE49-F238E27FC236}">
                        <a16:creationId xmlns:a16="http://schemas.microsoft.com/office/drawing/2014/main" id="{2A07F50C-696C-48F8-B329-2B8C725D0D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637472"/>
                    <a:ext cx="360293" cy="360293"/>
                  </a:xfrm>
                  <a:prstGeom prst="rect">
                    <a:avLst/>
                  </a:prstGeom>
                </p:spPr>
              </p:pic>
            </p:grpSp>
          </p:grpSp>
          <p:cxnSp>
            <p:nvCxnSpPr>
              <p:cNvPr id="22" name="Straight Connector 21">
                <a:extLst>
                  <a:ext uri="{FF2B5EF4-FFF2-40B4-BE49-F238E27FC236}">
                    <a16:creationId xmlns:a16="http://schemas.microsoft.com/office/drawing/2014/main" id="{F3E780A2-2C2D-4F07-AE32-6337F403437E}"/>
                  </a:ext>
                </a:extLst>
              </p:cNvPr>
              <p:cNvCxnSpPr>
                <a:cxnSpLocks/>
              </p:cNvCxnSpPr>
              <p:nvPr/>
            </p:nvCxnSpPr>
            <p:spPr>
              <a:xfrm>
                <a:off x="1600200" y="1908313"/>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E807FC-C9B7-4A82-A30F-7FF61F4946DE}"/>
                  </a:ext>
                </a:extLst>
              </p:cNvPr>
              <p:cNvCxnSpPr>
                <a:cxnSpLocks/>
              </p:cNvCxnSpPr>
              <p:nvPr/>
            </p:nvCxnSpPr>
            <p:spPr>
              <a:xfrm>
                <a:off x="1623393" y="3119938"/>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4FF865-2830-4164-8697-2B98F455244A}"/>
                  </a:ext>
                </a:extLst>
              </p:cNvPr>
              <p:cNvCxnSpPr>
                <a:cxnSpLocks/>
              </p:cNvCxnSpPr>
              <p:nvPr/>
            </p:nvCxnSpPr>
            <p:spPr>
              <a:xfrm>
                <a:off x="1596890" y="4300334"/>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0" name="Graphic 29" descr="Lightbulb and gear">
              <a:extLst>
                <a:ext uri="{FF2B5EF4-FFF2-40B4-BE49-F238E27FC236}">
                  <a16:creationId xmlns:a16="http://schemas.microsoft.com/office/drawing/2014/main" id="{BABC8785-E965-4CFF-9D9E-05C3A88C52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1709" y="684375"/>
              <a:ext cx="318441" cy="318441"/>
            </a:xfrm>
            <a:prstGeom prst="rect">
              <a:avLst/>
            </a:prstGeom>
          </p:spPr>
        </p:pic>
        <p:pic>
          <p:nvPicPr>
            <p:cNvPr id="31" name="Graphic 30" descr="Lightbulb and gear">
              <a:extLst>
                <a:ext uri="{FF2B5EF4-FFF2-40B4-BE49-F238E27FC236}">
                  <a16:creationId xmlns:a16="http://schemas.microsoft.com/office/drawing/2014/main" id="{BF6FF204-C6D7-479D-A431-B07C5B575F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1321709" y="4984279"/>
              <a:ext cx="318441" cy="318441"/>
            </a:xfrm>
            <a:prstGeom prst="rect">
              <a:avLst/>
            </a:prstGeom>
          </p:spPr>
        </p:pic>
      </p:grpSp>
    </p:spTree>
    <p:extLst>
      <p:ext uri="{BB962C8B-B14F-4D97-AF65-F5344CB8AC3E}">
        <p14:creationId xmlns:p14="http://schemas.microsoft.com/office/powerpoint/2010/main" val="2650471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ppt_x"/>
                                          </p:val>
                                        </p:tav>
                                        <p:tav tm="100000">
                                          <p:val>
                                            <p:strVal val="#ppt_x"/>
                                          </p:val>
                                        </p:tav>
                                      </p:tavLst>
                                    </p:anim>
                                    <p:anim calcmode="lin" valueType="num">
                                      <p:cBhvr additive="base">
                                        <p:cTn id="13" dur="500" fill="hold"/>
                                        <p:tgtEl>
                                          <p:spTgt spid="2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ppt_x"/>
                                          </p:val>
                                        </p:tav>
                                        <p:tav tm="100000">
                                          <p:val>
                                            <p:strVal val="#ppt_x"/>
                                          </p:val>
                                        </p:tav>
                                      </p:tavLst>
                                    </p:anim>
                                    <p:anim calcmode="lin" valueType="num">
                                      <p:cBhvr additive="base">
                                        <p:cTn id="17" dur="500" fill="hold"/>
                                        <p:tgtEl>
                                          <p:spTgt spid="2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500" fill="hold"/>
                                        <p:tgtEl>
                                          <p:spTgt spid="29"/>
                                        </p:tgtEl>
                                        <p:attrNameLst>
                                          <p:attrName>ppt_x</p:attrName>
                                        </p:attrNameLst>
                                      </p:cBhvr>
                                      <p:tavLst>
                                        <p:tav tm="0">
                                          <p:val>
                                            <p:strVal val="#ppt_x"/>
                                          </p:val>
                                        </p:tav>
                                        <p:tav tm="100000">
                                          <p:val>
                                            <p:strVal val="#ppt_x"/>
                                          </p:val>
                                        </p:tav>
                                      </p:tavLst>
                                    </p:anim>
                                    <p:anim calcmode="lin" valueType="num">
                                      <p:cBhvr additive="base">
                                        <p:cTn id="2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996E0A-1DA5-482E-8F49-D6093C8E5621}"/>
              </a:ext>
            </a:extLst>
          </p:cNvPr>
          <p:cNvSpPr>
            <a:spLocks noGrp="1"/>
          </p:cNvSpPr>
          <p:nvPr>
            <p:ph type="title"/>
          </p:nvPr>
        </p:nvSpPr>
        <p:spPr>
          <a:xfrm>
            <a:off x="1" y="26336"/>
            <a:ext cx="8750258" cy="734539"/>
          </a:xfrm>
        </p:spPr>
        <p:txBody>
          <a:bodyPr/>
          <a:lstStyle/>
          <a:p>
            <a:r>
              <a:rPr lang="en-IN" dirty="0"/>
              <a:t>Electric Motor Drive System</a:t>
            </a:r>
            <a:br>
              <a:rPr lang="en-IN" dirty="0"/>
            </a:br>
            <a:br>
              <a:rPr lang="en-IN" dirty="0"/>
            </a:br>
            <a:br>
              <a:rPr lang="en-IN" sz="3400" dirty="0"/>
            </a:br>
            <a:br>
              <a:rPr lang="en-IN" sz="3400" dirty="0"/>
            </a:br>
            <a:endParaRPr lang="en-IN" sz="3400" dirty="0"/>
          </a:p>
        </p:txBody>
      </p:sp>
      <p:sp>
        <p:nvSpPr>
          <p:cNvPr id="27" name="TextBox 26">
            <a:extLst>
              <a:ext uri="{FF2B5EF4-FFF2-40B4-BE49-F238E27FC236}">
                <a16:creationId xmlns:a16="http://schemas.microsoft.com/office/drawing/2014/main" id="{A9BD4339-6959-45FC-A9CA-AA24CB5E4F8A}"/>
              </a:ext>
            </a:extLst>
          </p:cNvPr>
          <p:cNvSpPr txBox="1"/>
          <p:nvPr/>
        </p:nvSpPr>
        <p:spPr>
          <a:xfrm>
            <a:off x="868127" y="861034"/>
            <a:ext cx="6666982" cy="738664"/>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Hashemnia and Asaei (2008) [3] compare five electric motor types for EV applications, favoring brushless DC and permanent magnet motors due to lower pollution, fuel consumption, and higher power-to-volume ratio.. </a:t>
            </a:r>
            <a:endParaRPr lang="en-IN" dirty="0">
              <a:solidFill>
                <a:schemeClr val="bg1"/>
              </a:solidFill>
              <a:latin typeface="Roboto" panose="02000000000000000000" pitchFamily="2" charset="0"/>
              <a:ea typeface="Roboto" panose="02000000000000000000" pitchFamily="2" charset="0"/>
            </a:endParaRPr>
          </a:p>
        </p:txBody>
      </p:sp>
      <p:grpSp>
        <p:nvGrpSpPr>
          <p:cNvPr id="31" name="Group 30">
            <a:extLst>
              <a:ext uri="{FF2B5EF4-FFF2-40B4-BE49-F238E27FC236}">
                <a16:creationId xmlns:a16="http://schemas.microsoft.com/office/drawing/2014/main" id="{0B055B12-3A13-441D-8364-FEEC38AE3032}"/>
              </a:ext>
            </a:extLst>
          </p:cNvPr>
          <p:cNvGrpSpPr/>
          <p:nvPr/>
        </p:nvGrpSpPr>
        <p:grpSpPr>
          <a:xfrm flipH="1">
            <a:off x="7560873" y="556398"/>
            <a:ext cx="1189386" cy="4418137"/>
            <a:chOff x="1232453" y="684375"/>
            <a:chExt cx="1166193" cy="4618345"/>
          </a:xfrm>
        </p:grpSpPr>
        <p:grpSp>
          <p:nvGrpSpPr>
            <p:cNvPr id="32" name="Group 31">
              <a:extLst>
                <a:ext uri="{FF2B5EF4-FFF2-40B4-BE49-F238E27FC236}">
                  <a16:creationId xmlns:a16="http://schemas.microsoft.com/office/drawing/2014/main" id="{E04BBF59-1C61-489E-91FC-454039D98CE7}"/>
                </a:ext>
              </a:extLst>
            </p:cNvPr>
            <p:cNvGrpSpPr/>
            <p:nvPr/>
          </p:nvGrpSpPr>
          <p:grpSpPr>
            <a:xfrm>
              <a:off x="1232453" y="954155"/>
              <a:ext cx="1166193" cy="4094923"/>
              <a:chOff x="1123122" y="1540564"/>
              <a:chExt cx="1166193" cy="3597965"/>
            </a:xfrm>
          </p:grpSpPr>
          <p:grpSp>
            <p:nvGrpSpPr>
              <p:cNvPr id="35" name="Group 34">
                <a:extLst>
                  <a:ext uri="{FF2B5EF4-FFF2-40B4-BE49-F238E27FC236}">
                    <a16:creationId xmlns:a16="http://schemas.microsoft.com/office/drawing/2014/main" id="{0A59C5C5-8961-4E3D-A216-14C1C8A9D222}"/>
                  </a:ext>
                </a:extLst>
              </p:cNvPr>
              <p:cNvGrpSpPr/>
              <p:nvPr/>
            </p:nvGrpSpPr>
            <p:grpSpPr>
              <a:xfrm>
                <a:off x="1123122" y="1540564"/>
                <a:ext cx="477078" cy="3597965"/>
                <a:chOff x="1123122" y="1431235"/>
                <a:chExt cx="477078" cy="3597965"/>
              </a:xfrm>
            </p:grpSpPr>
            <p:cxnSp>
              <p:nvCxnSpPr>
                <p:cNvPr id="39" name="Straight Connector 38">
                  <a:extLst>
                    <a:ext uri="{FF2B5EF4-FFF2-40B4-BE49-F238E27FC236}">
                      <a16:creationId xmlns:a16="http://schemas.microsoft.com/office/drawing/2014/main" id="{38F4BF77-622A-4A56-A204-C06E10FA89D2}"/>
                    </a:ext>
                  </a:extLst>
                </p:cNvPr>
                <p:cNvCxnSpPr/>
                <p:nvPr/>
              </p:nvCxnSpPr>
              <p:spPr>
                <a:xfrm>
                  <a:off x="1371600" y="1431235"/>
                  <a:ext cx="0" cy="359796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1F54897-0AC5-4645-8121-3EC700112CD5}"/>
                    </a:ext>
                  </a:extLst>
                </p:cNvPr>
                <p:cNvGrpSpPr/>
                <p:nvPr/>
              </p:nvGrpSpPr>
              <p:grpSpPr>
                <a:xfrm>
                  <a:off x="1123122" y="1655730"/>
                  <a:ext cx="477078" cy="360293"/>
                  <a:chOff x="1123122" y="1655730"/>
                  <a:chExt cx="477078" cy="360293"/>
                </a:xfrm>
              </p:grpSpPr>
              <p:sp>
                <p:nvSpPr>
                  <p:cNvPr id="47" name="Rectangle: Rounded Corners 46">
                    <a:extLst>
                      <a:ext uri="{FF2B5EF4-FFF2-40B4-BE49-F238E27FC236}">
                        <a16:creationId xmlns:a16="http://schemas.microsoft.com/office/drawing/2014/main" id="{7904D2ED-5269-45F8-9D7F-889901BB0A59}"/>
                      </a:ext>
                    </a:extLst>
                  </p:cNvPr>
                  <p:cNvSpPr/>
                  <p:nvPr/>
                </p:nvSpPr>
                <p:spPr>
                  <a:xfrm>
                    <a:off x="1123122" y="1678092"/>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8" name="Graphic 47" descr="Electric car">
                    <a:extLst>
                      <a:ext uri="{FF2B5EF4-FFF2-40B4-BE49-F238E27FC236}">
                        <a16:creationId xmlns:a16="http://schemas.microsoft.com/office/drawing/2014/main" id="{4B98D38A-2E27-46B5-AB0B-7EBA0B0794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655730"/>
                    <a:ext cx="360293" cy="360293"/>
                  </a:xfrm>
                  <a:prstGeom prst="rect">
                    <a:avLst/>
                  </a:prstGeom>
                </p:spPr>
              </p:pic>
            </p:grpSp>
            <p:grpSp>
              <p:nvGrpSpPr>
                <p:cNvPr id="41" name="Group 40">
                  <a:extLst>
                    <a:ext uri="{FF2B5EF4-FFF2-40B4-BE49-F238E27FC236}">
                      <a16:creationId xmlns:a16="http://schemas.microsoft.com/office/drawing/2014/main" id="{04433CA0-35E5-4CC0-B266-875DC9495360}"/>
                    </a:ext>
                  </a:extLst>
                </p:cNvPr>
                <p:cNvGrpSpPr/>
                <p:nvPr/>
              </p:nvGrpSpPr>
              <p:grpSpPr>
                <a:xfrm>
                  <a:off x="1123122" y="3335487"/>
                  <a:ext cx="477078" cy="360293"/>
                  <a:chOff x="1123122" y="2103035"/>
                  <a:chExt cx="477078" cy="360293"/>
                </a:xfrm>
              </p:grpSpPr>
              <p:sp>
                <p:nvSpPr>
                  <p:cNvPr id="45" name="Rectangle: Rounded Corners 44">
                    <a:extLst>
                      <a:ext uri="{FF2B5EF4-FFF2-40B4-BE49-F238E27FC236}">
                        <a16:creationId xmlns:a16="http://schemas.microsoft.com/office/drawing/2014/main" id="{7C7A8916-CE01-469F-89F5-3D1E5817F594}"/>
                      </a:ext>
                    </a:extLst>
                  </p:cNvPr>
                  <p:cNvSpPr/>
                  <p:nvPr/>
                </p:nvSpPr>
                <p:spPr>
                  <a:xfrm>
                    <a:off x="1123122" y="2125393"/>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6" name="Graphic 45" descr="Electric car">
                    <a:extLst>
                      <a:ext uri="{FF2B5EF4-FFF2-40B4-BE49-F238E27FC236}">
                        <a16:creationId xmlns:a16="http://schemas.microsoft.com/office/drawing/2014/main" id="{EBE4FB41-C96C-495B-B03D-A48C360DE0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2103035"/>
                    <a:ext cx="360293" cy="360293"/>
                  </a:xfrm>
                  <a:prstGeom prst="rect">
                    <a:avLst/>
                  </a:prstGeom>
                </p:spPr>
              </p:pic>
            </p:grpSp>
            <p:grpSp>
              <p:nvGrpSpPr>
                <p:cNvPr id="42" name="Group 41">
                  <a:extLst>
                    <a:ext uri="{FF2B5EF4-FFF2-40B4-BE49-F238E27FC236}">
                      <a16:creationId xmlns:a16="http://schemas.microsoft.com/office/drawing/2014/main" id="{8145D37F-7FA2-4DA7-BBFB-C962CAB749D1}"/>
                    </a:ext>
                  </a:extLst>
                </p:cNvPr>
                <p:cNvGrpSpPr/>
                <p:nvPr/>
              </p:nvGrpSpPr>
              <p:grpSpPr>
                <a:xfrm>
                  <a:off x="1123122" y="4176831"/>
                  <a:ext cx="477078" cy="360293"/>
                  <a:chOff x="1123122" y="1801794"/>
                  <a:chExt cx="477078" cy="360293"/>
                </a:xfrm>
              </p:grpSpPr>
              <p:sp>
                <p:nvSpPr>
                  <p:cNvPr id="43" name="Rectangle: Rounded Corners 42">
                    <a:extLst>
                      <a:ext uri="{FF2B5EF4-FFF2-40B4-BE49-F238E27FC236}">
                        <a16:creationId xmlns:a16="http://schemas.microsoft.com/office/drawing/2014/main" id="{A13C39F7-A0E8-4C1A-838C-2FD33997FBBA}"/>
                      </a:ext>
                    </a:extLst>
                  </p:cNvPr>
                  <p:cNvSpPr/>
                  <p:nvPr/>
                </p:nvSpPr>
                <p:spPr>
                  <a:xfrm>
                    <a:off x="1123122" y="1824148"/>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4" name="Graphic 43" descr="Electric car">
                    <a:extLst>
                      <a:ext uri="{FF2B5EF4-FFF2-40B4-BE49-F238E27FC236}">
                        <a16:creationId xmlns:a16="http://schemas.microsoft.com/office/drawing/2014/main" id="{8827A97C-60A4-4E8D-993A-D42CEC8A59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801794"/>
                    <a:ext cx="360293" cy="360293"/>
                  </a:xfrm>
                  <a:prstGeom prst="rect">
                    <a:avLst/>
                  </a:prstGeom>
                </p:spPr>
              </p:pic>
            </p:grpSp>
          </p:grpSp>
          <p:cxnSp>
            <p:nvCxnSpPr>
              <p:cNvPr id="36" name="Straight Connector 35">
                <a:extLst>
                  <a:ext uri="{FF2B5EF4-FFF2-40B4-BE49-F238E27FC236}">
                    <a16:creationId xmlns:a16="http://schemas.microsoft.com/office/drawing/2014/main" id="{FA4BE2D6-8205-4B89-960A-3163554AA167}"/>
                  </a:ext>
                </a:extLst>
              </p:cNvPr>
              <p:cNvCxnSpPr>
                <a:cxnSpLocks/>
              </p:cNvCxnSpPr>
              <p:nvPr/>
            </p:nvCxnSpPr>
            <p:spPr>
              <a:xfrm>
                <a:off x="1600200" y="1926570"/>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FB509BD-2D96-4FC2-A4F0-7622D547562D}"/>
                  </a:ext>
                </a:extLst>
              </p:cNvPr>
              <p:cNvCxnSpPr>
                <a:cxnSpLocks/>
              </p:cNvCxnSpPr>
              <p:nvPr/>
            </p:nvCxnSpPr>
            <p:spPr>
              <a:xfrm>
                <a:off x="1623393" y="3649394"/>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5CF7CE-AD3C-44D6-9742-D333414D273B}"/>
                  </a:ext>
                </a:extLst>
              </p:cNvPr>
              <p:cNvCxnSpPr>
                <a:cxnSpLocks/>
              </p:cNvCxnSpPr>
              <p:nvPr/>
            </p:nvCxnSpPr>
            <p:spPr>
              <a:xfrm>
                <a:off x="1596890" y="4464647"/>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3" name="Graphic 32" descr="Lightbulb and gear">
              <a:extLst>
                <a:ext uri="{FF2B5EF4-FFF2-40B4-BE49-F238E27FC236}">
                  <a16:creationId xmlns:a16="http://schemas.microsoft.com/office/drawing/2014/main" id="{FAD9B13F-8809-4ABA-A8B2-DAA7CAA6F5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1709" y="684375"/>
              <a:ext cx="318441" cy="318441"/>
            </a:xfrm>
            <a:prstGeom prst="rect">
              <a:avLst/>
            </a:prstGeom>
          </p:spPr>
        </p:pic>
        <p:pic>
          <p:nvPicPr>
            <p:cNvPr id="34" name="Graphic 33" descr="Lightbulb and gear">
              <a:extLst>
                <a:ext uri="{FF2B5EF4-FFF2-40B4-BE49-F238E27FC236}">
                  <a16:creationId xmlns:a16="http://schemas.microsoft.com/office/drawing/2014/main" id="{5913A92B-D637-425E-9A64-5705AD38B9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1321709" y="4984279"/>
              <a:ext cx="318441" cy="318441"/>
            </a:xfrm>
            <a:prstGeom prst="rect">
              <a:avLst/>
            </a:prstGeom>
          </p:spPr>
        </p:pic>
      </p:grpSp>
      <p:sp>
        <p:nvSpPr>
          <p:cNvPr id="49" name="TextBox 48">
            <a:extLst>
              <a:ext uri="{FF2B5EF4-FFF2-40B4-BE49-F238E27FC236}">
                <a16:creationId xmlns:a16="http://schemas.microsoft.com/office/drawing/2014/main" id="{9FDE6441-0895-408C-AA15-3974BCD10DCC}"/>
              </a:ext>
            </a:extLst>
          </p:cNvPr>
          <p:cNvSpPr txBox="1"/>
          <p:nvPr/>
        </p:nvSpPr>
        <p:spPr>
          <a:xfrm>
            <a:off x="868127" y="2582459"/>
            <a:ext cx="6666982" cy="1384995"/>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Loganayaki and Kumar (2019) [5] highlight the advantages of Permanent Magnet Synchronous Motors (PMSMs) for EVs, emphasizing their high torque-to-current ratio, power-to-weight ratio, and efficiency. The paper introduces a PMSM design for EVs developed using Ansys Electronics.</a:t>
            </a:r>
          </a:p>
          <a:p>
            <a:pPr algn="just"/>
            <a:endParaRPr lang="en-US" dirty="0">
              <a:solidFill>
                <a:schemeClr val="bg1"/>
              </a:solidFill>
              <a:latin typeface="Roboto" panose="02000000000000000000" pitchFamily="2" charset="0"/>
              <a:ea typeface="Roboto" panose="02000000000000000000" pitchFamily="2" charset="0"/>
            </a:endParaRPr>
          </a:p>
          <a:p>
            <a:pPr algn="just"/>
            <a:endParaRPr lang="en-IN" dirty="0">
              <a:solidFill>
                <a:schemeClr val="bg1"/>
              </a:solidFill>
              <a:latin typeface="Roboto" panose="02000000000000000000" pitchFamily="2" charset="0"/>
              <a:ea typeface="Roboto" panose="02000000000000000000" pitchFamily="2" charset="0"/>
            </a:endParaRPr>
          </a:p>
        </p:txBody>
      </p:sp>
      <p:sp>
        <p:nvSpPr>
          <p:cNvPr id="50" name="TextBox 49">
            <a:extLst>
              <a:ext uri="{FF2B5EF4-FFF2-40B4-BE49-F238E27FC236}">
                <a16:creationId xmlns:a16="http://schemas.microsoft.com/office/drawing/2014/main" id="{B59DB1C2-B1FA-4829-A6B3-B8AE892E1DD9}"/>
              </a:ext>
            </a:extLst>
          </p:cNvPr>
          <p:cNvSpPr txBox="1"/>
          <p:nvPr/>
        </p:nvSpPr>
        <p:spPr>
          <a:xfrm>
            <a:off x="917545" y="3548914"/>
            <a:ext cx="6666982" cy="1169551"/>
          </a:xfrm>
          <a:prstGeom prst="rect">
            <a:avLst/>
          </a:prstGeom>
          <a:noFill/>
        </p:spPr>
        <p:txBody>
          <a:bodyPr wrap="square" rtlCol="0">
            <a:spAutoFit/>
          </a:bodyPr>
          <a:lstStyle/>
          <a:p>
            <a:pPr algn="just"/>
            <a:r>
              <a:rPr lang="en-US" dirty="0">
                <a:solidFill>
                  <a:schemeClr val="bg2"/>
                </a:solidFill>
                <a:latin typeface="Roboto" panose="02000000000000000000" pitchFamily="2" charset="0"/>
                <a:ea typeface="Roboto" panose="02000000000000000000" pitchFamily="2" charset="0"/>
              </a:rPr>
              <a:t>Pryymak (2019) [6] discusses an Induction Motor (IM) Control System for EVs, introducing a field weakening control algorithm to enhance IM torque. The study employs a genetic algorithm for numerical IM torque optimization, resulting in significant reductions in acceleration and braking times, showcasing the efficiency of the proposed EV IM control system.</a:t>
            </a:r>
            <a:endParaRPr lang="en-IN" dirty="0">
              <a:solidFill>
                <a:schemeClr val="bg2"/>
              </a:solidFill>
              <a:latin typeface="Roboto" panose="02000000000000000000" pitchFamily="2" charset="0"/>
              <a:ea typeface="Roboto" panose="02000000000000000000" pitchFamily="2" charset="0"/>
            </a:endParaRPr>
          </a:p>
        </p:txBody>
      </p:sp>
      <p:sp>
        <p:nvSpPr>
          <p:cNvPr id="24" name="Rectangle: Rounded Corners 23">
            <a:extLst>
              <a:ext uri="{FF2B5EF4-FFF2-40B4-BE49-F238E27FC236}">
                <a16:creationId xmlns:a16="http://schemas.microsoft.com/office/drawing/2014/main" id="{8B72368F-2DE6-4441-ACB4-E78F16E6DE15}"/>
              </a:ext>
            </a:extLst>
          </p:cNvPr>
          <p:cNvSpPr/>
          <p:nvPr/>
        </p:nvSpPr>
        <p:spPr>
          <a:xfrm flipH="1">
            <a:off x="8263693" y="1994805"/>
            <a:ext cx="486566" cy="367933"/>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25" name="Graphic 24" descr="Electric car">
            <a:extLst>
              <a:ext uri="{FF2B5EF4-FFF2-40B4-BE49-F238E27FC236}">
                <a16:creationId xmlns:a16="http://schemas.microsoft.com/office/drawing/2014/main" id="{DFE89012-8F20-4379-9279-90DBCB9889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8313111" y="1970457"/>
            <a:ext cx="367458" cy="392281"/>
          </a:xfrm>
          <a:prstGeom prst="rect">
            <a:avLst/>
          </a:prstGeom>
        </p:spPr>
      </p:pic>
      <p:cxnSp>
        <p:nvCxnSpPr>
          <p:cNvPr id="26" name="Straight Connector 25">
            <a:extLst>
              <a:ext uri="{FF2B5EF4-FFF2-40B4-BE49-F238E27FC236}">
                <a16:creationId xmlns:a16="http://schemas.microsoft.com/office/drawing/2014/main" id="{401B7179-0ADF-4D91-AC2A-732B4C920580}"/>
              </a:ext>
            </a:extLst>
          </p:cNvPr>
          <p:cNvCxnSpPr>
            <a:cxnSpLocks/>
          </p:cNvCxnSpPr>
          <p:nvPr/>
        </p:nvCxnSpPr>
        <p:spPr>
          <a:xfrm flipH="1">
            <a:off x="7560873" y="2193206"/>
            <a:ext cx="67916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2E5FA36-44A8-4DE3-AA10-AA312AC60FB8}"/>
              </a:ext>
            </a:extLst>
          </p:cNvPr>
          <p:cNvSpPr txBox="1"/>
          <p:nvPr/>
        </p:nvSpPr>
        <p:spPr>
          <a:xfrm>
            <a:off x="879954" y="1593995"/>
            <a:ext cx="6666982" cy="954107"/>
          </a:xfrm>
          <a:prstGeom prst="rect">
            <a:avLst/>
          </a:prstGeom>
          <a:noFill/>
        </p:spPr>
        <p:txBody>
          <a:bodyPr wrap="square" rtlCol="0">
            <a:spAutoFit/>
          </a:bodyPr>
          <a:lstStyle/>
          <a:p>
            <a:pPr algn="just"/>
            <a:r>
              <a:rPr lang="en-US" dirty="0">
                <a:solidFill>
                  <a:schemeClr val="bg2"/>
                </a:solidFill>
                <a:latin typeface="Roboto" panose="02000000000000000000" pitchFamily="2" charset="0"/>
                <a:ea typeface="Roboto" panose="02000000000000000000" pitchFamily="2" charset="0"/>
              </a:rPr>
              <a:t>Hassanin et al. (2018) [4] focus on sizing a Brushless DC Motor for EVs, considering vehicle specifications and utilizing an eight-switch bridge converter. The study explores motor and EV dynamics, assessing the impact of the control circuit on motor currents.</a:t>
            </a:r>
            <a:endParaRPr lang="en-IN" dirty="0">
              <a:solidFill>
                <a:schemeClr val="bg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42198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par>
                                <p:cTn id="12" presetID="2" presetClass="entr" presetSubtype="4" fill="hold" grpId="0" nodeType="withEffect">
                                  <p:stCondLst>
                                    <p:cond delay="0"/>
                                  </p:stCondLst>
                                  <p:childTnLst>
                                    <p:set>
                                      <p:cBhvr>
                                        <p:cTn id="13" dur="1" fill="hold">
                                          <p:stCondLst>
                                            <p:cond delay="0"/>
                                          </p:stCondLst>
                                        </p:cTn>
                                        <p:tgtEl>
                                          <p:spTgt spid="49"/>
                                        </p:tgtEl>
                                        <p:attrNameLst>
                                          <p:attrName>style.visibility</p:attrName>
                                        </p:attrNameLst>
                                      </p:cBhvr>
                                      <p:to>
                                        <p:strVal val="visible"/>
                                      </p:to>
                                    </p:set>
                                    <p:anim calcmode="lin" valueType="num">
                                      <p:cBhvr additive="base">
                                        <p:cTn id="14" dur="500" fill="hold"/>
                                        <p:tgtEl>
                                          <p:spTgt spid="49"/>
                                        </p:tgtEl>
                                        <p:attrNameLst>
                                          <p:attrName>ppt_x</p:attrName>
                                        </p:attrNameLst>
                                      </p:cBhvr>
                                      <p:tavLst>
                                        <p:tav tm="0">
                                          <p:val>
                                            <p:strVal val="#ppt_x"/>
                                          </p:val>
                                        </p:tav>
                                        <p:tav tm="100000">
                                          <p:val>
                                            <p:strVal val="#ppt_x"/>
                                          </p:val>
                                        </p:tav>
                                      </p:tavLst>
                                    </p:anim>
                                    <p:anim calcmode="lin" valueType="num">
                                      <p:cBhvr additive="base">
                                        <p:cTn id="15" dur="500" fill="hold"/>
                                        <p:tgtEl>
                                          <p:spTgt spid="49"/>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0"/>
                                        </p:tgtEl>
                                        <p:attrNameLst>
                                          <p:attrName>style.visibility</p:attrName>
                                        </p:attrNameLst>
                                      </p:cBhvr>
                                      <p:to>
                                        <p:strVal val="visible"/>
                                      </p:to>
                                    </p:set>
                                    <p:anim calcmode="lin" valueType="num">
                                      <p:cBhvr additive="base">
                                        <p:cTn id="18" dur="500" fill="hold"/>
                                        <p:tgtEl>
                                          <p:spTgt spid="50"/>
                                        </p:tgtEl>
                                        <p:attrNameLst>
                                          <p:attrName>ppt_x</p:attrName>
                                        </p:attrNameLst>
                                      </p:cBhvr>
                                      <p:tavLst>
                                        <p:tav tm="0">
                                          <p:val>
                                            <p:strVal val="#ppt_x"/>
                                          </p:val>
                                        </p:tav>
                                        <p:tav tm="100000">
                                          <p:val>
                                            <p:strVal val="#ppt_x"/>
                                          </p:val>
                                        </p:tav>
                                      </p:tavLst>
                                    </p:anim>
                                    <p:anim calcmode="lin" valueType="num">
                                      <p:cBhvr additive="base">
                                        <p:cTn id="19" dur="500" fill="hold"/>
                                        <p:tgtEl>
                                          <p:spTgt spid="50"/>
                                        </p:tgtEl>
                                        <p:attrNameLst>
                                          <p:attrName>ppt_y</p:attrName>
                                        </p:attrNameLst>
                                      </p:cBhvr>
                                      <p:tavLst>
                                        <p:tav tm="0">
                                          <p:val>
                                            <p:strVal val="1+#ppt_h/2"/>
                                          </p:val>
                                        </p:tav>
                                        <p:tav tm="100000">
                                          <p:val>
                                            <p:strVal val="#ppt_y"/>
                                          </p:val>
                                        </p:tav>
                                      </p:tavLst>
                                    </p:anim>
                                  </p:childTnLst>
                                </p:cTn>
                              </p:par>
                              <p:par>
                                <p:cTn id="20" presetID="45"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anim calcmode="lin" valueType="num">
                                      <p:cBhvr>
                                        <p:cTn id="23" dur="500" fill="hold"/>
                                        <p:tgtEl>
                                          <p:spTgt spid="31"/>
                                        </p:tgtEl>
                                        <p:attrNameLst>
                                          <p:attrName>ppt_w</p:attrName>
                                        </p:attrNameLst>
                                      </p:cBhvr>
                                      <p:tavLst>
                                        <p:tav tm="0" fmla="#ppt_w*sin(2.5*pi*$)">
                                          <p:val>
                                            <p:fltVal val="0"/>
                                          </p:val>
                                        </p:tav>
                                        <p:tav tm="100000">
                                          <p:val>
                                            <p:fltVal val="1"/>
                                          </p:val>
                                        </p:tav>
                                      </p:tavLst>
                                    </p:anim>
                                    <p:anim calcmode="lin" valueType="num">
                                      <p:cBhvr>
                                        <p:cTn id="24" dur="500" fill="hold"/>
                                        <p:tgtEl>
                                          <p:spTgt spid="31"/>
                                        </p:tgtEl>
                                        <p:attrNameLst>
                                          <p:attrName>ppt_h</p:attrName>
                                        </p:attrNameLst>
                                      </p:cBhvr>
                                      <p:tavLst>
                                        <p:tav tm="0">
                                          <p:val>
                                            <p:strVal val="#ppt_h"/>
                                          </p:val>
                                        </p:tav>
                                        <p:tav tm="100000">
                                          <p:val>
                                            <p:strVal val="#ppt_h"/>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p:bldP spid="49" grpId="0"/>
      <p:bldP spid="50"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0FE0DC43-2107-4D5E-94D5-D2750D267FAD}"/>
              </a:ext>
            </a:extLst>
          </p:cNvPr>
          <p:cNvSpPr>
            <a:spLocks noGrp="1"/>
          </p:cNvSpPr>
          <p:nvPr>
            <p:ph type="subTitle" idx="4294967295"/>
          </p:nvPr>
        </p:nvSpPr>
        <p:spPr>
          <a:xfrm>
            <a:off x="3598381" y="2894774"/>
            <a:ext cx="5078480" cy="1772476"/>
          </a:xfrm>
        </p:spPr>
        <p:txBody>
          <a:bodyPr/>
          <a:lstStyle/>
          <a:p>
            <a:pPr marL="139700" indent="0" algn="ctr">
              <a:buNone/>
            </a:pPr>
            <a:r>
              <a:rPr lang="en-US" sz="3600" dirty="0">
                <a:latin typeface="Montserrat"/>
              </a:rPr>
              <a:t>Battery Technology for EVs</a:t>
            </a:r>
          </a:p>
        </p:txBody>
      </p:sp>
      <p:sp>
        <p:nvSpPr>
          <p:cNvPr id="3" name="Subtitle 2">
            <a:extLst>
              <a:ext uri="{FF2B5EF4-FFF2-40B4-BE49-F238E27FC236}">
                <a16:creationId xmlns:a16="http://schemas.microsoft.com/office/drawing/2014/main" id="{F107DCBE-5924-4F53-A9DA-30F776F509E3}"/>
              </a:ext>
            </a:extLst>
          </p:cNvPr>
          <p:cNvSpPr>
            <a:spLocks noGrp="1"/>
          </p:cNvSpPr>
          <p:nvPr>
            <p:ph type="subTitle" idx="4294967295"/>
          </p:nvPr>
        </p:nvSpPr>
        <p:spPr>
          <a:xfrm>
            <a:off x="1023730" y="585442"/>
            <a:ext cx="6728792" cy="1630983"/>
          </a:xfrm>
        </p:spPr>
        <p:txBody>
          <a:bodyPr/>
          <a:lstStyle/>
          <a:p>
            <a:pPr marL="139700" indent="0" algn="ctr">
              <a:buNone/>
            </a:pPr>
            <a:r>
              <a:rPr lang="en-US" sz="3600" dirty="0"/>
              <a:t>Motor Control Algorithms, Regenerative Braking and Vehicle Dynamics</a:t>
            </a:r>
            <a:endParaRPr lang="en-IN" sz="3600" dirty="0"/>
          </a:p>
        </p:txBody>
      </p:sp>
      <p:pic>
        <p:nvPicPr>
          <p:cNvPr id="16" name="Graphic 15" descr="Rocket">
            <a:extLst>
              <a:ext uri="{FF2B5EF4-FFF2-40B4-BE49-F238E27FC236}">
                <a16:creationId xmlns:a16="http://schemas.microsoft.com/office/drawing/2014/main" id="{E84CD888-7714-47A9-8054-2A0193A127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1091477" y="883616"/>
            <a:ext cx="327993" cy="327993"/>
          </a:xfrm>
          <a:prstGeom prst="rect">
            <a:avLst/>
          </a:prstGeom>
        </p:spPr>
      </p:pic>
      <p:pic>
        <p:nvPicPr>
          <p:cNvPr id="17" name="Graphic 16" descr="Rocket">
            <a:extLst>
              <a:ext uri="{FF2B5EF4-FFF2-40B4-BE49-F238E27FC236}">
                <a16:creationId xmlns:a16="http://schemas.microsoft.com/office/drawing/2014/main" id="{722101B8-BC19-45C0-8CE4-6ABBA9B7D9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3553654" y="3183666"/>
            <a:ext cx="327993" cy="327993"/>
          </a:xfrm>
          <a:prstGeom prst="rect">
            <a:avLst/>
          </a:prstGeom>
        </p:spPr>
      </p:pic>
    </p:spTree>
    <p:extLst>
      <p:ext uri="{BB962C8B-B14F-4D97-AF65-F5344CB8AC3E}">
        <p14:creationId xmlns:p14="http://schemas.microsoft.com/office/powerpoint/2010/main" val="28462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1" presetClass="entr" presetSubtype="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996E0A-1DA5-482E-8F49-D6093C8E5621}"/>
              </a:ext>
            </a:extLst>
          </p:cNvPr>
          <p:cNvSpPr>
            <a:spLocks noGrp="1"/>
          </p:cNvSpPr>
          <p:nvPr>
            <p:ph type="title" idx="2"/>
          </p:nvPr>
        </p:nvSpPr>
        <p:spPr>
          <a:xfrm>
            <a:off x="576469" y="9509"/>
            <a:ext cx="8328988" cy="782310"/>
          </a:xfrm>
        </p:spPr>
        <p:txBody>
          <a:bodyPr/>
          <a:lstStyle/>
          <a:p>
            <a:r>
              <a:rPr lang="en-US" sz="2400" dirty="0"/>
              <a:t>Motor Control Algorithms, Regenerative Braking and Vehicle Dynamics</a:t>
            </a:r>
            <a:br>
              <a:rPr lang="en-US" sz="2400" dirty="0"/>
            </a:br>
            <a:br>
              <a:rPr lang="en-IN" sz="2400" dirty="0"/>
            </a:br>
            <a:br>
              <a:rPr lang="en-IN" sz="2400" dirty="0"/>
            </a:br>
            <a:br>
              <a:rPr lang="en-IN" sz="2400" dirty="0"/>
            </a:br>
            <a:endParaRPr lang="en-IN" sz="2400" dirty="0"/>
          </a:p>
        </p:txBody>
      </p:sp>
      <p:sp>
        <p:nvSpPr>
          <p:cNvPr id="27" name="TextBox 26">
            <a:extLst>
              <a:ext uri="{FF2B5EF4-FFF2-40B4-BE49-F238E27FC236}">
                <a16:creationId xmlns:a16="http://schemas.microsoft.com/office/drawing/2014/main" id="{A9BD4339-6959-45FC-A9CA-AA24CB5E4F8A}"/>
              </a:ext>
            </a:extLst>
          </p:cNvPr>
          <p:cNvSpPr txBox="1"/>
          <p:nvPr/>
        </p:nvSpPr>
        <p:spPr>
          <a:xfrm>
            <a:off x="2421839" y="975251"/>
            <a:ext cx="6553189" cy="1169551"/>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De Klerk and Saha (2021) [9] review advanced traction motor control techniques for electric vehicle powertrains, emphasizing efficiency improvement through methods like direct torque control and indirect field-oriented control. Ongoing research targets ripple reduction and efficiency enhancement for extended vehicle range.</a:t>
            </a:r>
            <a:endParaRPr lang="en-IN" dirty="0">
              <a:solidFill>
                <a:schemeClr val="bg1"/>
              </a:solidFill>
              <a:latin typeface="Roboto" panose="02000000000000000000" pitchFamily="2" charset="0"/>
              <a:ea typeface="Roboto" panose="02000000000000000000" pitchFamily="2" charset="0"/>
            </a:endParaRPr>
          </a:p>
        </p:txBody>
      </p:sp>
      <p:sp>
        <p:nvSpPr>
          <p:cNvPr id="28" name="TextBox 27">
            <a:extLst>
              <a:ext uri="{FF2B5EF4-FFF2-40B4-BE49-F238E27FC236}">
                <a16:creationId xmlns:a16="http://schemas.microsoft.com/office/drawing/2014/main" id="{9127B214-8D00-46B8-A3FC-6971EB14599F}"/>
              </a:ext>
            </a:extLst>
          </p:cNvPr>
          <p:cNvSpPr txBox="1"/>
          <p:nvPr/>
        </p:nvSpPr>
        <p:spPr>
          <a:xfrm>
            <a:off x="2421839" y="2376334"/>
            <a:ext cx="6553193" cy="1169551"/>
          </a:xfrm>
          <a:prstGeom prst="rect">
            <a:avLst/>
          </a:prstGeom>
          <a:noFill/>
        </p:spPr>
        <p:txBody>
          <a:bodyPr wrap="square" rtlCol="0">
            <a:spAutoFit/>
          </a:bodyPr>
          <a:lstStyle/>
          <a:p>
            <a:pPr algn="just"/>
            <a:r>
              <a:rPr lang="en-US" dirty="0">
                <a:solidFill>
                  <a:schemeClr val="bg2"/>
                </a:solidFill>
                <a:latin typeface="Roboto" panose="02000000000000000000" pitchFamily="2" charset="0"/>
                <a:ea typeface="Roboto" panose="02000000000000000000" pitchFamily="2" charset="0"/>
              </a:rPr>
              <a:t>Totev, Gueorgiev, and Rizov (2019) [10] provide a concise overview of regenerative braking in electric vehicles, highlighting its role in converting mechanical energy into electrical energy during deceleration. The discussion underscores the significance of regenerative braking for extending EV range and reducing fuel consumption.</a:t>
            </a:r>
            <a:endParaRPr lang="en-IN" dirty="0">
              <a:solidFill>
                <a:schemeClr val="bg2"/>
              </a:solidFill>
              <a:latin typeface="Roboto" panose="02000000000000000000" pitchFamily="2" charset="0"/>
              <a:ea typeface="Roboto" panose="02000000000000000000" pitchFamily="2" charset="0"/>
            </a:endParaRPr>
          </a:p>
        </p:txBody>
      </p:sp>
      <p:sp>
        <p:nvSpPr>
          <p:cNvPr id="29" name="TextBox 28">
            <a:extLst>
              <a:ext uri="{FF2B5EF4-FFF2-40B4-BE49-F238E27FC236}">
                <a16:creationId xmlns:a16="http://schemas.microsoft.com/office/drawing/2014/main" id="{7A950019-9CFC-4D71-8BDD-4A609DBA20A2}"/>
              </a:ext>
            </a:extLst>
          </p:cNvPr>
          <p:cNvSpPr txBox="1"/>
          <p:nvPr/>
        </p:nvSpPr>
        <p:spPr>
          <a:xfrm>
            <a:off x="2372144" y="3724359"/>
            <a:ext cx="6602884" cy="1384995"/>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Zhao, Mahbub, and Malikopoulos (2019) [11] focus on optimal vehicle dynamics and powertrain control for connected and automated plug-in hybrid electric vehicles. The paper presents a two-level control architecture aimed at simultaneously optimizing speed profiles and powertrain efficiency. Simulations in a network of vehicles demonstrate the potential for real-time control actions to optimize energy consumption.</a:t>
            </a:r>
          </a:p>
        </p:txBody>
      </p:sp>
      <p:grpSp>
        <p:nvGrpSpPr>
          <p:cNvPr id="32" name="Group 31">
            <a:extLst>
              <a:ext uri="{FF2B5EF4-FFF2-40B4-BE49-F238E27FC236}">
                <a16:creationId xmlns:a16="http://schemas.microsoft.com/office/drawing/2014/main" id="{C9AFCED4-334F-42A9-B9DB-5B3F14BFFA82}"/>
              </a:ext>
            </a:extLst>
          </p:cNvPr>
          <p:cNvGrpSpPr/>
          <p:nvPr/>
        </p:nvGrpSpPr>
        <p:grpSpPr>
          <a:xfrm>
            <a:off x="1232453" y="725363"/>
            <a:ext cx="1189386" cy="4418137"/>
            <a:chOff x="1232453" y="684375"/>
            <a:chExt cx="1166193" cy="4618345"/>
          </a:xfrm>
        </p:grpSpPr>
        <p:grpSp>
          <p:nvGrpSpPr>
            <p:cNvPr id="26" name="Group 25">
              <a:extLst>
                <a:ext uri="{FF2B5EF4-FFF2-40B4-BE49-F238E27FC236}">
                  <a16:creationId xmlns:a16="http://schemas.microsoft.com/office/drawing/2014/main" id="{F4726CEC-C633-4BD8-AE29-184389E3E7A0}"/>
                </a:ext>
              </a:extLst>
            </p:cNvPr>
            <p:cNvGrpSpPr/>
            <p:nvPr/>
          </p:nvGrpSpPr>
          <p:grpSpPr>
            <a:xfrm>
              <a:off x="1232453" y="954155"/>
              <a:ext cx="1166193" cy="4094923"/>
              <a:chOff x="1123122" y="1540564"/>
              <a:chExt cx="1166193" cy="3597965"/>
            </a:xfrm>
          </p:grpSpPr>
          <p:grpSp>
            <p:nvGrpSpPr>
              <p:cNvPr id="20" name="Group 19">
                <a:extLst>
                  <a:ext uri="{FF2B5EF4-FFF2-40B4-BE49-F238E27FC236}">
                    <a16:creationId xmlns:a16="http://schemas.microsoft.com/office/drawing/2014/main" id="{8FDE0856-7A34-4AE9-A4BE-EAF7C17A32B6}"/>
                  </a:ext>
                </a:extLst>
              </p:cNvPr>
              <p:cNvGrpSpPr/>
              <p:nvPr/>
            </p:nvGrpSpPr>
            <p:grpSpPr>
              <a:xfrm>
                <a:off x="1123122" y="1540564"/>
                <a:ext cx="477078" cy="3597965"/>
                <a:chOff x="1123122" y="1431235"/>
                <a:chExt cx="477078" cy="3597965"/>
              </a:xfrm>
            </p:grpSpPr>
            <p:cxnSp>
              <p:nvCxnSpPr>
                <p:cNvPr id="5" name="Straight Connector 4">
                  <a:extLst>
                    <a:ext uri="{FF2B5EF4-FFF2-40B4-BE49-F238E27FC236}">
                      <a16:creationId xmlns:a16="http://schemas.microsoft.com/office/drawing/2014/main" id="{7FE3C139-879C-4FE8-9DC2-D0EA87D2FD79}"/>
                    </a:ext>
                  </a:extLst>
                </p:cNvPr>
                <p:cNvCxnSpPr/>
                <p:nvPr/>
              </p:nvCxnSpPr>
              <p:spPr>
                <a:xfrm>
                  <a:off x="1371600" y="1431235"/>
                  <a:ext cx="0" cy="359796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4CF18F3-E272-460F-BD6E-5D12CCFBF883}"/>
                    </a:ext>
                  </a:extLst>
                </p:cNvPr>
                <p:cNvGrpSpPr/>
                <p:nvPr/>
              </p:nvGrpSpPr>
              <p:grpSpPr>
                <a:xfrm>
                  <a:off x="1123122" y="1582698"/>
                  <a:ext cx="477078" cy="360293"/>
                  <a:chOff x="1123122" y="1582698"/>
                  <a:chExt cx="477078" cy="360293"/>
                </a:xfrm>
              </p:grpSpPr>
              <p:sp>
                <p:nvSpPr>
                  <p:cNvPr id="8" name="Rectangle: Rounded Corners 7">
                    <a:extLst>
                      <a:ext uri="{FF2B5EF4-FFF2-40B4-BE49-F238E27FC236}">
                        <a16:creationId xmlns:a16="http://schemas.microsoft.com/office/drawing/2014/main" id="{15E74B30-B889-4688-8B2F-D6AD780D12E3}"/>
                      </a:ext>
                    </a:extLst>
                  </p:cNvPr>
                  <p:cNvSpPr/>
                  <p:nvPr/>
                </p:nvSpPr>
                <p:spPr>
                  <a:xfrm>
                    <a:off x="1123122" y="1605061"/>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2" name="Graphic 11" descr="Electric car">
                    <a:extLst>
                      <a:ext uri="{FF2B5EF4-FFF2-40B4-BE49-F238E27FC236}">
                        <a16:creationId xmlns:a16="http://schemas.microsoft.com/office/drawing/2014/main" id="{E5756783-7C26-4078-A8B9-DF3443435F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582698"/>
                    <a:ext cx="360293" cy="360293"/>
                  </a:xfrm>
                  <a:prstGeom prst="rect">
                    <a:avLst/>
                  </a:prstGeom>
                </p:spPr>
              </p:pic>
            </p:grpSp>
            <p:grpSp>
              <p:nvGrpSpPr>
                <p:cNvPr id="14" name="Group 13">
                  <a:extLst>
                    <a:ext uri="{FF2B5EF4-FFF2-40B4-BE49-F238E27FC236}">
                      <a16:creationId xmlns:a16="http://schemas.microsoft.com/office/drawing/2014/main" id="{A01E7763-31E2-4727-832C-E6614D291092}"/>
                    </a:ext>
                  </a:extLst>
                </p:cNvPr>
                <p:cNvGrpSpPr/>
                <p:nvPr/>
              </p:nvGrpSpPr>
              <p:grpSpPr>
                <a:xfrm>
                  <a:off x="1123122" y="2869924"/>
                  <a:ext cx="477078" cy="360293"/>
                  <a:chOff x="1123122" y="1637472"/>
                  <a:chExt cx="477078" cy="360293"/>
                </a:xfrm>
              </p:grpSpPr>
              <p:sp>
                <p:nvSpPr>
                  <p:cNvPr id="15" name="Rectangle: Rounded Corners 14">
                    <a:extLst>
                      <a:ext uri="{FF2B5EF4-FFF2-40B4-BE49-F238E27FC236}">
                        <a16:creationId xmlns:a16="http://schemas.microsoft.com/office/drawing/2014/main" id="{F8167D3C-2675-4DA4-88D7-B07B8B066A48}"/>
                      </a:ext>
                    </a:extLst>
                  </p:cNvPr>
                  <p:cNvSpPr/>
                  <p:nvPr/>
                </p:nvSpPr>
                <p:spPr>
                  <a:xfrm>
                    <a:off x="1123122" y="1659835"/>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6" name="Graphic 15" descr="Electric car">
                    <a:extLst>
                      <a:ext uri="{FF2B5EF4-FFF2-40B4-BE49-F238E27FC236}">
                        <a16:creationId xmlns:a16="http://schemas.microsoft.com/office/drawing/2014/main" id="{D1D29753-7090-4AC3-845A-CE879759E7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637472"/>
                    <a:ext cx="360293" cy="360293"/>
                  </a:xfrm>
                  <a:prstGeom prst="rect">
                    <a:avLst/>
                  </a:prstGeom>
                </p:spPr>
              </p:pic>
            </p:grpSp>
            <p:grpSp>
              <p:nvGrpSpPr>
                <p:cNvPr id="17" name="Group 16">
                  <a:extLst>
                    <a:ext uri="{FF2B5EF4-FFF2-40B4-BE49-F238E27FC236}">
                      <a16:creationId xmlns:a16="http://schemas.microsoft.com/office/drawing/2014/main" id="{4434F911-00E4-4B97-B7F0-AEC1E9994BF1}"/>
                    </a:ext>
                  </a:extLst>
                </p:cNvPr>
                <p:cNvGrpSpPr/>
                <p:nvPr/>
              </p:nvGrpSpPr>
              <p:grpSpPr>
                <a:xfrm>
                  <a:off x="1123122" y="4012509"/>
                  <a:ext cx="477078" cy="360293"/>
                  <a:chOff x="1123122" y="1637472"/>
                  <a:chExt cx="477078" cy="360293"/>
                </a:xfrm>
              </p:grpSpPr>
              <p:sp>
                <p:nvSpPr>
                  <p:cNvPr id="18" name="Rectangle: Rounded Corners 17">
                    <a:extLst>
                      <a:ext uri="{FF2B5EF4-FFF2-40B4-BE49-F238E27FC236}">
                        <a16:creationId xmlns:a16="http://schemas.microsoft.com/office/drawing/2014/main" id="{CCEC1811-B38E-42EC-BA90-5E3A27E4DE7F}"/>
                      </a:ext>
                    </a:extLst>
                  </p:cNvPr>
                  <p:cNvSpPr/>
                  <p:nvPr/>
                </p:nvSpPr>
                <p:spPr>
                  <a:xfrm>
                    <a:off x="1123122" y="1659835"/>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9" name="Graphic 18" descr="Electric car">
                    <a:extLst>
                      <a:ext uri="{FF2B5EF4-FFF2-40B4-BE49-F238E27FC236}">
                        <a16:creationId xmlns:a16="http://schemas.microsoft.com/office/drawing/2014/main" id="{2A07F50C-696C-48F8-B329-2B8C725D0D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1637472"/>
                    <a:ext cx="360293" cy="360293"/>
                  </a:xfrm>
                  <a:prstGeom prst="rect">
                    <a:avLst/>
                  </a:prstGeom>
                </p:spPr>
              </p:pic>
            </p:grpSp>
          </p:grpSp>
          <p:cxnSp>
            <p:nvCxnSpPr>
              <p:cNvPr id="22" name="Straight Connector 21">
                <a:extLst>
                  <a:ext uri="{FF2B5EF4-FFF2-40B4-BE49-F238E27FC236}">
                    <a16:creationId xmlns:a16="http://schemas.microsoft.com/office/drawing/2014/main" id="{F3E780A2-2C2D-4F07-AE32-6337F403437E}"/>
                  </a:ext>
                </a:extLst>
              </p:cNvPr>
              <p:cNvCxnSpPr>
                <a:cxnSpLocks/>
              </p:cNvCxnSpPr>
              <p:nvPr/>
            </p:nvCxnSpPr>
            <p:spPr>
              <a:xfrm>
                <a:off x="1600200" y="1853542"/>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E807FC-C9B7-4A82-A30F-7FF61F4946DE}"/>
                  </a:ext>
                </a:extLst>
              </p:cNvPr>
              <p:cNvCxnSpPr>
                <a:cxnSpLocks/>
              </p:cNvCxnSpPr>
              <p:nvPr/>
            </p:nvCxnSpPr>
            <p:spPr>
              <a:xfrm>
                <a:off x="1623393" y="3183838"/>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4FF865-2830-4164-8697-2B98F455244A}"/>
                  </a:ext>
                </a:extLst>
              </p:cNvPr>
              <p:cNvCxnSpPr>
                <a:cxnSpLocks/>
              </p:cNvCxnSpPr>
              <p:nvPr/>
            </p:nvCxnSpPr>
            <p:spPr>
              <a:xfrm>
                <a:off x="1596890" y="4300334"/>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0" name="Graphic 29" descr="Lightbulb and gear">
              <a:extLst>
                <a:ext uri="{FF2B5EF4-FFF2-40B4-BE49-F238E27FC236}">
                  <a16:creationId xmlns:a16="http://schemas.microsoft.com/office/drawing/2014/main" id="{BABC8785-E965-4CFF-9D9E-05C3A88C52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1709" y="684375"/>
              <a:ext cx="318441" cy="318441"/>
            </a:xfrm>
            <a:prstGeom prst="rect">
              <a:avLst/>
            </a:prstGeom>
          </p:spPr>
        </p:pic>
        <p:pic>
          <p:nvPicPr>
            <p:cNvPr id="31" name="Graphic 30" descr="Lightbulb and gear">
              <a:extLst>
                <a:ext uri="{FF2B5EF4-FFF2-40B4-BE49-F238E27FC236}">
                  <a16:creationId xmlns:a16="http://schemas.microsoft.com/office/drawing/2014/main" id="{BF6FF204-C6D7-479D-A431-B07C5B575F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1321709" y="4984279"/>
              <a:ext cx="318441" cy="318441"/>
            </a:xfrm>
            <a:prstGeom prst="rect">
              <a:avLst/>
            </a:prstGeom>
          </p:spPr>
        </p:pic>
      </p:grpSp>
    </p:spTree>
    <p:extLst>
      <p:ext uri="{BB962C8B-B14F-4D97-AF65-F5344CB8AC3E}">
        <p14:creationId xmlns:p14="http://schemas.microsoft.com/office/powerpoint/2010/main" val="3464318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ppt_x"/>
                                          </p:val>
                                        </p:tav>
                                        <p:tav tm="100000">
                                          <p:val>
                                            <p:strVal val="#ppt_x"/>
                                          </p:val>
                                        </p:tav>
                                      </p:tavLst>
                                    </p:anim>
                                    <p:anim calcmode="lin" valueType="num">
                                      <p:cBhvr additive="base">
                                        <p:cTn id="13" dur="500" fill="hold"/>
                                        <p:tgtEl>
                                          <p:spTgt spid="2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ppt_x"/>
                                          </p:val>
                                        </p:tav>
                                        <p:tav tm="100000">
                                          <p:val>
                                            <p:strVal val="#ppt_x"/>
                                          </p:val>
                                        </p:tav>
                                      </p:tavLst>
                                    </p:anim>
                                    <p:anim calcmode="lin" valueType="num">
                                      <p:cBhvr additive="base">
                                        <p:cTn id="17" dur="500" fill="hold"/>
                                        <p:tgtEl>
                                          <p:spTgt spid="2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500" fill="hold"/>
                                        <p:tgtEl>
                                          <p:spTgt spid="29"/>
                                        </p:tgtEl>
                                        <p:attrNameLst>
                                          <p:attrName>ppt_x</p:attrName>
                                        </p:attrNameLst>
                                      </p:cBhvr>
                                      <p:tavLst>
                                        <p:tav tm="0">
                                          <p:val>
                                            <p:strVal val="#ppt_x"/>
                                          </p:val>
                                        </p:tav>
                                        <p:tav tm="100000">
                                          <p:val>
                                            <p:strVal val="#ppt_x"/>
                                          </p:val>
                                        </p:tav>
                                      </p:tavLst>
                                    </p:anim>
                                    <p:anim calcmode="lin" valueType="num">
                                      <p:cBhvr additive="base">
                                        <p:cTn id="2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996E0A-1DA5-482E-8F49-D6093C8E5621}"/>
              </a:ext>
            </a:extLst>
          </p:cNvPr>
          <p:cNvSpPr>
            <a:spLocks noGrp="1"/>
          </p:cNvSpPr>
          <p:nvPr>
            <p:ph type="title"/>
          </p:nvPr>
        </p:nvSpPr>
        <p:spPr>
          <a:xfrm>
            <a:off x="1" y="26336"/>
            <a:ext cx="8750258" cy="734539"/>
          </a:xfrm>
        </p:spPr>
        <p:txBody>
          <a:bodyPr/>
          <a:lstStyle/>
          <a:p>
            <a:r>
              <a:rPr lang="en-US" dirty="0"/>
              <a:t>Battery Technology for EVs</a:t>
            </a:r>
            <a:br>
              <a:rPr lang="en-US" dirty="0"/>
            </a:br>
            <a:br>
              <a:rPr lang="en-IN" dirty="0"/>
            </a:br>
            <a:br>
              <a:rPr lang="en-IN" dirty="0"/>
            </a:br>
            <a:br>
              <a:rPr lang="en-IN" sz="3400" dirty="0"/>
            </a:br>
            <a:br>
              <a:rPr lang="en-IN" sz="3400" dirty="0"/>
            </a:br>
            <a:endParaRPr lang="en-IN" sz="3400" dirty="0"/>
          </a:p>
        </p:txBody>
      </p:sp>
      <p:sp>
        <p:nvSpPr>
          <p:cNvPr id="27" name="TextBox 26">
            <a:extLst>
              <a:ext uri="{FF2B5EF4-FFF2-40B4-BE49-F238E27FC236}">
                <a16:creationId xmlns:a16="http://schemas.microsoft.com/office/drawing/2014/main" id="{A9BD4339-6959-45FC-A9CA-AA24CB5E4F8A}"/>
              </a:ext>
            </a:extLst>
          </p:cNvPr>
          <p:cNvSpPr txBox="1"/>
          <p:nvPr/>
        </p:nvSpPr>
        <p:spPr>
          <a:xfrm>
            <a:off x="917545" y="1497622"/>
            <a:ext cx="6666982" cy="738664"/>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Mahapatra (2021) [7] explores energy storage and technologies for electric vehicles, emphasizing the suitability of a battery/ultracapacitor hybrid system, particularly with Li-ion battery technology.</a:t>
            </a:r>
            <a:endParaRPr lang="en-IN" dirty="0">
              <a:solidFill>
                <a:schemeClr val="bg1"/>
              </a:solidFill>
              <a:latin typeface="Roboto" panose="02000000000000000000" pitchFamily="2" charset="0"/>
              <a:ea typeface="Roboto" panose="02000000000000000000" pitchFamily="2" charset="0"/>
            </a:endParaRPr>
          </a:p>
        </p:txBody>
      </p:sp>
      <p:grpSp>
        <p:nvGrpSpPr>
          <p:cNvPr id="31" name="Group 30">
            <a:extLst>
              <a:ext uri="{FF2B5EF4-FFF2-40B4-BE49-F238E27FC236}">
                <a16:creationId xmlns:a16="http://schemas.microsoft.com/office/drawing/2014/main" id="{0B055B12-3A13-441D-8364-FEEC38AE3032}"/>
              </a:ext>
            </a:extLst>
          </p:cNvPr>
          <p:cNvGrpSpPr/>
          <p:nvPr/>
        </p:nvGrpSpPr>
        <p:grpSpPr>
          <a:xfrm flipH="1">
            <a:off x="7560873" y="556398"/>
            <a:ext cx="1189386" cy="4418137"/>
            <a:chOff x="1232453" y="684375"/>
            <a:chExt cx="1166193" cy="4618345"/>
          </a:xfrm>
        </p:grpSpPr>
        <p:grpSp>
          <p:nvGrpSpPr>
            <p:cNvPr id="32" name="Group 31">
              <a:extLst>
                <a:ext uri="{FF2B5EF4-FFF2-40B4-BE49-F238E27FC236}">
                  <a16:creationId xmlns:a16="http://schemas.microsoft.com/office/drawing/2014/main" id="{E04BBF59-1C61-489E-91FC-454039D98CE7}"/>
                </a:ext>
              </a:extLst>
            </p:cNvPr>
            <p:cNvGrpSpPr/>
            <p:nvPr/>
          </p:nvGrpSpPr>
          <p:grpSpPr>
            <a:xfrm>
              <a:off x="1232453" y="954155"/>
              <a:ext cx="1166193" cy="4094923"/>
              <a:chOff x="1123122" y="1540564"/>
              <a:chExt cx="1166193" cy="3597965"/>
            </a:xfrm>
          </p:grpSpPr>
          <p:grpSp>
            <p:nvGrpSpPr>
              <p:cNvPr id="35" name="Group 34">
                <a:extLst>
                  <a:ext uri="{FF2B5EF4-FFF2-40B4-BE49-F238E27FC236}">
                    <a16:creationId xmlns:a16="http://schemas.microsoft.com/office/drawing/2014/main" id="{0A59C5C5-8961-4E3D-A216-14C1C8A9D222}"/>
                  </a:ext>
                </a:extLst>
              </p:cNvPr>
              <p:cNvGrpSpPr/>
              <p:nvPr/>
            </p:nvGrpSpPr>
            <p:grpSpPr>
              <a:xfrm>
                <a:off x="1123122" y="1540564"/>
                <a:ext cx="477078" cy="3597965"/>
                <a:chOff x="1123122" y="1431235"/>
                <a:chExt cx="477078" cy="3597965"/>
              </a:xfrm>
            </p:grpSpPr>
            <p:cxnSp>
              <p:nvCxnSpPr>
                <p:cNvPr id="39" name="Straight Connector 38">
                  <a:extLst>
                    <a:ext uri="{FF2B5EF4-FFF2-40B4-BE49-F238E27FC236}">
                      <a16:creationId xmlns:a16="http://schemas.microsoft.com/office/drawing/2014/main" id="{38F4BF77-622A-4A56-A204-C06E10FA89D2}"/>
                    </a:ext>
                  </a:extLst>
                </p:cNvPr>
                <p:cNvCxnSpPr/>
                <p:nvPr/>
              </p:nvCxnSpPr>
              <p:spPr>
                <a:xfrm>
                  <a:off x="1371600" y="1431235"/>
                  <a:ext cx="0" cy="359796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71F54897-0AC5-4645-8121-3EC700112CD5}"/>
                    </a:ext>
                  </a:extLst>
                </p:cNvPr>
                <p:cNvGrpSpPr/>
                <p:nvPr/>
              </p:nvGrpSpPr>
              <p:grpSpPr>
                <a:xfrm>
                  <a:off x="1123122" y="2176067"/>
                  <a:ext cx="477078" cy="360293"/>
                  <a:chOff x="1123122" y="2176067"/>
                  <a:chExt cx="477078" cy="360293"/>
                </a:xfrm>
              </p:grpSpPr>
              <p:sp>
                <p:nvSpPr>
                  <p:cNvPr id="47" name="Rectangle: Rounded Corners 46">
                    <a:extLst>
                      <a:ext uri="{FF2B5EF4-FFF2-40B4-BE49-F238E27FC236}">
                        <a16:creationId xmlns:a16="http://schemas.microsoft.com/office/drawing/2014/main" id="{7904D2ED-5269-45F8-9D7F-889901BB0A59}"/>
                      </a:ext>
                    </a:extLst>
                  </p:cNvPr>
                  <p:cNvSpPr/>
                  <p:nvPr/>
                </p:nvSpPr>
                <p:spPr>
                  <a:xfrm>
                    <a:off x="1123122" y="2198426"/>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8" name="Graphic 47" descr="Electric car">
                    <a:extLst>
                      <a:ext uri="{FF2B5EF4-FFF2-40B4-BE49-F238E27FC236}">
                        <a16:creationId xmlns:a16="http://schemas.microsoft.com/office/drawing/2014/main" id="{4B98D38A-2E27-46B5-AB0B-7EBA0B0794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2176067"/>
                    <a:ext cx="360293" cy="360293"/>
                  </a:xfrm>
                  <a:prstGeom prst="rect">
                    <a:avLst/>
                  </a:prstGeom>
                </p:spPr>
              </p:pic>
            </p:grpSp>
            <p:grpSp>
              <p:nvGrpSpPr>
                <p:cNvPr id="41" name="Group 40">
                  <a:extLst>
                    <a:ext uri="{FF2B5EF4-FFF2-40B4-BE49-F238E27FC236}">
                      <a16:creationId xmlns:a16="http://schemas.microsoft.com/office/drawing/2014/main" id="{04433CA0-35E5-4CC0-B266-875DC9495360}"/>
                    </a:ext>
                  </a:extLst>
                </p:cNvPr>
                <p:cNvGrpSpPr/>
                <p:nvPr/>
              </p:nvGrpSpPr>
              <p:grpSpPr>
                <a:xfrm>
                  <a:off x="1123122" y="3746281"/>
                  <a:ext cx="477078" cy="360293"/>
                  <a:chOff x="1123122" y="2513829"/>
                  <a:chExt cx="477078" cy="360293"/>
                </a:xfrm>
              </p:grpSpPr>
              <p:sp>
                <p:nvSpPr>
                  <p:cNvPr id="45" name="Rectangle: Rounded Corners 44">
                    <a:extLst>
                      <a:ext uri="{FF2B5EF4-FFF2-40B4-BE49-F238E27FC236}">
                        <a16:creationId xmlns:a16="http://schemas.microsoft.com/office/drawing/2014/main" id="{7C7A8916-CE01-469F-89F5-3D1E5817F594}"/>
                      </a:ext>
                    </a:extLst>
                  </p:cNvPr>
                  <p:cNvSpPr/>
                  <p:nvPr/>
                </p:nvSpPr>
                <p:spPr>
                  <a:xfrm>
                    <a:off x="1123122" y="2536184"/>
                    <a:ext cx="477078" cy="33793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6" name="Graphic 45" descr="Electric car">
                    <a:extLst>
                      <a:ext uri="{FF2B5EF4-FFF2-40B4-BE49-F238E27FC236}">
                        <a16:creationId xmlns:a16="http://schemas.microsoft.com/office/drawing/2014/main" id="{EBE4FB41-C96C-495B-B03D-A48C360DE0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1453" y="2513829"/>
                    <a:ext cx="360293" cy="360293"/>
                  </a:xfrm>
                  <a:prstGeom prst="rect">
                    <a:avLst/>
                  </a:prstGeom>
                </p:spPr>
              </p:pic>
            </p:grpSp>
          </p:grpSp>
          <p:cxnSp>
            <p:nvCxnSpPr>
              <p:cNvPr id="36" name="Straight Connector 35">
                <a:extLst>
                  <a:ext uri="{FF2B5EF4-FFF2-40B4-BE49-F238E27FC236}">
                    <a16:creationId xmlns:a16="http://schemas.microsoft.com/office/drawing/2014/main" id="{FA4BE2D6-8205-4B89-960A-3163554AA167}"/>
                  </a:ext>
                </a:extLst>
              </p:cNvPr>
              <p:cNvCxnSpPr>
                <a:cxnSpLocks/>
              </p:cNvCxnSpPr>
              <p:nvPr/>
            </p:nvCxnSpPr>
            <p:spPr>
              <a:xfrm>
                <a:off x="1600200" y="2446903"/>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FB509BD-2D96-4FC2-A4F0-7622D547562D}"/>
                  </a:ext>
                </a:extLst>
              </p:cNvPr>
              <p:cNvCxnSpPr>
                <a:cxnSpLocks/>
              </p:cNvCxnSpPr>
              <p:nvPr/>
            </p:nvCxnSpPr>
            <p:spPr>
              <a:xfrm>
                <a:off x="1623393" y="4060189"/>
                <a:ext cx="6659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3" name="Graphic 32" descr="Lightbulb and gear">
              <a:extLst>
                <a:ext uri="{FF2B5EF4-FFF2-40B4-BE49-F238E27FC236}">
                  <a16:creationId xmlns:a16="http://schemas.microsoft.com/office/drawing/2014/main" id="{FAD9B13F-8809-4ABA-A8B2-DAA7CAA6F5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1709" y="684375"/>
              <a:ext cx="318441" cy="318441"/>
            </a:xfrm>
            <a:prstGeom prst="rect">
              <a:avLst/>
            </a:prstGeom>
          </p:spPr>
        </p:pic>
        <p:pic>
          <p:nvPicPr>
            <p:cNvPr id="34" name="Graphic 33" descr="Lightbulb and gear">
              <a:extLst>
                <a:ext uri="{FF2B5EF4-FFF2-40B4-BE49-F238E27FC236}">
                  <a16:creationId xmlns:a16="http://schemas.microsoft.com/office/drawing/2014/main" id="{5913A92B-D637-425E-9A64-5705AD38B9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1321709" y="4984279"/>
              <a:ext cx="318441" cy="318441"/>
            </a:xfrm>
            <a:prstGeom prst="rect">
              <a:avLst/>
            </a:prstGeom>
          </p:spPr>
        </p:pic>
      </p:grpSp>
      <p:sp>
        <p:nvSpPr>
          <p:cNvPr id="49" name="TextBox 48">
            <a:extLst>
              <a:ext uri="{FF2B5EF4-FFF2-40B4-BE49-F238E27FC236}">
                <a16:creationId xmlns:a16="http://schemas.microsoft.com/office/drawing/2014/main" id="{9FDE6441-0895-408C-AA15-3974BCD10DCC}"/>
              </a:ext>
            </a:extLst>
          </p:cNvPr>
          <p:cNvSpPr txBox="1"/>
          <p:nvPr/>
        </p:nvSpPr>
        <p:spPr>
          <a:xfrm>
            <a:off x="893891" y="2973034"/>
            <a:ext cx="6666982" cy="1169551"/>
          </a:xfrm>
          <a:prstGeom prst="rect">
            <a:avLst/>
          </a:prstGeom>
          <a:noFill/>
        </p:spPr>
        <p:txBody>
          <a:bodyPr wrap="square" rtlCol="0">
            <a:spAutoFit/>
          </a:bodyPr>
          <a:lstStyle/>
          <a:p>
            <a:pPr algn="just"/>
            <a:r>
              <a:rPr lang="en-US" dirty="0">
                <a:solidFill>
                  <a:schemeClr val="bg1"/>
                </a:solidFill>
                <a:latin typeface="Roboto" panose="02000000000000000000" pitchFamily="2" charset="0"/>
                <a:ea typeface="Roboto" panose="02000000000000000000" pitchFamily="2" charset="0"/>
              </a:rPr>
              <a:t> A. C. R and A. Ghosh (2021) [8] highlight the crucial role of Battery Management Systems (BMS) in electric vehicles, ensuring safe battery operation through monitoring parameters and determining state of charge (SOC). Ongoing research focuses on developing more efficient BMS for continuous improvement in electric vehicle performance and safety.</a:t>
            </a:r>
            <a:endParaRPr lang="en-IN"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19850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 calcmode="lin" valueType="num">
                                      <p:cBhvr additive="base">
                                        <p:cTn id="16" dur="500" fill="hold"/>
                                        <p:tgtEl>
                                          <p:spTgt spid="49"/>
                                        </p:tgtEl>
                                        <p:attrNameLst>
                                          <p:attrName>ppt_x</p:attrName>
                                        </p:attrNameLst>
                                      </p:cBhvr>
                                      <p:tavLst>
                                        <p:tav tm="0">
                                          <p:val>
                                            <p:strVal val="#ppt_x"/>
                                          </p:val>
                                        </p:tav>
                                        <p:tav tm="100000">
                                          <p:val>
                                            <p:strVal val="#ppt_x"/>
                                          </p:val>
                                        </p:tav>
                                      </p:tavLst>
                                    </p:anim>
                                    <p:anim calcmode="lin" valueType="num">
                                      <p:cBhvr additive="base">
                                        <p:cTn id="17"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107DCBE-5924-4F53-A9DA-30F776F509E3}"/>
              </a:ext>
            </a:extLst>
          </p:cNvPr>
          <p:cNvSpPr>
            <a:spLocks noGrp="1"/>
          </p:cNvSpPr>
          <p:nvPr>
            <p:ph type="subTitle" idx="1"/>
          </p:nvPr>
        </p:nvSpPr>
        <p:spPr>
          <a:xfrm>
            <a:off x="447261" y="377687"/>
            <a:ext cx="5416826" cy="533583"/>
          </a:xfrm>
        </p:spPr>
        <p:txBody>
          <a:bodyPr/>
          <a:lstStyle/>
          <a:p>
            <a:pPr algn="ctr"/>
            <a:r>
              <a:rPr lang="en-US" dirty="0"/>
              <a:t>Performance, Emerging Technologies, and Innovation for EV’s </a:t>
            </a:r>
          </a:p>
        </p:txBody>
      </p:sp>
      <p:sp>
        <p:nvSpPr>
          <p:cNvPr id="4" name="Text Placeholder 3">
            <a:extLst>
              <a:ext uri="{FF2B5EF4-FFF2-40B4-BE49-F238E27FC236}">
                <a16:creationId xmlns:a16="http://schemas.microsoft.com/office/drawing/2014/main" id="{4B04FB94-2D99-4E89-AFE6-B8F117D5A666}"/>
              </a:ext>
            </a:extLst>
          </p:cNvPr>
          <p:cNvSpPr>
            <a:spLocks noGrp="1"/>
          </p:cNvSpPr>
          <p:nvPr>
            <p:ph type="body" idx="2"/>
          </p:nvPr>
        </p:nvSpPr>
        <p:spPr>
          <a:xfrm>
            <a:off x="447261" y="901942"/>
            <a:ext cx="7305261" cy="1669807"/>
          </a:xfrm>
        </p:spPr>
        <p:txBody>
          <a:bodyPr/>
          <a:lstStyle/>
          <a:p>
            <a:pPr algn="just"/>
            <a:r>
              <a:rPr lang="en-US" dirty="0"/>
              <a:t>Sinha, R., and Bangia, S. (2021) [14] explore electric vehicle (EV) performance under various scenarios, emphasizing the superiority of Brushless DC Motors in efficiency and reliability.</a:t>
            </a:r>
          </a:p>
          <a:p>
            <a:pPr algn="just"/>
            <a:r>
              <a:rPr lang="en-US" dirty="0"/>
              <a:t>Lee et al., 2021[13] provide a critical review of emerging technologies in electric and hybrid vehicles, covering electric machines, energy sources, wireless charging, and the latest models.</a:t>
            </a:r>
          </a:p>
          <a:p>
            <a:pPr algn="just"/>
            <a:r>
              <a:rPr lang="en-US" dirty="0"/>
              <a:t>Zhao, L., &amp; Jin, Z. [15] analyze intelligent vehicle climbing force and battery selection using a three-dimensional model, determining suitable battery weight through finite element analysis.</a:t>
            </a:r>
          </a:p>
        </p:txBody>
      </p:sp>
      <p:sp>
        <p:nvSpPr>
          <p:cNvPr id="5" name="Subtitle 4">
            <a:extLst>
              <a:ext uri="{FF2B5EF4-FFF2-40B4-BE49-F238E27FC236}">
                <a16:creationId xmlns:a16="http://schemas.microsoft.com/office/drawing/2014/main" id="{0FE0DC43-2107-4D5E-94D5-D2750D267FAD}"/>
              </a:ext>
            </a:extLst>
          </p:cNvPr>
          <p:cNvSpPr>
            <a:spLocks noGrp="1"/>
          </p:cNvSpPr>
          <p:nvPr>
            <p:ph type="subTitle" idx="3"/>
          </p:nvPr>
        </p:nvSpPr>
        <p:spPr>
          <a:xfrm>
            <a:off x="4571999" y="2554358"/>
            <a:ext cx="3965709" cy="485995"/>
          </a:xfrm>
        </p:spPr>
        <p:txBody>
          <a:bodyPr/>
          <a:lstStyle/>
          <a:p>
            <a:pPr algn="ctr"/>
            <a:r>
              <a:rPr lang="en-IN" dirty="0"/>
              <a:t>Safety Standards for EVs</a:t>
            </a:r>
          </a:p>
        </p:txBody>
      </p:sp>
      <p:sp>
        <p:nvSpPr>
          <p:cNvPr id="6" name="Text Placeholder 5">
            <a:extLst>
              <a:ext uri="{FF2B5EF4-FFF2-40B4-BE49-F238E27FC236}">
                <a16:creationId xmlns:a16="http://schemas.microsoft.com/office/drawing/2014/main" id="{110A7665-F655-4FAE-9B52-16BAD3A0A12B}"/>
              </a:ext>
            </a:extLst>
          </p:cNvPr>
          <p:cNvSpPr>
            <a:spLocks noGrp="1"/>
          </p:cNvSpPr>
          <p:nvPr>
            <p:ph type="body" idx="4"/>
          </p:nvPr>
        </p:nvSpPr>
        <p:spPr>
          <a:xfrm>
            <a:off x="3568149" y="3003685"/>
            <a:ext cx="4969559" cy="1762128"/>
          </a:xfrm>
        </p:spPr>
        <p:txBody>
          <a:bodyPr/>
          <a:lstStyle/>
          <a:p>
            <a:pPr marL="139700" indent="0" algn="just">
              <a:buNone/>
            </a:pPr>
            <a:r>
              <a:rPr lang="en-US" dirty="0"/>
              <a:t>Ensuring safety in Electric Vehicles (EVs) [12] is vital. Stringent safety standards encompass aspects like battery safety, crashworthiness, and fire prevention. Global organizations, including ISO and SAE, have developed specific standards addressing EV safety concerns. These standards aim to mitigate risks and enhance overall safety, promoting the widespread adoption of electric vehicles in a secure automotive landscape.</a:t>
            </a:r>
            <a:endParaRPr lang="en-IN" dirty="0"/>
          </a:p>
        </p:txBody>
      </p:sp>
      <p:pic>
        <p:nvPicPr>
          <p:cNvPr id="7" name="Graphic 6" descr="Rocket">
            <a:extLst>
              <a:ext uri="{FF2B5EF4-FFF2-40B4-BE49-F238E27FC236}">
                <a16:creationId xmlns:a16="http://schemas.microsoft.com/office/drawing/2014/main" id="{76F0CD37-D4BC-4EBF-AAF5-DE1DA0B498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500831" y="250602"/>
            <a:ext cx="254168" cy="254168"/>
          </a:xfrm>
          <a:prstGeom prst="rect">
            <a:avLst/>
          </a:prstGeom>
        </p:spPr>
      </p:pic>
      <p:pic>
        <p:nvPicPr>
          <p:cNvPr id="8" name="Graphic 7" descr="Rocket">
            <a:extLst>
              <a:ext uri="{FF2B5EF4-FFF2-40B4-BE49-F238E27FC236}">
                <a16:creationId xmlns:a16="http://schemas.microsoft.com/office/drawing/2014/main" id="{E300C5DA-B04C-4D49-9B7E-F33553DF5D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8763549">
            <a:off x="5020708" y="2678967"/>
            <a:ext cx="254168" cy="254168"/>
          </a:xfrm>
          <a:prstGeom prst="rect">
            <a:avLst/>
          </a:prstGeom>
        </p:spPr>
      </p:pic>
    </p:spTree>
    <p:extLst>
      <p:ext uri="{BB962C8B-B14F-4D97-AF65-F5344CB8AC3E}">
        <p14:creationId xmlns:p14="http://schemas.microsoft.com/office/powerpoint/2010/main" val="519016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57"/>
          <p:cNvSpPr/>
          <p:nvPr/>
        </p:nvSpPr>
        <p:spPr>
          <a:xfrm flipH="1">
            <a:off x="6046530" y="607258"/>
            <a:ext cx="2025701" cy="48007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4" name="Google Shape;884;p57"/>
          <p:cNvGrpSpPr/>
          <p:nvPr/>
        </p:nvGrpSpPr>
        <p:grpSpPr>
          <a:xfrm rot="-489577" flipH="1">
            <a:off x="206601" y="933494"/>
            <a:ext cx="3677410" cy="2373365"/>
            <a:chOff x="4352672" y="2230153"/>
            <a:chExt cx="4618934" cy="2913327"/>
          </a:xfrm>
        </p:grpSpPr>
        <p:sp>
          <p:nvSpPr>
            <p:cNvPr id="885" name="Google Shape;885;p57"/>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57"/>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87" name="Google Shape;887;p57"/>
          <p:cNvSpPr/>
          <p:nvPr/>
        </p:nvSpPr>
        <p:spPr>
          <a:xfrm flipH="1">
            <a:off x="1103691" y="514205"/>
            <a:ext cx="666326" cy="148620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57"/>
          <p:cNvSpPr/>
          <p:nvPr/>
        </p:nvSpPr>
        <p:spPr>
          <a:xfrm flipH="1">
            <a:off x="1726777" y="1153320"/>
            <a:ext cx="378799" cy="84485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9" name="Google Shape;889;p57"/>
          <p:cNvGrpSpPr/>
          <p:nvPr/>
        </p:nvGrpSpPr>
        <p:grpSpPr>
          <a:xfrm>
            <a:off x="713219" y="1516688"/>
            <a:ext cx="2897080" cy="1357186"/>
            <a:chOff x="713225" y="2253700"/>
            <a:chExt cx="5046298" cy="2364025"/>
          </a:xfrm>
        </p:grpSpPr>
        <p:sp>
          <p:nvSpPr>
            <p:cNvPr id="890" name="Google Shape;890;p57"/>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57"/>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57"/>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57"/>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57"/>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5" name="Google Shape;895;p57"/>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57"/>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57"/>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57"/>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57"/>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57"/>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57"/>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57"/>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3" name="Google Shape;903;p57"/>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4" name="Google Shape;904;p57"/>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57"/>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57"/>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57"/>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57"/>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57"/>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57"/>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57"/>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57"/>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57"/>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57"/>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57"/>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57"/>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57"/>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57"/>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57"/>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57"/>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57"/>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57"/>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57"/>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57"/>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57"/>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57"/>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57"/>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57"/>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57"/>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57"/>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57"/>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57"/>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57"/>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57"/>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57"/>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57"/>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37" name="Google Shape;937;p57"/>
          <p:cNvSpPr/>
          <p:nvPr/>
        </p:nvSpPr>
        <p:spPr>
          <a:xfrm>
            <a:off x="2235299" y="4165138"/>
            <a:ext cx="5141117"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38" name="Google Shape;938;p57"/>
          <p:cNvSpPr txBox="1">
            <a:spLocks noGrp="1"/>
          </p:cNvSpPr>
          <p:nvPr>
            <p:ph type="title" idx="2"/>
          </p:nvPr>
        </p:nvSpPr>
        <p:spPr>
          <a:xfrm>
            <a:off x="3893700" y="1871746"/>
            <a:ext cx="1356600" cy="95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939" name="Google Shape;939;p57"/>
          <p:cNvSpPr txBox="1">
            <a:spLocks noGrp="1"/>
          </p:cNvSpPr>
          <p:nvPr>
            <p:ph type="subTitle" idx="1"/>
          </p:nvPr>
        </p:nvSpPr>
        <p:spPr>
          <a:xfrm>
            <a:off x="2419350" y="4245700"/>
            <a:ext cx="4957065" cy="296100"/>
          </a:xfrm>
          <a:prstGeom prst="rect">
            <a:avLst/>
          </a:prstGeom>
        </p:spPr>
        <p:txBody>
          <a:bodyPr spcFirstLastPara="1" wrap="square" lIns="91425" tIns="91425" rIns="91425" bIns="91425" anchor="ctr" anchorCtr="0">
            <a:noAutofit/>
          </a:bodyPr>
          <a:lstStyle/>
          <a:p>
            <a:pPr marL="0" lvl="0" indent="0"/>
            <a:r>
              <a:rPr lang="en-US" sz="1400" dirty="0">
                <a:latin typeface="SF Pro Text" panose="00000500000000000000" pitchFamily="2" charset="0"/>
                <a:ea typeface="SF Pro Text" panose="00000500000000000000" pitchFamily="2" charset="0"/>
              </a:rPr>
              <a:t>Result of Research Papers</a:t>
            </a:r>
          </a:p>
        </p:txBody>
      </p:sp>
      <p:sp>
        <p:nvSpPr>
          <p:cNvPr id="940" name="Google Shape;940;p57"/>
          <p:cNvSpPr/>
          <p:nvPr/>
        </p:nvSpPr>
        <p:spPr>
          <a:xfrm>
            <a:off x="713250" y="2925596"/>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1" name="Google Shape;941;p57"/>
          <p:cNvSpPr/>
          <p:nvPr/>
        </p:nvSpPr>
        <p:spPr>
          <a:xfrm rot="-5400000">
            <a:off x="4468802" y="-103549"/>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2" name="Google Shape;942;p57"/>
          <p:cNvSpPr txBox="1">
            <a:spLocks noGrp="1"/>
          </p:cNvSpPr>
          <p:nvPr>
            <p:ph type="title"/>
          </p:nvPr>
        </p:nvSpPr>
        <p:spPr>
          <a:xfrm>
            <a:off x="713225" y="3007925"/>
            <a:ext cx="7717500" cy="896400"/>
          </a:xfrm>
          <a:prstGeom prst="rect">
            <a:avLst/>
          </a:prstGeom>
        </p:spPr>
        <p:txBody>
          <a:bodyPr spcFirstLastPara="1" wrap="square" lIns="91425" tIns="91425" rIns="91425" bIns="91425" anchor="ctr" anchorCtr="0">
            <a:noAutofit/>
          </a:bodyPr>
          <a:lstStyle/>
          <a:p>
            <a:pPr lvl="0"/>
            <a:r>
              <a:rPr lang="en-US" sz="3200" dirty="0">
                <a:latin typeface="Montserrat" panose="00000500000000000000" pitchFamily="2" charset="0"/>
              </a:rPr>
              <a:t>Outcomes of Literature Review</a:t>
            </a:r>
          </a:p>
        </p:txBody>
      </p:sp>
      <p:sp>
        <p:nvSpPr>
          <p:cNvPr id="943" name="Google Shape;943;p57"/>
          <p:cNvSpPr/>
          <p:nvPr/>
        </p:nvSpPr>
        <p:spPr>
          <a:xfrm>
            <a:off x="2864675" y="1391948"/>
            <a:ext cx="1029023" cy="24387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57"/>
          <p:cNvSpPr/>
          <p:nvPr/>
        </p:nvSpPr>
        <p:spPr>
          <a:xfrm flipH="1">
            <a:off x="7376417" y="1421177"/>
            <a:ext cx="1356610" cy="32150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6571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7D25D-07D2-4D48-AB91-1DD9A6CE94CD}"/>
              </a:ext>
            </a:extLst>
          </p:cNvPr>
          <p:cNvSpPr>
            <a:spLocks noGrp="1"/>
          </p:cNvSpPr>
          <p:nvPr>
            <p:ph type="title"/>
          </p:nvPr>
        </p:nvSpPr>
        <p:spPr>
          <a:xfrm>
            <a:off x="892130" y="223148"/>
            <a:ext cx="7717500" cy="576000"/>
          </a:xfrm>
        </p:spPr>
        <p:txBody>
          <a:bodyPr/>
          <a:lstStyle/>
          <a:p>
            <a:endParaRPr lang="en-IN" dirty="0"/>
          </a:p>
        </p:txBody>
      </p:sp>
      <p:sp>
        <p:nvSpPr>
          <p:cNvPr id="3" name="Text Placeholder 2">
            <a:extLst>
              <a:ext uri="{FF2B5EF4-FFF2-40B4-BE49-F238E27FC236}">
                <a16:creationId xmlns:a16="http://schemas.microsoft.com/office/drawing/2014/main" id="{77B373E0-3F41-403C-B7A4-5397C445F1C9}"/>
              </a:ext>
            </a:extLst>
          </p:cNvPr>
          <p:cNvSpPr>
            <a:spLocks noGrp="1"/>
          </p:cNvSpPr>
          <p:nvPr>
            <p:ph type="body" idx="1"/>
          </p:nvPr>
        </p:nvSpPr>
        <p:spPr>
          <a:xfrm>
            <a:off x="892130" y="1027748"/>
            <a:ext cx="8251869" cy="3667539"/>
          </a:xfrm>
        </p:spPr>
        <p:txBody>
          <a:bodyPr/>
          <a:lstStyle/>
          <a:p>
            <a:pPr algn="just"/>
            <a:r>
              <a:rPr lang="en-US" dirty="0"/>
              <a:t>Sinha, R., and Bangia, S. (2021) [14] explore EV performance, highlighting Brushless DC Motors' efficiency and reliability over DC motors.</a:t>
            </a:r>
          </a:p>
          <a:p>
            <a:pPr algn="just"/>
            <a:endParaRPr lang="en-US" dirty="0"/>
          </a:p>
          <a:p>
            <a:pPr algn="just"/>
            <a:r>
              <a:rPr lang="en-US" dirty="0"/>
              <a:t>Lee et al., 2021[13] critically review emerging EV technologies, covering electric machines, energy sources, wireless charging, and latest models.</a:t>
            </a:r>
          </a:p>
          <a:p>
            <a:pPr algn="just"/>
            <a:endParaRPr lang="en-US" dirty="0"/>
          </a:p>
          <a:p>
            <a:pPr algn="just"/>
            <a:r>
              <a:rPr lang="en-US" dirty="0"/>
              <a:t>The paper challenges the conventional preference for induction motors in EVs, advocating for permanent magnet and brushless DC motors.</a:t>
            </a:r>
          </a:p>
          <a:p>
            <a:pPr algn="just"/>
            <a:endParaRPr lang="en-US" dirty="0"/>
          </a:p>
          <a:p>
            <a:pPr algn="just"/>
            <a:r>
              <a:rPr lang="en-US" dirty="0"/>
              <a:t>A study on a 35 kW BLDCM for EVs reveals its suitability for diverse conditions, with a 7.3% gradeability and efficient acceleration.</a:t>
            </a:r>
          </a:p>
          <a:p>
            <a:pPr algn="just"/>
            <a:endParaRPr lang="en-US" dirty="0"/>
          </a:p>
          <a:p>
            <a:pPr algn="just"/>
            <a:r>
              <a:rPr lang="en-US" dirty="0"/>
              <a:t>An Ansys Maxwell-designed 5hp inner rotor PMSM for EVs enhances power density, efficiency, and torque smoothness, though cost-effectiveness is noted.</a:t>
            </a:r>
          </a:p>
          <a:p>
            <a:pPr algn="just"/>
            <a:endParaRPr lang="en-US" dirty="0"/>
          </a:p>
        </p:txBody>
      </p:sp>
    </p:spTree>
    <p:extLst>
      <p:ext uri="{BB962C8B-B14F-4D97-AF65-F5344CB8AC3E}">
        <p14:creationId xmlns:p14="http://schemas.microsoft.com/office/powerpoint/2010/main" val="4129928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373E0-3F41-403C-B7A4-5397C445F1C9}"/>
              </a:ext>
            </a:extLst>
          </p:cNvPr>
          <p:cNvSpPr>
            <a:spLocks noGrp="1"/>
          </p:cNvSpPr>
          <p:nvPr>
            <p:ph type="body" idx="1"/>
          </p:nvPr>
        </p:nvSpPr>
        <p:spPr>
          <a:xfrm>
            <a:off x="892004" y="1321900"/>
            <a:ext cx="8251996" cy="3667539"/>
          </a:xfrm>
        </p:spPr>
        <p:txBody>
          <a:bodyPr/>
          <a:lstStyle/>
          <a:p>
            <a:pPr algn="just"/>
            <a:r>
              <a:rPr lang="en-US" dirty="0"/>
              <a:t>Advancements in EV interior permanent magnet control enhance acceleration and braking, showing potential with a 30-50% acceleration time reduction.</a:t>
            </a:r>
          </a:p>
          <a:p>
            <a:pPr algn="just"/>
            <a:endParaRPr lang="en-US" dirty="0"/>
          </a:p>
          <a:p>
            <a:pPr algn="just"/>
            <a:r>
              <a:rPr lang="en-US" dirty="0"/>
              <a:t>The article suggests Li-ion batteries for EVs, proposing a battery/ultracapacitor hybrid system for optimal driving performance and future power allocation research.</a:t>
            </a:r>
          </a:p>
          <a:p>
            <a:pPr marL="139700" indent="0" algn="just">
              <a:buNone/>
            </a:pPr>
            <a:r>
              <a:rPr lang="en-US" dirty="0"/>
              <a:t>.</a:t>
            </a:r>
            <a:endParaRPr lang="en-IN" dirty="0"/>
          </a:p>
          <a:p>
            <a:pPr algn="just"/>
            <a:r>
              <a:rPr lang="en-US" dirty="0"/>
              <a:t>Simulink models for lithium-ion batteries showcase effective SOC calculation, paving the way for developing other Battery Management System components.</a:t>
            </a:r>
          </a:p>
          <a:p>
            <a:pPr algn="just"/>
            <a:endParaRPr lang="en-US" dirty="0"/>
          </a:p>
          <a:p>
            <a:pPr algn="just"/>
            <a:r>
              <a:rPr lang="en-US" dirty="0"/>
              <a:t>Research highlights efficiency gains in electric motor control for extended EV range, emphasizing the importance of reliable control mechanisms. Regenerative braking's concise overview emphasizes its significance in increasing EV range by 8-25%, contributing to energy efficiency.</a:t>
            </a:r>
          </a:p>
          <a:p>
            <a:pPr algn="just"/>
            <a:endParaRPr lang="en-US" dirty="0"/>
          </a:p>
          <a:p>
            <a:pPr algn="just"/>
            <a:r>
              <a:rPr lang="en-US" dirty="0"/>
              <a:t>A two-level control architecture for CA-PHEVs optimizes speed profile and powertrain efficiency, considering real-world scenarios and future research directions.</a:t>
            </a:r>
          </a:p>
          <a:p>
            <a:pPr algn="just"/>
            <a:endParaRPr lang="en-US" dirty="0"/>
          </a:p>
          <a:p>
            <a:pPr algn="just"/>
            <a:r>
              <a:rPr lang="en-US" dirty="0"/>
              <a:t>Diverse light EV structures require innovative safety solutions, considering factors like affordability, manufacturing ease, and material choice for optimal design.</a:t>
            </a:r>
          </a:p>
          <a:p>
            <a:pPr algn="just"/>
            <a:endParaRPr lang="en-US" dirty="0"/>
          </a:p>
          <a:p>
            <a:pPr algn="just"/>
            <a:r>
              <a:rPr lang="en-US" dirty="0"/>
              <a:t>The paper offers a starting point for EV/HEV technologies, covering electric machines, energy sources, wireless charging, and latest models for researchers and engineers.</a:t>
            </a:r>
            <a:endParaRPr lang="en-IN" dirty="0"/>
          </a:p>
        </p:txBody>
      </p:sp>
    </p:spTree>
    <p:extLst>
      <p:ext uri="{BB962C8B-B14F-4D97-AF65-F5344CB8AC3E}">
        <p14:creationId xmlns:p14="http://schemas.microsoft.com/office/powerpoint/2010/main" val="1060966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373E0-3F41-403C-B7A4-5397C445F1C9}"/>
              </a:ext>
            </a:extLst>
          </p:cNvPr>
          <p:cNvSpPr>
            <a:spLocks noGrp="1"/>
          </p:cNvSpPr>
          <p:nvPr>
            <p:ph type="body" idx="1"/>
          </p:nvPr>
        </p:nvSpPr>
        <p:spPr>
          <a:xfrm>
            <a:off x="854766" y="288235"/>
            <a:ext cx="8189843" cy="4045227"/>
          </a:xfrm>
        </p:spPr>
        <p:txBody>
          <a:bodyPr/>
          <a:lstStyle/>
          <a:p>
            <a:pPr algn="just"/>
            <a:r>
              <a:rPr lang="en-US" dirty="0"/>
              <a:t>EV component exploration using MATLAB Simulink favors efficient Brushless DC motors, with regenerative braking enhancement potential for greater efficiency.</a:t>
            </a:r>
          </a:p>
          <a:p>
            <a:pPr algn="just"/>
            <a:endParaRPr lang="en-US" dirty="0"/>
          </a:p>
          <a:p>
            <a:pPr algn="just"/>
            <a:r>
              <a:rPr lang="en-US" dirty="0"/>
              <a:t>The study optimizes car performance during slope climbing, considering friction force, resistance, motor power, battery selection, and omnidirectional motion for a wheelchair vehicle.</a:t>
            </a:r>
          </a:p>
          <a:p>
            <a:pPr algn="just"/>
            <a:endParaRPr lang="en-US" dirty="0"/>
          </a:p>
          <a:p>
            <a:pPr algn="just"/>
            <a:r>
              <a:rPr lang="en-US" dirty="0"/>
              <a:t>A new autonomous system forecasts short-term weather conditions and broadcasts information through vehicles, implemented using a multi-agent approach.</a:t>
            </a:r>
          </a:p>
          <a:p>
            <a:pPr algn="just"/>
            <a:endParaRPr lang="en-US" dirty="0"/>
          </a:p>
          <a:p>
            <a:pPr algn="just"/>
            <a:r>
              <a:rPr lang="en-US" dirty="0"/>
              <a:t>A driving-charging integrated controller for EVs reduces onboard volume, with bidirectional converters demonstrating stability and a solar-powered golf cart proving technical viability.</a:t>
            </a:r>
          </a:p>
          <a:p>
            <a:pPr algn="just"/>
            <a:endParaRPr lang="en-US" dirty="0"/>
          </a:p>
          <a:p>
            <a:pPr algn="just"/>
            <a:r>
              <a:rPr lang="en-US" dirty="0"/>
              <a:t>The compact driving-charging integrated controller for EVs, coupled with bidirectional converters, demonstrates stability, and a solar-powered golf cart showcases technical viability and economic feasibility.</a:t>
            </a:r>
          </a:p>
          <a:p>
            <a:pPr marL="139700" indent="0" algn="just">
              <a:buNone/>
            </a:pPr>
            <a:endParaRPr lang="en-US" dirty="0"/>
          </a:p>
          <a:p>
            <a:pPr algn="just"/>
            <a:endParaRPr lang="en-IN" dirty="0"/>
          </a:p>
        </p:txBody>
      </p:sp>
    </p:spTree>
    <p:extLst>
      <p:ext uri="{BB962C8B-B14F-4D97-AF65-F5344CB8AC3E}">
        <p14:creationId xmlns:p14="http://schemas.microsoft.com/office/powerpoint/2010/main" val="1249716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0"/>
          <p:cNvSpPr/>
          <p:nvPr/>
        </p:nvSpPr>
        <p:spPr>
          <a:xfrm flipH="1">
            <a:off x="2352875" y="1306275"/>
            <a:ext cx="6261300" cy="2464500"/>
          </a:xfrm>
          <a:prstGeom prst="round2Diag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676" name="Google Shape;676;p50"/>
          <p:cNvGrpSpPr/>
          <p:nvPr/>
        </p:nvGrpSpPr>
        <p:grpSpPr>
          <a:xfrm flipH="1">
            <a:off x="-1079700" y="1577485"/>
            <a:ext cx="5069280" cy="3675698"/>
            <a:chOff x="4352672" y="1794325"/>
            <a:chExt cx="4618934" cy="3349155"/>
          </a:xfrm>
        </p:grpSpPr>
        <p:sp>
          <p:nvSpPr>
            <p:cNvPr id="677" name="Google Shape;677;p50"/>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50"/>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50"/>
            <p:cNvSpPr/>
            <p:nvPr/>
          </p:nvSpPr>
          <p:spPr>
            <a:xfrm flipH="1">
              <a:off x="6278872" y="2492593"/>
              <a:ext cx="461959" cy="1046066"/>
            </a:xfrm>
            <a:custGeom>
              <a:avLst/>
              <a:gdLst/>
              <a:ahLst/>
              <a:cxnLst/>
              <a:rect l="l" t="t" r="r" b="b"/>
              <a:pathLst>
                <a:path w="8585" h="19440" extrusionOk="0">
                  <a:moveTo>
                    <a:pt x="5830" y="59"/>
                  </a:moveTo>
                  <a:cubicBezTo>
                    <a:pt x="5704" y="59"/>
                    <a:pt x="4975" y="2480"/>
                    <a:pt x="4834" y="2729"/>
                  </a:cubicBezTo>
                  <a:cubicBezTo>
                    <a:pt x="4692" y="2980"/>
                    <a:pt x="4821" y="3624"/>
                    <a:pt x="4880" y="3833"/>
                  </a:cubicBezTo>
                  <a:cubicBezTo>
                    <a:pt x="4920" y="3976"/>
                    <a:pt x="4859" y="4238"/>
                    <a:pt x="4818" y="4389"/>
                  </a:cubicBezTo>
                  <a:cubicBezTo>
                    <a:pt x="4783" y="4389"/>
                    <a:pt x="4747" y="4390"/>
                    <a:pt x="4712" y="4396"/>
                  </a:cubicBezTo>
                  <a:cubicBezTo>
                    <a:pt x="4377" y="4448"/>
                    <a:pt x="4145" y="4758"/>
                    <a:pt x="4188" y="5093"/>
                  </a:cubicBezTo>
                  <a:cubicBezTo>
                    <a:pt x="3396" y="5357"/>
                    <a:pt x="56" y="6484"/>
                    <a:pt x="1" y="6645"/>
                  </a:cubicBezTo>
                  <a:cubicBezTo>
                    <a:pt x="1" y="6645"/>
                    <a:pt x="3053" y="6208"/>
                    <a:pt x="3291" y="5982"/>
                  </a:cubicBezTo>
                  <a:cubicBezTo>
                    <a:pt x="3530" y="5756"/>
                    <a:pt x="3942" y="5378"/>
                    <a:pt x="3942" y="5378"/>
                  </a:cubicBezTo>
                  <a:lnTo>
                    <a:pt x="4287" y="5361"/>
                  </a:lnTo>
                  <a:cubicBezTo>
                    <a:pt x="4380" y="5501"/>
                    <a:pt x="4527" y="5599"/>
                    <a:pt x="4692" y="5630"/>
                  </a:cubicBezTo>
                  <a:cubicBezTo>
                    <a:pt x="4555" y="7462"/>
                    <a:pt x="4507" y="19439"/>
                    <a:pt x="4507" y="19439"/>
                  </a:cubicBezTo>
                  <a:lnTo>
                    <a:pt x="5584" y="19439"/>
                  </a:lnTo>
                  <a:lnTo>
                    <a:pt x="5053" y="5590"/>
                  </a:lnTo>
                  <a:cubicBezTo>
                    <a:pt x="5091" y="5573"/>
                    <a:pt x="5128" y="5554"/>
                    <a:pt x="5162" y="5531"/>
                  </a:cubicBezTo>
                  <a:cubicBezTo>
                    <a:pt x="5505" y="5841"/>
                    <a:pt x="8313" y="8376"/>
                    <a:pt x="8510" y="8376"/>
                  </a:cubicBezTo>
                  <a:cubicBezTo>
                    <a:pt x="8515" y="8376"/>
                    <a:pt x="8518" y="8374"/>
                    <a:pt x="8520" y="8371"/>
                  </a:cubicBezTo>
                  <a:cubicBezTo>
                    <a:pt x="8585" y="8224"/>
                    <a:pt x="6872" y="6092"/>
                    <a:pt x="6616" y="5997"/>
                  </a:cubicBezTo>
                  <a:cubicBezTo>
                    <a:pt x="6362" y="5903"/>
                    <a:pt x="5915" y="5532"/>
                    <a:pt x="5733" y="5469"/>
                  </a:cubicBezTo>
                  <a:cubicBezTo>
                    <a:pt x="5645" y="5439"/>
                    <a:pt x="5498" y="5363"/>
                    <a:pt x="5368" y="5291"/>
                  </a:cubicBezTo>
                  <a:cubicBezTo>
                    <a:pt x="5423" y="5180"/>
                    <a:pt x="5446" y="5052"/>
                    <a:pt x="5426" y="4919"/>
                  </a:cubicBezTo>
                  <a:cubicBezTo>
                    <a:pt x="5390" y="4689"/>
                    <a:pt x="5232" y="4506"/>
                    <a:pt x="5029" y="4430"/>
                  </a:cubicBezTo>
                  <a:cubicBezTo>
                    <a:pt x="5208" y="3647"/>
                    <a:pt x="5867" y="768"/>
                    <a:pt x="5949" y="411"/>
                  </a:cubicBezTo>
                  <a:cubicBezTo>
                    <a:pt x="6042" y="0"/>
                    <a:pt x="5949" y="103"/>
                    <a:pt x="5833" y="59"/>
                  </a:cubicBezTo>
                  <a:cubicBezTo>
                    <a:pt x="5832" y="59"/>
                    <a:pt x="5831" y="59"/>
                    <a:pt x="5830" y="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aseline="-25000" dirty="0"/>
            </a:p>
          </p:txBody>
        </p:sp>
        <p:sp>
          <p:nvSpPr>
            <p:cNvPr id="680" name="Google Shape;680;p50"/>
            <p:cNvSpPr/>
            <p:nvPr/>
          </p:nvSpPr>
          <p:spPr>
            <a:xfrm flipH="1">
              <a:off x="5184462" y="2791272"/>
              <a:ext cx="454425" cy="937155"/>
            </a:xfrm>
            <a:custGeom>
              <a:avLst/>
              <a:gdLst/>
              <a:ahLst/>
              <a:cxnLst/>
              <a:rect l="l" t="t" r="r" b="b"/>
              <a:pathLst>
                <a:path w="8445" h="17416" extrusionOk="0">
                  <a:moveTo>
                    <a:pt x="85" y="0"/>
                  </a:moveTo>
                  <a:cubicBezTo>
                    <a:pt x="80" y="0"/>
                    <a:pt x="77" y="2"/>
                    <a:pt x="76" y="5"/>
                  </a:cubicBezTo>
                  <a:cubicBezTo>
                    <a:pt x="1" y="145"/>
                    <a:pt x="1551" y="2398"/>
                    <a:pt x="1799" y="2511"/>
                  </a:cubicBezTo>
                  <a:cubicBezTo>
                    <a:pt x="2046" y="2624"/>
                    <a:pt x="2465" y="3027"/>
                    <a:pt x="2641" y="3103"/>
                  </a:cubicBezTo>
                  <a:cubicBezTo>
                    <a:pt x="2726" y="3140"/>
                    <a:pt x="2867" y="3227"/>
                    <a:pt x="2992" y="3308"/>
                  </a:cubicBezTo>
                  <a:cubicBezTo>
                    <a:pt x="2928" y="3415"/>
                    <a:pt x="2897" y="3541"/>
                    <a:pt x="2907" y="3674"/>
                  </a:cubicBezTo>
                  <a:cubicBezTo>
                    <a:pt x="2925" y="3907"/>
                    <a:pt x="3069" y="4100"/>
                    <a:pt x="3267" y="4193"/>
                  </a:cubicBezTo>
                  <a:cubicBezTo>
                    <a:pt x="3030" y="4960"/>
                    <a:pt x="2159" y="7783"/>
                    <a:pt x="2053" y="8131"/>
                  </a:cubicBezTo>
                  <a:cubicBezTo>
                    <a:pt x="1929" y="8534"/>
                    <a:pt x="2029" y="8439"/>
                    <a:pt x="2141" y="8491"/>
                  </a:cubicBezTo>
                  <a:cubicBezTo>
                    <a:pt x="2142" y="8492"/>
                    <a:pt x="2143" y="8492"/>
                    <a:pt x="2145" y="8492"/>
                  </a:cubicBezTo>
                  <a:cubicBezTo>
                    <a:pt x="2263" y="8492"/>
                    <a:pt x="3052" y="6463"/>
                    <a:pt x="3290" y="5984"/>
                  </a:cubicBezTo>
                  <a:lnTo>
                    <a:pt x="3290" y="5984"/>
                  </a:lnTo>
                  <a:cubicBezTo>
                    <a:pt x="3212" y="10046"/>
                    <a:pt x="3181" y="17416"/>
                    <a:pt x="3181" y="17416"/>
                  </a:cubicBezTo>
                  <a:lnTo>
                    <a:pt x="4258" y="17416"/>
                  </a:lnTo>
                  <a:lnTo>
                    <a:pt x="3752" y="4210"/>
                  </a:lnTo>
                  <a:cubicBezTo>
                    <a:pt x="4001" y="4116"/>
                    <a:pt x="4169" y="3871"/>
                    <a:pt x="4155" y="3594"/>
                  </a:cubicBezTo>
                  <a:cubicBezTo>
                    <a:pt x="4964" y="3387"/>
                    <a:pt x="8377" y="2511"/>
                    <a:pt x="8445" y="2355"/>
                  </a:cubicBezTo>
                  <a:lnTo>
                    <a:pt x="8445" y="2355"/>
                  </a:lnTo>
                  <a:cubicBezTo>
                    <a:pt x="8445" y="2355"/>
                    <a:pt x="5368" y="2565"/>
                    <a:pt x="5113" y="2772"/>
                  </a:cubicBezTo>
                  <a:cubicBezTo>
                    <a:pt x="4858" y="2980"/>
                    <a:pt x="4421" y="3326"/>
                    <a:pt x="4421" y="3326"/>
                  </a:cubicBezTo>
                  <a:lnTo>
                    <a:pt x="4074" y="3318"/>
                  </a:lnTo>
                  <a:cubicBezTo>
                    <a:pt x="3966" y="3127"/>
                    <a:pt x="3761" y="2999"/>
                    <a:pt x="3530" y="2999"/>
                  </a:cubicBezTo>
                  <a:cubicBezTo>
                    <a:pt x="3514" y="2999"/>
                    <a:pt x="3497" y="3000"/>
                    <a:pt x="3481" y="3001"/>
                  </a:cubicBezTo>
                  <a:cubicBezTo>
                    <a:pt x="3385" y="3010"/>
                    <a:pt x="3294" y="3038"/>
                    <a:pt x="3215" y="3085"/>
                  </a:cubicBezTo>
                  <a:cubicBezTo>
                    <a:pt x="2895" y="2748"/>
                    <a:pt x="269" y="0"/>
                    <a:pt x="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50"/>
            <p:cNvSpPr/>
            <p:nvPr/>
          </p:nvSpPr>
          <p:spPr>
            <a:xfrm flipH="1">
              <a:off x="7560844" y="2002576"/>
              <a:ext cx="334705" cy="788678"/>
            </a:xfrm>
            <a:custGeom>
              <a:avLst/>
              <a:gdLst/>
              <a:ahLst/>
              <a:cxnLst/>
              <a:rect l="l" t="t" r="r" b="b"/>
              <a:pathLst>
                <a:path w="8172" h="19256" extrusionOk="0">
                  <a:moveTo>
                    <a:pt x="1590" y="1"/>
                  </a:moveTo>
                  <a:cubicBezTo>
                    <a:pt x="1557" y="1"/>
                    <a:pt x="1522" y="33"/>
                    <a:pt x="1469" y="44"/>
                  </a:cubicBezTo>
                  <a:cubicBezTo>
                    <a:pt x="1348" y="69"/>
                    <a:pt x="2032" y="2547"/>
                    <a:pt x="2045" y="2835"/>
                  </a:cubicBezTo>
                  <a:cubicBezTo>
                    <a:pt x="2059" y="3124"/>
                    <a:pt x="2511" y="3600"/>
                    <a:pt x="2672" y="3746"/>
                  </a:cubicBezTo>
                  <a:cubicBezTo>
                    <a:pt x="2783" y="3845"/>
                    <a:pt x="2870" y="4099"/>
                    <a:pt x="2915" y="4249"/>
                  </a:cubicBezTo>
                  <a:cubicBezTo>
                    <a:pt x="2886" y="4267"/>
                    <a:pt x="2857" y="4287"/>
                    <a:pt x="2831" y="4311"/>
                  </a:cubicBezTo>
                  <a:cubicBezTo>
                    <a:pt x="2573" y="4533"/>
                    <a:pt x="2542" y="4919"/>
                    <a:pt x="2756" y="5180"/>
                  </a:cubicBezTo>
                  <a:cubicBezTo>
                    <a:pt x="2228" y="5825"/>
                    <a:pt x="1" y="8558"/>
                    <a:pt x="40" y="8724"/>
                  </a:cubicBezTo>
                  <a:cubicBezTo>
                    <a:pt x="40" y="8724"/>
                    <a:pt x="2391" y="6728"/>
                    <a:pt x="2473" y="6410"/>
                  </a:cubicBezTo>
                  <a:cubicBezTo>
                    <a:pt x="2555" y="6091"/>
                    <a:pt x="2701" y="5553"/>
                    <a:pt x="2701" y="5553"/>
                  </a:cubicBezTo>
                  <a:lnTo>
                    <a:pt x="2985" y="5354"/>
                  </a:lnTo>
                  <a:cubicBezTo>
                    <a:pt x="3020" y="5370"/>
                    <a:pt x="3057" y="5382"/>
                    <a:pt x="3095" y="5392"/>
                  </a:cubicBezTo>
                  <a:cubicBezTo>
                    <a:pt x="2955" y="7032"/>
                    <a:pt x="2905" y="19255"/>
                    <a:pt x="2905" y="19255"/>
                  </a:cubicBezTo>
                  <a:lnTo>
                    <a:pt x="3983" y="19255"/>
                  </a:lnTo>
                  <a:lnTo>
                    <a:pt x="3450" y="5372"/>
                  </a:lnTo>
                  <a:cubicBezTo>
                    <a:pt x="3520" y="5347"/>
                    <a:pt x="3590" y="5309"/>
                    <a:pt x="3650" y="5257"/>
                  </a:cubicBezTo>
                  <a:cubicBezTo>
                    <a:pt x="3724" y="5193"/>
                    <a:pt x="3778" y="5115"/>
                    <a:pt x="3814" y="5032"/>
                  </a:cubicBezTo>
                  <a:cubicBezTo>
                    <a:pt x="4237" y="5106"/>
                    <a:pt x="7461" y="5668"/>
                    <a:pt x="8070" y="5668"/>
                  </a:cubicBezTo>
                  <a:cubicBezTo>
                    <a:pt x="8136" y="5668"/>
                    <a:pt x="8171" y="5661"/>
                    <a:pt x="8169" y="5647"/>
                  </a:cubicBezTo>
                  <a:cubicBezTo>
                    <a:pt x="8147" y="5493"/>
                    <a:pt x="5714" y="4649"/>
                    <a:pt x="5326" y="4649"/>
                  </a:cubicBezTo>
                  <a:cubicBezTo>
                    <a:pt x="5314" y="4649"/>
                    <a:pt x="5304" y="4650"/>
                    <a:pt x="5296" y="4652"/>
                  </a:cubicBezTo>
                  <a:cubicBezTo>
                    <a:pt x="5216" y="4668"/>
                    <a:pt x="5110" y="4673"/>
                    <a:pt x="4995" y="4673"/>
                  </a:cubicBezTo>
                  <a:cubicBezTo>
                    <a:pt x="4817" y="4673"/>
                    <a:pt x="4618" y="4661"/>
                    <a:pt x="4464" y="4661"/>
                  </a:cubicBezTo>
                  <a:cubicBezTo>
                    <a:pt x="4381" y="4661"/>
                    <a:pt x="4312" y="4665"/>
                    <a:pt x="4265" y="4676"/>
                  </a:cubicBezTo>
                  <a:cubicBezTo>
                    <a:pt x="4176" y="4697"/>
                    <a:pt x="4009" y="4710"/>
                    <a:pt x="3862" y="4718"/>
                  </a:cubicBezTo>
                  <a:cubicBezTo>
                    <a:pt x="3850" y="4595"/>
                    <a:pt x="3800" y="4475"/>
                    <a:pt x="3713" y="4373"/>
                  </a:cubicBezTo>
                  <a:cubicBezTo>
                    <a:pt x="3590" y="4231"/>
                    <a:pt x="3416" y="4158"/>
                    <a:pt x="3242" y="4158"/>
                  </a:cubicBezTo>
                  <a:cubicBezTo>
                    <a:pt x="3200" y="4158"/>
                    <a:pt x="3158" y="4162"/>
                    <a:pt x="3116" y="4171"/>
                  </a:cubicBezTo>
                  <a:cubicBezTo>
                    <a:pt x="2850" y="3412"/>
                    <a:pt x="1875" y="623"/>
                    <a:pt x="1754" y="280"/>
                  </a:cubicBezTo>
                  <a:cubicBezTo>
                    <a:pt x="1675" y="55"/>
                    <a:pt x="1633" y="1"/>
                    <a:pt x="1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50"/>
            <p:cNvSpPr/>
            <p:nvPr/>
          </p:nvSpPr>
          <p:spPr>
            <a:xfrm flipH="1">
              <a:off x="6831495" y="1794325"/>
              <a:ext cx="638671" cy="142445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83" name="Google Shape;683;p50"/>
          <p:cNvSpPr txBox="1">
            <a:spLocks noGrp="1"/>
          </p:cNvSpPr>
          <p:nvPr>
            <p:ph type="title"/>
          </p:nvPr>
        </p:nvSpPr>
        <p:spPr>
          <a:xfrm flipH="1">
            <a:off x="2293620" y="1412188"/>
            <a:ext cx="6541200" cy="2294400"/>
          </a:xfrm>
          <a:prstGeom prst="rect">
            <a:avLst/>
          </a:prstGeom>
        </p:spPr>
        <p:txBody>
          <a:bodyPr spcFirstLastPara="1" wrap="square" lIns="91425" tIns="91425" rIns="91425" bIns="91425" anchor="ctr" anchorCtr="0">
            <a:noAutofit/>
          </a:bodyPr>
          <a:lstStyle/>
          <a:p>
            <a:pPr algn="ctr"/>
            <a:r>
              <a:rPr lang="en-US" sz="6600" dirty="0">
                <a:latin typeface="Montserrat" panose="00000500000000000000" pitchFamily="2" charset="0"/>
              </a:rPr>
              <a:t>Research Gaps and Objectives</a:t>
            </a:r>
            <a:endParaRPr lang="en-IN" sz="6600" dirty="0">
              <a:latin typeface="Montserrat" panose="00000500000000000000" pitchFamily="2" charset="0"/>
            </a:endParaRPr>
          </a:p>
        </p:txBody>
      </p:sp>
      <p:grpSp>
        <p:nvGrpSpPr>
          <p:cNvPr id="684" name="Google Shape;684;p50"/>
          <p:cNvGrpSpPr/>
          <p:nvPr/>
        </p:nvGrpSpPr>
        <p:grpSpPr>
          <a:xfrm>
            <a:off x="168576" y="3073867"/>
            <a:ext cx="4327705" cy="2027387"/>
            <a:chOff x="713225" y="2253700"/>
            <a:chExt cx="5046298" cy="2364025"/>
          </a:xfrm>
        </p:grpSpPr>
        <p:sp>
          <p:nvSpPr>
            <p:cNvPr id="685" name="Google Shape;685;p50"/>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50"/>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50"/>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50"/>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50"/>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50"/>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50"/>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50"/>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50"/>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50"/>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50"/>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50"/>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50"/>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50"/>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50"/>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50"/>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50"/>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50"/>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50"/>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50"/>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50"/>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706;p50"/>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707;p50"/>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50"/>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709;p50"/>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710;p50"/>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50"/>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50"/>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50"/>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50"/>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715;p50"/>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716;p50"/>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50"/>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8" name="Google Shape;718;p50"/>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9" name="Google Shape;719;p50"/>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0" name="Google Shape;720;p50"/>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50"/>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50"/>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50"/>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4" name="Google Shape;724;p50"/>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5" name="Google Shape;725;p50"/>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50"/>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50"/>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50"/>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50"/>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50"/>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50"/>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32" name="Google Shape;732;p50"/>
          <p:cNvSpPr/>
          <p:nvPr/>
        </p:nvSpPr>
        <p:spPr>
          <a:xfrm>
            <a:off x="253101" y="539500"/>
            <a:ext cx="1703925" cy="40375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3" name="Google Shape;733;p50"/>
          <p:cNvSpPr/>
          <p:nvPr/>
        </p:nvSpPr>
        <p:spPr>
          <a:xfrm>
            <a:off x="6937875" y="4175525"/>
            <a:ext cx="1866036" cy="44220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50"/>
          <p:cNvSpPr/>
          <p:nvPr/>
        </p:nvSpPr>
        <p:spPr>
          <a:xfrm rot="10800000" flipH="1">
            <a:off x="6022732" y="548304"/>
            <a:ext cx="4080594" cy="89794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217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D6AEEED-631D-4B7A-9CD1-87E8B93D368D}"/>
              </a:ext>
            </a:extLst>
          </p:cNvPr>
          <p:cNvSpPr>
            <a:spLocks noGrp="1"/>
          </p:cNvSpPr>
          <p:nvPr>
            <p:ph type="subTitle" idx="1"/>
          </p:nvPr>
        </p:nvSpPr>
        <p:spPr>
          <a:xfrm>
            <a:off x="1202635" y="649364"/>
            <a:ext cx="1982874" cy="411600"/>
          </a:xfrm>
        </p:spPr>
        <p:txBody>
          <a:bodyPr/>
          <a:lstStyle/>
          <a:p>
            <a:pPr algn="ctr"/>
            <a:r>
              <a:rPr lang="en-IN" dirty="0"/>
              <a:t>Research Gaps </a:t>
            </a:r>
          </a:p>
        </p:txBody>
      </p:sp>
      <p:sp>
        <p:nvSpPr>
          <p:cNvPr id="4" name="Text Placeholder 3">
            <a:extLst>
              <a:ext uri="{FF2B5EF4-FFF2-40B4-BE49-F238E27FC236}">
                <a16:creationId xmlns:a16="http://schemas.microsoft.com/office/drawing/2014/main" id="{FA6FDBB4-6570-4CC1-8A70-1402F80C52F5}"/>
              </a:ext>
            </a:extLst>
          </p:cNvPr>
          <p:cNvSpPr>
            <a:spLocks noGrp="1"/>
          </p:cNvSpPr>
          <p:nvPr>
            <p:ph type="body" idx="2"/>
          </p:nvPr>
        </p:nvSpPr>
        <p:spPr>
          <a:xfrm>
            <a:off x="157272" y="1060964"/>
            <a:ext cx="3964989" cy="2797976"/>
          </a:xfrm>
        </p:spPr>
        <p:txBody>
          <a:bodyPr/>
          <a:lstStyle/>
          <a:p>
            <a:pPr algn="just"/>
            <a:r>
              <a:rPr lang="en-US" dirty="0"/>
              <a:t>To select and implement electrical transmission components on vehicle frame. </a:t>
            </a:r>
          </a:p>
          <a:p>
            <a:pPr algn="just"/>
            <a:r>
              <a:rPr lang="en-US" dirty="0"/>
              <a:t>To provide wiring and control for motor torque from accelerator. </a:t>
            </a:r>
          </a:p>
          <a:p>
            <a:pPr algn="just"/>
            <a:r>
              <a:rPr lang="en-US" dirty="0"/>
              <a:t>To design our customized battery bank based on motor requirements </a:t>
            </a:r>
          </a:p>
          <a:p>
            <a:pPr algn="just"/>
            <a:r>
              <a:rPr lang="en-US" dirty="0"/>
              <a:t>Using a compatible motor controller to regulate torque outputs. </a:t>
            </a:r>
          </a:p>
          <a:p>
            <a:pPr algn="just"/>
            <a:r>
              <a:rPr lang="en-US" dirty="0"/>
              <a:t>Able to power an electric vehicle of 1000kg load for the distance of 60 km. </a:t>
            </a:r>
            <a:endParaRPr lang="en-IN" dirty="0"/>
          </a:p>
        </p:txBody>
      </p:sp>
      <p:sp>
        <p:nvSpPr>
          <p:cNvPr id="5" name="Subtitle 4">
            <a:extLst>
              <a:ext uri="{FF2B5EF4-FFF2-40B4-BE49-F238E27FC236}">
                <a16:creationId xmlns:a16="http://schemas.microsoft.com/office/drawing/2014/main" id="{F5DF77E9-7155-4FB4-90DC-636E823306DC}"/>
              </a:ext>
            </a:extLst>
          </p:cNvPr>
          <p:cNvSpPr>
            <a:spLocks noGrp="1"/>
          </p:cNvSpPr>
          <p:nvPr>
            <p:ph type="subTitle" idx="3"/>
          </p:nvPr>
        </p:nvSpPr>
        <p:spPr>
          <a:xfrm>
            <a:off x="5624046" y="649364"/>
            <a:ext cx="2807100" cy="411600"/>
          </a:xfrm>
        </p:spPr>
        <p:txBody>
          <a:bodyPr/>
          <a:lstStyle/>
          <a:p>
            <a:pPr algn="ctr"/>
            <a:r>
              <a:rPr lang="en-IN" dirty="0"/>
              <a:t>Research Objectives </a:t>
            </a:r>
          </a:p>
        </p:txBody>
      </p:sp>
      <p:sp>
        <p:nvSpPr>
          <p:cNvPr id="6" name="Text Placeholder 5">
            <a:extLst>
              <a:ext uri="{FF2B5EF4-FFF2-40B4-BE49-F238E27FC236}">
                <a16:creationId xmlns:a16="http://schemas.microsoft.com/office/drawing/2014/main" id="{553F1913-4752-4B8B-A6F7-3191A25ABF97}"/>
              </a:ext>
            </a:extLst>
          </p:cNvPr>
          <p:cNvSpPr>
            <a:spLocks noGrp="1"/>
          </p:cNvSpPr>
          <p:nvPr>
            <p:ph type="body" idx="4"/>
          </p:nvPr>
        </p:nvSpPr>
        <p:spPr>
          <a:xfrm>
            <a:off x="4740965" y="1060963"/>
            <a:ext cx="4154557" cy="2527063"/>
          </a:xfrm>
        </p:spPr>
        <p:txBody>
          <a:bodyPr/>
          <a:lstStyle/>
          <a:p>
            <a:pPr algn="just"/>
            <a:r>
              <a:rPr lang="en-US" dirty="0"/>
              <a:t>State-of-the-Art in Electric Motor Drive Systems for Six-Seater Golf Cart</a:t>
            </a:r>
          </a:p>
          <a:p>
            <a:pPr algn="just"/>
            <a:r>
              <a:rPr lang="en-US" dirty="0"/>
              <a:t>Design of Electric Motor Drive System for Six-Seater Golf Cart</a:t>
            </a:r>
          </a:p>
          <a:p>
            <a:pPr algn="just"/>
            <a:r>
              <a:rPr lang="en-US" dirty="0"/>
              <a:t>Factors Influencing Efficiency and Cost</a:t>
            </a:r>
          </a:p>
          <a:p>
            <a:pPr algn="just"/>
            <a:r>
              <a:rPr lang="en-US" dirty="0"/>
              <a:t>Comparison with Existing Systems and Performance Benchmarking</a:t>
            </a:r>
          </a:p>
          <a:p>
            <a:pPr algn="just"/>
            <a:r>
              <a:rPr lang="en-US" dirty="0"/>
              <a:t>Recommendations for Further Research and Development</a:t>
            </a:r>
          </a:p>
          <a:p>
            <a:pPr marL="139700" indent="0" algn="just">
              <a:buNone/>
            </a:pPr>
            <a:endParaRPr lang="en-IN" dirty="0"/>
          </a:p>
        </p:txBody>
      </p:sp>
    </p:spTree>
    <p:extLst>
      <p:ext uri="{BB962C8B-B14F-4D97-AF65-F5344CB8AC3E}">
        <p14:creationId xmlns:p14="http://schemas.microsoft.com/office/powerpoint/2010/main" val="3230822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49"/>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49"/>
          <p:cNvSpPr txBox="1">
            <a:spLocks noGrp="1"/>
          </p:cNvSpPr>
          <p:nvPr>
            <p:ph type="title"/>
          </p:nvPr>
        </p:nvSpPr>
        <p:spPr>
          <a:xfrm>
            <a:off x="527250" y="573807"/>
            <a:ext cx="7717500" cy="576000"/>
          </a:xfrm>
          <a:prstGeom prst="rect">
            <a:avLst/>
          </a:prstGeom>
        </p:spPr>
        <p:txBody>
          <a:bodyPr spcFirstLastPara="1" wrap="square" lIns="91425" tIns="91425" rIns="91425" bIns="91425" anchor="t" anchorCtr="0">
            <a:noAutofit/>
          </a:bodyPr>
          <a:lstStyle/>
          <a:p>
            <a:pPr algn="ctr"/>
            <a:r>
              <a:rPr lang="en-US" sz="3200" dirty="0">
                <a:latin typeface="Montserrat" panose="00000500000000000000" pitchFamily="2" charset="0"/>
              </a:rPr>
              <a:t>Design Development</a:t>
            </a:r>
            <a:endParaRPr lang="en-IN" sz="3200" dirty="0">
              <a:latin typeface="Montserrat" panose="00000500000000000000" pitchFamily="2" charset="0"/>
            </a:endParaRPr>
          </a:p>
        </p:txBody>
      </p:sp>
      <p:sp>
        <p:nvSpPr>
          <p:cNvPr id="641" name="Google Shape;641;p49"/>
          <p:cNvSpPr txBox="1">
            <a:spLocks noGrp="1"/>
          </p:cNvSpPr>
          <p:nvPr>
            <p:ph type="subTitle" idx="1"/>
          </p:nvPr>
        </p:nvSpPr>
        <p:spPr>
          <a:xfrm>
            <a:off x="797824" y="1503451"/>
            <a:ext cx="6528009" cy="3056458"/>
          </a:xfrm>
          <a:prstGeom prst="rect">
            <a:avLst/>
          </a:prstGeom>
        </p:spPr>
        <p:txBody>
          <a:bodyPr spcFirstLastPara="1" wrap="square" lIns="91425" tIns="91425" rIns="91425" bIns="91425" anchor="b" anchorCtr="0">
            <a:noAutofit/>
          </a:bodyPr>
          <a:lstStyle/>
          <a:p>
            <a:pPr marL="342900" lvl="0" indent="-342900" algn="l" rtl="0">
              <a:lnSpc>
                <a:spcPct val="150000"/>
              </a:lnSpc>
              <a:spcBef>
                <a:spcPts val="0"/>
              </a:spcBef>
              <a:spcAft>
                <a:spcPts val="0"/>
              </a:spcAft>
              <a:buBlip>
                <a:blip r:embed="rId3">
                  <a:extLst>
                    <a:ext uri="{96DAC541-7B7A-43D3-8B79-37D633B846F1}">
                      <asvg:svgBlip xmlns:asvg="http://schemas.microsoft.com/office/drawing/2016/SVG/main" r:embed="rId4"/>
                    </a:ext>
                  </a:extLst>
                </a:blip>
              </a:buBlip>
            </a:pPr>
            <a:r>
              <a:rPr lang="en" sz="1600" b="0" dirty="0">
                <a:latin typeface="SF Pro Text" panose="00000500000000000000" pitchFamily="2" charset="0"/>
                <a:ea typeface="SF Pro Text" panose="00000500000000000000" pitchFamily="2" charset="0"/>
              </a:rPr>
              <a:t>Safety and comfort</a:t>
            </a:r>
          </a:p>
          <a:p>
            <a:pPr marL="342900" indent="-34290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Standardization as per industry </a:t>
            </a:r>
            <a:endParaRPr lang="en" sz="1600" b="0" dirty="0">
              <a:latin typeface="SF Pro Text" panose="00000500000000000000" pitchFamily="2" charset="0"/>
              <a:ea typeface="SF Pro Text" panose="00000500000000000000" pitchFamily="2" charset="0"/>
            </a:endParaRPr>
          </a:p>
          <a:p>
            <a:pPr marL="285750" indent="-28575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 Maneuverability (easy to move and direct)</a:t>
            </a:r>
          </a:p>
          <a:p>
            <a:pPr marL="285750" indent="-28575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 Power </a:t>
            </a:r>
            <a:r>
              <a:rPr lang="en-US" sz="1600" b="0" dirty="0">
                <a:solidFill>
                  <a:srgbClr val="1B667A"/>
                </a:solidFill>
                <a:latin typeface="SF Pro Text" panose="00000500000000000000" pitchFamily="2" charset="0"/>
                <a:ea typeface="SF Pro Text" panose="00000500000000000000" pitchFamily="2" charset="0"/>
              </a:rPr>
              <a:t>and</a:t>
            </a:r>
            <a:r>
              <a:rPr lang="en-US" sz="1600" b="0" dirty="0">
                <a:latin typeface="SF Pro Text" panose="00000500000000000000" pitchFamily="2" charset="0"/>
                <a:ea typeface="SF Pro Text" panose="00000500000000000000" pitchFamily="2" charset="0"/>
              </a:rPr>
              <a:t> performance </a:t>
            </a:r>
          </a:p>
          <a:p>
            <a:pPr marL="285750" indent="-28575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 High quality cost ratio  </a:t>
            </a:r>
          </a:p>
          <a:p>
            <a:pPr marL="285750" indent="-28575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 Safe engineering practices  </a:t>
            </a:r>
          </a:p>
          <a:p>
            <a:pPr marL="285750" indent="-285750" algn="l">
              <a:lnSpc>
                <a:spcPct val="150000"/>
              </a:lnSpc>
              <a:buBlip>
                <a:blip r:embed="rId3">
                  <a:extLst>
                    <a:ext uri="{96DAC541-7B7A-43D3-8B79-37D633B846F1}">
                      <asvg:svgBlip xmlns:asvg="http://schemas.microsoft.com/office/drawing/2016/SVG/main" r:embed="rId4"/>
                    </a:ext>
                  </a:extLst>
                </a:blip>
              </a:buBlip>
            </a:pPr>
            <a:r>
              <a:rPr lang="en-US" sz="1600" b="0" dirty="0">
                <a:latin typeface="SF Pro Text" panose="00000500000000000000" pitchFamily="2" charset="0"/>
                <a:ea typeface="SF Pro Text" panose="00000500000000000000" pitchFamily="2" charset="0"/>
              </a:rPr>
              <a:t> Stability and long product life</a:t>
            </a:r>
          </a:p>
          <a:p>
            <a:pPr marL="0" lvl="0" indent="0" algn="l" rtl="0">
              <a:lnSpc>
                <a:spcPct val="150000"/>
              </a:lnSpc>
              <a:spcBef>
                <a:spcPts val="0"/>
              </a:spcBef>
              <a:spcAft>
                <a:spcPts val="0"/>
              </a:spcAft>
              <a:buNone/>
            </a:pPr>
            <a:endParaRPr sz="1800" b="0" dirty="0"/>
          </a:p>
        </p:txBody>
      </p:sp>
      <p:grpSp>
        <p:nvGrpSpPr>
          <p:cNvPr id="33" name="Google Shape;595;p48">
            <a:extLst>
              <a:ext uri="{FF2B5EF4-FFF2-40B4-BE49-F238E27FC236}">
                <a16:creationId xmlns:a16="http://schemas.microsoft.com/office/drawing/2014/main" id="{41BEB003-24E9-D4EB-314B-D3F308B017E7}"/>
              </a:ext>
            </a:extLst>
          </p:cNvPr>
          <p:cNvGrpSpPr/>
          <p:nvPr/>
        </p:nvGrpSpPr>
        <p:grpSpPr>
          <a:xfrm>
            <a:off x="5778184" y="3889059"/>
            <a:ext cx="2769770" cy="1390579"/>
            <a:chOff x="-481288" y="2237993"/>
            <a:chExt cx="5439455" cy="2905513"/>
          </a:xfrm>
        </p:grpSpPr>
        <p:sp>
          <p:nvSpPr>
            <p:cNvPr id="34" name="Google Shape;596;p48">
              <a:extLst>
                <a:ext uri="{FF2B5EF4-FFF2-40B4-BE49-F238E27FC236}">
                  <a16:creationId xmlns:a16="http://schemas.microsoft.com/office/drawing/2014/main" id="{EB4CC8B7-E948-72C8-D114-60F20CAD3380}"/>
                </a:ext>
              </a:extLst>
            </p:cNvPr>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597;p48">
              <a:extLst>
                <a:ext uri="{FF2B5EF4-FFF2-40B4-BE49-F238E27FC236}">
                  <a16:creationId xmlns:a16="http://schemas.microsoft.com/office/drawing/2014/main" id="{637051B8-0F47-1D13-3D9C-9B668FD7C68A}"/>
                </a:ext>
              </a:extLst>
            </p:cNvPr>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 name="Google Shape;620;p48">
            <a:extLst>
              <a:ext uri="{FF2B5EF4-FFF2-40B4-BE49-F238E27FC236}">
                <a16:creationId xmlns:a16="http://schemas.microsoft.com/office/drawing/2014/main" id="{117ECFA3-74D4-7F7D-AF6E-43331CC7A102}"/>
              </a:ext>
            </a:extLst>
          </p:cNvPr>
          <p:cNvGrpSpPr/>
          <p:nvPr/>
        </p:nvGrpSpPr>
        <p:grpSpPr>
          <a:xfrm>
            <a:off x="6208419" y="2932702"/>
            <a:ext cx="1745737" cy="1983173"/>
            <a:chOff x="3598805" y="2812602"/>
            <a:chExt cx="1745737" cy="1983173"/>
          </a:xfrm>
        </p:grpSpPr>
        <p:sp>
          <p:nvSpPr>
            <p:cNvPr id="37" name="Google Shape;621;p48">
              <a:extLst>
                <a:ext uri="{FF2B5EF4-FFF2-40B4-BE49-F238E27FC236}">
                  <a16:creationId xmlns:a16="http://schemas.microsoft.com/office/drawing/2014/main" id="{937D7A60-FB08-BE28-52A9-5CDD6C0411C1}"/>
                </a:ext>
              </a:extLst>
            </p:cNvPr>
            <p:cNvSpPr/>
            <p:nvPr/>
          </p:nvSpPr>
          <p:spPr>
            <a:xfrm>
              <a:off x="4487641" y="2812602"/>
              <a:ext cx="147863" cy="1983160"/>
            </a:xfrm>
            <a:custGeom>
              <a:avLst/>
              <a:gdLst/>
              <a:ahLst/>
              <a:cxnLst/>
              <a:rect l="l" t="t" r="r" b="b"/>
              <a:pathLst>
                <a:path w="2635" h="35341" extrusionOk="0">
                  <a:moveTo>
                    <a:pt x="1" y="0"/>
                  </a:moveTo>
                  <a:lnTo>
                    <a:pt x="1" y="35341"/>
                  </a:lnTo>
                  <a:lnTo>
                    <a:pt x="2634" y="35341"/>
                  </a:lnTo>
                  <a:lnTo>
                    <a:pt x="2634" y="6697"/>
                  </a:lnTo>
                  <a:cubicBezTo>
                    <a:pt x="1038" y="5067"/>
                    <a:pt x="22" y="2674"/>
                    <a:pt x="1" y="0"/>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622;p48">
              <a:extLst>
                <a:ext uri="{FF2B5EF4-FFF2-40B4-BE49-F238E27FC236}">
                  <a16:creationId xmlns:a16="http://schemas.microsoft.com/office/drawing/2014/main" id="{5B619768-5C28-7F01-3963-50959B6856BC}"/>
                </a:ext>
              </a:extLst>
            </p:cNvPr>
            <p:cNvSpPr/>
            <p:nvPr/>
          </p:nvSpPr>
          <p:spPr>
            <a:xfrm>
              <a:off x="5196679" y="2812602"/>
              <a:ext cx="147863" cy="1983160"/>
            </a:xfrm>
            <a:custGeom>
              <a:avLst/>
              <a:gdLst/>
              <a:ahLst/>
              <a:cxnLst/>
              <a:rect l="l" t="t" r="r" b="b"/>
              <a:pathLst>
                <a:path w="2635" h="35341" extrusionOk="0">
                  <a:moveTo>
                    <a:pt x="2634" y="0"/>
                  </a:moveTo>
                  <a:cubicBezTo>
                    <a:pt x="2613" y="2674"/>
                    <a:pt x="1597" y="5067"/>
                    <a:pt x="1" y="6697"/>
                  </a:cubicBezTo>
                  <a:lnTo>
                    <a:pt x="1" y="35341"/>
                  </a:lnTo>
                  <a:lnTo>
                    <a:pt x="2634" y="35341"/>
                  </a:lnTo>
                  <a:lnTo>
                    <a:pt x="2634"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623;p48">
              <a:extLst>
                <a:ext uri="{FF2B5EF4-FFF2-40B4-BE49-F238E27FC236}">
                  <a16:creationId xmlns:a16="http://schemas.microsoft.com/office/drawing/2014/main" id="{E64EA08F-CFF2-97CD-27A6-1BF5DAE93A8D}"/>
                </a:ext>
              </a:extLst>
            </p:cNvPr>
            <p:cNvSpPr/>
            <p:nvPr/>
          </p:nvSpPr>
          <p:spPr>
            <a:xfrm>
              <a:off x="4635453" y="3188474"/>
              <a:ext cx="561262" cy="1607302"/>
            </a:xfrm>
            <a:custGeom>
              <a:avLst/>
              <a:gdLst/>
              <a:ahLst/>
              <a:cxnLst/>
              <a:rect l="l" t="t" r="r" b="b"/>
              <a:pathLst>
                <a:path w="10002" h="28643" extrusionOk="0">
                  <a:moveTo>
                    <a:pt x="0" y="0"/>
                  </a:moveTo>
                  <a:lnTo>
                    <a:pt x="0" y="28643"/>
                  </a:lnTo>
                  <a:lnTo>
                    <a:pt x="10002" y="28643"/>
                  </a:lnTo>
                  <a:lnTo>
                    <a:pt x="10002" y="0"/>
                  </a:lnTo>
                  <a:cubicBezTo>
                    <a:pt x="8662" y="1371"/>
                    <a:pt x="6913" y="2198"/>
                    <a:pt x="5001" y="2198"/>
                  </a:cubicBezTo>
                  <a:cubicBezTo>
                    <a:pt x="3089" y="2198"/>
                    <a:pt x="1340" y="1371"/>
                    <a:pt x="0"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624;p48">
              <a:extLst>
                <a:ext uri="{FF2B5EF4-FFF2-40B4-BE49-F238E27FC236}">
                  <a16:creationId xmlns:a16="http://schemas.microsoft.com/office/drawing/2014/main" id="{9AFF419D-BFA2-6DF1-B73B-CC0A13BC9B8B}"/>
                </a:ext>
              </a:extLst>
            </p:cNvPr>
            <p:cNvSpPr/>
            <p:nvPr/>
          </p:nvSpPr>
          <p:spPr>
            <a:xfrm>
              <a:off x="4487641" y="2812602"/>
              <a:ext cx="856876" cy="499255"/>
            </a:xfrm>
            <a:custGeom>
              <a:avLst/>
              <a:gdLst/>
              <a:ahLst/>
              <a:cxnLst/>
              <a:rect l="l" t="t" r="r" b="b"/>
              <a:pathLst>
                <a:path w="15270" h="8897" extrusionOk="0">
                  <a:moveTo>
                    <a:pt x="1" y="0"/>
                  </a:moveTo>
                  <a:cubicBezTo>
                    <a:pt x="22" y="2674"/>
                    <a:pt x="1038" y="5067"/>
                    <a:pt x="2634" y="6697"/>
                  </a:cubicBezTo>
                  <a:lnTo>
                    <a:pt x="2634" y="6698"/>
                  </a:lnTo>
                  <a:cubicBezTo>
                    <a:pt x="3974" y="8069"/>
                    <a:pt x="5723" y="8896"/>
                    <a:pt x="7635" y="8896"/>
                  </a:cubicBezTo>
                  <a:cubicBezTo>
                    <a:pt x="9547" y="8896"/>
                    <a:pt x="11296" y="8069"/>
                    <a:pt x="12636" y="6698"/>
                  </a:cubicBezTo>
                  <a:lnTo>
                    <a:pt x="12636" y="6697"/>
                  </a:lnTo>
                  <a:cubicBezTo>
                    <a:pt x="14232" y="5067"/>
                    <a:pt x="15247" y="2674"/>
                    <a:pt x="15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625;p48">
              <a:extLst>
                <a:ext uri="{FF2B5EF4-FFF2-40B4-BE49-F238E27FC236}">
                  <a16:creationId xmlns:a16="http://schemas.microsoft.com/office/drawing/2014/main" id="{186D9026-17CD-BEEA-BA13-723407946ABA}"/>
                </a:ext>
              </a:extLst>
            </p:cNvPr>
            <p:cNvSpPr/>
            <p:nvPr/>
          </p:nvSpPr>
          <p:spPr>
            <a:xfrm>
              <a:off x="4674399" y="3356881"/>
              <a:ext cx="497347" cy="1349454"/>
            </a:xfrm>
            <a:custGeom>
              <a:avLst/>
              <a:gdLst/>
              <a:ahLst/>
              <a:cxnLst/>
              <a:rect l="l" t="t" r="r" b="b"/>
              <a:pathLst>
                <a:path w="8863" h="24048" extrusionOk="0">
                  <a:moveTo>
                    <a:pt x="212" y="0"/>
                  </a:moveTo>
                  <a:cubicBezTo>
                    <a:pt x="95" y="0"/>
                    <a:pt x="0" y="96"/>
                    <a:pt x="0" y="212"/>
                  </a:cubicBezTo>
                  <a:lnTo>
                    <a:pt x="0" y="23835"/>
                  </a:lnTo>
                  <a:cubicBezTo>
                    <a:pt x="0" y="23951"/>
                    <a:pt x="95" y="24047"/>
                    <a:pt x="212" y="24047"/>
                  </a:cubicBezTo>
                  <a:lnTo>
                    <a:pt x="8651" y="24047"/>
                  </a:lnTo>
                  <a:cubicBezTo>
                    <a:pt x="8768" y="24047"/>
                    <a:pt x="8863" y="23951"/>
                    <a:pt x="8863" y="23835"/>
                  </a:cubicBezTo>
                  <a:lnTo>
                    <a:pt x="8863" y="212"/>
                  </a:lnTo>
                  <a:cubicBezTo>
                    <a:pt x="8863" y="96"/>
                    <a:pt x="8768" y="0"/>
                    <a:pt x="8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 name="Google Shape;626;p48">
              <a:extLst>
                <a:ext uri="{FF2B5EF4-FFF2-40B4-BE49-F238E27FC236}">
                  <a16:creationId xmlns:a16="http://schemas.microsoft.com/office/drawing/2014/main" id="{4712AAFE-C88B-3DBF-42F0-DAC9A14003F3}"/>
                </a:ext>
              </a:extLst>
            </p:cNvPr>
            <p:cNvGrpSpPr/>
            <p:nvPr/>
          </p:nvGrpSpPr>
          <p:grpSpPr>
            <a:xfrm rot="10800000" flipH="1">
              <a:off x="3598805" y="3143917"/>
              <a:ext cx="888880" cy="1364241"/>
              <a:chOff x="3332074" y="2292717"/>
              <a:chExt cx="888880" cy="1364241"/>
            </a:xfrm>
          </p:grpSpPr>
          <p:sp>
            <p:nvSpPr>
              <p:cNvPr id="46" name="Google Shape;627;p48">
                <a:extLst>
                  <a:ext uri="{FF2B5EF4-FFF2-40B4-BE49-F238E27FC236}">
                    <a16:creationId xmlns:a16="http://schemas.microsoft.com/office/drawing/2014/main" id="{D4F2184F-43DD-AF9F-04CC-9A5052298C8C}"/>
                  </a:ext>
                </a:extLst>
              </p:cNvPr>
              <p:cNvSpPr/>
              <p:nvPr/>
            </p:nvSpPr>
            <p:spPr>
              <a:xfrm>
                <a:off x="3417652" y="2438397"/>
                <a:ext cx="803302" cy="1218561"/>
              </a:xfrm>
              <a:custGeom>
                <a:avLst/>
                <a:gdLst/>
                <a:ahLst/>
                <a:cxnLst/>
                <a:rect l="l" t="t" r="r" b="b"/>
                <a:pathLst>
                  <a:path w="14315" h="21715" extrusionOk="0">
                    <a:moveTo>
                      <a:pt x="9047" y="1"/>
                    </a:moveTo>
                    <a:cubicBezTo>
                      <a:pt x="7239" y="1"/>
                      <a:pt x="5768" y="1472"/>
                      <a:pt x="5768" y="3280"/>
                    </a:cubicBezTo>
                    <a:lnTo>
                      <a:pt x="5768" y="18435"/>
                    </a:lnTo>
                    <a:cubicBezTo>
                      <a:pt x="5768" y="19807"/>
                      <a:pt x="4651" y="20921"/>
                      <a:pt x="3281" y="20921"/>
                    </a:cubicBezTo>
                    <a:cubicBezTo>
                      <a:pt x="1909" y="20921"/>
                      <a:pt x="792" y="19807"/>
                      <a:pt x="792" y="18435"/>
                    </a:cubicBezTo>
                    <a:lnTo>
                      <a:pt x="792" y="2772"/>
                    </a:lnTo>
                    <a:cubicBezTo>
                      <a:pt x="792" y="2555"/>
                      <a:pt x="617" y="2377"/>
                      <a:pt x="396" y="2377"/>
                    </a:cubicBezTo>
                    <a:cubicBezTo>
                      <a:pt x="179" y="2377"/>
                      <a:pt x="1" y="2555"/>
                      <a:pt x="1" y="2772"/>
                    </a:cubicBezTo>
                    <a:lnTo>
                      <a:pt x="1" y="18435"/>
                    </a:lnTo>
                    <a:cubicBezTo>
                      <a:pt x="1" y="20243"/>
                      <a:pt x="1472" y="21714"/>
                      <a:pt x="3281" y="21714"/>
                    </a:cubicBezTo>
                    <a:cubicBezTo>
                      <a:pt x="5089" y="21714"/>
                      <a:pt x="6561" y="20243"/>
                      <a:pt x="6561" y="18435"/>
                    </a:cubicBezTo>
                    <a:lnTo>
                      <a:pt x="6561" y="3280"/>
                    </a:lnTo>
                    <a:cubicBezTo>
                      <a:pt x="6561" y="1909"/>
                      <a:pt x="7674" y="792"/>
                      <a:pt x="9047" y="792"/>
                    </a:cubicBezTo>
                    <a:cubicBezTo>
                      <a:pt x="10418" y="792"/>
                      <a:pt x="11533" y="1909"/>
                      <a:pt x="11533" y="3280"/>
                    </a:cubicBezTo>
                    <a:lnTo>
                      <a:pt x="11533" y="11690"/>
                    </a:lnTo>
                    <a:cubicBezTo>
                      <a:pt x="11533" y="12961"/>
                      <a:pt x="12569" y="14018"/>
                      <a:pt x="13840" y="14046"/>
                    </a:cubicBezTo>
                    <a:lnTo>
                      <a:pt x="14305" y="14057"/>
                    </a:lnTo>
                    <a:lnTo>
                      <a:pt x="14315" y="14057"/>
                    </a:lnTo>
                    <a:lnTo>
                      <a:pt x="14315" y="13266"/>
                    </a:lnTo>
                    <a:lnTo>
                      <a:pt x="13857" y="13253"/>
                    </a:lnTo>
                    <a:cubicBezTo>
                      <a:pt x="13012" y="13236"/>
                      <a:pt x="12325" y="12534"/>
                      <a:pt x="12325" y="11690"/>
                    </a:cubicBezTo>
                    <a:lnTo>
                      <a:pt x="12325" y="3280"/>
                    </a:lnTo>
                    <a:cubicBezTo>
                      <a:pt x="12325" y="1472"/>
                      <a:pt x="10853" y="1"/>
                      <a:pt x="9047"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628;p48">
                <a:extLst>
                  <a:ext uri="{FF2B5EF4-FFF2-40B4-BE49-F238E27FC236}">
                    <a16:creationId xmlns:a16="http://schemas.microsoft.com/office/drawing/2014/main" id="{524D2730-A4E2-12EB-B510-3FF2828AA94D}"/>
                  </a:ext>
                </a:extLst>
              </p:cNvPr>
              <p:cNvSpPr/>
              <p:nvPr/>
            </p:nvSpPr>
            <p:spPr>
              <a:xfrm>
                <a:off x="3332074" y="2292717"/>
                <a:ext cx="215710" cy="391073"/>
              </a:xfrm>
              <a:custGeom>
                <a:avLst/>
                <a:gdLst/>
                <a:ahLst/>
                <a:cxnLst/>
                <a:rect l="l" t="t" r="r" b="b"/>
                <a:pathLst>
                  <a:path w="3844" h="6969" extrusionOk="0">
                    <a:moveTo>
                      <a:pt x="586" y="0"/>
                    </a:moveTo>
                    <a:cubicBezTo>
                      <a:pt x="262" y="0"/>
                      <a:pt x="0" y="349"/>
                      <a:pt x="0" y="782"/>
                    </a:cubicBezTo>
                    <a:lnTo>
                      <a:pt x="0" y="2170"/>
                    </a:lnTo>
                    <a:cubicBezTo>
                      <a:pt x="0" y="2353"/>
                      <a:pt x="49" y="2530"/>
                      <a:pt x="136" y="2670"/>
                    </a:cubicBezTo>
                    <a:lnTo>
                      <a:pt x="826" y="3775"/>
                    </a:lnTo>
                    <a:cubicBezTo>
                      <a:pt x="914" y="3917"/>
                      <a:pt x="962" y="4093"/>
                      <a:pt x="962" y="4276"/>
                    </a:cubicBezTo>
                    <a:lnTo>
                      <a:pt x="962" y="6187"/>
                    </a:lnTo>
                    <a:cubicBezTo>
                      <a:pt x="962" y="6619"/>
                      <a:pt x="1223" y="6968"/>
                      <a:pt x="1545" y="6968"/>
                    </a:cubicBezTo>
                    <a:lnTo>
                      <a:pt x="2300" y="6968"/>
                    </a:lnTo>
                    <a:cubicBezTo>
                      <a:pt x="2622" y="6968"/>
                      <a:pt x="2884" y="6619"/>
                      <a:pt x="2884" y="6187"/>
                    </a:cubicBezTo>
                    <a:lnTo>
                      <a:pt x="2884" y="4276"/>
                    </a:lnTo>
                    <a:cubicBezTo>
                      <a:pt x="2884" y="4093"/>
                      <a:pt x="2932" y="3917"/>
                      <a:pt x="3020" y="3775"/>
                    </a:cubicBezTo>
                    <a:lnTo>
                      <a:pt x="3709" y="2670"/>
                    </a:lnTo>
                    <a:cubicBezTo>
                      <a:pt x="3797" y="2530"/>
                      <a:pt x="3844" y="2353"/>
                      <a:pt x="3844" y="2170"/>
                    </a:cubicBezTo>
                    <a:lnTo>
                      <a:pt x="3844" y="782"/>
                    </a:lnTo>
                    <a:cubicBezTo>
                      <a:pt x="3844" y="349"/>
                      <a:pt x="3582" y="0"/>
                      <a:pt x="3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629;p48">
                <a:extLst>
                  <a:ext uri="{FF2B5EF4-FFF2-40B4-BE49-F238E27FC236}">
                    <a16:creationId xmlns:a16="http://schemas.microsoft.com/office/drawing/2014/main" id="{F94BC739-3907-6544-B03B-A8DA718A892C}"/>
                  </a:ext>
                </a:extLst>
              </p:cNvPr>
              <p:cNvSpPr/>
              <p:nvPr/>
            </p:nvSpPr>
            <p:spPr>
              <a:xfrm>
                <a:off x="3410581" y="2682281"/>
                <a:ext cx="58866" cy="58866"/>
              </a:xfrm>
              <a:custGeom>
                <a:avLst/>
                <a:gdLst/>
                <a:ahLst/>
                <a:cxnLst/>
                <a:rect l="l" t="t" r="r" b="b"/>
                <a:pathLst>
                  <a:path w="1049" h="1049" extrusionOk="0">
                    <a:moveTo>
                      <a:pt x="1" y="1"/>
                    </a:moveTo>
                    <a:lnTo>
                      <a:pt x="1" y="1048"/>
                    </a:lnTo>
                    <a:lnTo>
                      <a:pt x="1048" y="1048"/>
                    </a:lnTo>
                    <a:lnTo>
                      <a:pt x="10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630;p48">
                <a:extLst>
                  <a:ext uri="{FF2B5EF4-FFF2-40B4-BE49-F238E27FC236}">
                    <a16:creationId xmlns:a16="http://schemas.microsoft.com/office/drawing/2014/main" id="{AA5A88CB-3AB9-F9B7-3071-8B1A497074B4}"/>
                  </a:ext>
                </a:extLst>
              </p:cNvPr>
              <p:cNvSpPr/>
              <p:nvPr/>
            </p:nvSpPr>
            <p:spPr>
              <a:xfrm>
                <a:off x="3347787" y="2299114"/>
                <a:ext cx="182546" cy="55555"/>
              </a:xfrm>
              <a:custGeom>
                <a:avLst/>
                <a:gdLst/>
                <a:ahLst/>
                <a:cxnLst/>
                <a:rect l="l" t="t" r="r" b="b"/>
                <a:pathLst>
                  <a:path w="3253" h="990" extrusionOk="0">
                    <a:moveTo>
                      <a:pt x="37" y="1"/>
                    </a:moveTo>
                    <a:cubicBezTo>
                      <a:pt x="16" y="1"/>
                      <a:pt x="0" y="18"/>
                      <a:pt x="0" y="39"/>
                    </a:cubicBezTo>
                    <a:lnTo>
                      <a:pt x="0" y="952"/>
                    </a:lnTo>
                    <a:cubicBezTo>
                      <a:pt x="0" y="973"/>
                      <a:pt x="16" y="990"/>
                      <a:pt x="37" y="990"/>
                    </a:cubicBezTo>
                    <a:lnTo>
                      <a:pt x="3216" y="990"/>
                    </a:lnTo>
                    <a:cubicBezTo>
                      <a:pt x="3236" y="990"/>
                      <a:pt x="3253" y="973"/>
                      <a:pt x="3253" y="952"/>
                    </a:cubicBezTo>
                    <a:lnTo>
                      <a:pt x="3253" y="39"/>
                    </a:lnTo>
                    <a:cubicBezTo>
                      <a:pt x="3253" y="18"/>
                      <a:pt x="3236" y="1"/>
                      <a:pt x="3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3" name="Google Shape;631;p48">
              <a:extLst>
                <a:ext uri="{FF2B5EF4-FFF2-40B4-BE49-F238E27FC236}">
                  <a16:creationId xmlns:a16="http://schemas.microsoft.com/office/drawing/2014/main" id="{E3E18AAF-AE1C-F5EE-0AB9-1CEF610D7243}"/>
                </a:ext>
              </a:extLst>
            </p:cNvPr>
            <p:cNvSpPr/>
            <p:nvPr/>
          </p:nvSpPr>
          <p:spPr>
            <a:xfrm>
              <a:off x="4810707" y="2865240"/>
              <a:ext cx="218736" cy="377542"/>
            </a:xfrm>
            <a:custGeom>
              <a:avLst/>
              <a:gdLst/>
              <a:ahLst/>
              <a:cxnLst/>
              <a:rect l="l" t="t" r="r" b="b"/>
              <a:pathLst>
                <a:path w="3898" h="6728" extrusionOk="0">
                  <a:moveTo>
                    <a:pt x="1" y="1"/>
                  </a:moveTo>
                  <a:lnTo>
                    <a:pt x="774" y="3365"/>
                  </a:lnTo>
                  <a:lnTo>
                    <a:pt x="1949" y="3365"/>
                  </a:lnTo>
                  <a:lnTo>
                    <a:pt x="1708" y="6727"/>
                  </a:lnTo>
                  <a:lnTo>
                    <a:pt x="3898" y="2403"/>
                  </a:lnTo>
                  <a:lnTo>
                    <a:pt x="2510" y="2403"/>
                  </a:lnTo>
                  <a:lnTo>
                    <a:pt x="3898" y="1"/>
                  </a:ln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632;p48">
              <a:extLst>
                <a:ext uri="{FF2B5EF4-FFF2-40B4-BE49-F238E27FC236}">
                  <a16:creationId xmlns:a16="http://schemas.microsoft.com/office/drawing/2014/main" id="{2E0A76F5-E09B-B816-633C-59F8D7156D72}"/>
                </a:ext>
              </a:extLst>
            </p:cNvPr>
            <p:cNvSpPr/>
            <p:nvPr/>
          </p:nvSpPr>
          <p:spPr>
            <a:xfrm>
              <a:off x="4721312" y="3671697"/>
              <a:ext cx="397519" cy="694591"/>
            </a:xfrm>
            <a:custGeom>
              <a:avLst/>
              <a:gdLst/>
              <a:ahLst/>
              <a:cxnLst/>
              <a:rect l="l" t="t" r="r" b="b"/>
              <a:pathLst>
                <a:path w="7084" h="12378" extrusionOk="0">
                  <a:moveTo>
                    <a:pt x="1" y="0"/>
                  </a:moveTo>
                  <a:lnTo>
                    <a:pt x="1" y="5285"/>
                  </a:lnTo>
                  <a:lnTo>
                    <a:pt x="7084" y="5285"/>
                  </a:lnTo>
                  <a:lnTo>
                    <a:pt x="7084" y="0"/>
                  </a:lnTo>
                  <a:close/>
                  <a:moveTo>
                    <a:pt x="3470" y="7811"/>
                  </a:moveTo>
                  <a:cubicBezTo>
                    <a:pt x="2701" y="7811"/>
                    <a:pt x="2077" y="8434"/>
                    <a:pt x="2077" y="9203"/>
                  </a:cubicBezTo>
                  <a:cubicBezTo>
                    <a:pt x="2077" y="9972"/>
                    <a:pt x="2701" y="10596"/>
                    <a:pt x="3470" y="10596"/>
                  </a:cubicBezTo>
                  <a:cubicBezTo>
                    <a:pt x="4240" y="10596"/>
                    <a:pt x="4863" y="9972"/>
                    <a:pt x="4863" y="9203"/>
                  </a:cubicBezTo>
                  <a:cubicBezTo>
                    <a:pt x="4863" y="8434"/>
                    <a:pt x="4240" y="7811"/>
                    <a:pt x="3470" y="7811"/>
                  </a:cubicBezTo>
                  <a:close/>
                  <a:moveTo>
                    <a:pt x="3471" y="6878"/>
                  </a:moveTo>
                  <a:cubicBezTo>
                    <a:pt x="4754" y="6878"/>
                    <a:pt x="5796" y="7920"/>
                    <a:pt x="5796" y="9203"/>
                  </a:cubicBezTo>
                  <a:cubicBezTo>
                    <a:pt x="5796" y="10488"/>
                    <a:pt x="4754" y="11528"/>
                    <a:pt x="3471" y="11528"/>
                  </a:cubicBezTo>
                  <a:cubicBezTo>
                    <a:pt x="2186" y="11528"/>
                    <a:pt x="1144" y="10488"/>
                    <a:pt x="1144" y="9203"/>
                  </a:cubicBezTo>
                  <a:cubicBezTo>
                    <a:pt x="1144" y="7920"/>
                    <a:pt x="2186" y="6878"/>
                    <a:pt x="3471" y="6878"/>
                  </a:cubicBezTo>
                  <a:close/>
                  <a:moveTo>
                    <a:pt x="3471" y="6029"/>
                  </a:moveTo>
                  <a:cubicBezTo>
                    <a:pt x="1639" y="6029"/>
                    <a:pt x="155" y="7449"/>
                    <a:pt x="155" y="9203"/>
                  </a:cubicBezTo>
                  <a:cubicBezTo>
                    <a:pt x="155" y="10957"/>
                    <a:pt x="1639" y="12378"/>
                    <a:pt x="3471" y="12378"/>
                  </a:cubicBezTo>
                  <a:cubicBezTo>
                    <a:pt x="5301" y="12378"/>
                    <a:pt x="6786" y="10957"/>
                    <a:pt x="6786" y="9203"/>
                  </a:cubicBezTo>
                  <a:cubicBezTo>
                    <a:pt x="6786" y="7449"/>
                    <a:pt x="5301" y="6029"/>
                    <a:pt x="3471" y="6029"/>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633;p48">
              <a:extLst>
                <a:ext uri="{FF2B5EF4-FFF2-40B4-BE49-F238E27FC236}">
                  <a16:creationId xmlns:a16="http://schemas.microsoft.com/office/drawing/2014/main" id="{B232CFC4-0C47-655A-FB76-41D7A4FE8719}"/>
                </a:ext>
              </a:extLst>
            </p:cNvPr>
            <p:cNvSpPr/>
            <p:nvPr/>
          </p:nvSpPr>
          <p:spPr>
            <a:xfrm>
              <a:off x="4713793" y="3464962"/>
              <a:ext cx="418562" cy="425576"/>
            </a:xfrm>
            <a:custGeom>
              <a:avLst/>
              <a:gdLst/>
              <a:ahLst/>
              <a:cxnLst/>
              <a:rect l="l" t="t" r="r" b="b"/>
              <a:pathLst>
                <a:path w="7459" h="7584" extrusionOk="0">
                  <a:moveTo>
                    <a:pt x="67" y="1"/>
                  </a:moveTo>
                  <a:cubicBezTo>
                    <a:pt x="30" y="1"/>
                    <a:pt x="1" y="30"/>
                    <a:pt x="1" y="67"/>
                  </a:cubicBezTo>
                  <a:lnTo>
                    <a:pt x="1" y="3156"/>
                  </a:lnTo>
                  <a:cubicBezTo>
                    <a:pt x="1" y="3192"/>
                    <a:pt x="30" y="3222"/>
                    <a:pt x="67" y="3222"/>
                  </a:cubicBezTo>
                  <a:lnTo>
                    <a:pt x="7392" y="3222"/>
                  </a:lnTo>
                  <a:cubicBezTo>
                    <a:pt x="7428" y="3222"/>
                    <a:pt x="7458" y="3192"/>
                    <a:pt x="7458" y="3156"/>
                  </a:cubicBezTo>
                  <a:lnTo>
                    <a:pt x="7458" y="67"/>
                  </a:lnTo>
                  <a:cubicBezTo>
                    <a:pt x="7458" y="30"/>
                    <a:pt x="7428" y="1"/>
                    <a:pt x="7392" y="1"/>
                  </a:cubicBezTo>
                  <a:close/>
                  <a:moveTo>
                    <a:pt x="573" y="4196"/>
                  </a:moveTo>
                  <a:cubicBezTo>
                    <a:pt x="562" y="4196"/>
                    <a:pt x="553" y="4206"/>
                    <a:pt x="553" y="4217"/>
                  </a:cubicBezTo>
                  <a:lnTo>
                    <a:pt x="553" y="4722"/>
                  </a:lnTo>
                  <a:cubicBezTo>
                    <a:pt x="553" y="4734"/>
                    <a:pt x="562" y="4743"/>
                    <a:pt x="573" y="4743"/>
                  </a:cubicBezTo>
                  <a:lnTo>
                    <a:pt x="2192" y="4743"/>
                  </a:lnTo>
                  <a:cubicBezTo>
                    <a:pt x="2203" y="4743"/>
                    <a:pt x="2211" y="4734"/>
                    <a:pt x="2211" y="4722"/>
                  </a:cubicBezTo>
                  <a:lnTo>
                    <a:pt x="2211" y="4217"/>
                  </a:lnTo>
                  <a:cubicBezTo>
                    <a:pt x="2211" y="4206"/>
                    <a:pt x="2203" y="4196"/>
                    <a:pt x="2192" y="4196"/>
                  </a:cubicBezTo>
                  <a:close/>
                  <a:moveTo>
                    <a:pt x="2921" y="4196"/>
                  </a:moveTo>
                  <a:cubicBezTo>
                    <a:pt x="2910" y="4196"/>
                    <a:pt x="2900" y="4206"/>
                    <a:pt x="2900" y="4217"/>
                  </a:cubicBezTo>
                  <a:lnTo>
                    <a:pt x="2900" y="4722"/>
                  </a:lnTo>
                  <a:cubicBezTo>
                    <a:pt x="2900" y="4734"/>
                    <a:pt x="2910" y="4743"/>
                    <a:pt x="2921" y="4743"/>
                  </a:cubicBezTo>
                  <a:lnTo>
                    <a:pt x="4538" y="4743"/>
                  </a:lnTo>
                  <a:cubicBezTo>
                    <a:pt x="4549" y="4743"/>
                    <a:pt x="4559" y="4734"/>
                    <a:pt x="4559" y="4722"/>
                  </a:cubicBezTo>
                  <a:lnTo>
                    <a:pt x="4559" y="4217"/>
                  </a:lnTo>
                  <a:cubicBezTo>
                    <a:pt x="4559" y="4206"/>
                    <a:pt x="4549" y="4196"/>
                    <a:pt x="4538" y="4196"/>
                  </a:cubicBezTo>
                  <a:close/>
                  <a:moveTo>
                    <a:pt x="5122" y="4196"/>
                  </a:moveTo>
                  <a:cubicBezTo>
                    <a:pt x="5109" y="4196"/>
                    <a:pt x="5100" y="4206"/>
                    <a:pt x="5100" y="4217"/>
                  </a:cubicBezTo>
                  <a:lnTo>
                    <a:pt x="5100" y="4722"/>
                  </a:lnTo>
                  <a:cubicBezTo>
                    <a:pt x="5100" y="4734"/>
                    <a:pt x="5109" y="4743"/>
                    <a:pt x="5122" y="4743"/>
                  </a:cubicBezTo>
                  <a:lnTo>
                    <a:pt x="6739" y="4743"/>
                  </a:lnTo>
                  <a:cubicBezTo>
                    <a:pt x="6750" y="4743"/>
                    <a:pt x="6760" y="4734"/>
                    <a:pt x="6760" y="4722"/>
                  </a:cubicBezTo>
                  <a:lnTo>
                    <a:pt x="6760" y="4217"/>
                  </a:lnTo>
                  <a:cubicBezTo>
                    <a:pt x="6760" y="4206"/>
                    <a:pt x="6750" y="4196"/>
                    <a:pt x="6739" y="4196"/>
                  </a:cubicBezTo>
                  <a:close/>
                  <a:moveTo>
                    <a:pt x="593" y="5635"/>
                  </a:moveTo>
                  <a:cubicBezTo>
                    <a:pt x="582" y="5635"/>
                    <a:pt x="573" y="5645"/>
                    <a:pt x="573" y="5656"/>
                  </a:cubicBezTo>
                  <a:lnTo>
                    <a:pt x="573" y="6162"/>
                  </a:lnTo>
                  <a:cubicBezTo>
                    <a:pt x="573" y="6173"/>
                    <a:pt x="582" y="6182"/>
                    <a:pt x="593" y="6182"/>
                  </a:cubicBezTo>
                  <a:lnTo>
                    <a:pt x="2211" y="6182"/>
                  </a:lnTo>
                  <a:cubicBezTo>
                    <a:pt x="2223" y="6182"/>
                    <a:pt x="2233" y="6173"/>
                    <a:pt x="2233" y="6162"/>
                  </a:cubicBezTo>
                  <a:lnTo>
                    <a:pt x="2233" y="5656"/>
                  </a:lnTo>
                  <a:cubicBezTo>
                    <a:pt x="2233" y="5645"/>
                    <a:pt x="2223" y="5635"/>
                    <a:pt x="2211" y="5635"/>
                  </a:cubicBezTo>
                  <a:close/>
                  <a:moveTo>
                    <a:pt x="2941" y="5635"/>
                  </a:moveTo>
                  <a:cubicBezTo>
                    <a:pt x="2929" y="5635"/>
                    <a:pt x="2919" y="5645"/>
                    <a:pt x="2919" y="5656"/>
                  </a:cubicBezTo>
                  <a:lnTo>
                    <a:pt x="2919" y="6162"/>
                  </a:lnTo>
                  <a:cubicBezTo>
                    <a:pt x="2919" y="6173"/>
                    <a:pt x="2929" y="6182"/>
                    <a:pt x="2941" y="6182"/>
                  </a:cubicBezTo>
                  <a:lnTo>
                    <a:pt x="4558" y="6182"/>
                  </a:lnTo>
                  <a:cubicBezTo>
                    <a:pt x="4569" y="6182"/>
                    <a:pt x="4579" y="6173"/>
                    <a:pt x="4579" y="6162"/>
                  </a:cubicBezTo>
                  <a:lnTo>
                    <a:pt x="4579" y="5656"/>
                  </a:lnTo>
                  <a:cubicBezTo>
                    <a:pt x="4579" y="5645"/>
                    <a:pt x="4569" y="5635"/>
                    <a:pt x="4558" y="5635"/>
                  </a:cubicBezTo>
                  <a:close/>
                  <a:moveTo>
                    <a:pt x="5141" y="5635"/>
                  </a:moveTo>
                  <a:cubicBezTo>
                    <a:pt x="5130" y="5635"/>
                    <a:pt x="5120" y="5645"/>
                    <a:pt x="5120" y="5656"/>
                  </a:cubicBezTo>
                  <a:lnTo>
                    <a:pt x="5120" y="6162"/>
                  </a:lnTo>
                  <a:cubicBezTo>
                    <a:pt x="5120" y="6173"/>
                    <a:pt x="5130" y="6182"/>
                    <a:pt x="5141" y="6182"/>
                  </a:cubicBezTo>
                  <a:lnTo>
                    <a:pt x="6758" y="6182"/>
                  </a:lnTo>
                  <a:cubicBezTo>
                    <a:pt x="6770" y="6182"/>
                    <a:pt x="6780" y="6173"/>
                    <a:pt x="6780" y="6162"/>
                  </a:cubicBezTo>
                  <a:lnTo>
                    <a:pt x="6780" y="5656"/>
                  </a:lnTo>
                  <a:cubicBezTo>
                    <a:pt x="6780" y="5645"/>
                    <a:pt x="6770" y="5635"/>
                    <a:pt x="6758" y="5635"/>
                  </a:cubicBezTo>
                  <a:close/>
                  <a:moveTo>
                    <a:pt x="593" y="7037"/>
                  </a:moveTo>
                  <a:cubicBezTo>
                    <a:pt x="582" y="7037"/>
                    <a:pt x="573" y="7045"/>
                    <a:pt x="573" y="7057"/>
                  </a:cubicBezTo>
                  <a:lnTo>
                    <a:pt x="573" y="7563"/>
                  </a:lnTo>
                  <a:cubicBezTo>
                    <a:pt x="573" y="7574"/>
                    <a:pt x="582" y="7584"/>
                    <a:pt x="593" y="7584"/>
                  </a:cubicBezTo>
                  <a:lnTo>
                    <a:pt x="2211" y="7584"/>
                  </a:lnTo>
                  <a:cubicBezTo>
                    <a:pt x="2223" y="7584"/>
                    <a:pt x="2233" y="7574"/>
                    <a:pt x="2233" y="7563"/>
                  </a:cubicBezTo>
                  <a:lnTo>
                    <a:pt x="2233" y="7057"/>
                  </a:lnTo>
                  <a:cubicBezTo>
                    <a:pt x="2233" y="7045"/>
                    <a:pt x="2223" y="7037"/>
                    <a:pt x="2211" y="7037"/>
                  </a:cubicBezTo>
                  <a:close/>
                  <a:moveTo>
                    <a:pt x="2941" y="7037"/>
                  </a:moveTo>
                  <a:cubicBezTo>
                    <a:pt x="2929" y="7037"/>
                    <a:pt x="2919" y="7045"/>
                    <a:pt x="2919" y="7057"/>
                  </a:cubicBezTo>
                  <a:lnTo>
                    <a:pt x="2919" y="7563"/>
                  </a:lnTo>
                  <a:cubicBezTo>
                    <a:pt x="2919" y="7574"/>
                    <a:pt x="2929" y="7584"/>
                    <a:pt x="2941" y="7584"/>
                  </a:cubicBezTo>
                  <a:lnTo>
                    <a:pt x="4558" y="7584"/>
                  </a:lnTo>
                  <a:cubicBezTo>
                    <a:pt x="4569" y="7584"/>
                    <a:pt x="4579" y="7574"/>
                    <a:pt x="4579" y="7563"/>
                  </a:cubicBezTo>
                  <a:lnTo>
                    <a:pt x="4579" y="7057"/>
                  </a:lnTo>
                  <a:cubicBezTo>
                    <a:pt x="4579" y="7045"/>
                    <a:pt x="4569" y="7037"/>
                    <a:pt x="4558" y="7037"/>
                  </a:cubicBezTo>
                  <a:close/>
                  <a:moveTo>
                    <a:pt x="5141" y="7037"/>
                  </a:moveTo>
                  <a:cubicBezTo>
                    <a:pt x="5130" y="7037"/>
                    <a:pt x="5120" y="7045"/>
                    <a:pt x="5120" y="7057"/>
                  </a:cubicBezTo>
                  <a:lnTo>
                    <a:pt x="5120" y="7563"/>
                  </a:lnTo>
                  <a:cubicBezTo>
                    <a:pt x="5120" y="7574"/>
                    <a:pt x="5130" y="7584"/>
                    <a:pt x="5141" y="7584"/>
                  </a:cubicBezTo>
                  <a:lnTo>
                    <a:pt x="6758" y="7584"/>
                  </a:lnTo>
                  <a:cubicBezTo>
                    <a:pt x="6770" y="7584"/>
                    <a:pt x="6780" y="7574"/>
                    <a:pt x="6780" y="7563"/>
                  </a:cubicBezTo>
                  <a:lnTo>
                    <a:pt x="6780" y="7057"/>
                  </a:lnTo>
                  <a:cubicBezTo>
                    <a:pt x="6780" y="7045"/>
                    <a:pt x="6770" y="7037"/>
                    <a:pt x="6758" y="7037"/>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2" name="Google Shape;5162;p68"/>
          <p:cNvSpPr/>
          <p:nvPr/>
        </p:nvSpPr>
        <p:spPr>
          <a:xfrm>
            <a:off x="713250" y="4174527"/>
            <a:ext cx="46734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3" name="Google Shape;5163;p68"/>
          <p:cNvSpPr txBox="1">
            <a:spLocks noGrp="1"/>
          </p:cNvSpPr>
          <p:nvPr>
            <p:ph type="title" idx="2"/>
          </p:nvPr>
        </p:nvSpPr>
        <p:spPr>
          <a:xfrm>
            <a:off x="713250" y="1969635"/>
            <a:ext cx="1356600" cy="95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5164" name="Google Shape;5164;p68"/>
          <p:cNvSpPr txBox="1">
            <a:spLocks noGrp="1"/>
          </p:cNvSpPr>
          <p:nvPr>
            <p:ph type="subTitle" idx="1"/>
          </p:nvPr>
        </p:nvSpPr>
        <p:spPr>
          <a:xfrm>
            <a:off x="713250" y="4255100"/>
            <a:ext cx="4673400" cy="29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Selection of  Motor Parameters</a:t>
            </a:r>
            <a:endParaRPr dirty="0"/>
          </a:p>
        </p:txBody>
      </p:sp>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167" name="Google Shape;5167;p68"/>
          <p:cNvSpPr txBox="1">
            <a:spLocks noGrp="1"/>
          </p:cNvSpPr>
          <p:nvPr>
            <p:ph type="title"/>
          </p:nvPr>
        </p:nvSpPr>
        <p:spPr>
          <a:xfrm>
            <a:off x="713250" y="3093515"/>
            <a:ext cx="7717500" cy="896400"/>
          </a:xfrm>
          <a:prstGeom prst="rect">
            <a:avLst/>
          </a:prstGeom>
        </p:spPr>
        <p:txBody>
          <a:bodyPr spcFirstLastPara="1" wrap="square" lIns="91425" tIns="91425" rIns="91425" bIns="91425" anchor="ctr" anchorCtr="0">
            <a:noAutofit/>
          </a:bodyPr>
          <a:lstStyle/>
          <a:p>
            <a:pPr marL="0" lvl="0" indent="0"/>
            <a:r>
              <a:rPr lang="en-US" dirty="0">
                <a:latin typeface="Montserrat" panose="00000500000000000000" pitchFamily="2" charset="0"/>
                <a:ea typeface="SF Pro Text" panose="00000500000000000000" pitchFamily="2" charset="0"/>
              </a:rPr>
              <a:t>Technical Work of Cart</a:t>
            </a:r>
          </a:p>
        </p:txBody>
      </p:sp>
    </p:spTree>
    <p:extLst>
      <p:ext uri="{BB962C8B-B14F-4D97-AF65-F5344CB8AC3E}">
        <p14:creationId xmlns:p14="http://schemas.microsoft.com/office/powerpoint/2010/main" val="1070003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0"/>
          <p:cNvSpPr/>
          <p:nvPr/>
        </p:nvSpPr>
        <p:spPr>
          <a:xfrm flipH="1">
            <a:off x="2352875" y="1306275"/>
            <a:ext cx="6261300" cy="2464500"/>
          </a:xfrm>
          <a:prstGeom prst="round2Diag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676" name="Google Shape;676;p50"/>
          <p:cNvGrpSpPr/>
          <p:nvPr/>
        </p:nvGrpSpPr>
        <p:grpSpPr>
          <a:xfrm flipH="1">
            <a:off x="-1079700" y="1577485"/>
            <a:ext cx="5069280" cy="3675698"/>
            <a:chOff x="4352672" y="1794325"/>
            <a:chExt cx="4618934" cy="3349155"/>
          </a:xfrm>
        </p:grpSpPr>
        <p:sp>
          <p:nvSpPr>
            <p:cNvPr id="677" name="Google Shape;677;p50"/>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50"/>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50"/>
            <p:cNvSpPr/>
            <p:nvPr/>
          </p:nvSpPr>
          <p:spPr>
            <a:xfrm flipH="1">
              <a:off x="6278872" y="2492593"/>
              <a:ext cx="461959" cy="1046066"/>
            </a:xfrm>
            <a:custGeom>
              <a:avLst/>
              <a:gdLst/>
              <a:ahLst/>
              <a:cxnLst/>
              <a:rect l="l" t="t" r="r" b="b"/>
              <a:pathLst>
                <a:path w="8585" h="19440" extrusionOk="0">
                  <a:moveTo>
                    <a:pt x="5830" y="59"/>
                  </a:moveTo>
                  <a:cubicBezTo>
                    <a:pt x="5704" y="59"/>
                    <a:pt x="4975" y="2480"/>
                    <a:pt x="4834" y="2729"/>
                  </a:cubicBezTo>
                  <a:cubicBezTo>
                    <a:pt x="4692" y="2980"/>
                    <a:pt x="4821" y="3624"/>
                    <a:pt x="4880" y="3833"/>
                  </a:cubicBezTo>
                  <a:cubicBezTo>
                    <a:pt x="4920" y="3976"/>
                    <a:pt x="4859" y="4238"/>
                    <a:pt x="4818" y="4389"/>
                  </a:cubicBezTo>
                  <a:cubicBezTo>
                    <a:pt x="4783" y="4389"/>
                    <a:pt x="4747" y="4390"/>
                    <a:pt x="4712" y="4396"/>
                  </a:cubicBezTo>
                  <a:cubicBezTo>
                    <a:pt x="4377" y="4448"/>
                    <a:pt x="4145" y="4758"/>
                    <a:pt x="4188" y="5093"/>
                  </a:cubicBezTo>
                  <a:cubicBezTo>
                    <a:pt x="3396" y="5357"/>
                    <a:pt x="56" y="6484"/>
                    <a:pt x="1" y="6645"/>
                  </a:cubicBezTo>
                  <a:cubicBezTo>
                    <a:pt x="1" y="6645"/>
                    <a:pt x="3053" y="6208"/>
                    <a:pt x="3291" y="5982"/>
                  </a:cubicBezTo>
                  <a:cubicBezTo>
                    <a:pt x="3530" y="5756"/>
                    <a:pt x="3942" y="5378"/>
                    <a:pt x="3942" y="5378"/>
                  </a:cubicBezTo>
                  <a:lnTo>
                    <a:pt x="4287" y="5361"/>
                  </a:lnTo>
                  <a:cubicBezTo>
                    <a:pt x="4380" y="5501"/>
                    <a:pt x="4527" y="5599"/>
                    <a:pt x="4692" y="5630"/>
                  </a:cubicBezTo>
                  <a:cubicBezTo>
                    <a:pt x="4555" y="7462"/>
                    <a:pt x="4507" y="19439"/>
                    <a:pt x="4507" y="19439"/>
                  </a:cubicBezTo>
                  <a:lnTo>
                    <a:pt x="5584" y="19439"/>
                  </a:lnTo>
                  <a:lnTo>
                    <a:pt x="5053" y="5590"/>
                  </a:lnTo>
                  <a:cubicBezTo>
                    <a:pt x="5091" y="5573"/>
                    <a:pt x="5128" y="5554"/>
                    <a:pt x="5162" y="5531"/>
                  </a:cubicBezTo>
                  <a:cubicBezTo>
                    <a:pt x="5505" y="5841"/>
                    <a:pt x="8313" y="8376"/>
                    <a:pt x="8510" y="8376"/>
                  </a:cubicBezTo>
                  <a:cubicBezTo>
                    <a:pt x="8515" y="8376"/>
                    <a:pt x="8518" y="8374"/>
                    <a:pt x="8520" y="8371"/>
                  </a:cubicBezTo>
                  <a:cubicBezTo>
                    <a:pt x="8585" y="8224"/>
                    <a:pt x="6872" y="6092"/>
                    <a:pt x="6616" y="5997"/>
                  </a:cubicBezTo>
                  <a:cubicBezTo>
                    <a:pt x="6362" y="5903"/>
                    <a:pt x="5915" y="5532"/>
                    <a:pt x="5733" y="5469"/>
                  </a:cubicBezTo>
                  <a:cubicBezTo>
                    <a:pt x="5645" y="5439"/>
                    <a:pt x="5498" y="5363"/>
                    <a:pt x="5368" y="5291"/>
                  </a:cubicBezTo>
                  <a:cubicBezTo>
                    <a:pt x="5423" y="5180"/>
                    <a:pt x="5446" y="5052"/>
                    <a:pt x="5426" y="4919"/>
                  </a:cubicBezTo>
                  <a:cubicBezTo>
                    <a:pt x="5390" y="4689"/>
                    <a:pt x="5232" y="4506"/>
                    <a:pt x="5029" y="4430"/>
                  </a:cubicBezTo>
                  <a:cubicBezTo>
                    <a:pt x="5208" y="3647"/>
                    <a:pt x="5867" y="768"/>
                    <a:pt x="5949" y="411"/>
                  </a:cubicBezTo>
                  <a:cubicBezTo>
                    <a:pt x="6042" y="0"/>
                    <a:pt x="5949" y="103"/>
                    <a:pt x="5833" y="59"/>
                  </a:cubicBezTo>
                  <a:cubicBezTo>
                    <a:pt x="5832" y="59"/>
                    <a:pt x="5831" y="59"/>
                    <a:pt x="5830" y="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aseline="-25000" dirty="0"/>
            </a:p>
          </p:txBody>
        </p:sp>
        <p:sp>
          <p:nvSpPr>
            <p:cNvPr id="680" name="Google Shape;680;p50"/>
            <p:cNvSpPr/>
            <p:nvPr/>
          </p:nvSpPr>
          <p:spPr>
            <a:xfrm flipH="1">
              <a:off x="5184462" y="2791272"/>
              <a:ext cx="454425" cy="937155"/>
            </a:xfrm>
            <a:custGeom>
              <a:avLst/>
              <a:gdLst/>
              <a:ahLst/>
              <a:cxnLst/>
              <a:rect l="l" t="t" r="r" b="b"/>
              <a:pathLst>
                <a:path w="8445" h="17416" extrusionOk="0">
                  <a:moveTo>
                    <a:pt x="85" y="0"/>
                  </a:moveTo>
                  <a:cubicBezTo>
                    <a:pt x="80" y="0"/>
                    <a:pt x="77" y="2"/>
                    <a:pt x="76" y="5"/>
                  </a:cubicBezTo>
                  <a:cubicBezTo>
                    <a:pt x="1" y="145"/>
                    <a:pt x="1551" y="2398"/>
                    <a:pt x="1799" y="2511"/>
                  </a:cubicBezTo>
                  <a:cubicBezTo>
                    <a:pt x="2046" y="2624"/>
                    <a:pt x="2465" y="3027"/>
                    <a:pt x="2641" y="3103"/>
                  </a:cubicBezTo>
                  <a:cubicBezTo>
                    <a:pt x="2726" y="3140"/>
                    <a:pt x="2867" y="3227"/>
                    <a:pt x="2992" y="3308"/>
                  </a:cubicBezTo>
                  <a:cubicBezTo>
                    <a:pt x="2928" y="3415"/>
                    <a:pt x="2897" y="3541"/>
                    <a:pt x="2907" y="3674"/>
                  </a:cubicBezTo>
                  <a:cubicBezTo>
                    <a:pt x="2925" y="3907"/>
                    <a:pt x="3069" y="4100"/>
                    <a:pt x="3267" y="4193"/>
                  </a:cubicBezTo>
                  <a:cubicBezTo>
                    <a:pt x="3030" y="4960"/>
                    <a:pt x="2159" y="7783"/>
                    <a:pt x="2053" y="8131"/>
                  </a:cubicBezTo>
                  <a:cubicBezTo>
                    <a:pt x="1929" y="8534"/>
                    <a:pt x="2029" y="8439"/>
                    <a:pt x="2141" y="8491"/>
                  </a:cubicBezTo>
                  <a:cubicBezTo>
                    <a:pt x="2142" y="8492"/>
                    <a:pt x="2143" y="8492"/>
                    <a:pt x="2145" y="8492"/>
                  </a:cubicBezTo>
                  <a:cubicBezTo>
                    <a:pt x="2263" y="8492"/>
                    <a:pt x="3052" y="6463"/>
                    <a:pt x="3290" y="5984"/>
                  </a:cubicBezTo>
                  <a:lnTo>
                    <a:pt x="3290" y="5984"/>
                  </a:lnTo>
                  <a:cubicBezTo>
                    <a:pt x="3212" y="10046"/>
                    <a:pt x="3181" y="17416"/>
                    <a:pt x="3181" y="17416"/>
                  </a:cubicBezTo>
                  <a:lnTo>
                    <a:pt x="4258" y="17416"/>
                  </a:lnTo>
                  <a:lnTo>
                    <a:pt x="3752" y="4210"/>
                  </a:lnTo>
                  <a:cubicBezTo>
                    <a:pt x="4001" y="4116"/>
                    <a:pt x="4169" y="3871"/>
                    <a:pt x="4155" y="3594"/>
                  </a:cubicBezTo>
                  <a:cubicBezTo>
                    <a:pt x="4964" y="3387"/>
                    <a:pt x="8377" y="2511"/>
                    <a:pt x="8445" y="2355"/>
                  </a:cubicBezTo>
                  <a:lnTo>
                    <a:pt x="8445" y="2355"/>
                  </a:lnTo>
                  <a:cubicBezTo>
                    <a:pt x="8445" y="2355"/>
                    <a:pt x="5368" y="2565"/>
                    <a:pt x="5113" y="2772"/>
                  </a:cubicBezTo>
                  <a:cubicBezTo>
                    <a:pt x="4858" y="2980"/>
                    <a:pt x="4421" y="3326"/>
                    <a:pt x="4421" y="3326"/>
                  </a:cubicBezTo>
                  <a:lnTo>
                    <a:pt x="4074" y="3318"/>
                  </a:lnTo>
                  <a:cubicBezTo>
                    <a:pt x="3966" y="3127"/>
                    <a:pt x="3761" y="2999"/>
                    <a:pt x="3530" y="2999"/>
                  </a:cubicBezTo>
                  <a:cubicBezTo>
                    <a:pt x="3514" y="2999"/>
                    <a:pt x="3497" y="3000"/>
                    <a:pt x="3481" y="3001"/>
                  </a:cubicBezTo>
                  <a:cubicBezTo>
                    <a:pt x="3385" y="3010"/>
                    <a:pt x="3294" y="3038"/>
                    <a:pt x="3215" y="3085"/>
                  </a:cubicBezTo>
                  <a:cubicBezTo>
                    <a:pt x="2895" y="2748"/>
                    <a:pt x="269" y="0"/>
                    <a:pt x="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50"/>
            <p:cNvSpPr/>
            <p:nvPr/>
          </p:nvSpPr>
          <p:spPr>
            <a:xfrm flipH="1">
              <a:off x="7560844" y="2002576"/>
              <a:ext cx="334705" cy="788678"/>
            </a:xfrm>
            <a:custGeom>
              <a:avLst/>
              <a:gdLst/>
              <a:ahLst/>
              <a:cxnLst/>
              <a:rect l="l" t="t" r="r" b="b"/>
              <a:pathLst>
                <a:path w="8172" h="19256" extrusionOk="0">
                  <a:moveTo>
                    <a:pt x="1590" y="1"/>
                  </a:moveTo>
                  <a:cubicBezTo>
                    <a:pt x="1557" y="1"/>
                    <a:pt x="1522" y="33"/>
                    <a:pt x="1469" y="44"/>
                  </a:cubicBezTo>
                  <a:cubicBezTo>
                    <a:pt x="1348" y="69"/>
                    <a:pt x="2032" y="2547"/>
                    <a:pt x="2045" y="2835"/>
                  </a:cubicBezTo>
                  <a:cubicBezTo>
                    <a:pt x="2059" y="3124"/>
                    <a:pt x="2511" y="3600"/>
                    <a:pt x="2672" y="3746"/>
                  </a:cubicBezTo>
                  <a:cubicBezTo>
                    <a:pt x="2783" y="3845"/>
                    <a:pt x="2870" y="4099"/>
                    <a:pt x="2915" y="4249"/>
                  </a:cubicBezTo>
                  <a:cubicBezTo>
                    <a:pt x="2886" y="4267"/>
                    <a:pt x="2857" y="4287"/>
                    <a:pt x="2831" y="4311"/>
                  </a:cubicBezTo>
                  <a:cubicBezTo>
                    <a:pt x="2573" y="4533"/>
                    <a:pt x="2542" y="4919"/>
                    <a:pt x="2756" y="5180"/>
                  </a:cubicBezTo>
                  <a:cubicBezTo>
                    <a:pt x="2228" y="5825"/>
                    <a:pt x="1" y="8558"/>
                    <a:pt x="40" y="8724"/>
                  </a:cubicBezTo>
                  <a:cubicBezTo>
                    <a:pt x="40" y="8724"/>
                    <a:pt x="2391" y="6728"/>
                    <a:pt x="2473" y="6410"/>
                  </a:cubicBezTo>
                  <a:cubicBezTo>
                    <a:pt x="2555" y="6091"/>
                    <a:pt x="2701" y="5553"/>
                    <a:pt x="2701" y="5553"/>
                  </a:cubicBezTo>
                  <a:lnTo>
                    <a:pt x="2985" y="5354"/>
                  </a:lnTo>
                  <a:cubicBezTo>
                    <a:pt x="3020" y="5370"/>
                    <a:pt x="3057" y="5382"/>
                    <a:pt x="3095" y="5392"/>
                  </a:cubicBezTo>
                  <a:cubicBezTo>
                    <a:pt x="2955" y="7032"/>
                    <a:pt x="2905" y="19255"/>
                    <a:pt x="2905" y="19255"/>
                  </a:cubicBezTo>
                  <a:lnTo>
                    <a:pt x="3983" y="19255"/>
                  </a:lnTo>
                  <a:lnTo>
                    <a:pt x="3450" y="5372"/>
                  </a:lnTo>
                  <a:cubicBezTo>
                    <a:pt x="3520" y="5347"/>
                    <a:pt x="3590" y="5309"/>
                    <a:pt x="3650" y="5257"/>
                  </a:cubicBezTo>
                  <a:cubicBezTo>
                    <a:pt x="3724" y="5193"/>
                    <a:pt x="3778" y="5115"/>
                    <a:pt x="3814" y="5032"/>
                  </a:cubicBezTo>
                  <a:cubicBezTo>
                    <a:pt x="4237" y="5106"/>
                    <a:pt x="7461" y="5668"/>
                    <a:pt x="8070" y="5668"/>
                  </a:cubicBezTo>
                  <a:cubicBezTo>
                    <a:pt x="8136" y="5668"/>
                    <a:pt x="8171" y="5661"/>
                    <a:pt x="8169" y="5647"/>
                  </a:cubicBezTo>
                  <a:cubicBezTo>
                    <a:pt x="8147" y="5493"/>
                    <a:pt x="5714" y="4649"/>
                    <a:pt x="5326" y="4649"/>
                  </a:cubicBezTo>
                  <a:cubicBezTo>
                    <a:pt x="5314" y="4649"/>
                    <a:pt x="5304" y="4650"/>
                    <a:pt x="5296" y="4652"/>
                  </a:cubicBezTo>
                  <a:cubicBezTo>
                    <a:pt x="5216" y="4668"/>
                    <a:pt x="5110" y="4673"/>
                    <a:pt x="4995" y="4673"/>
                  </a:cubicBezTo>
                  <a:cubicBezTo>
                    <a:pt x="4817" y="4673"/>
                    <a:pt x="4618" y="4661"/>
                    <a:pt x="4464" y="4661"/>
                  </a:cubicBezTo>
                  <a:cubicBezTo>
                    <a:pt x="4381" y="4661"/>
                    <a:pt x="4312" y="4665"/>
                    <a:pt x="4265" y="4676"/>
                  </a:cubicBezTo>
                  <a:cubicBezTo>
                    <a:pt x="4176" y="4697"/>
                    <a:pt x="4009" y="4710"/>
                    <a:pt x="3862" y="4718"/>
                  </a:cubicBezTo>
                  <a:cubicBezTo>
                    <a:pt x="3850" y="4595"/>
                    <a:pt x="3800" y="4475"/>
                    <a:pt x="3713" y="4373"/>
                  </a:cubicBezTo>
                  <a:cubicBezTo>
                    <a:pt x="3590" y="4231"/>
                    <a:pt x="3416" y="4158"/>
                    <a:pt x="3242" y="4158"/>
                  </a:cubicBezTo>
                  <a:cubicBezTo>
                    <a:pt x="3200" y="4158"/>
                    <a:pt x="3158" y="4162"/>
                    <a:pt x="3116" y="4171"/>
                  </a:cubicBezTo>
                  <a:cubicBezTo>
                    <a:pt x="2850" y="3412"/>
                    <a:pt x="1875" y="623"/>
                    <a:pt x="1754" y="280"/>
                  </a:cubicBezTo>
                  <a:cubicBezTo>
                    <a:pt x="1675" y="55"/>
                    <a:pt x="1633" y="1"/>
                    <a:pt x="1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50"/>
            <p:cNvSpPr/>
            <p:nvPr/>
          </p:nvSpPr>
          <p:spPr>
            <a:xfrm flipH="1">
              <a:off x="6831495" y="1794325"/>
              <a:ext cx="638671" cy="142445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83" name="Google Shape;683;p50"/>
          <p:cNvSpPr txBox="1">
            <a:spLocks noGrp="1"/>
          </p:cNvSpPr>
          <p:nvPr>
            <p:ph type="title"/>
          </p:nvPr>
        </p:nvSpPr>
        <p:spPr>
          <a:xfrm flipH="1">
            <a:off x="2293620" y="1412188"/>
            <a:ext cx="6541200" cy="2294400"/>
          </a:xfrm>
          <a:prstGeom prst="rect">
            <a:avLst/>
          </a:prstGeom>
        </p:spPr>
        <p:txBody>
          <a:bodyPr spcFirstLastPara="1" wrap="square" lIns="91425" tIns="91425" rIns="91425" bIns="91425" anchor="ctr" anchorCtr="0">
            <a:noAutofit/>
          </a:bodyPr>
          <a:lstStyle/>
          <a:p>
            <a:pPr algn="ctr"/>
            <a:r>
              <a:rPr lang="en-US" sz="6600" dirty="0">
                <a:latin typeface="Montserrat" panose="00000500000000000000" pitchFamily="2" charset="0"/>
              </a:rPr>
              <a:t>Motor Drives of Golf Cart </a:t>
            </a:r>
            <a:endParaRPr lang="en-IN" sz="6600" dirty="0">
              <a:latin typeface="Montserrat" panose="00000500000000000000" pitchFamily="2" charset="0"/>
            </a:endParaRPr>
          </a:p>
        </p:txBody>
      </p:sp>
      <p:grpSp>
        <p:nvGrpSpPr>
          <p:cNvPr id="684" name="Google Shape;684;p50"/>
          <p:cNvGrpSpPr/>
          <p:nvPr/>
        </p:nvGrpSpPr>
        <p:grpSpPr>
          <a:xfrm>
            <a:off x="168576" y="3073867"/>
            <a:ext cx="4327705" cy="2027387"/>
            <a:chOff x="713225" y="2253700"/>
            <a:chExt cx="5046298" cy="2364025"/>
          </a:xfrm>
        </p:grpSpPr>
        <p:sp>
          <p:nvSpPr>
            <p:cNvPr id="685" name="Google Shape;685;p50"/>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50"/>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50"/>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50"/>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50"/>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50"/>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50"/>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50"/>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50"/>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50"/>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50"/>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50"/>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50"/>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50"/>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50"/>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50"/>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50"/>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50"/>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50"/>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50"/>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50"/>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706;p50"/>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707;p50"/>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50"/>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709;p50"/>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710;p50"/>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50"/>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50"/>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50"/>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50"/>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715;p50"/>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716;p50"/>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50"/>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8" name="Google Shape;718;p50"/>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9" name="Google Shape;719;p50"/>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0" name="Google Shape;720;p50"/>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50"/>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50"/>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50"/>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4" name="Google Shape;724;p50"/>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5" name="Google Shape;725;p50"/>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50"/>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50"/>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50"/>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50"/>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50"/>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50"/>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32" name="Google Shape;732;p50"/>
          <p:cNvSpPr/>
          <p:nvPr/>
        </p:nvSpPr>
        <p:spPr>
          <a:xfrm>
            <a:off x="253101" y="539500"/>
            <a:ext cx="1703925" cy="40375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3" name="Google Shape;733;p50"/>
          <p:cNvSpPr/>
          <p:nvPr/>
        </p:nvSpPr>
        <p:spPr>
          <a:xfrm>
            <a:off x="6937875" y="4175525"/>
            <a:ext cx="1866036" cy="44220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50"/>
          <p:cNvSpPr/>
          <p:nvPr/>
        </p:nvSpPr>
        <p:spPr>
          <a:xfrm rot="10800000" flipH="1">
            <a:off x="6022732" y="548304"/>
            <a:ext cx="4080594" cy="89794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6"/>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4" name="Google Shape;554;p46"/>
          <p:cNvSpPr txBox="1">
            <a:spLocks noGrp="1"/>
          </p:cNvSpPr>
          <p:nvPr>
            <p:ph type="title"/>
          </p:nvPr>
        </p:nvSpPr>
        <p:spPr>
          <a:xfrm>
            <a:off x="713250" y="539385"/>
            <a:ext cx="7717500" cy="576000"/>
          </a:xfrm>
          <a:prstGeom prst="rect">
            <a:avLst/>
          </a:prstGeom>
        </p:spPr>
        <p:txBody>
          <a:bodyPr spcFirstLastPara="1" wrap="square" lIns="91425" tIns="91425" rIns="91425" bIns="91425" anchor="t" anchorCtr="0">
            <a:noAutofit/>
          </a:bodyPr>
          <a:lstStyle/>
          <a:p>
            <a:pPr algn="ctr"/>
            <a:r>
              <a:rPr lang="en-US" sz="3200" dirty="0">
                <a:latin typeface="Montserrat" panose="00000500000000000000" pitchFamily="2" charset="0"/>
              </a:rPr>
              <a:t>General specification of Golf Cart </a:t>
            </a:r>
            <a:endParaRPr lang="en-IN" sz="3200" dirty="0">
              <a:latin typeface="Montserrat" panose="00000500000000000000" pitchFamily="2" charset="0"/>
            </a:endParaRPr>
          </a:p>
        </p:txBody>
      </p:sp>
      <p:sp>
        <p:nvSpPr>
          <p:cNvPr id="557" name="Google Shape;557;p46"/>
          <p:cNvSpPr txBox="1">
            <a:spLocks noGrp="1"/>
          </p:cNvSpPr>
          <p:nvPr>
            <p:ph type="subTitle" idx="3"/>
          </p:nvPr>
        </p:nvSpPr>
        <p:spPr>
          <a:xfrm>
            <a:off x="5624046" y="2387286"/>
            <a:ext cx="2807100" cy="411600"/>
          </a:xfrm>
          <a:prstGeom prst="rect">
            <a:avLst/>
          </a:prstGeom>
        </p:spPr>
        <p:txBody>
          <a:bodyPr spcFirstLastPara="1" wrap="square" lIns="91425" tIns="91425" rIns="91425" bIns="91425" anchor="b" anchorCtr="0">
            <a:noAutofit/>
          </a:bodyPr>
          <a:lstStyle/>
          <a:p>
            <a:r>
              <a:rPr lang="en-US" sz="1600" dirty="0"/>
              <a:t>MECHANICAL SPARES </a:t>
            </a:r>
          </a:p>
        </p:txBody>
      </p:sp>
      <p:sp>
        <p:nvSpPr>
          <p:cNvPr id="558" name="Google Shape;558;p46"/>
          <p:cNvSpPr txBox="1">
            <a:spLocks noGrp="1"/>
          </p:cNvSpPr>
          <p:nvPr>
            <p:ph type="body" idx="4"/>
          </p:nvPr>
        </p:nvSpPr>
        <p:spPr>
          <a:xfrm>
            <a:off x="5624045" y="2755285"/>
            <a:ext cx="3228757" cy="1952421"/>
          </a:xfrm>
          <a:prstGeom prst="rect">
            <a:avLst/>
          </a:prstGeom>
        </p:spPr>
        <p:txBody>
          <a:bodyPr spcFirstLastPara="1" wrap="square" lIns="91425" tIns="91425" rIns="91425" bIns="91425" anchor="t" anchorCtr="0">
            <a:noAutofit/>
          </a:bodyPr>
          <a:lstStyle/>
          <a:p>
            <a:pPr marL="285750" indent="-285750">
              <a:lnSpc>
                <a:spcPct val="150000"/>
              </a:lnSpc>
              <a:buBlip>
                <a:blip r:embed="rId3">
                  <a:extLst>
                    <a:ext uri="{96DAC541-7B7A-43D3-8B79-37D633B846F1}">
                      <asvg:svgBlip xmlns:asvg="http://schemas.microsoft.com/office/drawing/2016/SVG/main" r:embed="rId4"/>
                    </a:ext>
                  </a:extLst>
                </a:blip>
              </a:buBlip>
            </a:pPr>
            <a:r>
              <a:rPr lang="en-US" sz="1200" dirty="0">
                <a:latin typeface="SF Pro Text" panose="00000500000000000000" pitchFamily="2" charset="0"/>
                <a:ea typeface="SF Pro Text" panose="00000500000000000000" pitchFamily="2" charset="0"/>
              </a:rPr>
              <a:t>Steering : Rack &amp; Pinion Type </a:t>
            </a:r>
          </a:p>
          <a:p>
            <a:pPr marL="285750" indent="-285750">
              <a:lnSpc>
                <a:spcPct val="150000"/>
              </a:lnSpc>
              <a:buBlip>
                <a:blip r:embed="rId3">
                  <a:extLst>
                    <a:ext uri="{96DAC541-7B7A-43D3-8B79-37D633B846F1}">
                      <asvg:svgBlip xmlns:asvg="http://schemas.microsoft.com/office/drawing/2016/SVG/main" r:embed="rId4"/>
                    </a:ext>
                  </a:extLst>
                </a:blip>
              </a:buBlip>
            </a:pPr>
            <a:r>
              <a:rPr lang="en-US" sz="1200" dirty="0">
                <a:latin typeface="SF Pro Text" panose="00000500000000000000" pitchFamily="2" charset="0"/>
                <a:ea typeface="SF Pro Text" panose="00000500000000000000" pitchFamily="2" charset="0"/>
              </a:rPr>
              <a:t>Axel : 44inch MS Type Axel </a:t>
            </a:r>
          </a:p>
          <a:p>
            <a:pPr marL="285750" indent="-285750">
              <a:lnSpc>
                <a:spcPct val="150000"/>
              </a:lnSpc>
              <a:buBlip>
                <a:blip r:embed="rId3">
                  <a:extLst>
                    <a:ext uri="{96DAC541-7B7A-43D3-8B79-37D633B846F1}">
                      <asvg:svgBlip xmlns:asvg="http://schemas.microsoft.com/office/drawing/2016/SVG/main" r:embed="rId4"/>
                    </a:ext>
                  </a:extLst>
                </a:blip>
              </a:buBlip>
            </a:pPr>
            <a:r>
              <a:rPr lang="en-US" sz="1200" dirty="0">
                <a:latin typeface="SF Pro Text" panose="00000500000000000000" pitchFamily="2" charset="0"/>
                <a:ea typeface="SF Pro Text" panose="00000500000000000000" pitchFamily="2" charset="0"/>
              </a:rPr>
              <a:t>Ground Clear : 120mm Breaking : Front Wheel Mechanical Drum </a:t>
            </a:r>
          </a:p>
          <a:p>
            <a:pPr marL="285750" indent="-285750">
              <a:lnSpc>
                <a:spcPct val="150000"/>
              </a:lnSpc>
              <a:buBlip>
                <a:blip r:embed="rId3">
                  <a:extLst>
                    <a:ext uri="{96DAC541-7B7A-43D3-8B79-37D633B846F1}">
                      <asvg:svgBlip xmlns:asvg="http://schemas.microsoft.com/office/drawing/2016/SVG/main" r:embed="rId4"/>
                    </a:ext>
                  </a:extLst>
                </a:blip>
              </a:buBlip>
            </a:pPr>
            <a:r>
              <a:rPr lang="en-US" sz="1200" dirty="0">
                <a:latin typeface="SF Pro Text" panose="00000500000000000000" pitchFamily="2" charset="0"/>
                <a:ea typeface="SF Pro Text" panose="00000500000000000000" pitchFamily="2" charset="0"/>
              </a:rPr>
              <a:t>Break Tires  : 20inch - 9mm Tubeless Tire</a:t>
            </a:r>
            <a:endParaRPr lang="en-IN" sz="1200" dirty="0">
              <a:latin typeface="SF Pro Text" panose="00000500000000000000" pitchFamily="2" charset="0"/>
              <a:ea typeface="SF Pro Text" panose="00000500000000000000" pitchFamily="2" charset="0"/>
            </a:endParaRPr>
          </a:p>
        </p:txBody>
      </p:sp>
      <p:sp>
        <p:nvSpPr>
          <p:cNvPr id="561" name="Google Shape;561;p46"/>
          <p:cNvSpPr/>
          <p:nvPr/>
        </p:nvSpPr>
        <p:spPr>
          <a:xfrm flipH="1">
            <a:off x="-546310" y="4268756"/>
            <a:ext cx="3228757" cy="71046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2" name="Google Shape;562;p46"/>
          <p:cNvSpPr/>
          <p:nvPr/>
        </p:nvSpPr>
        <p:spPr>
          <a:xfrm rot="10800000" flipH="1">
            <a:off x="6514140" y="1334680"/>
            <a:ext cx="3228757" cy="71046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3" name="Google Shape;563;p46"/>
          <p:cNvSpPr/>
          <p:nvPr/>
        </p:nvSpPr>
        <p:spPr>
          <a:xfrm flipH="1">
            <a:off x="149620" y="3502428"/>
            <a:ext cx="1836902" cy="4352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4" name="Google Shape;564;p46"/>
          <p:cNvSpPr/>
          <p:nvPr/>
        </p:nvSpPr>
        <p:spPr>
          <a:xfrm flipH="1">
            <a:off x="7551571" y="1748916"/>
            <a:ext cx="2191329" cy="51930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 name="Google Shape;585;p47">
            <a:extLst>
              <a:ext uri="{FF2B5EF4-FFF2-40B4-BE49-F238E27FC236}">
                <a16:creationId xmlns:a16="http://schemas.microsoft.com/office/drawing/2014/main" id="{5591AB54-68B7-731C-DF69-837EDC0519C5}"/>
              </a:ext>
            </a:extLst>
          </p:cNvPr>
          <p:cNvGrpSpPr/>
          <p:nvPr/>
        </p:nvGrpSpPr>
        <p:grpSpPr>
          <a:xfrm>
            <a:off x="5090217" y="2387286"/>
            <a:ext cx="438600" cy="542493"/>
            <a:chOff x="1804767" y="1823078"/>
            <a:chExt cx="438600" cy="542493"/>
          </a:xfrm>
        </p:grpSpPr>
        <p:sp>
          <p:nvSpPr>
            <p:cNvPr id="6" name="Google Shape;586;p47">
              <a:extLst>
                <a:ext uri="{FF2B5EF4-FFF2-40B4-BE49-F238E27FC236}">
                  <a16:creationId xmlns:a16="http://schemas.microsoft.com/office/drawing/2014/main" id="{14FEA930-26CE-6DD3-F87B-ACB375C87C9C}"/>
                </a:ext>
              </a:extLst>
            </p:cNvPr>
            <p:cNvSpPr/>
            <p:nvPr/>
          </p:nvSpPr>
          <p:spPr>
            <a:xfrm>
              <a:off x="1806822" y="1823078"/>
              <a:ext cx="434479" cy="451817"/>
            </a:xfrm>
            <a:custGeom>
              <a:avLst/>
              <a:gdLst/>
              <a:ahLst/>
              <a:cxnLst/>
              <a:rect l="l" t="t" r="r" b="b"/>
              <a:pathLst>
                <a:path w="11553" h="12014" extrusionOk="0">
                  <a:moveTo>
                    <a:pt x="9857" y="973"/>
                  </a:moveTo>
                  <a:cubicBezTo>
                    <a:pt x="9826" y="973"/>
                    <a:pt x="9793" y="984"/>
                    <a:pt x="9762" y="1005"/>
                  </a:cubicBezTo>
                  <a:cubicBezTo>
                    <a:pt x="9581" y="1127"/>
                    <a:pt x="9405" y="1257"/>
                    <a:pt x="9235" y="1394"/>
                  </a:cubicBezTo>
                  <a:cubicBezTo>
                    <a:pt x="9131" y="1478"/>
                    <a:pt x="9160" y="1620"/>
                    <a:pt x="9281" y="1683"/>
                  </a:cubicBezTo>
                  <a:cubicBezTo>
                    <a:pt x="9316" y="1701"/>
                    <a:pt x="9356" y="1715"/>
                    <a:pt x="9410" y="1738"/>
                  </a:cubicBezTo>
                  <a:cubicBezTo>
                    <a:pt x="9334" y="1795"/>
                    <a:pt x="9268" y="1844"/>
                    <a:pt x="9205" y="1894"/>
                  </a:cubicBezTo>
                  <a:cubicBezTo>
                    <a:pt x="9103" y="1972"/>
                    <a:pt x="9083" y="2069"/>
                    <a:pt x="9148" y="2154"/>
                  </a:cubicBezTo>
                  <a:cubicBezTo>
                    <a:pt x="9183" y="2201"/>
                    <a:pt x="9228" y="2225"/>
                    <a:pt x="9278" y="2225"/>
                  </a:cubicBezTo>
                  <a:cubicBezTo>
                    <a:pt x="9321" y="2225"/>
                    <a:pt x="9368" y="2208"/>
                    <a:pt x="9416" y="2173"/>
                  </a:cubicBezTo>
                  <a:cubicBezTo>
                    <a:pt x="9550" y="2077"/>
                    <a:pt x="9680" y="1979"/>
                    <a:pt x="9812" y="1882"/>
                  </a:cubicBezTo>
                  <a:cubicBezTo>
                    <a:pt x="9888" y="1827"/>
                    <a:pt x="9972" y="1775"/>
                    <a:pt x="9962" y="1663"/>
                  </a:cubicBezTo>
                  <a:cubicBezTo>
                    <a:pt x="9952" y="1549"/>
                    <a:pt x="9861" y="1516"/>
                    <a:pt x="9771" y="1483"/>
                  </a:cubicBezTo>
                  <a:cubicBezTo>
                    <a:pt x="9761" y="1480"/>
                    <a:pt x="9752" y="1473"/>
                    <a:pt x="9734" y="1462"/>
                  </a:cubicBezTo>
                  <a:cubicBezTo>
                    <a:pt x="9815" y="1399"/>
                    <a:pt x="9895" y="1345"/>
                    <a:pt x="9967" y="1281"/>
                  </a:cubicBezTo>
                  <a:cubicBezTo>
                    <a:pt x="10040" y="1214"/>
                    <a:pt x="10047" y="1129"/>
                    <a:pt x="9990" y="1049"/>
                  </a:cubicBezTo>
                  <a:cubicBezTo>
                    <a:pt x="9954" y="999"/>
                    <a:pt x="9907" y="973"/>
                    <a:pt x="9857" y="973"/>
                  </a:cubicBezTo>
                  <a:close/>
                  <a:moveTo>
                    <a:pt x="4413" y="2486"/>
                  </a:moveTo>
                  <a:cubicBezTo>
                    <a:pt x="4272" y="2488"/>
                    <a:pt x="4197" y="2549"/>
                    <a:pt x="4194" y="2658"/>
                  </a:cubicBezTo>
                  <a:cubicBezTo>
                    <a:pt x="4193" y="2770"/>
                    <a:pt x="4271" y="2838"/>
                    <a:pt x="4406" y="2838"/>
                  </a:cubicBezTo>
                  <a:cubicBezTo>
                    <a:pt x="4610" y="2839"/>
                    <a:pt x="4813" y="2839"/>
                    <a:pt x="5017" y="2839"/>
                  </a:cubicBezTo>
                  <a:cubicBezTo>
                    <a:pt x="5220" y="2839"/>
                    <a:pt x="5423" y="2839"/>
                    <a:pt x="5627" y="2838"/>
                  </a:cubicBezTo>
                  <a:cubicBezTo>
                    <a:pt x="5754" y="2838"/>
                    <a:pt x="5834" y="2768"/>
                    <a:pt x="5836" y="2664"/>
                  </a:cubicBezTo>
                  <a:cubicBezTo>
                    <a:pt x="5838" y="2556"/>
                    <a:pt x="5757" y="2488"/>
                    <a:pt x="5621" y="2488"/>
                  </a:cubicBezTo>
                  <a:cubicBezTo>
                    <a:pt x="5418" y="2486"/>
                    <a:pt x="5215" y="2486"/>
                    <a:pt x="5012" y="2486"/>
                  </a:cubicBezTo>
                  <a:close/>
                  <a:moveTo>
                    <a:pt x="6497" y="2486"/>
                  </a:moveTo>
                  <a:cubicBezTo>
                    <a:pt x="6453" y="2486"/>
                    <a:pt x="6409" y="2487"/>
                    <a:pt x="6365" y="2488"/>
                  </a:cubicBezTo>
                  <a:cubicBezTo>
                    <a:pt x="6255" y="2490"/>
                    <a:pt x="6181" y="2560"/>
                    <a:pt x="6177" y="2657"/>
                  </a:cubicBezTo>
                  <a:cubicBezTo>
                    <a:pt x="6174" y="2757"/>
                    <a:pt x="6251" y="2835"/>
                    <a:pt x="6366" y="2837"/>
                  </a:cubicBezTo>
                  <a:cubicBezTo>
                    <a:pt x="6499" y="2839"/>
                    <a:pt x="6632" y="2839"/>
                    <a:pt x="6765" y="2839"/>
                  </a:cubicBezTo>
                  <a:cubicBezTo>
                    <a:pt x="6897" y="2839"/>
                    <a:pt x="7030" y="2839"/>
                    <a:pt x="7163" y="2838"/>
                  </a:cubicBezTo>
                  <a:cubicBezTo>
                    <a:pt x="7281" y="2837"/>
                    <a:pt x="7354" y="2764"/>
                    <a:pt x="7354" y="2661"/>
                  </a:cubicBezTo>
                  <a:cubicBezTo>
                    <a:pt x="7354" y="2557"/>
                    <a:pt x="7281" y="2489"/>
                    <a:pt x="7161" y="2488"/>
                  </a:cubicBezTo>
                  <a:cubicBezTo>
                    <a:pt x="7117" y="2487"/>
                    <a:pt x="7073" y="2486"/>
                    <a:pt x="7029" y="2486"/>
                  </a:cubicBezTo>
                  <a:cubicBezTo>
                    <a:pt x="6940" y="2486"/>
                    <a:pt x="6852" y="2488"/>
                    <a:pt x="6762" y="2488"/>
                  </a:cubicBezTo>
                  <a:cubicBezTo>
                    <a:pt x="6674" y="2488"/>
                    <a:pt x="6586" y="2486"/>
                    <a:pt x="6497" y="2486"/>
                  </a:cubicBezTo>
                  <a:close/>
                  <a:moveTo>
                    <a:pt x="9562" y="352"/>
                  </a:moveTo>
                  <a:cubicBezTo>
                    <a:pt x="10252" y="352"/>
                    <a:pt x="10816" y="910"/>
                    <a:pt x="10818" y="1597"/>
                  </a:cubicBezTo>
                  <a:cubicBezTo>
                    <a:pt x="10819" y="2287"/>
                    <a:pt x="10264" y="2844"/>
                    <a:pt x="9576" y="2846"/>
                  </a:cubicBezTo>
                  <a:cubicBezTo>
                    <a:pt x="9574" y="2847"/>
                    <a:pt x="9572" y="2847"/>
                    <a:pt x="9570" y="2847"/>
                  </a:cubicBezTo>
                  <a:cubicBezTo>
                    <a:pt x="8882" y="2847"/>
                    <a:pt x="8326" y="2298"/>
                    <a:pt x="8322" y="1610"/>
                  </a:cubicBezTo>
                  <a:cubicBezTo>
                    <a:pt x="8318" y="921"/>
                    <a:pt x="8872" y="357"/>
                    <a:pt x="9557" y="352"/>
                  </a:cubicBezTo>
                  <a:cubicBezTo>
                    <a:pt x="9559" y="352"/>
                    <a:pt x="9561" y="352"/>
                    <a:pt x="9562" y="352"/>
                  </a:cubicBezTo>
                  <a:close/>
                  <a:moveTo>
                    <a:pt x="7955" y="2180"/>
                  </a:moveTo>
                  <a:cubicBezTo>
                    <a:pt x="8046" y="2180"/>
                    <a:pt x="8089" y="2204"/>
                    <a:pt x="8128" y="2290"/>
                  </a:cubicBezTo>
                  <a:cubicBezTo>
                    <a:pt x="8278" y="2611"/>
                    <a:pt x="8516" y="2854"/>
                    <a:pt x="8829" y="3022"/>
                  </a:cubicBezTo>
                  <a:cubicBezTo>
                    <a:pt x="8866" y="3042"/>
                    <a:pt x="8896" y="3076"/>
                    <a:pt x="8929" y="3103"/>
                  </a:cubicBezTo>
                  <a:cubicBezTo>
                    <a:pt x="8920" y="3114"/>
                    <a:pt x="8913" y="3126"/>
                    <a:pt x="8905" y="3139"/>
                  </a:cubicBezTo>
                  <a:lnTo>
                    <a:pt x="2639" y="3139"/>
                  </a:lnTo>
                  <a:cubicBezTo>
                    <a:pt x="2637" y="3100"/>
                    <a:pt x="2631" y="3067"/>
                    <a:pt x="2631" y="3033"/>
                  </a:cubicBezTo>
                  <a:cubicBezTo>
                    <a:pt x="2631" y="2807"/>
                    <a:pt x="2631" y="2580"/>
                    <a:pt x="2631" y="2354"/>
                  </a:cubicBezTo>
                  <a:cubicBezTo>
                    <a:pt x="2631" y="2183"/>
                    <a:pt x="2631" y="2183"/>
                    <a:pt x="2808" y="2183"/>
                  </a:cubicBezTo>
                  <a:lnTo>
                    <a:pt x="4438" y="2183"/>
                  </a:lnTo>
                  <a:cubicBezTo>
                    <a:pt x="4907" y="2183"/>
                    <a:pt x="5376" y="2183"/>
                    <a:pt x="5844" y="2183"/>
                  </a:cubicBezTo>
                  <a:cubicBezTo>
                    <a:pt x="6548" y="2183"/>
                    <a:pt x="7251" y="2182"/>
                    <a:pt x="7955" y="2180"/>
                  </a:cubicBezTo>
                  <a:close/>
                  <a:moveTo>
                    <a:pt x="11191" y="4673"/>
                  </a:moveTo>
                  <a:lnTo>
                    <a:pt x="11191" y="4908"/>
                  </a:lnTo>
                  <a:cubicBezTo>
                    <a:pt x="11191" y="5197"/>
                    <a:pt x="11194" y="5486"/>
                    <a:pt x="11190" y="5775"/>
                  </a:cubicBezTo>
                  <a:cubicBezTo>
                    <a:pt x="11187" y="6013"/>
                    <a:pt x="11031" y="6173"/>
                    <a:pt x="10788" y="6184"/>
                  </a:cubicBezTo>
                  <a:lnTo>
                    <a:pt x="10788" y="4673"/>
                  </a:lnTo>
                  <a:close/>
                  <a:moveTo>
                    <a:pt x="757" y="4674"/>
                  </a:moveTo>
                  <a:lnTo>
                    <a:pt x="757" y="6187"/>
                  </a:lnTo>
                  <a:cubicBezTo>
                    <a:pt x="529" y="6167"/>
                    <a:pt x="371" y="6034"/>
                    <a:pt x="364" y="5829"/>
                  </a:cubicBezTo>
                  <a:cubicBezTo>
                    <a:pt x="351" y="5448"/>
                    <a:pt x="359" y="5064"/>
                    <a:pt x="359" y="4674"/>
                  </a:cubicBezTo>
                  <a:close/>
                  <a:moveTo>
                    <a:pt x="7986" y="1244"/>
                  </a:moveTo>
                  <a:lnTo>
                    <a:pt x="7986" y="1829"/>
                  </a:lnTo>
                  <a:lnTo>
                    <a:pt x="2768" y="1829"/>
                  </a:lnTo>
                  <a:cubicBezTo>
                    <a:pt x="2435" y="1829"/>
                    <a:pt x="2280" y="1985"/>
                    <a:pt x="2280" y="2317"/>
                  </a:cubicBezTo>
                  <a:cubicBezTo>
                    <a:pt x="2280" y="3157"/>
                    <a:pt x="2280" y="3997"/>
                    <a:pt x="2280" y="4838"/>
                  </a:cubicBezTo>
                  <a:cubicBezTo>
                    <a:pt x="2280" y="4869"/>
                    <a:pt x="2278" y="4901"/>
                    <a:pt x="2281" y="4932"/>
                  </a:cubicBezTo>
                  <a:cubicBezTo>
                    <a:pt x="2291" y="5035"/>
                    <a:pt x="2364" y="5106"/>
                    <a:pt x="2454" y="5106"/>
                  </a:cubicBezTo>
                  <a:cubicBezTo>
                    <a:pt x="2458" y="5106"/>
                    <a:pt x="2461" y="5106"/>
                    <a:pt x="2465" y="5106"/>
                  </a:cubicBezTo>
                  <a:cubicBezTo>
                    <a:pt x="2559" y="5100"/>
                    <a:pt x="2629" y="5032"/>
                    <a:pt x="2630" y="4926"/>
                  </a:cubicBezTo>
                  <a:cubicBezTo>
                    <a:pt x="2633" y="4695"/>
                    <a:pt x="2631" y="4465"/>
                    <a:pt x="2631" y="4234"/>
                  </a:cubicBezTo>
                  <a:lnTo>
                    <a:pt x="2631" y="3502"/>
                  </a:lnTo>
                  <a:lnTo>
                    <a:pt x="8916" y="3502"/>
                  </a:lnTo>
                  <a:lnTo>
                    <a:pt x="8916" y="3626"/>
                  </a:lnTo>
                  <a:cubicBezTo>
                    <a:pt x="8916" y="4627"/>
                    <a:pt x="8919" y="5627"/>
                    <a:pt x="8913" y="6628"/>
                  </a:cubicBezTo>
                  <a:cubicBezTo>
                    <a:pt x="8912" y="6769"/>
                    <a:pt x="8871" y="6909"/>
                    <a:pt x="8842" y="7081"/>
                  </a:cubicBezTo>
                  <a:cubicBezTo>
                    <a:pt x="8561" y="6855"/>
                    <a:pt x="8265" y="6767"/>
                    <a:pt x="7958" y="6710"/>
                  </a:cubicBezTo>
                  <a:cubicBezTo>
                    <a:pt x="7423" y="6610"/>
                    <a:pt x="6882" y="6572"/>
                    <a:pt x="6340" y="6572"/>
                  </a:cubicBezTo>
                  <a:cubicBezTo>
                    <a:pt x="6283" y="6572"/>
                    <a:pt x="6227" y="6572"/>
                    <a:pt x="6171" y="6573"/>
                  </a:cubicBezTo>
                  <a:cubicBezTo>
                    <a:pt x="5465" y="6581"/>
                    <a:pt x="4757" y="6599"/>
                    <a:pt x="4052" y="6648"/>
                  </a:cubicBezTo>
                  <a:cubicBezTo>
                    <a:pt x="3733" y="6670"/>
                    <a:pt x="3416" y="6765"/>
                    <a:pt x="3104" y="6849"/>
                  </a:cubicBezTo>
                  <a:cubicBezTo>
                    <a:pt x="2973" y="6885"/>
                    <a:pt x="2857" y="6976"/>
                    <a:pt x="2708" y="7054"/>
                  </a:cubicBezTo>
                  <a:cubicBezTo>
                    <a:pt x="2683" y="6923"/>
                    <a:pt x="2640" y="6794"/>
                    <a:pt x="2636" y="6661"/>
                  </a:cubicBezTo>
                  <a:cubicBezTo>
                    <a:pt x="2624" y="6356"/>
                    <a:pt x="2631" y="6052"/>
                    <a:pt x="2631" y="5747"/>
                  </a:cubicBezTo>
                  <a:cubicBezTo>
                    <a:pt x="2631" y="5605"/>
                    <a:pt x="2566" y="5521"/>
                    <a:pt x="2460" y="5521"/>
                  </a:cubicBezTo>
                  <a:cubicBezTo>
                    <a:pt x="2457" y="5521"/>
                    <a:pt x="2455" y="5522"/>
                    <a:pt x="2452" y="5522"/>
                  </a:cubicBezTo>
                  <a:cubicBezTo>
                    <a:pt x="2345" y="5524"/>
                    <a:pt x="2280" y="5607"/>
                    <a:pt x="2280" y="5744"/>
                  </a:cubicBezTo>
                  <a:cubicBezTo>
                    <a:pt x="2280" y="6331"/>
                    <a:pt x="2280" y="6918"/>
                    <a:pt x="2280" y="7504"/>
                  </a:cubicBezTo>
                  <a:lnTo>
                    <a:pt x="2280" y="7648"/>
                  </a:lnTo>
                  <a:cubicBezTo>
                    <a:pt x="2087" y="7503"/>
                    <a:pt x="1909" y="7373"/>
                    <a:pt x="1737" y="7235"/>
                  </a:cubicBezTo>
                  <a:cubicBezTo>
                    <a:pt x="1707" y="7210"/>
                    <a:pt x="1694" y="7147"/>
                    <a:pt x="1694" y="7101"/>
                  </a:cubicBezTo>
                  <a:cubicBezTo>
                    <a:pt x="1691" y="6436"/>
                    <a:pt x="1693" y="5772"/>
                    <a:pt x="1693" y="5107"/>
                  </a:cubicBezTo>
                  <a:cubicBezTo>
                    <a:pt x="1693" y="4110"/>
                    <a:pt x="1693" y="3113"/>
                    <a:pt x="1693" y="2116"/>
                  </a:cubicBezTo>
                  <a:cubicBezTo>
                    <a:pt x="1693" y="1574"/>
                    <a:pt x="2022" y="1244"/>
                    <a:pt x="2559" y="1244"/>
                  </a:cubicBezTo>
                  <a:close/>
                  <a:moveTo>
                    <a:pt x="5771" y="8126"/>
                  </a:moveTo>
                  <a:cubicBezTo>
                    <a:pt x="5666" y="8126"/>
                    <a:pt x="5561" y="8128"/>
                    <a:pt x="5456" y="8134"/>
                  </a:cubicBezTo>
                  <a:cubicBezTo>
                    <a:pt x="5359" y="8138"/>
                    <a:pt x="5304" y="8217"/>
                    <a:pt x="5311" y="8314"/>
                  </a:cubicBezTo>
                  <a:cubicBezTo>
                    <a:pt x="5318" y="8409"/>
                    <a:pt x="5376" y="8472"/>
                    <a:pt x="5479" y="8475"/>
                  </a:cubicBezTo>
                  <a:cubicBezTo>
                    <a:pt x="5511" y="8475"/>
                    <a:pt x="5544" y="8476"/>
                    <a:pt x="5576" y="8476"/>
                  </a:cubicBezTo>
                  <a:cubicBezTo>
                    <a:pt x="5641" y="8476"/>
                    <a:pt x="5705" y="8475"/>
                    <a:pt x="5771" y="8475"/>
                  </a:cubicBezTo>
                  <a:lnTo>
                    <a:pt x="5771" y="8476"/>
                  </a:lnTo>
                  <a:lnTo>
                    <a:pt x="6063" y="8476"/>
                  </a:lnTo>
                  <a:cubicBezTo>
                    <a:pt x="6164" y="8467"/>
                    <a:pt x="6240" y="8400"/>
                    <a:pt x="6238" y="8309"/>
                  </a:cubicBezTo>
                  <a:cubicBezTo>
                    <a:pt x="6237" y="8211"/>
                    <a:pt x="6183" y="8137"/>
                    <a:pt x="6086" y="8133"/>
                  </a:cubicBezTo>
                  <a:cubicBezTo>
                    <a:pt x="5981" y="8128"/>
                    <a:pt x="5876" y="8126"/>
                    <a:pt x="5771" y="8126"/>
                  </a:cubicBezTo>
                  <a:close/>
                  <a:moveTo>
                    <a:pt x="1698" y="7673"/>
                  </a:moveTo>
                  <a:cubicBezTo>
                    <a:pt x="2114" y="7899"/>
                    <a:pt x="2324" y="8198"/>
                    <a:pt x="2270" y="8634"/>
                  </a:cubicBezTo>
                  <a:lnTo>
                    <a:pt x="1698" y="8634"/>
                  </a:lnTo>
                  <a:lnTo>
                    <a:pt x="1698" y="7673"/>
                  </a:lnTo>
                  <a:close/>
                  <a:moveTo>
                    <a:pt x="9845" y="7665"/>
                  </a:moveTo>
                  <a:lnTo>
                    <a:pt x="9845" y="8635"/>
                  </a:lnTo>
                  <a:lnTo>
                    <a:pt x="9285" y="8635"/>
                  </a:lnTo>
                  <a:cubicBezTo>
                    <a:pt x="9205" y="8269"/>
                    <a:pt x="9398" y="7936"/>
                    <a:pt x="9845" y="7665"/>
                  </a:cubicBezTo>
                  <a:close/>
                  <a:moveTo>
                    <a:pt x="9848" y="8999"/>
                  </a:moveTo>
                  <a:lnTo>
                    <a:pt x="9848" y="9419"/>
                  </a:lnTo>
                  <a:lnTo>
                    <a:pt x="9275" y="9419"/>
                  </a:lnTo>
                  <a:lnTo>
                    <a:pt x="9275" y="8999"/>
                  </a:lnTo>
                  <a:close/>
                  <a:moveTo>
                    <a:pt x="2273" y="9003"/>
                  </a:moveTo>
                  <a:lnTo>
                    <a:pt x="2273" y="9423"/>
                  </a:lnTo>
                  <a:lnTo>
                    <a:pt x="1700" y="9423"/>
                  </a:lnTo>
                  <a:lnTo>
                    <a:pt x="1700" y="9003"/>
                  </a:lnTo>
                  <a:close/>
                  <a:moveTo>
                    <a:pt x="3083" y="9429"/>
                  </a:moveTo>
                  <a:cubicBezTo>
                    <a:pt x="2986" y="9429"/>
                    <a:pt x="2912" y="9500"/>
                    <a:pt x="2909" y="9597"/>
                  </a:cubicBezTo>
                  <a:cubicBezTo>
                    <a:pt x="2906" y="9692"/>
                    <a:pt x="2978" y="9772"/>
                    <a:pt x="3072" y="9778"/>
                  </a:cubicBezTo>
                  <a:cubicBezTo>
                    <a:pt x="3075" y="9778"/>
                    <a:pt x="3079" y="9778"/>
                    <a:pt x="3083" y="9778"/>
                  </a:cubicBezTo>
                  <a:cubicBezTo>
                    <a:pt x="3173" y="9778"/>
                    <a:pt x="3255" y="9700"/>
                    <a:pt x="3258" y="9607"/>
                  </a:cubicBezTo>
                  <a:cubicBezTo>
                    <a:pt x="3263" y="9514"/>
                    <a:pt x="3188" y="9435"/>
                    <a:pt x="3094" y="9429"/>
                  </a:cubicBezTo>
                  <a:cubicBezTo>
                    <a:pt x="3091" y="9429"/>
                    <a:pt x="3087" y="9429"/>
                    <a:pt x="3083" y="9429"/>
                  </a:cubicBezTo>
                  <a:close/>
                  <a:moveTo>
                    <a:pt x="8465" y="9429"/>
                  </a:moveTo>
                  <a:cubicBezTo>
                    <a:pt x="8369" y="9429"/>
                    <a:pt x="8291" y="9504"/>
                    <a:pt x="8289" y="9600"/>
                  </a:cubicBezTo>
                  <a:cubicBezTo>
                    <a:pt x="8288" y="9694"/>
                    <a:pt x="8371" y="9779"/>
                    <a:pt x="8465" y="9779"/>
                  </a:cubicBezTo>
                  <a:cubicBezTo>
                    <a:pt x="8466" y="9779"/>
                    <a:pt x="8467" y="9779"/>
                    <a:pt x="8467" y="9779"/>
                  </a:cubicBezTo>
                  <a:cubicBezTo>
                    <a:pt x="8561" y="9776"/>
                    <a:pt x="8637" y="9700"/>
                    <a:pt x="8638" y="9604"/>
                  </a:cubicBezTo>
                  <a:cubicBezTo>
                    <a:pt x="8640" y="9507"/>
                    <a:pt x="8570" y="9432"/>
                    <a:pt x="8473" y="9429"/>
                  </a:cubicBezTo>
                  <a:cubicBezTo>
                    <a:pt x="8471" y="9429"/>
                    <a:pt x="8468" y="9429"/>
                    <a:pt x="8465" y="9429"/>
                  </a:cubicBezTo>
                  <a:close/>
                  <a:moveTo>
                    <a:pt x="4899" y="9376"/>
                  </a:moveTo>
                  <a:lnTo>
                    <a:pt x="4899" y="10083"/>
                  </a:lnTo>
                  <a:lnTo>
                    <a:pt x="4576" y="10083"/>
                  </a:lnTo>
                  <a:lnTo>
                    <a:pt x="4576" y="9376"/>
                  </a:lnTo>
                  <a:close/>
                  <a:moveTo>
                    <a:pt x="5590" y="9378"/>
                  </a:moveTo>
                  <a:lnTo>
                    <a:pt x="5590" y="10083"/>
                  </a:lnTo>
                  <a:lnTo>
                    <a:pt x="5267" y="10083"/>
                  </a:lnTo>
                  <a:lnTo>
                    <a:pt x="5267" y="9378"/>
                  </a:lnTo>
                  <a:close/>
                  <a:moveTo>
                    <a:pt x="6282" y="9375"/>
                  </a:moveTo>
                  <a:lnTo>
                    <a:pt x="6282" y="10083"/>
                  </a:lnTo>
                  <a:lnTo>
                    <a:pt x="5958" y="10083"/>
                  </a:lnTo>
                  <a:lnTo>
                    <a:pt x="5958" y="9375"/>
                  </a:lnTo>
                  <a:close/>
                  <a:moveTo>
                    <a:pt x="6970" y="9375"/>
                  </a:moveTo>
                  <a:lnTo>
                    <a:pt x="6970" y="10083"/>
                  </a:lnTo>
                  <a:lnTo>
                    <a:pt x="6650" y="10083"/>
                  </a:lnTo>
                  <a:lnTo>
                    <a:pt x="6650" y="9375"/>
                  </a:lnTo>
                  <a:close/>
                  <a:moveTo>
                    <a:pt x="4211" y="9415"/>
                  </a:moveTo>
                  <a:lnTo>
                    <a:pt x="4211" y="10084"/>
                  </a:lnTo>
                  <a:lnTo>
                    <a:pt x="3851" y="10084"/>
                  </a:lnTo>
                  <a:cubicBezTo>
                    <a:pt x="3955" y="9855"/>
                    <a:pt x="3943" y="9578"/>
                    <a:pt x="4211" y="9415"/>
                  </a:cubicBezTo>
                  <a:close/>
                  <a:moveTo>
                    <a:pt x="7341" y="9420"/>
                  </a:moveTo>
                  <a:cubicBezTo>
                    <a:pt x="7607" y="9573"/>
                    <a:pt x="7586" y="9856"/>
                    <a:pt x="7704" y="10087"/>
                  </a:cubicBezTo>
                  <a:lnTo>
                    <a:pt x="7341" y="10087"/>
                  </a:lnTo>
                  <a:lnTo>
                    <a:pt x="7341" y="9420"/>
                  </a:lnTo>
                  <a:close/>
                  <a:moveTo>
                    <a:pt x="5840" y="6913"/>
                  </a:moveTo>
                  <a:cubicBezTo>
                    <a:pt x="6316" y="6913"/>
                    <a:pt x="6792" y="6931"/>
                    <a:pt x="7268" y="6975"/>
                  </a:cubicBezTo>
                  <a:cubicBezTo>
                    <a:pt x="7603" y="7006"/>
                    <a:pt x="7936" y="7087"/>
                    <a:pt x="8267" y="7158"/>
                  </a:cubicBezTo>
                  <a:cubicBezTo>
                    <a:pt x="8365" y="7180"/>
                    <a:pt x="8455" y="7245"/>
                    <a:pt x="8570" y="7302"/>
                  </a:cubicBezTo>
                  <a:cubicBezTo>
                    <a:pt x="8426" y="7408"/>
                    <a:pt x="8289" y="7433"/>
                    <a:pt x="8146" y="7435"/>
                  </a:cubicBezTo>
                  <a:cubicBezTo>
                    <a:pt x="8054" y="7435"/>
                    <a:pt x="7963" y="7435"/>
                    <a:pt x="7872" y="7435"/>
                  </a:cubicBezTo>
                  <a:cubicBezTo>
                    <a:pt x="7781" y="7435"/>
                    <a:pt x="7690" y="7435"/>
                    <a:pt x="7599" y="7435"/>
                  </a:cubicBezTo>
                  <a:cubicBezTo>
                    <a:pt x="7418" y="7435"/>
                    <a:pt x="7236" y="7435"/>
                    <a:pt x="7054" y="7438"/>
                  </a:cubicBezTo>
                  <a:cubicBezTo>
                    <a:pt x="7000" y="7438"/>
                    <a:pt x="6926" y="7453"/>
                    <a:pt x="6896" y="7489"/>
                  </a:cubicBezTo>
                  <a:cubicBezTo>
                    <a:pt x="6862" y="7533"/>
                    <a:pt x="6838" y="7620"/>
                    <a:pt x="6859" y="7665"/>
                  </a:cubicBezTo>
                  <a:cubicBezTo>
                    <a:pt x="6882" y="7718"/>
                    <a:pt x="6959" y="7779"/>
                    <a:pt x="7013" y="7781"/>
                  </a:cubicBezTo>
                  <a:cubicBezTo>
                    <a:pt x="7222" y="7784"/>
                    <a:pt x="7431" y="7787"/>
                    <a:pt x="7640" y="7787"/>
                  </a:cubicBezTo>
                  <a:cubicBezTo>
                    <a:pt x="7849" y="7787"/>
                    <a:pt x="8058" y="7784"/>
                    <a:pt x="8267" y="7778"/>
                  </a:cubicBezTo>
                  <a:cubicBezTo>
                    <a:pt x="8503" y="7769"/>
                    <a:pt x="8711" y="7664"/>
                    <a:pt x="8905" y="7499"/>
                  </a:cubicBezTo>
                  <a:lnTo>
                    <a:pt x="8905" y="10090"/>
                  </a:lnTo>
                  <a:cubicBezTo>
                    <a:pt x="8826" y="10090"/>
                    <a:pt x="8747" y="10090"/>
                    <a:pt x="8666" y="10090"/>
                  </a:cubicBezTo>
                  <a:cubicBezTo>
                    <a:pt x="8586" y="10090"/>
                    <a:pt x="8504" y="10090"/>
                    <a:pt x="8423" y="10088"/>
                  </a:cubicBezTo>
                  <a:cubicBezTo>
                    <a:pt x="8358" y="10088"/>
                    <a:pt x="8283" y="10100"/>
                    <a:pt x="8216" y="10100"/>
                  </a:cubicBezTo>
                  <a:cubicBezTo>
                    <a:pt x="8164" y="10100"/>
                    <a:pt x="8117" y="10093"/>
                    <a:pt x="8083" y="10068"/>
                  </a:cubicBezTo>
                  <a:cubicBezTo>
                    <a:pt x="8005" y="10011"/>
                    <a:pt x="7995" y="9861"/>
                    <a:pt x="7956" y="9751"/>
                  </a:cubicBezTo>
                  <a:cubicBezTo>
                    <a:pt x="7933" y="9684"/>
                    <a:pt x="7913" y="9617"/>
                    <a:pt x="7889" y="9551"/>
                  </a:cubicBezTo>
                  <a:cubicBezTo>
                    <a:pt x="7769" y="9228"/>
                    <a:pt x="7493" y="9020"/>
                    <a:pt x="7148" y="9017"/>
                  </a:cubicBezTo>
                  <a:cubicBezTo>
                    <a:pt x="6691" y="9015"/>
                    <a:pt x="6234" y="9014"/>
                    <a:pt x="5777" y="9014"/>
                  </a:cubicBezTo>
                  <a:cubicBezTo>
                    <a:pt x="5319" y="9014"/>
                    <a:pt x="4862" y="9015"/>
                    <a:pt x="4405" y="9017"/>
                  </a:cubicBezTo>
                  <a:cubicBezTo>
                    <a:pt x="4054" y="9019"/>
                    <a:pt x="3775" y="9228"/>
                    <a:pt x="3657" y="9557"/>
                  </a:cubicBezTo>
                  <a:cubicBezTo>
                    <a:pt x="3604" y="9708"/>
                    <a:pt x="3559" y="9862"/>
                    <a:pt x="3502" y="10011"/>
                  </a:cubicBezTo>
                  <a:cubicBezTo>
                    <a:pt x="3489" y="10044"/>
                    <a:pt x="3442" y="10086"/>
                    <a:pt x="3411" y="10086"/>
                  </a:cubicBezTo>
                  <a:cubicBezTo>
                    <a:pt x="3270" y="10090"/>
                    <a:pt x="3129" y="10090"/>
                    <a:pt x="2986" y="10090"/>
                  </a:cubicBezTo>
                  <a:cubicBezTo>
                    <a:pt x="2872" y="10090"/>
                    <a:pt x="2757" y="10090"/>
                    <a:pt x="2640" y="10090"/>
                  </a:cubicBezTo>
                  <a:lnTo>
                    <a:pt x="2640" y="7494"/>
                  </a:lnTo>
                  <a:cubicBezTo>
                    <a:pt x="2924" y="7753"/>
                    <a:pt x="3252" y="7790"/>
                    <a:pt x="3595" y="7790"/>
                  </a:cubicBezTo>
                  <a:cubicBezTo>
                    <a:pt x="3610" y="7790"/>
                    <a:pt x="3624" y="7789"/>
                    <a:pt x="3639" y="7789"/>
                  </a:cubicBezTo>
                  <a:cubicBezTo>
                    <a:pt x="4015" y="7786"/>
                    <a:pt x="4392" y="7785"/>
                    <a:pt x="4769" y="7785"/>
                  </a:cubicBezTo>
                  <a:cubicBezTo>
                    <a:pt x="5221" y="7785"/>
                    <a:pt x="5673" y="7786"/>
                    <a:pt x="6126" y="7786"/>
                  </a:cubicBezTo>
                  <a:cubicBezTo>
                    <a:pt x="6147" y="7786"/>
                    <a:pt x="6167" y="7787"/>
                    <a:pt x="6188" y="7787"/>
                  </a:cubicBezTo>
                  <a:cubicBezTo>
                    <a:pt x="6199" y="7787"/>
                    <a:pt x="6209" y="7787"/>
                    <a:pt x="6220" y="7786"/>
                  </a:cubicBezTo>
                  <a:cubicBezTo>
                    <a:pt x="6345" y="7782"/>
                    <a:pt x="6425" y="7712"/>
                    <a:pt x="6425" y="7608"/>
                  </a:cubicBezTo>
                  <a:cubicBezTo>
                    <a:pt x="6423" y="7504"/>
                    <a:pt x="6345" y="7436"/>
                    <a:pt x="6217" y="7436"/>
                  </a:cubicBezTo>
                  <a:cubicBezTo>
                    <a:pt x="5619" y="7435"/>
                    <a:pt x="5020" y="7435"/>
                    <a:pt x="4422" y="7435"/>
                  </a:cubicBezTo>
                  <a:cubicBezTo>
                    <a:pt x="4195" y="7435"/>
                    <a:pt x="3969" y="7435"/>
                    <a:pt x="3742" y="7435"/>
                  </a:cubicBezTo>
                  <a:cubicBezTo>
                    <a:pt x="3629" y="7435"/>
                    <a:pt x="3516" y="7435"/>
                    <a:pt x="3402" y="7435"/>
                  </a:cubicBezTo>
                  <a:cubicBezTo>
                    <a:pt x="3260" y="7435"/>
                    <a:pt x="3126" y="7403"/>
                    <a:pt x="2968" y="7302"/>
                  </a:cubicBezTo>
                  <a:cubicBezTo>
                    <a:pt x="3113" y="7238"/>
                    <a:pt x="3227" y="7174"/>
                    <a:pt x="3348" y="7134"/>
                  </a:cubicBezTo>
                  <a:cubicBezTo>
                    <a:pt x="3741" y="7007"/>
                    <a:pt x="4151" y="6972"/>
                    <a:pt x="4562" y="6950"/>
                  </a:cubicBezTo>
                  <a:cubicBezTo>
                    <a:pt x="4988" y="6927"/>
                    <a:pt x="5414" y="6913"/>
                    <a:pt x="5840" y="6913"/>
                  </a:cubicBezTo>
                  <a:close/>
                  <a:moveTo>
                    <a:pt x="8909" y="10450"/>
                  </a:moveTo>
                  <a:lnTo>
                    <a:pt x="8909" y="10772"/>
                  </a:lnTo>
                  <a:lnTo>
                    <a:pt x="2634" y="10772"/>
                  </a:lnTo>
                  <a:lnTo>
                    <a:pt x="2634" y="10450"/>
                  </a:lnTo>
                  <a:close/>
                  <a:moveTo>
                    <a:pt x="9846" y="9781"/>
                  </a:moveTo>
                  <a:cubicBezTo>
                    <a:pt x="9845" y="10041"/>
                    <a:pt x="9855" y="10298"/>
                    <a:pt x="9842" y="10553"/>
                  </a:cubicBezTo>
                  <a:cubicBezTo>
                    <a:pt x="9835" y="10668"/>
                    <a:pt x="9745" y="10754"/>
                    <a:pt x="9626" y="10769"/>
                  </a:cubicBezTo>
                  <a:cubicBezTo>
                    <a:pt x="9582" y="10775"/>
                    <a:pt x="9537" y="10776"/>
                    <a:pt x="9493" y="10776"/>
                  </a:cubicBezTo>
                  <a:cubicBezTo>
                    <a:pt x="9421" y="10776"/>
                    <a:pt x="9348" y="10772"/>
                    <a:pt x="9274" y="10772"/>
                  </a:cubicBezTo>
                  <a:lnTo>
                    <a:pt x="9274" y="9786"/>
                  </a:lnTo>
                  <a:cubicBezTo>
                    <a:pt x="9298" y="9784"/>
                    <a:pt x="9316" y="9781"/>
                    <a:pt x="9335" y="9781"/>
                  </a:cubicBezTo>
                  <a:close/>
                  <a:moveTo>
                    <a:pt x="2273" y="9789"/>
                  </a:moveTo>
                  <a:lnTo>
                    <a:pt x="2273" y="10778"/>
                  </a:lnTo>
                  <a:cubicBezTo>
                    <a:pt x="2203" y="10778"/>
                    <a:pt x="2138" y="10781"/>
                    <a:pt x="2073" y="10781"/>
                  </a:cubicBezTo>
                  <a:cubicBezTo>
                    <a:pt x="2035" y="10781"/>
                    <a:pt x="1997" y="10780"/>
                    <a:pt x="1959" y="10776"/>
                  </a:cubicBezTo>
                  <a:cubicBezTo>
                    <a:pt x="1807" y="10762"/>
                    <a:pt x="1700" y="10652"/>
                    <a:pt x="1696" y="10499"/>
                  </a:cubicBezTo>
                  <a:cubicBezTo>
                    <a:pt x="1688" y="10265"/>
                    <a:pt x="1694" y="10033"/>
                    <a:pt x="1694" y="9789"/>
                  </a:cubicBezTo>
                  <a:close/>
                  <a:moveTo>
                    <a:pt x="9671" y="11140"/>
                  </a:moveTo>
                  <a:cubicBezTo>
                    <a:pt x="9690" y="11312"/>
                    <a:pt x="9692" y="11480"/>
                    <a:pt x="9529" y="11597"/>
                  </a:cubicBezTo>
                  <a:cubicBezTo>
                    <a:pt x="9469" y="11640"/>
                    <a:pt x="9400" y="11661"/>
                    <a:pt x="9330" y="11661"/>
                  </a:cubicBezTo>
                  <a:cubicBezTo>
                    <a:pt x="9266" y="11661"/>
                    <a:pt x="9202" y="11643"/>
                    <a:pt x="9144" y="11607"/>
                  </a:cubicBezTo>
                  <a:cubicBezTo>
                    <a:pt x="9006" y="11519"/>
                    <a:pt x="8959" y="11378"/>
                    <a:pt x="8996" y="11140"/>
                  </a:cubicBezTo>
                  <a:close/>
                  <a:moveTo>
                    <a:pt x="2556" y="11138"/>
                  </a:moveTo>
                  <a:cubicBezTo>
                    <a:pt x="2579" y="11319"/>
                    <a:pt x="2577" y="11482"/>
                    <a:pt x="2416" y="11597"/>
                  </a:cubicBezTo>
                  <a:cubicBezTo>
                    <a:pt x="2356" y="11640"/>
                    <a:pt x="2287" y="11662"/>
                    <a:pt x="2217" y="11662"/>
                  </a:cubicBezTo>
                  <a:cubicBezTo>
                    <a:pt x="2154" y="11662"/>
                    <a:pt x="2090" y="11644"/>
                    <a:pt x="2033" y="11607"/>
                  </a:cubicBezTo>
                  <a:cubicBezTo>
                    <a:pt x="1858" y="11493"/>
                    <a:pt x="1857" y="11321"/>
                    <a:pt x="1875" y="11138"/>
                  </a:cubicBezTo>
                  <a:close/>
                  <a:moveTo>
                    <a:pt x="9365" y="0"/>
                  </a:moveTo>
                  <a:cubicBezTo>
                    <a:pt x="9343" y="8"/>
                    <a:pt x="9322" y="19"/>
                    <a:pt x="9301" y="23"/>
                  </a:cubicBezTo>
                  <a:cubicBezTo>
                    <a:pt x="8815" y="113"/>
                    <a:pt x="8443" y="368"/>
                    <a:pt x="8193" y="794"/>
                  </a:cubicBezTo>
                  <a:cubicBezTo>
                    <a:pt x="8146" y="874"/>
                    <a:pt x="8096" y="894"/>
                    <a:pt x="8009" y="894"/>
                  </a:cubicBezTo>
                  <a:cubicBezTo>
                    <a:pt x="6194" y="892"/>
                    <a:pt x="4379" y="892"/>
                    <a:pt x="2566" y="892"/>
                  </a:cubicBezTo>
                  <a:cubicBezTo>
                    <a:pt x="1827" y="892"/>
                    <a:pt x="1342" y="1379"/>
                    <a:pt x="1341" y="2120"/>
                  </a:cubicBezTo>
                  <a:cubicBezTo>
                    <a:pt x="1341" y="2637"/>
                    <a:pt x="1341" y="3153"/>
                    <a:pt x="1341" y="3668"/>
                  </a:cubicBezTo>
                  <a:lnTo>
                    <a:pt x="1341" y="3792"/>
                  </a:lnTo>
                  <a:cubicBezTo>
                    <a:pt x="1023" y="3812"/>
                    <a:pt x="828" y="3955"/>
                    <a:pt x="768" y="4262"/>
                  </a:cubicBezTo>
                  <a:cubicBezTo>
                    <a:pt x="764" y="4284"/>
                    <a:pt x="714" y="4311"/>
                    <a:pt x="684" y="4312"/>
                  </a:cubicBezTo>
                  <a:cubicBezTo>
                    <a:pt x="629" y="4315"/>
                    <a:pt x="573" y="4315"/>
                    <a:pt x="517" y="4315"/>
                  </a:cubicBezTo>
                  <a:cubicBezTo>
                    <a:pt x="464" y="4315"/>
                    <a:pt x="412" y="4315"/>
                    <a:pt x="359" y="4315"/>
                  </a:cubicBezTo>
                  <a:cubicBezTo>
                    <a:pt x="338" y="4315"/>
                    <a:pt x="318" y="4315"/>
                    <a:pt x="297" y="4315"/>
                  </a:cubicBezTo>
                  <a:cubicBezTo>
                    <a:pt x="117" y="4319"/>
                    <a:pt x="9" y="4419"/>
                    <a:pt x="8" y="4597"/>
                  </a:cubicBezTo>
                  <a:cubicBezTo>
                    <a:pt x="3" y="5000"/>
                    <a:pt x="0" y="5403"/>
                    <a:pt x="9" y="5805"/>
                  </a:cubicBezTo>
                  <a:cubicBezTo>
                    <a:pt x="16" y="6175"/>
                    <a:pt x="274" y="6465"/>
                    <a:pt x="639" y="6532"/>
                  </a:cubicBezTo>
                  <a:cubicBezTo>
                    <a:pt x="676" y="6538"/>
                    <a:pt x="713" y="6542"/>
                    <a:pt x="747" y="6542"/>
                  </a:cubicBezTo>
                  <a:cubicBezTo>
                    <a:pt x="973" y="6542"/>
                    <a:pt x="1116" y="6394"/>
                    <a:pt x="1117" y="6141"/>
                  </a:cubicBezTo>
                  <a:cubicBezTo>
                    <a:pt x="1120" y="5798"/>
                    <a:pt x="1119" y="5453"/>
                    <a:pt x="1119" y="5110"/>
                  </a:cubicBezTo>
                  <a:cubicBezTo>
                    <a:pt x="1119" y="4855"/>
                    <a:pt x="1116" y="4601"/>
                    <a:pt x="1120" y="4346"/>
                  </a:cubicBezTo>
                  <a:cubicBezTo>
                    <a:pt x="1123" y="4222"/>
                    <a:pt x="1177" y="4163"/>
                    <a:pt x="1286" y="4163"/>
                  </a:cubicBezTo>
                  <a:cubicBezTo>
                    <a:pt x="1303" y="4163"/>
                    <a:pt x="1321" y="4164"/>
                    <a:pt x="1341" y="4167"/>
                  </a:cubicBezTo>
                  <a:lnTo>
                    <a:pt x="1341" y="4307"/>
                  </a:lnTo>
                  <a:cubicBezTo>
                    <a:pt x="1341" y="6344"/>
                    <a:pt x="1341" y="8380"/>
                    <a:pt x="1345" y="10417"/>
                  </a:cubicBezTo>
                  <a:cubicBezTo>
                    <a:pt x="1345" y="10540"/>
                    <a:pt x="1358" y="10681"/>
                    <a:pt x="1419" y="10778"/>
                  </a:cubicBezTo>
                  <a:cubicBezTo>
                    <a:pt x="1513" y="10926"/>
                    <a:pt x="1523" y="11073"/>
                    <a:pt x="1518" y="11234"/>
                  </a:cubicBezTo>
                  <a:cubicBezTo>
                    <a:pt x="1516" y="11281"/>
                    <a:pt x="1519" y="11328"/>
                    <a:pt x="1522" y="11373"/>
                  </a:cubicBezTo>
                  <a:cubicBezTo>
                    <a:pt x="1553" y="11736"/>
                    <a:pt x="1856" y="12013"/>
                    <a:pt x="2220" y="12013"/>
                  </a:cubicBezTo>
                  <a:cubicBezTo>
                    <a:pt x="2225" y="12013"/>
                    <a:pt x="2229" y="12013"/>
                    <a:pt x="2234" y="12013"/>
                  </a:cubicBezTo>
                  <a:cubicBezTo>
                    <a:pt x="2597" y="12006"/>
                    <a:pt x="2898" y="11717"/>
                    <a:pt x="2915" y="11353"/>
                  </a:cubicBezTo>
                  <a:cubicBezTo>
                    <a:pt x="2919" y="11285"/>
                    <a:pt x="2916" y="11215"/>
                    <a:pt x="2916" y="11144"/>
                  </a:cubicBezTo>
                  <a:lnTo>
                    <a:pt x="8633" y="11144"/>
                  </a:lnTo>
                  <a:cubicBezTo>
                    <a:pt x="8633" y="11214"/>
                    <a:pt x="8631" y="11275"/>
                    <a:pt x="8633" y="11338"/>
                  </a:cubicBezTo>
                  <a:cubicBezTo>
                    <a:pt x="8647" y="11708"/>
                    <a:pt x="8945" y="12004"/>
                    <a:pt x="9311" y="12013"/>
                  </a:cubicBezTo>
                  <a:cubicBezTo>
                    <a:pt x="9317" y="12013"/>
                    <a:pt x="9324" y="12013"/>
                    <a:pt x="9330" y="12013"/>
                  </a:cubicBezTo>
                  <a:cubicBezTo>
                    <a:pt x="9696" y="12013"/>
                    <a:pt x="9999" y="11734"/>
                    <a:pt x="10027" y="11366"/>
                  </a:cubicBezTo>
                  <a:cubicBezTo>
                    <a:pt x="10034" y="11249"/>
                    <a:pt x="10027" y="11133"/>
                    <a:pt x="10033" y="11014"/>
                  </a:cubicBezTo>
                  <a:cubicBezTo>
                    <a:pt x="10036" y="10974"/>
                    <a:pt x="10046" y="10927"/>
                    <a:pt x="10069" y="10896"/>
                  </a:cubicBezTo>
                  <a:cubicBezTo>
                    <a:pt x="10171" y="10754"/>
                    <a:pt x="10210" y="10597"/>
                    <a:pt x="10208" y="10423"/>
                  </a:cubicBezTo>
                  <a:cubicBezTo>
                    <a:pt x="10207" y="8757"/>
                    <a:pt x="10208" y="7091"/>
                    <a:pt x="10208" y="5425"/>
                  </a:cubicBezTo>
                  <a:cubicBezTo>
                    <a:pt x="10208" y="5382"/>
                    <a:pt x="10217" y="5329"/>
                    <a:pt x="10197" y="5299"/>
                  </a:cubicBezTo>
                  <a:cubicBezTo>
                    <a:pt x="10163" y="5248"/>
                    <a:pt x="10113" y="5187"/>
                    <a:pt x="10060" y="5174"/>
                  </a:cubicBezTo>
                  <a:cubicBezTo>
                    <a:pt x="10054" y="5173"/>
                    <a:pt x="10047" y="5172"/>
                    <a:pt x="10039" y="5172"/>
                  </a:cubicBezTo>
                  <a:cubicBezTo>
                    <a:pt x="9992" y="5172"/>
                    <a:pt x="9930" y="5202"/>
                    <a:pt x="9899" y="5235"/>
                  </a:cubicBezTo>
                  <a:cubicBezTo>
                    <a:pt x="9865" y="5272"/>
                    <a:pt x="9858" y="5342"/>
                    <a:pt x="9858" y="5399"/>
                  </a:cubicBezTo>
                  <a:cubicBezTo>
                    <a:pt x="9855" y="5969"/>
                    <a:pt x="9856" y="6540"/>
                    <a:pt x="9855" y="7111"/>
                  </a:cubicBezTo>
                  <a:cubicBezTo>
                    <a:pt x="9853" y="7153"/>
                    <a:pt x="9842" y="7211"/>
                    <a:pt x="9814" y="7234"/>
                  </a:cubicBezTo>
                  <a:cubicBezTo>
                    <a:pt x="9641" y="7372"/>
                    <a:pt x="9463" y="7503"/>
                    <a:pt x="9277" y="7643"/>
                  </a:cubicBezTo>
                  <a:lnTo>
                    <a:pt x="9277" y="3190"/>
                  </a:lnTo>
                  <a:lnTo>
                    <a:pt x="9856" y="3190"/>
                  </a:lnTo>
                  <a:lnTo>
                    <a:pt x="9856" y="3318"/>
                  </a:lnTo>
                  <a:cubicBezTo>
                    <a:pt x="9856" y="3720"/>
                    <a:pt x="9855" y="4123"/>
                    <a:pt x="9856" y="4526"/>
                  </a:cubicBezTo>
                  <a:cubicBezTo>
                    <a:pt x="9856" y="4668"/>
                    <a:pt x="9915" y="4744"/>
                    <a:pt x="10026" y="4747"/>
                  </a:cubicBezTo>
                  <a:cubicBezTo>
                    <a:pt x="10028" y="4747"/>
                    <a:pt x="10030" y="4747"/>
                    <a:pt x="10032" y="4747"/>
                  </a:cubicBezTo>
                  <a:cubicBezTo>
                    <a:pt x="10143" y="4747"/>
                    <a:pt x="10207" y="4667"/>
                    <a:pt x="10208" y="4525"/>
                  </a:cubicBezTo>
                  <a:cubicBezTo>
                    <a:pt x="10208" y="4402"/>
                    <a:pt x="10208" y="4278"/>
                    <a:pt x="10208" y="4156"/>
                  </a:cubicBezTo>
                  <a:cubicBezTo>
                    <a:pt x="10381" y="4160"/>
                    <a:pt x="10430" y="4214"/>
                    <a:pt x="10430" y="4386"/>
                  </a:cubicBezTo>
                  <a:cubicBezTo>
                    <a:pt x="10432" y="4973"/>
                    <a:pt x="10429" y="5560"/>
                    <a:pt x="10432" y="6146"/>
                  </a:cubicBezTo>
                  <a:cubicBezTo>
                    <a:pt x="10433" y="6393"/>
                    <a:pt x="10579" y="6542"/>
                    <a:pt x="10803" y="6542"/>
                  </a:cubicBezTo>
                  <a:cubicBezTo>
                    <a:pt x="10835" y="6542"/>
                    <a:pt x="10868" y="6539"/>
                    <a:pt x="10903" y="6533"/>
                  </a:cubicBezTo>
                  <a:cubicBezTo>
                    <a:pt x="11262" y="6469"/>
                    <a:pt x="11523" y="6198"/>
                    <a:pt x="11537" y="5836"/>
                  </a:cubicBezTo>
                  <a:cubicBezTo>
                    <a:pt x="11553" y="5418"/>
                    <a:pt x="11546" y="4999"/>
                    <a:pt x="11540" y="4581"/>
                  </a:cubicBezTo>
                  <a:cubicBezTo>
                    <a:pt x="11539" y="4416"/>
                    <a:pt x="11427" y="4319"/>
                    <a:pt x="11259" y="4315"/>
                  </a:cubicBezTo>
                  <a:cubicBezTo>
                    <a:pt x="11205" y="4314"/>
                    <a:pt x="11150" y="4311"/>
                    <a:pt x="11095" y="4311"/>
                  </a:cubicBezTo>
                  <a:cubicBezTo>
                    <a:pt x="11052" y="4311"/>
                    <a:pt x="11009" y="4313"/>
                    <a:pt x="10966" y="4317"/>
                  </a:cubicBezTo>
                  <a:cubicBezTo>
                    <a:pt x="10950" y="4318"/>
                    <a:pt x="10936" y="4318"/>
                    <a:pt x="10922" y="4318"/>
                  </a:cubicBezTo>
                  <a:cubicBezTo>
                    <a:pt x="10833" y="4318"/>
                    <a:pt x="10782" y="4289"/>
                    <a:pt x="10751" y="4168"/>
                  </a:cubicBezTo>
                  <a:cubicBezTo>
                    <a:pt x="10684" y="3911"/>
                    <a:pt x="10479" y="3804"/>
                    <a:pt x="10207" y="3794"/>
                  </a:cubicBezTo>
                  <a:cubicBezTo>
                    <a:pt x="10207" y="3596"/>
                    <a:pt x="10214" y="3401"/>
                    <a:pt x="10205" y="3207"/>
                  </a:cubicBezTo>
                  <a:cubicBezTo>
                    <a:pt x="10201" y="3107"/>
                    <a:pt x="10231" y="3057"/>
                    <a:pt x="10321" y="3010"/>
                  </a:cubicBezTo>
                  <a:cubicBezTo>
                    <a:pt x="10892" y="2713"/>
                    <a:pt x="11231" y="2080"/>
                    <a:pt x="11165" y="1455"/>
                  </a:cubicBezTo>
                  <a:cubicBezTo>
                    <a:pt x="11093" y="780"/>
                    <a:pt x="10631" y="228"/>
                    <a:pt x="9989" y="56"/>
                  </a:cubicBezTo>
                  <a:cubicBezTo>
                    <a:pt x="9913" y="36"/>
                    <a:pt x="9838" y="19"/>
                    <a:pt x="9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 name="Google Shape;587;p47">
              <a:extLst>
                <a:ext uri="{FF2B5EF4-FFF2-40B4-BE49-F238E27FC236}">
                  <a16:creationId xmlns:a16="http://schemas.microsoft.com/office/drawing/2014/main" id="{96EFDE52-D184-BA0C-FECD-C157976A1668}"/>
                </a:ext>
              </a:extLst>
            </p:cNvPr>
            <p:cNvCxnSpPr/>
            <p:nvPr/>
          </p:nvCxnSpPr>
          <p:spPr>
            <a:xfrm>
              <a:off x="1804767" y="2365571"/>
              <a:ext cx="438600" cy="0"/>
            </a:xfrm>
            <a:prstGeom prst="straightConnector1">
              <a:avLst/>
            </a:prstGeom>
            <a:noFill/>
            <a:ln w="28575" cap="flat" cmpd="sng">
              <a:solidFill>
                <a:schemeClr val="dk2"/>
              </a:solidFill>
              <a:prstDash val="solid"/>
              <a:round/>
              <a:headEnd type="none" w="med" len="med"/>
              <a:tailEnd type="none" w="med" len="med"/>
            </a:ln>
          </p:spPr>
        </p:cxnSp>
      </p:grpSp>
      <p:sp>
        <p:nvSpPr>
          <p:cNvPr id="26" name="Google Shape;573;p47">
            <a:extLst>
              <a:ext uri="{FF2B5EF4-FFF2-40B4-BE49-F238E27FC236}">
                <a16:creationId xmlns:a16="http://schemas.microsoft.com/office/drawing/2014/main" id="{BBAF4331-419D-49AE-BDCB-6384FA3FA439}"/>
              </a:ext>
            </a:extLst>
          </p:cNvPr>
          <p:cNvSpPr txBox="1">
            <a:spLocks noGrp="1"/>
          </p:cNvSpPr>
          <p:nvPr>
            <p:ph type="subTitle" idx="1"/>
          </p:nvPr>
        </p:nvSpPr>
        <p:spPr>
          <a:xfrm>
            <a:off x="1218686" y="1527152"/>
            <a:ext cx="3353314" cy="365700"/>
          </a:xfrm>
          <a:prstGeom prst="rect">
            <a:avLst/>
          </a:prstGeom>
        </p:spPr>
        <p:txBody>
          <a:bodyPr spcFirstLastPara="1" wrap="square" lIns="91425" tIns="91425" rIns="91425" bIns="91425" anchor="b" anchorCtr="0">
            <a:noAutofit/>
          </a:bodyPr>
          <a:lstStyle/>
          <a:p>
            <a:pPr algn="just"/>
            <a:r>
              <a:rPr lang="en-IN" dirty="0"/>
              <a:t>PERFORMANCE </a:t>
            </a:r>
          </a:p>
        </p:txBody>
      </p:sp>
      <p:sp>
        <p:nvSpPr>
          <p:cNvPr id="27" name="Google Shape;576;p47">
            <a:extLst>
              <a:ext uri="{FF2B5EF4-FFF2-40B4-BE49-F238E27FC236}">
                <a16:creationId xmlns:a16="http://schemas.microsoft.com/office/drawing/2014/main" id="{D34A3850-58C8-4898-BB1B-29AF3CCB3208}"/>
              </a:ext>
            </a:extLst>
          </p:cNvPr>
          <p:cNvSpPr txBox="1">
            <a:spLocks/>
          </p:cNvSpPr>
          <p:nvPr/>
        </p:nvSpPr>
        <p:spPr>
          <a:xfrm>
            <a:off x="527250" y="2111375"/>
            <a:ext cx="5913244" cy="51926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Max. Speed	: 25 Km/H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Max Travel	: 80-85 Km In Single Full Charge</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Slop Gradient	: 40 Degree Climb 20% Reduces Speed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Weight Capacity	: 1000kg Average &amp; Up To Max 1500kg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Cart Weight	: 460kg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Cart Dimension	: 12ft Length * 4ft Width * 6.5ft Height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latin typeface="SF Pro Text" panose="00000500000000000000" pitchFamily="2" charset="0"/>
                <a:ea typeface="SF Pro Text" panose="00000500000000000000" pitchFamily="2" charset="0"/>
              </a:rPr>
              <a:t>Roof Top	                          : Fiber Body Roof Top</a:t>
            </a:r>
          </a:p>
        </p:txBody>
      </p:sp>
      <p:grpSp>
        <p:nvGrpSpPr>
          <p:cNvPr id="28" name="Google Shape;582;p47">
            <a:extLst>
              <a:ext uri="{FF2B5EF4-FFF2-40B4-BE49-F238E27FC236}">
                <a16:creationId xmlns:a16="http://schemas.microsoft.com/office/drawing/2014/main" id="{6B07CBC4-4947-4F37-9562-50979C9CB257}"/>
              </a:ext>
            </a:extLst>
          </p:cNvPr>
          <p:cNvGrpSpPr/>
          <p:nvPr/>
        </p:nvGrpSpPr>
        <p:grpSpPr>
          <a:xfrm>
            <a:off x="679031" y="1440960"/>
            <a:ext cx="456818" cy="542531"/>
            <a:chOff x="6891519" y="1823065"/>
            <a:chExt cx="456818" cy="542531"/>
          </a:xfrm>
        </p:grpSpPr>
        <p:sp>
          <p:nvSpPr>
            <p:cNvPr id="29" name="Google Shape;583;p47">
              <a:extLst>
                <a:ext uri="{FF2B5EF4-FFF2-40B4-BE49-F238E27FC236}">
                  <a16:creationId xmlns:a16="http://schemas.microsoft.com/office/drawing/2014/main" id="{D4E680FE-BEE9-4BCE-A8FE-9DB79DCC239A}"/>
                </a:ext>
              </a:extLst>
            </p:cNvPr>
            <p:cNvSpPr/>
            <p:nvPr/>
          </p:nvSpPr>
          <p:spPr>
            <a:xfrm>
              <a:off x="6891519" y="1823065"/>
              <a:ext cx="456818" cy="451892"/>
            </a:xfrm>
            <a:custGeom>
              <a:avLst/>
              <a:gdLst/>
              <a:ahLst/>
              <a:cxnLst/>
              <a:rect l="l" t="t" r="r" b="b"/>
              <a:pathLst>
                <a:path w="12147" h="12016" extrusionOk="0">
                  <a:moveTo>
                    <a:pt x="11241" y="535"/>
                  </a:moveTo>
                  <a:cubicBezTo>
                    <a:pt x="11290" y="535"/>
                    <a:pt x="11338" y="538"/>
                    <a:pt x="11387" y="542"/>
                  </a:cubicBezTo>
                  <a:cubicBezTo>
                    <a:pt x="11508" y="552"/>
                    <a:pt x="11579" y="600"/>
                    <a:pt x="11634" y="714"/>
                  </a:cubicBezTo>
                  <a:cubicBezTo>
                    <a:pt x="12146" y="1805"/>
                    <a:pt x="11352" y="3069"/>
                    <a:pt x="10145" y="3070"/>
                  </a:cubicBezTo>
                  <a:cubicBezTo>
                    <a:pt x="10114" y="3070"/>
                    <a:pt x="10082" y="3067"/>
                    <a:pt x="10021" y="3063"/>
                  </a:cubicBezTo>
                  <a:cubicBezTo>
                    <a:pt x="10122" y="2919"/>
                    <a:pt x="10209" y="2790"/>
                    <a:pt x="10303" y="2667"/>
                  </a:cubicBezTo>
                  <a:cubicBezTo>
                    <a:pt x="10320" y="2643"/>
                    <a:pt x="10362" y="2633"/>
                    <a:pt x="10394" y="2627"/>
                  </a:cubicBezTo>
                  <a:cubicBezTo>
                    <a:pt x="10560" y="2594"/>
                    <a:pt x="10725" y="2569"/>
                    <a:pt x="10890" y="2536"/>
                  </a:cubicBezTo>
                  <a:cubicBezTo>
                    <a:pt x="11014" y="2512"/>
                    <a:pt x="11078" y="2428"/>
                    <a:pt x="11058" y="2325"/>
                  </a:cubicBezTo>
                  <a:cubicBezTo>
                    <a:pt x="11041" y="2237"/>
                    <a:pt x="10970" y="2186"/>
                    <a:pt x="10873" y="2186"/>
                  </a:cubicBezTo>
                  <a:cubicBezTo>
                    <a:pt x="10857" y="2186"/>
                    <a:pt x="10840" y="2187"/>
                    <a:pt x="10823" y="2190"/>
                  </a:cubicBezTo>
                  <a:cubicBezTo>
                    <a:pt x="10759" y="2201"/>
                    <a:pt x="10695" y="2211"/>
                    <a:pt x="10608" y="2227"/>
                  </a:cubicBezTo>
                  <a:cubicBezTo>
                    <a:pt x="10743" y="2032"/>
                    <a:pt x="10867" y="1857"/>
                    <a:pt x="10990" y="1681"/>
                  </a:cubicBezTo>
                  <a:cubicBezTo>
                    <a:pt x="11074" y="1559"/>
                    <a:pt x="11162" y="1439"/>
                    <a:pt x="11243" y="1315"/>
                  </a:cubicBezTo>
                  <a:cubicBezTo>
                    <a:pt x="11300" y="1228"/>
                    <a:pt x="11280" y="1130"/>
                    <a:pt x="11205" y="1075"/>
                  </a:cubicBezTo>
                  <a:cubicBezTo>
                    <a:pt x="11171" y="1050"/>
                    <a:pt x="11135" y="1037"/>
                    <a:pt x="11099" y="1037"/>
                  </a:cubicBezTo>
                  <a:cubicBezTo>
                    <a:pt x="11047" y="1037"/>
                    <a:pt x="10996" y="1063"/>
                    <a:pt x="10957" y="1116"/>
                  </a:cubicBezTo>
                  <a:cubicBezTo>
                    <a:pt x="10850" y="1260"/>
                    <a:pt x="10750" y="1409"/>
                    <a:pt x="10646" y="1556"/>
                  </a:cubicBezTo>
                  <a:cubicBezTo>
                    <a:pt x="10625" y="1587"/>
                    <a:pt x="10601" y="1617"/>
                    <a:pt x="10562" y="1669"/>
                  </a:cubicBezTo>
                  <a:cubicBezTo>
                    <a:pt x="10545" y="1577"/>
                    <a:pt x="10534" y="1509"/>
                    <a:pt x="10520" y="1444"/>
                  </a:cubicBezTo>
                  <a:cubicBezTo>
                    <a:pt x="10498" y="1342"/>
                    <a:pt x="10434" y="1285"/>
                    <a:pt x="10348" y="1285"/>
                  </a:cubicBezTo>
                  <a:cubicBezTo>
                    <a:pt x="10336" y="1285"/>
                    <a:pt x="10323" y="1286"/>
                    <a:pt x="10310" y="1288"/>
                  </a:cubicBezTo>
                  <a:cubicBezTo>
                    <a:pt x="10213" y="1305"/>
                    <a:pt x="10155" y="1388"/>
                    <a:pt x="10172" y="1499"/>
                  </a:cubicBezTo>
                  <a:cubicBezTo>
                    <a:pt x="10198" y="1657"/>
                    <a:pt x="10236" y="1812"/>
                    <a:pt x="10253" y="1972"/>
                  </a:cubicBezTo>
                  <a:cubicBezTo>
                    <a:pt x="10260" y="2038"/>
                    <a:pt x="10245" y="2120"/>
                    <a:pt x="10209" y="2176"/>
                  </a:cubicBezTo>
                  <a:cubicBezTo>
                    <a:pt x="10060" y="2404"/>
                    <a:pt x="9899" y="2624"/>
                    <a:pt x="9733" y="2861"/>
                  </a:cubicBezTo>
                  <a:cubicBezTo>
                    <a:pt x="9552" y="2438"/>
                    <a:pt x="9538" y="2028"/>
                    <a:pt x="9689" y="1613"/>
                  </a:cubicBezTo>
                  <a:cubicBezTo>
                    <a:pt x="9927" y="961"/>
                    <a:pt x="10556" y="535"/>
                    <a:pt x="11241" y="535"/>
                  </a:cubicBezTo>
                  <a:close/>
                  <a:moveTo>
                    <a:pt x="7896" y="365"/>
                  </a:moveTo>
                  <a:cubicBezTo>
                    <a:pt x="7941" y="365"/>
                    <a:pt x="7993" y="380"/>
                    <a:pt x="8021" y="407"/>
                  </a:cubicBezTo>
                  <a:cubicBezTo>
                    <a:pt x="8471" y="830"/>
                    <a:pt x="8658" y="1350"/>
                    <a:pt x="8535" y="1956"/>
                  </a:cubicBezTo>
                  <a:cubicBezTo>
                    <a:pt x="8407" y="2582"/>
                    <a:pt x="8020" y="2992"/>
                    <a:pt x="7417" y="3201"/>
                  </a:cubicBezTo>
                  <a:cubicBezTo>
                    <a:pt x="7407" y="3204"/>
                    <a:pt x="7397" y="3203"/>
                    <a:pt x="7373" y="3206"/>
                  </a:cubicBezTo>
                  <a:cubicBezTo>
                    <a:pt x="7416" y="3047"/>
                    <a:pt x="7453" y="2896"/>
                    <a:pt x="7498" y="2750"/>
                  </a:cubicBezTo>
                  <a:cubicBezTo>
                    <a:pt x="7508" y="2718"/>
                    <a:pt x="7547" y="2691"/>
                    <a:pt x="7578" y="2673"/>
                  </a:cubicBezTo>
                  <a:cubicBezTo>
                    <a:pt x="7719" y="2589"/>
                    <a:pt x="7863" y="2509"/>
                    <a:pt x="8004" y="2425"/>
                  </a:cubicBezTo>
                  <a:cubicBezTo>
                    <a:pt x="8111" y="2359"/>
                    <a:pt x="8145" y="2260"/>
                    <a:pt x="8092" y="2170"/>
                  </a:cubicBezTo>
                  <a:cubicBezTo>
                    <a:pt x="8060" y="2114"/>
                    <a:pt x="8010" y="2086"/>
                    <a:pt x="7951" y="2086"/>
                  </a:cubicBezTo>
                  <a:cubicBezTo>
                    <a:pt x="7912" y="2086"/>
                    <a:pt x="7870" y="2098"/>
                    <a:pt x="7826" y="2122"/>
                  </a:cubicBezTo>
                  <a:cubicBezTo>
                    <a:pt x="7769" y="2153"/>
                    <a:pt x="7712" y="2187"/>
                    <a:pt x="7635" y="2231"/>
                  </a:cubicBezTo>
                  <a:cubicBezTo>
                    <a:pt x="7728" y="1884"/>
                    <a:pt x="7813" y="1560"/>
                    <a:pt x="7899" y="1237"/>
                  </a:cubicBezTo>
                  <a:cubicBezTo>
                    <a:pt x="7907" y="1207"/>
                    <a:pt x="7917" y="1177"/>
                    <a:pt x="7921" y="1146"/>
                  </a:cubicBezTo>
                  <a:cubicBezTo>
                    <a:pt x="7934" y="1040"/>
                    <a:pt x="7884" y="958"/>
                    <a:pt x="7792" y="941"/>
                  </a:cubicBezTo>
                  <a:cubicBezTo>
                    <a:pt x="7776" y="938"/>
                    <a:pt x="7760" y="936"/>
                    <a:pt x="7745" y="936"/>
                  </a:cubicBezTo>
                  <a:cubicBezTo>
                    <a:pt x="7667" y="936"/>
                    <a:pt x="7609" y="978"/>
                    <a:pt x="7584" y="1065"/>
                  </a:cubicBezTo>
                  <a:cubicBezTo>
                    <a:pt x="7530" y="1255"/>
                    <a:pt x="7478" y="1449"/>
                    <a:pt x="7426" y="1640"/>
                  </a:cubicBezTo>
                  <a:cubicBezTo>
                    <a:pt x="7422" y="1659"/>
                    <a:pt x="7416" y="1676"/>
                    <a:pt x="7402" y="1721"/>
                  </a:cubicBezTo>
                  <a:cubicBezTo>
                    <a:pt x="7356" y="1644"/>
                    <a:pt x="7326" y="1592"/>
                    <a:pt x="7293" y="1539"/>
                  </a:cubicBezTo>
                  <a:cubicBezTo>
                    <a:pt x="7246" y="1463"/>
                    <a:pt x="7185" y="1423"/>
                    <a:pt x="7121" y="1423"/>
                  </a:cubicBezTo>
                  <a:cubicBezTo>
                    <a:pt x="7093" y="1423"/>
                    <a:pt x="7066" y="1430"/>
                    <a:pt x="7038" y="1445"/>
                  </a:cubicBezTo>
                  <a:cubicBezTo>
                    <a:pt x="6943" y="1496"/>
                    <a:pt x="6924" y="1600"/>
                    <a:pt x="6993" y="1720"/>
                  </a:cubicBezTo>
                  <a:cubicBezTo>
                    <a:pt x="7071" y="1859"/>
                    <a:pt x="7154" y="1996"/>
                    <a:pt x="7231" y="2136"/>
                  </a:cubicBezTo>
                  <a:cubicBezTo>
                    <a:pt x="7249" y="2169"/>
                    <a:pt x="7269" y="2211"/>
                    <a:pt x="7262" y="2244"/>
                  </a:cubicBezTo>
                  <a:cubicBezTo>
                    <a:pt x="7191" y="2529"/>
                    <a:pt x="7112" y="2814"/>
                    <a:pt x="7006" y="3110"/>
                  </a:cubicBezTo>
                  <a:cubicBezTo>
                    <a:pt x="6931" y="3008"/>
                    <a:pt x="6850" y="2909"/>
                    <a:pt x="6786" y="2801"/>
                  </a:cubicBezTo>
                  <a:cubicBezTo>
                    <a:pt x="6224" y="1834"/>
                    <a:pt x="6771" y="597"/>
                    <a:pt x="7865" y="368"/>
                  </a:cubicBezTo>
                  <a:cubicBezTo>
                    <a:pt x="7874" y="366"/>
                    <a:pt x="7885" y="365"/>
                    <a:pt x="7896" y="365"/>
                  </a:cubicBezTo>
                  <a:close/>
                  <a:moveTo>
                    <a:pt x="11272" y="188"/>
                  </a:moveTo>
                  <a:cubicBezTo>
                    <a:pt x="10561" y="188"/>
                    <a:pt x="9978" y="470"/>
                    <a:pt x="9572" y="1080"/>
                  </a:cubicBezTo>
                  <a:cubicBezTo>
                    <a:pt x="9138" y="1737"/>
                    <a:pt x="9122" y="2435"/>
                    <a:pt x="9477" y="3139"/>
                  </a:cubicBezTo>
                  <a:cubicBezTo>
                    <a:pt x="9554" y="3290"/>
                    <a:pt x="9676" y="3375"/>
                    <a:pt x="9843" y="3399"/>
                  </a:cubicBezTo>
                  <a:cubicBezTo>
                    <a:pt x="9944" y="3414"/>
                    <a:pt x="10043" y="3421"/>
                    <a:pt x="10141" y="3421"/>
                  </a:cubicBezTo>
                  <a:cubicBezTo>
                    <a:pt x="11226" y="3421"/>
                    <a:pt x="12138" y="2547"/>
                    <a:pt x="12141" y="1428"/>
                  </a:cubicBezTo>
                  <a:cubicBezTo>
                    <a:pt x="12142" y="1130"/>
                    <a:pt x="12071" y="851"/>
                    <a:pt x="11958" y="576"/>
                  </a:cubicBezTo>
                  <a:cubicBezTo>
                    <a:pt x="11854" y="325"/>
                    <a:pt x="11679" y="204"/>
                    <a:pt x="11411" y="191"/>
                  </a:cubicBezTo>
                  <a:cubicBezTo>
                    <a:pt x="11365" y="189"/>
                    <a:pt x="11318" y="188"/>
                    <a:pt x="11272" y="188"/>
                  </a:cubicBezTo>
                  <a:close/>
                  <a:moveTo>
                    <a:pt x="7823" y="1"/>
                  </a:moveTo>
                  <a:cubicBezTo>
                    <a:pt x="7799" y="11"/>
                    <a:pt x="7775" y="20"/>
                    <a:pt x="7749" y="28"/>
                  </a:cubicBezTo>
                  <a:cubicBezTo>
                    <a:pt x="6987" y="238"/>
                    <a:pt x="6471" y="714"/>
                    <a:pt x="6276" y="1485"/>
                  </a:cubicBezTo>
                  <a:cubicBezTo>
                    <a:pt x="6081" y="2254"/>
                    <a:pt x="6305" y="2918"/>
                    <a:pt x="6877" y="3466"/>
                  </a:cubicBezTo>
                  <a:cubicBezTo>
                    <a:pt x="6976" y="3560"/>
                    <a:pt x="7086" y="3601"/>
                    <a:pt x="7208" y="3601"/>
                  </a:cubicBezTo>
                  <a:cubicBezTo>
                    <a:pt x="7252" y="3601"/>
                    <a:pt x="7297" y="3596"/>
                    <a:pt x="7343" y="3586"/>
                  </a:cubicBezTo>
                  <a:cubicBezTo>
                    <a:pt x="8427" y="3355"/>
                    <a:pt x="9127" y="2270"/>
                    <a:pt x="8870" y="1189"/>
                  </a:cubicBezTo>
                  <a:cubicBezTo>
                    <a:pt x="8751" y="687"/>
                    <a:pt x="8507" y="260"/>
                    <a:pt x="8034" y="1"/>
                  </a:cubicBezTo>
                  <a:close/>
                  <a:moveTo>
                    <a:pt x="4611" y="1537"/>
                  </a:moveTo>
                  <a:cubicBezTo>
                    <a:pt x="4638" y="1537"/>
                    <a:pt x="4664" y="1542"/>
                    <a:pt x="4685" y="1550"/>
                  </a:cubicBezTo>
                  <a:cubicBezTo>
                    <a:pt x="5249" y="1793"/>
                    <a:pt x="5593" y="2224"/>
                    <a:pt x="5681" y="2830"/>
                  </a:cubicBezTo>
                  <a:cubicBezTo>
                    <a:pt x="5769" y="3435"/>
                    <a:pt x="5558" y="3943"/>
                    <a:pt x="5093" y="4342"/>
                  </a:cubicBezTo>
                  <a:cubicBezTo>
                    <a:pt x="5073" y="4359"/>
                    <a:pt x="5050" y="4371"/>
                    <a:pt x="5016" y="4394"/>
                  </a:cubicBezTo>
                  <a:cubicBezTo>
                    <a:pt x="5000" y="4224"/>
                    <a:pt x="4984" y="4070"/>
                    <a:pt x="4976" y="3916"/>
                  </a:cubicBezTo>
                  <a:cubicBezTo>
                    <a:pt x="4974" y="3886"/>
                    <a:pt x="5000" y="3852"/>
                    <a:pt x="5021" y="3825"/>
                  </a:cubicBezTo>
                  <a:cubicBezTo>
                    <a:pt x="5125" y="3698"/>
                    <a:pt x="5232" y="3575"/>
                    <a:pt x="5336" y="3448"/>
                  </a:cubicBezTo>
                  <a:cubicBezTo>
                    <a:pt x="5423" y="3339"/>
                    <a:pt x="5420" y="3240"/>
                    <a:pt x="5332" y="3170"/>
                  </a:cubicBezTo>
                  <a:cubicBezTo>
                    <a:pt x="5299" y="3144"/>
                    <a:pt x="5264" y="3131"/>
                    <a:pt x="5229" y="3131"/>
                  </a:cubicBezTo>
                  <a:cubicBezTo>
                    <a:pt x="5174" y="3131"/>
                    <a:pt x="5119" y="3162"/>
                    <a:pt x="5067" y="3221"/>
                  </a:cubicBezTo>
                  <a:cubicBezTo>
                    <a:pt x="5027" y="3268"/>
                    <a:pt x="4987" y="3315"/>
                    <a:pt x="4927" y="3386"/>
                  </a:cubicBezTo>
                  <a:cubicBezTo>
                    <a:pt x="4906" y="3146"/>
                    <a:pt x="4886" y="2935"/>
                    <a:pt x="4867" y="2723"/>
                  </a:cubicBezTo>
                  <a:cubicBezTo>
                    <a:pt x="4855" y="2579"/>
                    <a:pt x="4846" y="2435"/>
                    <a:pt x="4828" y="2291"/>
                  </a:cubicBezTo>
                  <a:cubicBezTo>
                    <a:pt x="4814" y="2182"/>
                    <a:pt x="4745" y="2116"/>
                    <a:pt x="4657" y="2116"/>
                  </a:cubicBezTo>
                  <a:cubicBezTo>
                    <a:pt x="4650" y="2116"/>
                    <a:pt x="4642" y="2116"/>
                    <a:pt x="4634" y="2117"/>
                  </a:cubicBezTo>
                  <a:cubicBezTo>
                    <a:pt x="4533" y="2130"/>
                    <a:pt x="4473" y="2213"/>
                    <a:pt x="4481" y="2331"/>
                  </a:cubicBezTo>
                  <a:cubicBezTo>
                    <a:pt x="4499" y="2540"/>
                    <a:pt x="4517" y="2751"/>
                    <a:pt x="4538" y="2989"/>
                  </a:cubicBezTo>
                  <a:cubicBezTo>
                    <a:pt x="4470" y="2934"/>
                    <a:pt x="4419" y="2891"/>
                    <a:pt x="4366" y="2849"/>
                  </a:cubicBezTo>
                  <a:cubicBezTo>
                    <a:pt x="4317" y="2811"/>
                    <a:pt x="4267" y="2792"/>
                    <a:pt x="4220" y="2792"/>
                  </a:cubicBezTo>
                  <a:cubicBezTo>
                    <a:pt x="4173" y="2792"/>
                    <a:pt x="4129" y="2812"/>
                    <a:pt x="4095" y="2852"/>
                  </a:cubicBezTo>
                  <a:cubicBezTo>
                    <a:pt x="4027" y="2935"/>
                    <a:pt x="4043" y="3035"/>
                    <a:pt x="4141" y="3119"/>
                  </a:cubicBezTo>
                  <a:cubicBezTo>
                    <a:pt x="4265" y="3227"/>
                    <a:pt x="4393" y="3330"/>
                    <a:pt x="4517" y="3438"/>
                  </a:cubicBezTo>
                  <a:cubicBezTo>
                    <a:pt x="4544" y="3462"/>
                    <a:pt x="4580" y="3495"/>
                    <a:pt x="4583" y="3528"/>
                  </a:cubicBezTo>
                  <a:cubicBezTo>
                    <a:pt x="4612" y="3818"/>
                    <a:pt x="4635" y="4110"/>
                    <a:pt x="4662" y="4419"/>
                  </a:cubicBezTo>
                  <a:cubicBezTo>
                    <a:pt x="4621" y="4404"/>
                    <a:pt x="4594" y="4396"/>
                    <a:pt x="4568" y="4384"/>
                  </a:cubicBezTo>
                  <a:cubicBezTo>
                    <a:pt x="3494" y="3791"/>
                    <a:pt x="3450" y="2211"/>
                    <a:pt x="4493" y="1566"/>
                  </a:cubicBezTo>
                  <a:cubicBezTo>
                    <a:pt x="4523" y="1548"/>
                    <a:pt x="4568" y="1537"/>
                    <a:pt x="4611" y="1537"/>
                  </a:cubicBezTo>
                  <a:close/>
                  <a:moveTo>
                    <a:pt x="4590" y="1165"/>
                  </a:moveTo>
                  <a:cubicBezTo>
                    <a:pt x="4501" y="1165"/>
                    <a:pt x="4415" y="1192"/>
                    <a:pt x="4332" y="1247"/>
                  </a:cubicBezTo>
                  <a:cubicBezTo>
                    <a:pt x="3645" y="1703"/>
                    <a:pt x="3312" y="2344"/>
                    <a:pt x="3396" y="3161"/>
                  </a:cubicBezTo>
                  <a:cubicBezTo>
                    <a:pt x="3479" y="3951"/>
                    <a:pt x="3920" y="4498"/>
                    <a:pt x="4650" y="4811"/>
                  </a:cubicBezTo>
                  <a:cubicBezTo>
                    <a:pt x="4714" y="4839"/>
                    <a:pt x="4776" y="4852"/>
                    <a:pt x="4838" y="4852"/>
                  </a:cubicBezTo>
                  <a:cubicBezTo>
                    <a:pt x="4926" y="4852"/>
                    <a:pt x="5012" y="4825"/>
                    <a:pt x="5095" y="4771"/>
                  </a:cubicBezTo>
                  <a:cubicBezTo>
                    <a:pt x="5716" y="4374"/>
                    <a:pt x="6024" y="3800"/>
                    <a:pt x="6051" y="3186"/>
                  </a:cubicBezTo>
                  <a:cubicBezTo>
                    <a:pt x="6064" y="2258"/>
                    <a:pt x="5530" y="1482"/>
                    <a:pt x="4768" y="1199"/>
                  </a:cubicBezTo>
                  <a:cubicBezTo>
                    <a:pt x="4707" y="1176"/>
                    <a:pt x="4648" y="1165"/>
                    <a:pt x="4590" y="1165"/>
                  </a:cubicBezTo>
                  <a:close/>
                  <a:moveTo>
                    <a:pt x="10730" y="3827"/>
                  </a:moveTo>
                  <a:cubicBezTo>
                    <a:pt x="10475" y="3827"/>
                    <a:pt x="10212" y="3828"/>
                    <a:pt x="9920" y="3828"/>
                  </a:cubicBezTo>
                  <a:cubicBezTo>
                    <a:pt x="9144" y="3894"/>
                    <a:pt x="8308" y="3965"/>
                    <a:pt x="7471" y="4035"/>
                  </a:cubicBezTo>
                  <a:cubicBezTo>
                    <a:pt x="7045" y="4072"/>
                    <a:pt x="6736" y="4319"/>
                    <a:pt x="6450" y="4604"/>
                  </a:cubicBezTo>
                  <a:cubicBezTo>
                    <a:pt x="6376" y="4678"/>
                    <a:pt x="6382" y="4777"/>
                    <a:pt x="6449" y="4847"/>
                  </a:cubicBezTo>
                  <a:cubicBezTo>
                    <a:pt x="6483" y="4883"/>
                    <a:pt x="6525" y="4902"/>
                    <a:pt x="6569" y="4902"/>
                  </a:cubicBezTo>
                  <a:cubicBezTo>
                    <a:pt x="6609" y="4902"/>
                    <a:pt x="6651" y="4887"/>
                    <a:pt x="6691" y="4855"/>
                  </a:cubicBezTo>
                  <a:cubicBezTo>
                    <a:pt x="6739" y="4817"/>
                    <a:pt x="6782" y="4771"/>
                    <a:pt x="6829" y="4730"/>
                  </a:cubicBezTo>
                  <a:cubicBezTo>
                    <a:pt x="7023" y="4562"/>
                    <a:pt x="7224" y="4408"/>
                    <a:pt x="7493" y="4386"/>
                  </a:cubicBezTo>
                  <a:cubicBezTo>
                    <a:pt x="8185" y="4331"/>
                    <a:pt x="8877" y="4267"/>
                    <a:pt x="9571" y="4224"/>
                  </a:cubicBezTo>
                  <a:cubicBezTo>
                    <a:pt x="10078" y="4194"/>
                    <a:pt x="10587" y="4197"/>
                    <a:pt x="11094" y="4176"/>
                  </a:cubicBezTo>
                  <a:cubicBezTo>
                    <a:pt x="11162" y="4173"/>
                    <a:pt x="11252" y="4137"/>
                    <a:pt x="11290" y="4084"/>
                  </a:cubicBezTo>
                  <a:cubicBezTo>
                    <a:pt x="11377" y="3971"/>
                    <a:pt x="11270" y="3828"/>
                    <a:pt x="11107" y="3828"/>
                  </a:cubicBezTo>
                  <a:cubicBezTo>
                    <a:pt x="10982" y="3828"/>
                    <a:pt x="10857" y="3827"/>
                    <a:pt x="10730" y="3827"/>
                  </a:cubicBezTo>
                  <a:close/>
                  <a:moveTo>
                    <a:pt x="9423" y="4854"/>
                  </a:moveTo>
                  <a:cubicBezTo>
                    <a:pt x="9442" y="4854"/>
                    <a:pt x="9463" y="4855"/>
                    <a:pt x="9488" y="4855"/>
                  </a:cubicBezTo>
                  <a:cubicBezTo>
                    <a:pt x="9488" y="5416"/>
                    <a:pt x="9488" y="5966"/>
                    <a:pt x="9488" y="6525"/>
                  </a:cubicBezTo>
                  <a:cubicBezTo>
                    <a:pt x="9447" y="6527"/>
                    <a:pt x="9409" y="6532"/>
                    <a:pt x="9372" y="6532"/>
                  </a:cubicBezTo>
                  <a:lnTo>
                    <a:pt x="6642" y="6532"/>
                  </a:lnTo>
                  <a:cubicBezTo>
                    <a:pt x="6622" y="6532"/>
                    <a:pt x="6602" y="6532"/>
                    <a:pt x="6583" y="6530"/>
                  </a:cubicBezTo>
                  <a:cubicBezTo>
                    <a:pt x="6450" y="6520"/>
                    <a:pt x="6394" y="6419"/>
                    <a:pt x="6473" y="6311"/>
                  </a:cubicBezTo>
                  <a:cubicBezTo>
                    <a:pt x="6681" y="6023"/>
                    <a:pt x="6882" y="5728"/>
                    <a:pt x="7112" y="5460"/>
                  </a:cubicBezTo>
                  <a:cubicBezTo>
                    <a:pt x="7407" y="5119"/>
                    <a:pt x="7803" y="4965"/>
                    <a:pt x="8251" y="4936"/>
                  </a:cubicBezTo>
                  <a:cubicBezTo>
                    <a:pt x="8632" y="4911"/>
                    <a:pt x="9014" y="4882"/>
                    <a:pt x="9396" y="4855"/>
                  </a:cubicBezTo>
                  <a:cubicBezTo>
                    <a:pt x="9405" y="4855"/>
                    <a:pt x="9414" y="4854"/>
                    <a:pt x="9423" y="4854"/>
                  </a:cubicBezTo>
                  <a:close/>
                  <a:moveTo>
                    <a:pt x="2107" y="3711"/>
                  </a:moveTo>
                  <a:cubicBezTo>
                    <a:pt x="1953" y="3711"/>
                    <a:pt x="1827" y="3777"/>
                    <a:pt x="1727" y="3902"/>
                  </a:cubicBezTo>
                  <a:cubicBezTo>
                    <a:pt x="1490" y="4201"/>
                    <a:pt x="1341" y="4539"/>
                    <a:pt x="1308" y="4916"/>
                  </a:cubicBezTo>
                  <a:cubicBezTo>
                    <a:pt x="1289" y="5129"/>
                    <a:pt x="1313" y="5345"/>
                    <a:pt x="1333" y="5559"/>
                  </a:cubicBezTo>
                  <a:cubicBezTo>
                    <a:pt x="1342" y="5657"/>
                    <a:pt x="1414" y="5711"/>
                    <a:pt x="1500" y="5711"/>
                  </a:cubicBezTo>
                  <a:cubicBezTo>
                    <a:pt x="1511" y="5711"/>
                    <a:pt x="1523" y="5710"/>
                    <a:pt x="1534" y="5708"/>
                  </a:cubicBezTo>
                  <a:cubicBezTo>
                    <a:pt x="1633" y="5694"/>
                    <a:pt x="1685" y="5617"/>
                    <a:pt x="1677" y="5503"/>
                  </a:cubicBezTo>
                  <a:cubicBezTo>
                    <a:pt x="1675" y="5479"/>
                    <a:pt x="1670" y="5456"/>
                    <a:pt x="1667" y="5433"/>
                  </a:cubicBezTo>
                  <a:cubicBezTo>
                    <a:pt x="1593" y="4962"/>
                    <a:pt x="1697" y="4535"/>
                    <a:pt x="1980" y="4149"/>
                  </a:cubicBezTo>
                  <a:cubicBezTo>
                    <a:pt x="2024" y="4088"/>
                    <a:pt x="2074" y="4063"/>
                    <a:pt x="2142" y="4063"/>
                  </a:cubicBezTo>
                  <a:cubicBezTo>
                    <a:pt x="2151" y="4063"/>
                    <a:pt x="2160" y="4064"/>
                    <a:pt x="2170" y="4065"/>
                  </a:cubicBezTo>
                  <a:cubicBezTo>
                    <a:pt x="2803" y="4123"/>
                    <a:pt x="3283" y="4422"/>
                    <a:pt x="3563" y="4995"/>
                  </a:cubicBezTo>
                  <a:cubicBezTo>
                    <a:pt x="3833" y="5550"/>
                    <a:pt x="3776" y="6099"/>
                    <a:pt x="3447" y="6644"/>
                  </a:cubicBezTo>
                  <a:cubicBezTo>
                    <a:pt x="3370" y="6480"/>
                    <a:pt x="3302" y="6338"/>
                    <a:pt x="3239" y="6191"/>
                  </a:cubicBezTo>
                  <a:cubicBezTo>
                    <a:pt x="3228" y="6166"/>
                    <a:pt x="3241" y="6124"/>
                    <a:pt x="3252" y="6093"/>
                  </a:cubicBezTo>
                  <a:cubicBezTo>
                    <a:pt x="3306" y="5938"/>
                    <a:pt x="3366" y="5785"/>
                    <a:pt x="3420" y="5630"/>
                  </a:cubicBezTo>
                  <a:cubicBezTo>
                    <a:pt x="3463" y="5507"/>
                    <a:pt x="3426" y="5411"/>
                    <a:pt x="3329" y="5375"/>
                  </a:cubicBezTo>
                  <a:cubicBezTo>
                    <a:pt x="3306" y="5367"/>
                    <a:pt x="3284" y="5363"/>
                    <a:pt x="3263" y="5363"/>
                  </a:cubicBezTo>
                  <a:cubicBezTo>
                    <a:pt x="3190" y="5363"/>
                    <a:pt x="3129" y="5412"/>
                    <a:pt x="3091" y="5505"/>
                  </a:cubicBezTo>
                  <a:cubicBezTo>
                    <a:pt x="3067" y="5564"/>
                    <a:pt x="3046" y="5624"/>
                    <a:pt x="3013" y="5711"/>
                  </a:cubicBezTo>
                  <a:cubicBezTo>
                    <a:pt x="2903" y="5479"/>
                    <a:pt x="2808" y="5275"/>
                    <a:pt x="2712" y="5072"/>
                  </a:cubicBezTo>
                  <a:cubicBezTo>
                    <a:pt x="2655" y="4948"/>
                    <a:pt x="2601" y="4822"/>
                    <a:pt x="2537" y="4701"/>
                  </a:cubicBezTo>
                  <a:cubicBezTo>
                    <a:pt x="2505" y="4640"/>
                    <a:pt x="2455" y="4603"/>
                    <a:pt x="2393" y="4603"/>
                  </a:cubicBezTo>
                  <a:cubicBezTo>
                    <a:pt x="2370" y="4603"/>
                    <a:pt x="2346" y="4608"/>
                    <a:pt x="2321" y="4619"/>
                  </a:cubicBezTo>
                  <a:cubicBezTo>
                    <a:pt x="2229" y="4654"/>
                    <a:pt x="2189" y="4743"/>
                    <a:pt x="2219" y="4839"/>
                  </a:cubicBezTo>
                  <a:cubicBezTo>
                    <a:pt x="2232" y="4881"/>
                    <a:pt x="2254" y="4919"/>
                    <a:pt x="2272" y="4958"/>
                  </a:cubicBezTo>
                  <a:cubicBezTo>
                    <a:pt x="2348" y="5121"/>
                    <a:pt x="2425" y="5287"/>
                    <a:pt x="2513" y="5478"/>
                  </a:cubicBezTo>
                  <a:cubicBezTo>
                    <a:pt x="2425" y="5445"/>
                    <a:pt x="2365" y="5422"/>
                    <a:pt x="2303" y="5402"/>
                  </a:cubicBezTo>
                  <a:cubicBezTo>
                    <a:pt x="2271" y="5391"/>
                    <a:pt x="2240" y="5386"/>
                    <a:pt x="2212" y="5386"/>
                  </a:cubicBezTo>
                  <a:cubicBezTo>
                    <a:pt x="2135" y="5386"/>
                    <a:pt x="2075" y="5426"/>
                    <a:pt x="2051" y="5499"/>
                  </a:cubicBezTo>
                  <a:cubicBezTo>
                    <a:pt x="2017" y="5602"/>
                    <a:pt x="2064" y="5686"/>
                    <a:pt x="2185" y="5733"/>
                  </a:cubicBezTo>
                  <a:cubicBezTo>
                    <a:pt x="2339" y="5790"/>
                    <a:pt x="2494" y="5844"/>
                    <a:pt x="2647" y="5902"/>
                  </a:cubicBezTo>
                  <a:cubicBezTo>
                    <a:pt x="2678" y="5913"/>
                    <a:pt x="2721" y="5929"/>
                    <a:pt x="2732" y="5955"/>
                  </a:cubicBezTo>
                  <a:cubicBezTo>
                    <a:pt x="2863" y="6224"/>
                    <a:pt x="2989" y="6496"/>
                    <a:pt x="3123" y="6781"/>
                  </a:cubicBezTo>
                  <a:cubicBezTo>
                    <a:pt x="3073" y="6778"/>
                    <a:pt x="3043" y="6780"/>
                    <a:pt x="3013" y="6774"/>
                  </a:cubicBezTo>
                  <a:cubicBezTo>
                    <a:pt x="2610" y="6698"/>
                    <a:pt x="2274" y="6506"/>
                    <a:pt x="2011" y="6190"/>
                  </a:cubicBezTo>
                  <a:cubicBezTo>
                    <a:pt x="1989" y="6163"/>
                    <a:pt x="1969" y="6133"/>
                    <a:pt x="1943" y="6110"/>
                  </a:cubicBezTo>
                  <a:cubicBezTo>
                    <a:pt x="1905" y="6078"/>
                    <a:pt x="1865" y="6062"/>
                    <a:pt x="1825" y="6062"/>
                  </a:cubicBezTo>
                  <a:cubicBezTo>
                    <a:pt x="1789" y="6062"/>
                    <a:pt x="1753" y="6075"/>
                    <a:pt x="1718" y="6103"/>
                  </a:cubicBezTo>
                  <a:cubicBezTo>
                    <a:pt x="1645" y="6161"/>
                    <a:pt x="1630" y="6240"/>
                    <a:pt x="1675" y="6324"/>
                  </a:cubicBezTo>
                  <a:cubicBezTo>
                    <a:pt x="1690" y="6351"/>
                    <a:pt x="1709" y="6375"/>
                    <a:pt x="1729" y="6399"/>
                  </a:cubicBezTo>
                  <a:cubicBezTo>
                    <a:pt x="2123" y="6876"/>
                    <a:pt x="2631" y="7121"/>
                    <a:pt x="3245" y="7150"/>
                  </a:cubicBezTo>
                  <a:cubicBezTo>
                    <a:pt x="3253" y="7150"/>
                    <a:pt x="3261" y="7150"/>
                    <a:pt x="3269" y="7150"/>
                  </a:cubicBezTo>
                  <a:cubicBezTo>
                    <a:pt x="3426" y="7150"/>
                    <a:pt x="3555" y="7084"/>
                    <a:pt x="3650" y="6955"/>
                  </a:cubicBezTo>
                  <a:cubicBezTo>
                    <a:pt x="4128" y="6309"/>
                    <a:pt x="4229" y="5606"/>
                    <a:pt x="3895" y="4878"/>
                  </a:cubicBezTo>
                  <a:cubicBezTo>
                    <a:pt x="3558" y="4144"/>
                    <a:pt x="2952" y="3768"/>
                    <a:pt x="2145" y="3713"/>
                  </a:cubicBezTo>
                  <a:cubicBezTo>
                    <a:pt x="2133" y="3712"/>
                    <a:pt x="2120" y="3711"/>
                    <a:pt x="2107" y="3711"/>
                  </a:cubicBezTo>
                  <a:close/>
                  <a:moveTo>
                    <a:pt x="10776" y="7228"/>
                  </a:moveTo>
                  <a:cubicBezTo>
                    <a:pt x="10657" y="7228"/>
                    <a:pt x="10538" y="7228"/>
                    <a:pt x="10419" y="7230"/>
                  </a:cubicBezTo>
                  <a:cubicBezTo>
                    <a:pt x="10302" y="7231"/>
                    <a:pt x="10229" y="7307"/>
                    <a:pt x="10232" y="7411"/>
                  </a:cubicBezTo>
                  <a:cubicBezTo>
                    <a:pt x="10235" y="7510"/>
                    <a:pt x="10305" y="7577"/>
                    <a:pt x="10417" y="7580"/>
                  </a:cubicBezTo>
                  <a:cubicBezTo>
                    <a:pt x="10456" y="7581"/>
                    <a:pt x="10495" y="7581"/>
                    <a:pt x="10534" y="7581"/>
                  </a:cubicBezTo>
                  <a:cubicBezTo>
                    <a:pt x="10612" y="7581"/>
                    <a:pt x="10690" y="7580"/>
                    <a:pt x="10769" y="7580"/>
                  </a:cubicBezTo>
                  <a:cubicBezTo>
                    <a:pt x="10849" y="7580"/>
                    <a:pt x="10930" y="7581"/>
                    <a:pt x="11010" y="7581"/>
                  </a:cubicBezTo>
                  <a:cubicBezTo>
                    <a:pt x="11051" y="7581"/>
                    <a:pt x="11091" y="7581"/>
                    <a:pt x="11131" y="7580"/>
                  </a:cubicBezTo>
                  <a:cubicBezTo>
                    <a:pt x="11243" y="7577"/>
                    <a:pt x="11316" y="7509"/>
                    <a:pt x="11319" y="7412"/>
                  </a:cubicBezTo>
                  <a:cubicBezTo>
                    <a:pt x="11323" y="7309"/>
                    <a:pt x="11249" y="7231"/>
                    <a:pt x="11134" y="7230"/>
                  </a:cubicBezTo>
                  <a:cubicBezTo>
                    <a:pt x="11015" y="7228"/>
                    <a:pt x="10895" y="7228"/>
                    <a:pt x="10776" y="7228"/>
                  </a:cubicBezTo>
                  <a:close/>
                  <a:moveTo>
                    <a:pt x="4551" y="8136"/>
                  </a:moveTo>
                  <a:cubicBezTo>
                    <a:pt x="4630" y="8136"/>
                    <a:pt x="4707" y="8137"/>
                    <a:pt x="4785" y="8141"/>
                  </a:cubicBezTo>
                  <a:cubicBezTo>
                    <a:pt x="4893" y="8147"/>
                    <a:pt x="4947" y="8228"/>
                    <a:pt x="4956" y="8332"/>
                  </a:cubicBezTo>
                  <a:cubicBezTo>
                    <a:pt x="4963" y="8429"/>
                    <a:pt x="4885" y="8519"/>
                    <a:pt x="4782" y="8536"/>
                  </a:cubicBezTo>
                  <a:cubicBezTo>
                    <a:pt x="4765" y="8539"/>
                    <a:pt x="4747" y="8539"/>
                    <a:pt x="4730" y="8539"/>
                  </a:cubicBezTo>
                  <a:cubicBezTo>
                    <a:pt x="4713" y="8539"/>
                    <a:pt x="4695" y="8539"/>
                    <a:pt x="4678" y="8539"/>
                  </a:cubicBezTo>
                  <a:cubicBezTo>
                    <a:pt x="4523" y="8540"/>
                    <a:pt x="4367" y="8540"/>
                    <a:pt x="4209" y="8540"/>
                  </a:cubicBezTo>
                  <a:lnTo>
                    <a:pt x="4209" y="8138"/>
                  </a:lnTo>
                  <a:cubicBezTo>
                    <a:pt x="4326" y="8138"/>
                    <a:pt x="4439" y="8136"/>
                    <a:pt x="4551" y="8136"/>
                  </a:cubicBezTo>
                  <a:close/>
                  <a:moveTo>
                    <a:pt x="6669" y="7627"/>
                  </a:moveTo>
                  <a:cubicBezTo>
                    <a:pt x="6699" y="7627"/>
                    <a:pt x="6728" y="7629"/>
                    <a:pt x="6758" y="7634"/>
                  </a:cubicBezTo>
                  <a:cubicBezTo>
                    <a:pt x="7067" y="7684"/>
                    <a:pt x="7285" y="7936"/>
                    <a:pt x="7292" y="8244"/>
                  </a:cubicBezTo>
                  <a:cubicBezTo>
                    <a:pt x="7280" y="8305"/>
                    <a:pt x="7280" y="8372"/>
                    <a:pt x="7255" y="8426"/>
                  </a:cubicBezTo>
                  <a:cubicBezTo>
                    <a:pt x="7232" y="8472"/>
                    <a:pt x="7186" y="8515"/>
                    <a:pt x="7139" y="8537"/>
                  </a:cubicBezTo>
                  <a:cubicBezTo>
                    <a:pt x="6961" y="8623"/>
                    <a:pt x="6775" y="8693"/>
                    <a:pt x="6600" y="8785"/>
                  </a:cubicBezTo>
                  <a:cubicBezTo>
                    <a:pt x="6560" y="8806"/>
                    <a:pt x="6526" y="8817"/>
                    <a:pt x="6493" y="8817"/>
                  </a:cubicBezTo>
                  <a:cubicBezTo>
                    <a:pt x="6465" y="8817"/>
                    <a:pt x="6437" y="8810"/>
                    <a:pt x="6407" y="8795"/>
                  </a:cubicBezTo>
                  <a:cubicBezTo>
                    <a:pt x="6137" y="8664"/>
                    <a:pt x="6000" y="8354"/>
                    <a:pt x="6087" y="8064"/>
                  </a:cubicBezTo>
                  <a:cubicBezTo>
                    <a:pt x="6165" y="7807"/>
                    <a:pt x="6411" y="7627"/>
                    <a:pt x="6669" y="7627"/>
                  </a:cubicBezTo>
                  <a:close/>
                  <a:moveTo>
                    <a:pt x="1400" y="7420"/>
                  </a:moveTo>
                  <a:cubicBezTo>
                    <a:pt x="1790" y="7420"/>
                    <a:pt x="2150" y="7557"/>
                    <a:pt x="2470" y="7845"/>
                  </a:cubicBezTo>
                  <a:cubicBezTo>
                    <a:pt x="2934" y="8260"/>
                    <a:pt x="3091" y="8794"/>
                    <a:pt x="2983" y="9405"/>
                  </a:cubicBezTo>
                  <a:cubicBezTo>
                    <a:pt x="2981" y="9420"/>
                    <a:pt x="2972" y="9433"/>
                    <a:pt x="2959" y="9466"/>
                  </a:cubicBezTo>
                  <a:cubicBezTo>
                    <a:pt x="2843" y="9349"/>
                    <a:pt x="2736" y="9247"/>
                    <a:pt x="2637" y="9137"/>
                  </a:cubicBezTo>
                  <a:cubicBezTo>
                    <a:pt x="2611" y="9110"/>
                    <a:pt x="2601" y="9061"/>
                    <a:pt x="2600" y="9022"/>
                  </a:cubicBezTo>
                  <a:cubicBezTo>
                    <a:pt x="2595" y="8858"/>
                    <a:pt x="2600" y="8694"/>
                    <a:pt x="2597" y="8529"/>
                  </a:cubicBezTo>
                  <a:cubicBezTo>
                    <a:pt x="2595" y="8396"/>
                    <a:pt x="2533" y="8326"/>
                    <a:pt x="2423" y="8326"/>
                  </a:cubicBezTo>
                  <a:cubicBezTo>
                    <a:pt x="2315" y="8328"/>
                    <a:pt x="2251" y="8399"/>
                    <a:pt x="2246" y="8532"/>
                  </a:cubicBezTo>
                  <a:cubicBezTo>
                    <a:pt x="2245" y="8593"/>
                    <a:pt x="2246" y="8654"/>
                    <a:pt x="2246" y="8741"/>
                  </a:cubicBezTo>
                  <a:cubicBezTo>
                    <a:pt x="2201" y="8701"/>
                    <a:pt x="2172" y="8678"/>
                    <a:pt x="2147" y="8653"/>
                  </a:cubicBezTo>
                  <a:cubicBezTo>
                    <a:pt x="1929" y="8435"/>
                    <a:pt x="1711" y="8215"/>
                    <a:pt x="1492" y="7997"/>
                  </a:cubicBezTo>
                  <a:cubicBezTo>
                    <a:pt x="1434" y="7940"/>
                    <a:pt x="1378" y="7912"/>
                    <a:pt x="1325" y="7912"/>
                  </a:cubicBezTo>
                  <a:cubicBezTo>
                    <a:pt x="1282" y="7912"/>
                    <a:pt x="1242" y="7931"/>
                    <a:pt x="1207" y="7969"/>
                  </a:cubicBezTo>
                  <a:cubicBezTo>
                    <a:pt x="1133" y="8049"/>
                    <a:pt x="1145" y="8147"/>
                    <a:pt x="1244" y="8247"/>
                  </a:cubicBezTo>
                  <a:cubicBezTo>
                    <a:pt x="1380" y="8386"/>
                    <a:pt x="1519" y="8523"/>
                    <a:pt x="1657" y="8663"/>
                  </a:cubicBezTo>
                  <a:cubicBezTo>
                    <a:pt x="1662" y="8667"/>
                    <a:pt x="1664" y="8675"/>
                    <a:pt x="1677" y="8703"/>
                  </a:cubicBezTo>
                  <a:cubicBezTo>
                    <a:pt x="1605" y="8703"/>
                    <a:pt x="1541" y="8703"/>
                    <a:pt x="1477" y="8704"/>
                  </a:cubicBezTo>
                  <a:cubicBezTo>
                    <a:pt x="1345" y="8705"/>
                    <a:pt x="1272" y="8765"/>
                    <a:pt x="1269" y="8872"/>
                  </a:cubicBezTo>
                  <a:cubicBezTo>
                    <a:pt x="1266" y="8983"/>
                    <a:pt x="1345" y="9053"/>
                    <a:pt x="1480" y="9054"/>
                  </a:cubicBezTo>
                  <a:cubicBezTo>
                    <a:pt x="1529" y="9055"/>
                    <a:pt x="1577" y="9055"/>
                    <a:pt x="1626" y="9055"/>
                  </a:cubicBezTo>
                  <a:cubicBezTo>
                    <a:pt x="1678" y="9055"/>
                    <a:pt x="1729" y="9055"/>
                    <a:pt x="1781" y="9055"/>
                  </a:cubicBezTo>
                  <a:cubicBezTo>
                    <a:pt x="1844" y="9055"/>
                    <a:pt x="1908" y="9056"/>
                    <a:pt x="1972" y="9057"/>
                  </a:cubicBezTo>
                  <a:cubicBezTo>
                    <a:pt x="2009" y="9057"/>
                    <a:pt x="2056" y="9063"/>
                    <a:pt x="2078" y="9086"/>
                  </a:cubicBezTo>
                  <a:cubicBezTo>
                    <a:pt x="2289" y="9291"/>
                    <a:pt x="2494" y="9499"/>
                    <a:pt x="2714" y="9717"/>
                  </a:cubicBezTo>
                  <a:cubicBezTo>
                    <a:pt x="2581" y="9759"/>
                    <a:pt x="2453" y="9774"/>
                    <a:pt x="2327" y="9774"/>
                  </a:cubicBezTo>
                  <a:cubicBezTo>
                    <a:pt x="2247" y="9774"/>
                    <a:pt x="2167" y="9768"/>
                    <a:pt x="2088" y="9758"/>
                  </a:cubicBezTo>
                  <a:cubicBezTo>
                    <a:pt x="1088" y="9630"/>
                    <a:pt x="433" y="8599"/>
                    <a:pt x="738" y="7638"/>
                  </a:cubicBezTo>
                  <a:cubicBezTo>
                    <a:pt x="761" y="7566"/>
                    <a:pt x="796" y="7519"/>
                    <a:pt x="873" y="7497"/>
                  </a:cubicBezTo>
                  <a:cubicBezTo>
                    <a:pt x="1054" y="7446"/>
                    <a:pt x="1230" y="7420"/>
                    <a:pt x="1400" y="7420"/>
                  </a:cubicBezTo>
                  <a:close/>
                  <a:moveTo>
                    <a:pt x="1415" y="7067"/>
                  </a:moveTo>
                  <a:cubicBezTo>
                    <a:pt x="1201" y="7067"/>
                    <a:pt x="980" y="7101"/>
                    <a:pt x="751" y="7168"/>
                  </a:cubicBezTo>
                  <a:cubicBezTo>
                    <a:pt x="570" y="7221"/>
                    <a:pt x="463" y="7339"/>
                    <a:pt x="407" y="7517"/>
                  </a:cubicBezTo>
                  <a:cubicBezTo>
                    <a:pt x="0" y="8809"/>
                    <a:pt x="946" y="10110"/>
                    <a:pt x="2311" y="10151"/>
                  </a:cubicBezTo>
                  <a:cubicBezTo>
                    <a:pt x="2527" y="10107"/>
                    <a:pt x="2745" y="10069"/>
                    <a:pt x="2960" y="10016"/>
                  </a:cubicBezTo>
                  <a:cubicBezTo>
                    <a:pt x="3115" y="9977"/>
                    <a:pt x="3217" y="9866"/>
                    <a:pt x="3262" y="9714"/>
                  </a:cubicBezTo>
                  <a:cubicBezTo>
                    <a:pt x="3499" y="8938"/>
                    <a:pt x="3358" y="8234"/>
                    <a:pt x="2782" y="7658"/>
                  </a:cubicBezTo>
                  <a:cubicBezTo>
                    <a:pt x="2384" y="7259"/>
                    <a:pt x="1923" y="7067"/>
                    <a:pt x="1415" y="7067"/>
                  </a:cubicBezTo>
                  <a:close/>
                  <a:moveTo>
                    <a:pt x="4591" y="10429"/>
                  </a:moveTo>
                  <a:cubicBezTo>
                    <a:pt x="4532" y="10429"/>
                    <a:pt x="4473" y="10432"/>
                    <a:pt x="4416" y="10439"/>
                  </a:cubicBezTo>
                  <a:cubicBezTo>
                    <a:pt x="4323" y="10450"/>
                    <a:pt x="4276" y="10527"/>
                    <a:pt x="4286" y="10620"/>
                  </a:cubicBezTo>
                  <a:cubicBezTo>
                    <a:pt x="4296" y="10710"/>
                    <a:pt x="4352" y="10768"/>
                    <a:pt x="4449" y="10774"/>
                  </a:cubicBezTo>
                  <a:cubicBezTo>
                    <a:pt x="4468" y="10776"/>
                    <a:pt x="4488" y="10776"/>
                    <a:pt x="4508" y="10776"/>
                  </a:cubicBezTo>
                  <a:cubicBezTo>
                    <a:pt x="4535" y="10776"/>
                    <a:pt x="4561" y="10775"/>
                    <a:pt x="4588" y="10775"/>
                  </a:cubicBezTo>
                  <a:lnTo>
                    <a:pt x="4588" y="10774"/>
                  </a:lnTo>
                  <a:cubicBezTo>
                    <a:pt x="4622" y="10774"/>
                    <a:pt x="4654" y="10775"/>
                    <a:pt x="4687" y="10775"/>
                  </a:cubicBezTo>
                  <a:cubicBezTo>
                    <a:pt x="4709" y="10775"/>
                    <a:pt x="4730" y="10775"/>
                    <a:pt x="4752" y="10772"/>
                  </a:cubicBezTo>
                  <a:cubicBezTo>
                    <a:pt x="4849" y="10762"/>
                    <a:pt x="4900" y="10700"/>
                    <a:pt x="4904" y="10608"/>
                  </a:cubicBezTo>
                  <a:cubicBezTo>
                    <a:pt x="4909" y="10523"/>
                    <a:pt x="4863" y="10447"/>
                    <a:pt x="4776" y="10439"/>
                  </a:cubicBezTo>
                  <a:cubicBezTo>
                    <a:pt x="4715" y="10432"/>
                    <a:pt x="4653" y="10429"/>
                    <a:pt x="4591" y="10429"/>
                  </a:cubicBezTo>
                  <a:close/>
                  <a:moveTo>
                    <a:pt x="4602" y="9735"/>
                  </a:moveTo>
                  <a:cubicBezTo>
                    <a:pt x="4688" y="9735"/>
                    <a:pt x="4748" y="9771"/>
                    <a:pt x="4779" y="9852"/>
                  </a:cubicBezTo>
                  <a:cubicBezTo>
                    <a:pt x="4880" y="10115"/>
                    <a:pt x="5077" y="10221"/>
                    <a:pt x="5341" y="10221"/>
                  </a:cubicBezTo>
                  <a:cubicBezTo>
                    <a:pt x="5350" y="10221"/>
                    <a:pt x="5359" y="10221"/>
                    <a:pt x="5367" y="10221"/>
                  </a:cubicBezTo>
                  <a:cubicBezTo>
                    <a:pt x="5415" y="10220"/>
                    <a:pt x="5463" y="10220"/>
                    <a:pt x="5511" y="10220"/>
                  </a:cubicBezTo>
                  <a:cubicBezTo>
                    <a:pt x="5605" y="10220"/>
                    <a:pt x="5698" y="10221"/>
                    <a:pt x="5783" y="10221"/>
                  </a:cubicBezTo>
                  <a:cubicBezTo>
                    <a:pt x="5840" y="10489"/>
                    <a:pt x="5892" y="10731"/>
                    <a:pt x="5944" y="10979"/>
                  </a:cubicBezTo>
                  <a:cubicBezTo>
                    <a:pt x="5927" y="10980"/>
                    <a:pt x="5894" y="10985"/>
                    <a:pt x="5862" y="10985"/>
                  </a:cubicBezTo>
                  <a:lnTo>
                    <a:pt x="4256" y="10985"/>
                  </a:lnTo>
                  <a:cubicBezTo>
                    <a:pt x="4074" y="10985"/>
                    <a:pt x="4023" y="10932"/>
                    <a:pt x="4023" y="10747"/>
                  </a:cubicBezTo>
                  <a:cubicBezTo>
                    <a:pt x="4021" y="10482"/>
                    <a:pt x="4021" y="10215"/>
                    <a:pt x="4023" y="9950"/>
                  </a:cubicBezTo>
                  <a:cubicBezTo>
                    <a:pt x="4023" y="9797"/>
                    <a:pt x="4081" y="9738"/>
                    <a:pt x="4234" y="9737"/>
                  </a:cubicBezTo>
                  <a:cubicBezTo>
                    <a:pt x="4261" y="9736"/>
                    <a:pt x="4288" y="9736"/>
                    <a:pt x="4316" y="9736"/>
                  </a:cubicBezTo>
                  <a:cubicBezTo>
                    <a:pt x="4365" y="9736"/>
                    <a:pt x="4414" y="9737"/>
                    <a:pt x="4463" y="9737"/>
                  </a:cubicBezTo>
                  <a:cubicBezTo>
                    <a:pt x="4507" y="9737"/>
                    <a:pt x="4552" y="9736"/>
                    <a:pt x="4597" y="9735"/>
                  </a:cubicBezTo>
                  <a:cubicBezTo>
                    <a:pt x="4599" y="9735"/>
                    <a:pt x="4600" y="9735"/>
                    <a:pt x="4602" y="9735"/>
                  </a:cubicBezTo>
                  <a:close/>
                  <a:moveTo>
                    <a:pt x="7578" y="9097"/>
                  </a:moveTo>
                  <a:cubicBezTo>
                    <a:pt x="7487" y="9097"/>
                    <a:pt x="7396" y="9107"/>
                    <a:pt x="7305" y="9128"/>
                  </a:cubicBezTo>
                  <a:cubicBezTo>
                    <a:pt x="6795" y="9251"/>
                    <a:pt x="6427" y="9721"/>
                    <a:pt x="6430" y="10251"/>
                  </a:cubicBezTo>
                  <a:cubicBezTo>
                    <a:pt x="6432" y="10740"/>
                    <a:pt x="6738" y="11171"/>
                    <a:pt x="7199" y="11334"/>
                  </a:cubicBezTo>
                  <a:cubicBezTo>
                    <a:pt x="7325" y="11378"/>
                    <a:pt x="7456" y="11400"/>
                    <a:pt x="7584" y="11400"/>
                  </a:cubicBezTo>
                  <a:cubicBezTo>
                    <a:pt x="7924" y="11400"/>
                    <a:pt x="8254" y="11248"/>
                    <a:pt x="8476" y="10970"/>
                  </a:cubicBezTo>
                  <a:cubicBezTo>
                    <a:pt x="8538" y="10890"/>
                    <a:pt x="8590" y="10801"/>
                    <a:pt x="8632" y="10711"/>
                  </a:cubicBezTo>
                  <a:cubicBezTo>
                    <a:pt x="8681" y="10611"/>
                    <a:pt x="8642" y="10512"/>
                    <a:pt x="8555" y="10470"/>
                  </a:cubicBezTo>
                  <a:cubicBezTo>
                    <a:pt x="8531" y="10459"/>
                    <a:pt x="8507" y="10454"/>
                    <a:pt x="8483" y="10454"/>
                  </a:cubicBezTo>
                  <a:cubicBezTo>
                    <a:pt x="8418" y="10454"/>
                    <a:pt x="8357" y="10492"/>
                    <a:pt x="8319" y="10560"/>
                  </a:cubicBezTo>
                  <a:cubicBezTo>
                    <a:pt x="8303" y="10587"/>
                    <a:pt x="8290" y="10616"/>
                    <a:pt x="8275" y="10643"/>
                  </a:cubicBezTo>
                  <a:cubicBezTo>
                    <a:pt x="8128" y="10899"/>
                    <a:pt x="7862" y="11049"/>
                    <a:pt x="7580" y="11049"/>
                  </a:cubicBezTo>
                  <a:cubicBezTo>
                    <a:pt x="7511" y="11049"/>
                    <a:pt x="7441" y="11040"/>
                    <a:pt x="7372" y="11022"/>
                  </a:cubicBezTo>
                  <a:cubicBezTo>
                    <a:pt x="7026" y="10928"/>
                    <a:pt x="6783" y="10613"/>
                    <a:pt x="6782" y="10251"/>
                  </a:cubicBezTo>
                  <a:cubicBezTo>
                    <a:pt x="6779" y="9881"/>
                    <a:pt x="7026" y="9566"/>
                    <a:pt x="7389" y="9473"/>
                  </a:cubicBezTo>
                  <a:cubicBezTo>
                    <a:pt x="7454" y="9456"/>
                    <a:pt x="7520" y="9448"/>
                    <a:pt x="7584" y="9448"/>
                  </a:cubicBezTo>
                  <a:cubicBezTo>
                    <a:pt x="7866" y="9448"/>
                    <a:pt x="8133" y="9601"/>
                    <a:pt x="8278" y="9858"/>
                  </a:cubicBezTo>
                  <a:cubicBezTo>
                    <a:pt x="8299" y="9895"/>
                    <a:pt x="8316" y="9936"/>
                    <a:pt x="8342" y="9969"/>
                  </a:cubicBezTo>
                  <a:cubicBezTo>
                    <a:pt x="8378" y="10015"/>
                    <a:pt x="8432" y="10038"/>
                    <a:pt x="8484" y="10038"/>
                  </a:cubicBezTo>
                  <a:cubicBezTo>
                    <a:pt x="8547" y="10038"/>
                    <a:pt x="8608" y="10004"/>
                    <a:pt x="8629" y="9938"/>
                  </a:cubicBezTo>
                  <a:cubicBezTo>
                    <a:pt x="8648" y="9876"/>
                    <a:pt x="8634" y="9789"/>
                    <a:pt x="8604" y="9730"/>
                  </a:cubicBezTo>
                  <a:cubicBezTo>
                    <a:pt x="8410" y="9333"/>
                    <a:pt x="8008" y="9097"/>
                    <a:pt x="7578" y="9097"/>
                  </a:cubicBezTo>
                  <a:close/>
                  <a:moveTo>
                    <a:pt x="7591" y="8833"/>
                  </a:moveTo>
                  <a:cubicBezTo>
                    <a:pt x="8340" y="8833"/>
                    <a:pt x="8980" y="9459"/>
                    <a:pt x="8994" y="10215"/>
                  </a:cubicBezTo>
                  <a:cubicBezTo>
                    <a:pt x="9010" y="10992"/>
                    <a:pt x="8387" y="11647"/>
                    <a:pt x="7620" y="11661"/>
                  </a:cubicBezTo>
                  <a:cubicBezTo>
                    <a:pt x="7610" y="11661"/>
                    <a:pt x="7600" y="11661"/>
                    <a:pt x="7590" y="11661"/>
                  </a:cubicBezTo>
                  <a:cubicBezTo>
                    <a:pt x="6813" y="11661"/>
                    <a:pt x="6183" y="11049"/>
                    <a:pt x="6165" y="10269"/>
                  </a:cubicBezTo>
                  <a:cubicBezTo>
                    <a:pt x="6147" y="9497"/>
                    <a:pt x="6779" y="8849"/>
                    <a:pt x="7565" y="8834"/>
                  </a:cubicBezTo>
                  <a:cubicBezTo>
                    <a:pt x="7574" y="8833"/>
                    <a:pt x="7582" y="8833"/>
                    <a:pt x="7591" y="8833"/>
                  </a:cubicBezTo>
                  <a:close/>
                  <a:moveTo>
                    <a:pt x="11114" y="4433"/>
                  </a:moveTo>
                  <a:cubicBezTo>
                    <a:pt x="11096" y="4433"/>
                    <a:pt x="11078" y="4434"/>
                    <a:pt x="11060" y="4435"/>
                  </a:cubicBezTo>
                  <a:cubicBezTo>
                    <a:pt x="10128" y="4483"/>
                    <a:pt x="9195" y="4532"/>
                    <a:pt x="8262" y="4582"/>
                  </a:cubicBezTo>
                  <a:cubicBezTo>
                    <a:pt x="7699" y="4612"/>
                    <a:pt x="7205" y="4810"/>
                    <a:pt x="6835" y="5243"/>
                  </a:cubicBezTo>
                  <a:cubicBezTo>
                    <a:pt x="6594" y="5523"/>
                    <a:pt x="6385" y="5832"/>
                    <a:pt x="6168" y="6133"/>
                  </a:cubicBezTo>
                  <a:cubicBezTo>
                    <a:pt x="6073" y="6265"/>
                    <a:pt x="6060" y="6416"/>
                    <a:pt x="6115" y="6570"/>
                  </a:cubicBezTo>
                  <a:cubicBezTo>
                    <a:pt x="6189" y="6771"/>
                    <a:pt x="6366" y="6882"/>
                    <a:pt x="6615" y="6884"/>
                  </a:cubicBezTo>
                  <a:lnTo>
                    <a:pt x="9490" y="6884"/>
                  </a:lnTo>
                  <a:cubicBezTo>
                    <a:pt x="9540" y="7966"/>
                    <a:pt x="9735" y="8986"/>
                    <a:pt x="10427" y="9856"/>
                  </a:cubicBezTo>
                  <a:cubicBezTo>
                    <a:pt x="10403" y="9862"/>
                    <a:pt x="10389" y="9868"/>
                    <a:pt x="10374" y="9868"/>
                  </a:cubicBezTo>
                  <a:cubicBezTo>
                    <a:pt x="10291" y="9868"/>
                    <a:pt x="10208" y="9868"/>
                    <a:pt x="10125" y="9868"/>
                  </a:cubicBezTo>
                  <a:cubicBezTo>
                    <a:pt x="10041" y="9868"/>
                    <a:pt x="9958" y="9868"/>
                    <a:pt x="9875" y="9868"/>
                  </a:cubicBezTo>
                  <a:cubicBezTo>
                    <a:pt x="9709" y="9868"/>
                    <a:pt x="9543" y="9868"/>
                    <a:pt x="9377" y="9871"/>
                  </a:cubicBezTo>
                  <a:cubicBezTo>
                    <a:pt x="9298" y="9871"/>
                    <a:pt x="9293" y="9822"/>
                    <a:pt x="9278" y="9769"/>
                  </a:cubicBezTo>
                  <a:cubicBezTo>
                    <a:pt x="9075" y="9126"/>
                    <a:pt x="8651" y="8711"/>
                    <a:pt x="7998" y="8537"/>
                  </a:cubicBezTo>
                  <a:cubicBezTo>
                    <a:pt x="7874" y="8505"/>
                    <a:pt x="7746" y="8495"/>
                    <a:pt x="7621" y="8473"/>
                  </a:cubicBezTo>
                  <a:cubicBezTo>
                    <a:pt x="7658" y="7865"/>
                    <a:pt x="7434" y="7470"/>
                    <a:pt x="6973" y="7324"/>
                  </a:cubicBezTo>
                  <a:cubicBezTo>
                    <a:pt x="6874" y="7293"/>
                    <a:pt x="6774" y="7278"/>
                    <a:pt x="6675" y="7278"/>
                  </a:cubicBezTo>
                  <a:cubicBezTo>
                    <a:pt x="6344" y="7278"/>
                    <a:pt x="6030" y="7445"/>
                    <a:pt x="5850" y="7738"/>
                  </a:cubicBezTo>
                  <a:cubicBezTo>
                    <a:pt x="5734" y="7929"/>
                    <a:pt x="5688" y="8137"/>
                    <a:pt x="5715" y="8356"/>
                  </a:cubicBezTo>
                  <a:cubicBezTo>
                    <a:pt x="5756" y="8693"/>
                    <a:pt x="5941" y="8938"/>
                    <a:pt x="6222" y="9101"/>
                  </a:cubicBezTo>
                  <a:cubicBezTo>
                    <a:pt x="6148" y="9222"/>
                    <a:pt x="6071" y="9328"/>
                    <a:pt x="6014" y="9442"/>
                  </a:cubicBezTo>
                  <a:cubicBezTo>
                    <a:pt x="5957" y="9556"/>
                    <a:pt x="5923" y="9683"/>
                    <a:pt x="5872" y="9799"/>
                  </a:cubicBezTo>
                  <a:cubicBezTo>
                    <a:pt x="5857" y="9829"/>
                    <a:pt x="5815" y="9865"/>
                    <a:pt x="5785" y="9865"/>
                  </a:cubicBezTo>
                  <a:cubicBezTo>
                    <a:pt x="5704" y="9868"/>
                    <a:pt x="5624" y="9870"/>
                    <a:pt x="5544" y="9870"/>
                  </a:cubicBezTo>
                  <a:cubicBezTo>
                    <a:pt x="5464" y="9870"/>
                    <a:pt x="5384" y="9868"/>
                    <a:pt x="5303" y="9868"/>
                  </a:cubicBezTo>
                  <a:cubicBezTo>
                    <a:pt x="5212" y="9868"/>
                    <a:pt x="5148" y="9828"/>
                    <a:pt x="5114" y="9740"/>
                  </a:cubicBezTo>
                  <a:cubicBezTo>
                    <a:pt x="5018" y="9495"/>
                    <a:pt x="4837" y="9383"/>
                    <a:pt x="4583" y="9383"/>
                  </a:cubicBezTo>
                  <a:cubicBezTo>
                    <a:pt x="4573" y="9383"/>
                    <a:pt x="4564" y="9383"/>
                    <a:pt x="4554" y="9383"/>
                  </a:cubicBezTo>
                  <a:cubicBezTo>
                    <a:pt x="4505" y="9385"/>
                    <a:pt x="4455" y="9386"/>
                    <a:pt x="4406" y="9386"/>
                  </a:cubicBezTo>
                  <a:cubicBezTo>
                    <a:pt x="4340" y="9386"/>
                    <a:pt x="4274" y="9385"/>
                    <a:pt x="4208" y="9385"/>
                  </a:cubicBezTo>
                  <a:lnTo>
                    <a:pt x="4208" y="8905"/>
                  </a:lnTo>
                  <a:cubicBezTo>
                    <a:pt x="4222" y="8899"/>
                    <a:pt x="4229" y="8895"/>
                    <a:pt x="4236" y="8895"/>
                  </a:cubicBezTo>
                  <a:cubicBezTo>
                    <a:pt x="4246" y="8895"/>
                    <a:pt x="4255" y="8895"/>
                    <a:pt x="4264" y="8895"/>
                  </a:cubicBezTo>
                  <a:cubicBezTo>
                    <a:pt x="4348" y="8895"/>
                    <a:pt x="4431" y="8898"/>
                    <a:pt x="4515" y="8898"/>
                  </a:cubicBezTo>
                  <a:cubicBezTo>
                    <a:pt x="4590" y="8898"/>
                    <a:pt x="4666" y="8895"/>
                    <a:pt x="4741" y="8886"/>
                  </a:cubicBezTo>
                  <a:cubicBezTo>
                    <a:pt x="4859" y="8872"/>
                    <a:pt x="4987" y="8836"/>
                    <a:pt x="5087" y="8771"/>
                  </a:cubicBezTo>
                  <a:cubicBezTo>
                    <a:pt x="5281" y="8644"/>
                    <a:pt x="5350" y="8401"/>
                    <a:pt x="5286" y="8178"/>
                  </a:cubicBezTo>
                  <a:cubicBezTo>
                    <a:pt x="5222" y="7959"/>
                    <a:pt x="5030" y="7799"/>
                    <a:pt x="4796" y="7787"/>
                  </a:cubicBezTo>
                  <a:cubicBezTo>
                    <a:pt x="4734" y="7783"/>
                    <a:pt x="4671" y="7782"/>
                    <a:pt x="4608" y="7782"/>
                  </a:cubicBezTo>
                  <a:cubicBezTo>
                    <a:pt x="4502" y="7782"/>
                    <a:pt x="4393" y="7785"/>
                    <a:pt x="4276" y="7785"/>
                  </a:cubicBezTo>
                  <a:cubicBezTo>
                    <a:pt x="4410" y="7381"/>
                    <a:pt x="4651" y="7099"/>
                    <a:pt x="4993" y="6903"/>
                  </a:cubicBezTo>
                  <a:cubicBezTo>
                    <a:pt x="5206" y="6781"/>
                    <a:pt x="5397" y="6634"/>
                    <a:pt x="5537" y="6431"/>
                  </a:cubicBezTo>
                  <a:cubicBezTo>
                    <a:pt x="5765" y="6094"/>
                    <a:pt x="5989" y="5755"/>
                    <a:pt x="6212" y="5416"/>
                  </a:cubicBezTo>
                  <a:cubicBezTo>
                    <a:pt x="6283" y="5308"/>
                    <a:pt x="6249" y="5181"/>
                    <a:pt x="6141" y="5143"/>
                  </a:cubicBezTo>
                  <a:cubicBezTo>
                    <a:pt x="6117" y="5135"/>
                    <a:pt x="6095" y="5131"/>
                    <a:pt x="6073" y="5131"/>
                  </a:cubicBezTo>
                  <a:cubicBezTo>
                    <a:pt x="6010" y="5131"/>
                    <a:pt x="5958" y="5165"/>
                    <a:pt x="5917" y="5225"/>
                  </a:cubicBezTo>
                  <a:cubicBezTo>
                    <a:pt x="5736" y="5493"/>
                    <a:pt x="5546" y="5757"/>
                    <a:pt x="5377" y="6033"/>
                  </a:cubicBezTo>
                  <a:cubicBezTo>
                    <a:pt x="5226" y="6281"/>
                    <a:pt x="5036" y="6469"/>
                    <a:pt x="4788" y="6620"/>
                  </a:cubicBezTo>
                  <a:cubicBezTo>
                    <a:pt x="4202" y="6978"/>
                    <a:pt x="3880" y="7505"/>
                    <a:pt x="3855" y="8193"/>
                  </a:cubicBezTo>
                  <a:cubicBezTo>
                    <a:pt x="3839" y="8591"/>
                    <a:pt x="3852" y="8990"/>
                    <a:pt x="3845" y="9389"/>
                  </a:cubicBezTo>
                  <a:cubicBezTo>
                    <a:pt x="3843" y="9456"/>
                    <a:pt x="3801" y="9523"/>
                    <a:pt x="3778" y="9589"/>
                  </a:cubicBezTo>
                  <a:cubicBezTo>
                    <a:pt x="3742" y="9698"/>
                    <a:pt x="3681" y="9806"/>
                    <a:pt x="3675" y="9918"/>
                  </a:cubicBezTo>
                  <a:cubicBezTo>
                    <a:pt x="3660" y="10194"/>
                    <a:pt x="3669" y="10472"/>
                    <a:pt x="3669" y="10749"/>
                  </a:cubicBezTo>
                  <a:cubicBezTo>
                    <a:pt x="3671" y="11130"/>
                    <a:pt x="3876" y="11336"/>
                    <a:pt x="4256" y="11336"/>
                  </a:cubicBezTo>
                  <a:cubicBezTo>
                    <a:pt x="4409" y="11337"/>
                    <a:pt x="4562" y="11337"/>
                    <a:pt x="4714" y="11337"/>
                  </a:cubicBezTo>
                  <a:cubicBezTo>
                    <a:pt x="4867" y="11337"/>
                    <a:pt x="5020" y="11337"/>
                    <a:pt x="5172" y="11337"/>
                  </a:cubicBezTo>
                  <a:cubicBezTo>
                    <a:pt x="5477" y="11337"/>
                    <a:pt x="5782" y="11337"/>
                    <a:pt x="6087" y="11339"/>
                  </a:cubicBezTo>
                  <a:cubicBezTo>
                    <a:pt x="6141" y="11339"/>
                    <a:pt x="6209" y="11368"/>
                    <a:pt x="6245" y="11406"/>
                  </a:cubicBezTo>
                  <a:cubicBezTo>
                    <a:pt x="6608" y="11811"/>
                    <a:pt x="7094" y="12015"/>
                    <a:pt x="7579" y="12015"/>
                  </a:cubicBezTo>
                  <a:cubicBezTo>
                    <a:pt x="8058" y="12015"/>
                    <a:pt x="8536" y="11817"/>
                    <a:pt x="8896" y="11419"/>
                  </a:cubicBezTo>
                  <a:cubicBezTo>
                    <a:pt x="8950" y="11361"/>
                    <a:pt x="9001" y="11335"/>
                    <a:pt x="9080" y="11335"/>
                  </a:cubicBezTo>
                  <a:cubicBezTo>
                    <a:pt x="9082" y="11335"/>
                    <a:pt x="9085" y="11335"/>
                    <a:pt x="9087" y="11335"/>
                  </a:cubicBezTo>
                  <a:cubicBezTo>
                    <a:pt x="9413" y="11336"/>
                    <a:pt x="9739" y="11337"/>
                    <a:pt x="10066" y="11337"/>
                  </a:cubicBezTo>
                  <a:cubicBezTo>
                    <a:pt x="10393" y="11337"/>
                    <a:pt x="10719" y="11336"/>
                    <a:pt x="11045" y="11336"/>
                  </a:cubicBezTo>
                  <a:cubicBezTo>
                    <a:pt x="11065" y="11336"/>
                    <a:pt x="11085" y="11337"/>
                    <a:pt x="11104" y="11337"/>
                  </a:cubicBezTo>
                  <a:cubicBezTo>
                    <a:pt x="11124" y="11337"/>
                    <a:pt x="11143" y="11336"/>
                    <a:pt x="11162" y="11334"/>
                  </a:cubicBezTo>
                  <a:cubicBezTo>
                    <a:pt x="11256" y="11321"/>
                    <a:pt x="11310" y="11262"/>
                    <a:pt x="11316" y="11170"/>
                  </a:cubicBezTo>
                  <a:cubicBezTo>
                    <a:pt x="11322" y="11081"/>
                    <a:pt x="11275" y="11019"/>
                    <a:pt x="11189" y="10996"/>
                  </a:cubicBezTo>
                  <a:cubicBezTo>
                    <a:pt x="11148" y="10985"/>
                    <a:pt x="11104" y="10985"/>
                    <a:pt x="11061" y="10985"/>
                  </a:cubicBezTo>
                  <a:lnTo>
                    <a:pt x="9215" y="10985"/>
                  </a:lnTo>
                  <a:cubicBezTo>
                    <a:pt x="9270" y="10727"/>
                    <a:pt x="9322" y="10480"/>
                    <a:pt x="9377" y="10221"/>
                  </a:cubicBezTo>
                  <a:lnTo>
                    <a:pt x="9500" y="10221"/>
                  </a:lnTo>
                  <a:cubicBezTo>
                    <a:pt x="10011" y="10221"/>
                    <a:pt x="10524" y="10221"/>
                    <a:pt x="11037" y="10220"/>
                  </a:cubicBezTo>
                  <a:cubicBezTo>
                    <a:pt x="11087" y="10220"/>
                    <a:pt x="11139" y="10220"/>
                    <a:pt x="11188" y="10208"/>
                  </a:cubicBezTo>
                  <a:cubicBezTo>
                    <a:pt x="11275" y="10187"/>
                    <a:pt x="11320" y="10123"/>
                    <a:pt x="11316" y="10036"/>
                  </a:cubicBezTo>
                  <a:cubicBezTo>
                    <a:pt x="11312" y="9949"/>
                    <a:pt x="11263" y="9889"/>
                    <a:pt x="11174" y="9875"/>
                  </a:cubicBezTo>
                  <a:cubicBezTo>
                    <a:pt x="11161" y="9872"/>
                    <a:pt x="11148" y="9872"/>
                    <a:pt x="11135" y="9872"/>
                  </a:cubicBezTo>
                  <a:cubicBezTo>
                    <a:pt x="11126" y="9872"/>
                    <a:pt x="11117" y="9872"/>
                    <a:pt x="11109" y="9872"/>
                  </a:cubicBezTo>
                  <a:cubicBezTo>
                    <a:pt x="11091" y="9872"/>
                    <a:pt x="11074" y="9871"/>
                    <a:pt x="11058" y="9866"/>
                  </a:cubicBezTo>
                  <a:cubicBezTo>
                    <a:pt x="10990" y="9846"/>
                    <a:pt x="10904" y="9835"/>
                    <a:pt x="10864" y="9788"/>
                  </a:cubicBezTo>
                  <a:cubicBezTo>
                    <a:pt x="10703" y="9599"/>
                    <a:pt x="10537" y="9409"/>
                    <a:pt x="10409" y="9197"/>
                  </a:cubicBezTo>
                  <a:cubicBezTo>
                    <a:pt x="10148" y="8767"/>
                    <a:pt x="10015" y="8288"/>
                    <a:pt x="9937" y="7795"/>
                  </a:cubicBezTo>
                  <a:cubicBezTo>
                    <a:pt x="9890" y="7499"/>
                    <a:pt x="9867" y="7200"/>
                    <a:pt x="9832" y="6884"/>
                  </a:cubicBezTo>
                  <a:lnTo>
                    <a:pt x="11111" y="6884"/>
                  </a:lnTo>
                  <a:cubicBezTo>
                    <a:pt x="11239" y="6879"/>
                    <a:pt x="11317" y="6814"/>
                    <a:pt x="11317" y="6710"/>
                  </a:cubicBezTo>
                  <a:cubicBezTo>
                    <a:pt x="11317" y="6606"/>
                    <a:pt x="11240" y="6533"/>
                    <a:pt x="11112" y="6533"/>
                  </a:cubicBezTo>
                  <a:cubicBezTo>
                    <a:pt x="10938" y="6532"/>
                    <a:pt x="10764" y="6531"/>
                    <a:pt x="10590" y="6531"/>
                  </a:cubicBezTo>
                  <a:cubicBezTo>
                    <a:pt x="10416" y="6531"/>
                    <a:pt x="10242" y="6532"/>
                    <a:pt x="10068" y="6532"/>
                  </a:cubicBezTo>
                  <a:lnTo>
                    <a:pt x="9854" y="6532"/>
                  </a:lnTo>
                  <a:lnTo>
                    <a:pt x="9854" y="4827"/>
                  </a:lnTo>
                  <a:cubicBezTo>
                    <a:pt x="10258" y="4812"/>
                    <a:pt x="10652" y="4800"/>
                    <a:pt x="11045" y="4787"/>
                  </a:cubicBezTo>
                  <a:cubicBezTo>
                    <a:pt x="11092" y="4785"/>
                    <a:pt x="11141" y="4788"/>
                    <a:pt x="11185" y="4775"/>
                  </a:cubicBezTo>
                  <a:cubicBezTo>
                    <a:pt x="11276" y="4751"/>
                    <a:pt x="11325" y="4686"/>
                    <a:pt x="11316" y="4592"/>
                  </a:cubicBezTo>
                  <a:cubicBezTo>
                    <a:pt x="11306" y="4500"/>
                    <a:pt x="11249" y="4445"/>
                    <a:pt x="11154" y="4435"/>
                  </a:cubicBezTo>
                  <a:cubicBezTo>
                    <a:pt x="11141" y="4434"/>
                    <a:pt x="11128" y="4433"/>
                    <a:pt x="11114" y="44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0" name="Google Shape;584;p47">
              <a:extLst>
                <a:ext uri="{FF2B5EF4-FFF2-40B4-BE49-F238E27FC236}">
                  <a16:creationId xmlns:a16="http://schemas.microsoft.com/office/drawing/2014/main" id="{5C566569-1670-44CC-BE32-DA75A47801AA}"/>
                </a:ext>
              </a:extLst>
            </p:cNvPr>
            <p:cNvCxnSpPr/>
            <p:nvPr/>
          </p:nvCxnSpPr>
          <p:spPr>
            <a:xfrm>
              <a:off x="6900617" y="2365596"/>
              <a:ext cx="438600" cy="0"/>
            </a:xfrm>
            <a:prstGeom prst="straightConnector1">
              <a:avLst/>
            </a:prstGeom>
            <a:noFill/>
            <a:ln w="2857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grpSp>
        <p:nvGrpSpPr>
          <p:cNvPr id="742" name="Google Shape;742;p51"/>
          <p:cNvGrpSpPr/>
          <p:nvPr/>
        </p:nvGrpSpPr>
        <p:grpSpPr>
          <a:xfrm>
            <a:off x="7013590" y="2367961"/>
            <a:ext cx="4411544" cy="2782519"/>
            <a:chOff x="4352672" y="2230153"/>
            <a:chExt cx="4618934" cy="2913327"/>
          </a:xfrm>
        </p:grpSpPr>
        <p:sp>
          <p:nvSpPr>
            <p:cNvPr id="743" name="Google Shape;743;p51"/>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51"/>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45" name="Google Shape;745;p51"/>
          <p:cNvSpPr/>
          <p:nvPr/>
        </p:nvSpPr>
        <p:spPr>
          <a:xfrm>
            <a:off x="7299153" y="3746876"/>
            <a:ext cx="587634" cy="74812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46" name="Google Shape;746;p51"/>
          <p:cNvGrpSpPr/>
          <p:nvPr/>
        </p:nvGrpSpPr>
        <p:grpSpPr>
          <a:xfrm>
            <a:off x="7839849" y="2391969"/>
            <a:ext cx="2696758" cy="2365192"/>
            <a:chOff x="6590200" y="2690900"/>
            <a:chExt cx="2196952" cy="1926837"/>
          </a:xfrm>
        </p:grpSpPr>
        <p:sp>
          <p:nvSpPr>
            <p:cNvPr id="747" name="Google Shape;747;p51"/>
            <p:cNvSpPr/>
            <p:nvPr/>
          </p:nvSpPr>
          <p:spPr>
            <a:xfrm>
              <a:off x="8282405" y="4353931"/>
              <a:ext cx="141934" cy="136673"/>
            </a:xfrm>
            <a:custGeom>
              <a:avLst/>
              <a:gdLst/>
              <a:ahLst/>
              <a:cxnLst/>
              <a:rect l="l" t="t" r="r" b="b"/>
              <a:pathLst>
                <a:path w="2914" h="2806" extrusionOk="0">
                  <a:moveTo>
                    <a:pt x="155" y="0"/>
                  </a:moveTo>
                  <a:lnTo>
                    <a:pt x="155" y="0"/>
                  </a:lnTo>
                  <a:cubicBezTo>
                    <a:pt x="155" y="0"/>
                    <a:pt x="166" y="163"/>
                    <a:pt x="0" y="346"/>
                  </a:cubicBezTo>
                  <a:lnTo>
                    <a:pt x="0" y="1587"/>
                  </a:lnTo>
                  <a:cubicBezTo>
                    <a:pt x="0" y="2257"/>
                    <a:pt x="549" y="2806"/>
                    <a:pt x="1217" y="2806"/>
                  </a:cubicBezTo>
                  <a:lnTo>
                    <a:pt x="2515" y="2806"/>
                  </a:lnTo>
                  <a:cubicBezTo>
                    <a:pt x="2654" y="2806"/>
                    <a:pt x="2789" y="2782"/>
                    <a:pt x="2914" y="2737"/>
                  </a:cubicBezTo>
                  <a:lnTo>
                    <a:pt x="2914" y="958"/>
                  </a:lnTo>
                  <a:cubicBezTo>
                    <a:pt x="2444" y="979"/>
                    <a:pt x="2061" y="992"/>
                    <a:pt x="1743" y="992"/>
                  </a:cubicBezTo>
                  <a:cubicBezTo>
                    <a:pt x="1120" y="992"/>
                    <a:pt x="751" y="939"/>
                    <a:pt x="478" y="772"/>
                  </a:cubicBezTo>
                  <a:cubicBezTo>
                    <a:pt x="368" y="705"/>
                    <a:pt x="270" y="41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51"/>
            <p:cNvSpPr/>
            <p:nvPr/>
          </p:nvSpPr>
          <p:spPr>
            <a:xfrm>
              <a:off x="8282405" y="4327191"/>
              <a:ext cx="8085" cy="43642"/>
            </a:xfrm>
            <a:custGeom>
              <a:avLst/>
              <a:gdLst/>
              <a:ahLst/>
              <a:cxnLst/>
              <a:rect l="l" t="t" r="r" b="b"/>
              <a:pathLst>
                <a:path w="166" h="896" extrusionOk="0">
                  <a:moveTo>
                    <a:pt x="0" y="1"/>
                  </a:moveTo>
                  <a:lnTo>
                    <a:pt x="0" y="895"/>
                  </a:lnTo>
                  <a:cubicBezTo>
                    <a:pt x="166" y="712"/>
                    <a:pt x="155" y="549"/>
                    <a:pt x="155" y="549"/>
                  </a:cubicBezTo>
                  <a:cubicBezTo>
                    <a:pt x="107" y="382"/>
                    <a:pt x="56" y="19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51"/>
            <p:cNvSpPr/>
            <p:nvPr/>
          </p:nvSpPr>
          <p:spPr>
            <a:xfrm>
              <a:off x="8410064" y="4257346"/>
              <a:ext cx="14271" cy="9108"/>
            </a:xfrm>
            <a:custGeom>
              <a:avLst/>
              <a:gdLst/>
              <a:ahLst/>
              <a:cxnLst/>
              <a:rect l="l" t="t" r="r" b="b"/>
              <a:pathLst>
                <a:path w="293" h="187" extrusionOk="0">
                  <a:moveTo>
                    <a:pt x="293" y="0"/>
                  </a:moveTo>
                  <a:cubicBezTo>
                    <a:pt x="199" y="69"/>
                    <a:pt x="100" y="130"/>
                    <a:pt x="0" y="187"/>
                  </a:cubicBezTo>
                  <a:lnTo>
                    <a:pt x="293" y="187"/>
                  </a:lnTo>
                  <a:lnTo>
                    <a:pt x="293" y="0"/>
                  </a:ln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51"/>
            <p:cNvSpPr/>
            <p:nvPr/>
          </p:nvSpPr>
          <p:spPr>
            <a:xfrm>
              <a:off x="6952867" y="4257346"/>
              <a:ext cx="14369" cy="9108"/>
            </a:xfrm>
            <a:custGeom>
              <a:avLst/>
              <a:gdLst/>
              <a:ahLst/>
              <a:cxnLst/>
              <a:rect l="l" t="t" r="r" b="b"/>
              <a:pathLst>
                <a:path w="295" h="187" extrusionOk="0">
                  <a:moveTo>
                    <a:pt x="1" y="0"/>
                  </a:moveTo>
                  <a:lnTo>
                    <a:pt x="1" y="187"/>
                  </a:lnTo>
                  <a:lnTo>
                    <a:pt x="295" y="187"/>
                  </a:lnTo>
                  <a:cubicBezTo>
                    <a:pt x="193" y="130"/>
                    <a:pt x="95" y="69"/>
                    <a:pt x="1" y="0"/>
                  </a:cubicBez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51"/>
            <p:cNvSpPr/>
            <p:nvPr/>
          </p:nvSpPr>
          <p:spPr>
            <a:xfrm>
              <a:off x="7093385" y="3496504"/>
              <a:ext cx="1190460" cy="326340"/>
            </a:xfrm>
            <a:custGeom>
              <a:avLst/>
              <a:gdLst/>
              <a:ahLst/>
              <a:cxnLst/>
              <a:rect l="l" t="t" r="r" b="b"/>
              <a:pathLst>
                <a:path w="24441" h="6700" extrusionOk="0">
                  <a:moveTo>
                    <a:pt x="0" y="1"/>
                  </a:moveTo>
                  <a:lnTo>
                    <a:pt x="0" y="1"/>
                  </a:lnTo>
                  <a:cubicBezTo>
                    <a:pt x="576" y="969"/>
                    <a:pt x="967" y="2204"/>
                    <a:pt x="1441" y="3331"/>
                  </a:cubicBezTo>
                  <a:cubicBezTo>
                    <a:pt x="1514" y="3511"/>
                    <a:pt x="1582" y="3677"/>
                    <a:pt x="1640" y="3836"/>
                  </a:cubicBezTo>
                  <a:lnTo>
                    <a:pt x="1641" y="3837"/>
                  </a:lnTo>
                  <a:cubicBezTo>
                    <a:pt x="1728" y="3925"/>
                    <a:pt x="4507" y="6699"/>
                    <a:pt x="12221" y="6699"/>
                  </a:cubicBezTo>
                  <a:cubicBezTo>
                    <a:pt x="19936" y="6699"/>
                    <a:pt x="22715" y="3925"/>
                    <a:pt x="22801" y="3837"/>
                  </a:cubicBezTo>
                  <a:lnTo>
                    <a:pt x="22803" y="3836"/>
                  </a:lnTo>
                  <a:cubicBezTo>
                    <a:pt x="22859" y="3677"/>
                    <a:pt x="22927" y="3511"/>
                    <a:pt x="23002" y="3331"/>
                  </a:cubicBezTo>
                  <a:cubicBezTo>
                    <a:pt x="23474" y="2204"/>
                    <a:pt x="23865" y="969"/>
                    <a:pt x="24441" y="1"/>
                  </a:cubicBezTo>
                  <a:lnTo>
                    <a:pt x="24441" y="1"/>
                  </a:lnTo>
                  <a:cubicBezTo>
                    <a:pt x="23169" y="578"/>
                    <a:pt x="12221" y="1003"/>
                    <a:pt x="12221" y="1003"/>
                  </a:cubicBezTo>
                  <a:cubicBezTo>
                    <a:pt x="12221" y="1003"/>
                    <a:pt x="1273" y="57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51"/>
            <p:cNvSpPr/>
            <p:nvPr/>
          </p:nvSpPr>
          <p:spPr>
            <a:xfrm>
              <a:off x="6797689" y="3638775"/>
              <a:ext cx="1781866" cy="627694"/>
            </a:xfrm>
            <a:custGeom>
              <a:avLst/>
              <a:gdLst/>
              <a:ahLst/>
              <a:cxnLst/>
              <a:rect l="l" t="t" r="r" b="b"/>
              <a:pathLst>
                <a:path w="36583" h="12887" extrusionOk="0">
                  <a:moveTo>
                    <a:pt x="782" y="0"/>
                  </a:moveTo>
                  <a:cubicBezTo>
                    <a:pt x="659" y="315"/>
                    <a:pt x="488" y="608"/>
                    <a:pt x="251" y="797"/>
                  </a:cubicBezTo>
                  <a:cubicBezTo>
                    <a:pt x="251" y="797"/>
                    <a:pt x="1" y="5132"/>
                    <a:pt x="924" y="8696"/>
                  </a:cubicBezTo>
                  <a:cubicBezTo>
                    <a:pt x="1243" y="9931"/>
                    <a:pt x="1705" y="11072"/>
                    <a:pt x="2368" y="11909"/>
                  </a:cubicBezTo>
                  <a:cubicBezTo>
                    <a:pt x="2611" y="12218"/>
                    <a:pt x="2884" y="12485"/>
                    <a:pt x="3187" y="12700"/>
                  </a:cubicBezTo>
                  <a:cubicBezTo>
                    <a:pt x="3281" y="12769"/>
                    <a:pt x="3379" y="12830"/>
                    <a:pt x="3481" y="12887"/>
                  </a:cubicBezTo>
                  <a:lnTo>
                    <a:pt x="6508" y="12887"/>
                  </a:lnTo>
                  <a:cubicBezTo>
                    <a:pt x="6930" y="11814"/>
                    <a:pt x="7589" y="10812"/>
                    <a:pt x="8740" y="10812"/>
                  </a:cubicBezTo>
                  <a:cubicBezTo>
                    <a:pt x="8749" y="10812"/>
                    <a:pt x="8758" y="10812"/>
                    <a:pt x="8767" y="10812"/>
                  </a:cubicBezTo>
                  <a:cubicBezTo>
                    <a:pt x="9616" y="10824"/>
                    <a:pt x="10498" y="10827"/>
                    <a:pt x="11288" y="10827"/>
                  </a:cubicBezTo>
                  <a:cubicBezTo>
                    <a:pt x="11783" y="10827"/>
                    <a:pt x="12241" y="10826"/>
                    <a:pt x="12631" y="10824"/>
                  </a:cubicBezTo>
                  <a:cubicBezTo>
                    <a:pt x="13403" y="10819"/>
                    <a:pt x="13908" y="10812"/>
                    <a:pt x="13908" y="10812"/>
                  </a:cubicBezTo>
                  <a:lnTo>
                    <a:pt x="22675" y="10812"/>
                  </a:lnTo>
                  <a:cubicBezTo>
                    <a:pt x="22675" y="10812"/>
                    <a:pt x="23180" y="10819"/>
                    <a:pt x="23952" y="10824"/>
                  </a:cubicBezTo>
                  <a:cubicBezTo>
                    <a:pt x="24343" y="10826"/>
                    <a:pt x="24801" y="10827"/>
                    <a:pt x="25296" y="10827"/>
                  </a:cubicBezTo>
                  <a:cubicBezTo>
                    <a:pt x="26085" y="10827"/>
                    <a:pt x="26968" y="10824"/>
                    <a:pt x="27816" y="10812"/>
                  </a:cubicBezTo>
                  <a:cubicBezTo>
                    <a:pt x="27826" y="10812"/>
                    <a:pt x="27836" y="10811"/>
                    <a:pt x="27845" y="10811"/>
                  </a:cubicBezTo>
                  <a:cubicBezTo>
                    <a:pt x="28995" y="10811"/>
                    <a:pt x="29653" y="11814"/>
                    <a:pt x="30075" y="12887"/>
                  </a:cubicBezTo>
                  <a:lnTo>
                    <a:pt x="33104" y="12887"/>
                  </a:lnTo>
                  <a:cubicBezTo>
                    <a:pt x="33204" y="12830"/>
                    <a:pt x="33303" y="12769"/>
                    <a:pt x="33397" y="12700"/>
                  </a:cubicBezTo>
                  <a:cubicBezTo>
                    <a:pt x="33699" y="12485"/>
                    <a:pt x="33973" y="12218"/>
                    <a:pt x="34216" y="11909"/>
                  </a:cubicBezTo>
                  <a:cubicBezTo>
                    <a:pt x="34878" y="11072"/>
                    <a:pt x="35340" y="9931"/>
                    <a:pt x="35660" y="8696"/>
                  </a:cubicBezTo>
                  <a:cubicBezTo>
                    <a:pt x="36583" y="5132"/>
                    <a:pt x="36332" y="797"/>
                    <a:pt x="36332" y="797"/>
                  </a:cubicBezTo>
                  <a:cubicBezTo>
                    <a:pt x="36095" y="608"/>
                    <a:pt x="35924" y="315"/>
                    <a:pt x="35801" y="0"/>
                  </a:cubicBezTo>
                  <a:cubicBezTo>
                    <a:pt x="35801" y="0"/>
                    <a:pt x="35582" y="5417"/>
                    <a:pt x="31228" y="5417"/>
                  </a:cubicBezTo>
                  <a:lnTo>
                    <a:pt x="5356" y="5417"/>
                  </a:lnTo>
                  <a:cubicBezTo>
                    <a:pt x="1001" y="5417"/>
                    <a:pt x="782" y="0"/>
                    <a:pt x="782"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51"/>
            <p:cNvSpPr/>
            <p:nvPr/>
          </p:nvSpPr>
          <p:spPr>
            <a:xfrm>
              <a:off x="6998359" y="2802925"/>
              <a:ext cx="1352364" cy="621118"/>
            </a:xfrm>
            <a:custGeom>
              <a:avLst/>
              <a:gdLst/>
              <a:ahLst/>
              <a:cxnLst/>
              <a:rect l="l" t="t" r="r" b="b"/>
              <a:pathLst>
                <a:path w="27765" h="12752" extrusionOk="0">
                  <a:moveTo>
                    <a:pt x="14307" y="0"/>
                  </a:moveTo>
                  <a:cubicBezTo>
                    <a:pt x="14219" y="0"/>
                    <a:pt x="14172" y="0"/>
                    <a:pt x="14172" y="0"/>
                  </a:cubicBezTo>
                  <a:cubicBezTo>
                    <a:pt x="14172" y="0"/>
                    <a:pt x="14138" y="0"/>
                    <a:pt x="14072" y="0"/>
                  </a:cubicBezTo>
                  <a:cubicBezTo>
                    <a:pt x="13611" y="0"/>
                    <a:pt x="11621" y="6"/>
                    <a:pt x="9294" y="92"/>
                  </a:cubicBezTo>
                  <a:lnTo>
                    <a:pt x="1" y="9384"/>
                  </a:lnTo>
                  <a:cubicBezTo>
                    <a:pt x="101" y="11291"/>
                    <a:pt x="689" y="12751"/>
                    <a:pt x="2874" y="12751"/>
                  </a:cubicBezTo>
                  <a:lnTo>
                    <a:pt x="3123" y="12751"/>
                  </a:lnTo>
                  <a:lnTo>
                    <a:pt x="14172" y="1701"/>
                  </a:lnTo>
                  <a:lnTo>
                    <a:pt x="15860" y="13"/>
                  </a:lnTo>
                  <a:cubicBezTo>
                    <a:pt x="15104" y="2"/>
                    <a:pt x="14549" y="0"/>
                    <a:pt x="14307" y="0"/>
                  </a:cubicBezTo>
                  <a:close/>
                  <a:moveTo>
                    <a:pt x="20943" y="180"/>
                  </a:moveTo>
                  <a:lnTo>
                    <a:pt x="14172" y="6952"/>
                  </a:lnTo>
                  <a:lnTo>
                    <a:pt x="8371" y="12751"/>
                  </a:lnTo>
                  <a:lnTo>
                    <a:pt x="18413" y="12751"/>
                  </a:lnTo>
                  <a:lnTo>
                    <a:pt x="27764" y="3401"/>
                  </a:lnTo>
                  <a:cubicBezTo>
                    <a:pt x="27035" y="1555"/>
                    <a:pt x="25715" y="649"/>
                    <a:pt x="25715" y="649"/>
                  </a:cubicBezTo>
                  <a:lnTo>
                    <a:pt x="25715" y="648"/>
                  </a:lnTo>
                  <a:cubicBezTo>
                    <a:pt x="24400" y="423"/>
                    <a:pt x="22664" y="274"/>
                    <a:pt x="20943" y="1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51"/>
            <p:cNvSpPr/>
            <p:nvPr/>
          </p:nvSpPr>
          <p:spPr>
            <a:xfrm>
              <a:off x="6952867" y="4353931"/>
              <a:ext cx="141934" cy="136673"/>
            </a:xfrm>
            <a:custGeom>
              <a:avLst/>
              <a:gdLst/>
              <a:ahLst/>
              <a:cxnLst/>
              <a:rect l="l" t="t" r="r" b="b"/>
              <a:pathLst>
                <a:path w="2914" h="2806" extrusionOk="0">
                  <a:moveTo>
                    <a:pt x="2761" y="0"/>
                  </a:moveTo>
                  <a:cubicBezTo>
                    <a:pt x="2644" y="410"/>
                    <a:pt x="2546" y="705"/>
                    <a:pt x="2436" y="772"/>
                  </a:cubicBezTo>
                  <a:cubicBezTo>
                    <a:pt x="2163" y="939"/>
                    <a:pt x="1794" y="992"/>
                    <a:pt x="1171" y="992"/>
                  </a:cubicBezTo>
                  <a:cubicBezTo>
                    <a:pt x="854" y="992"/>
                    <a:pt x="471" y="979"/>
                    <a:pt x="1" y="958"/>
                  </a:cubicBezTo>
                  <a:lnTo>
                    <a:pt x="1" y="2737"/>
                  </a:lnTo>
                  <a:cubicBezTo>
                    <a:pt x="125" y="2782"/>
                    <a:pt x="261" y="2806"/>
                    <a:pt x="399" y="2806"/>
                  </a:cubicBezTo>
                  <a:lnTo>
                    <a:pt x="1697" y="2806"/>
                  </a:lnTo>
                  <a:cubicBezTo>
                    <a:pt x="2365" y="2806"/>
                    <a:pt x="2914" y="2257"/>
                    <a:pt x="2914" y="1587"/>
                  </a:cubicBezTo>
                  <a:lnTo>
                    <a:pt x="2914" y="346"/>
                  </a:lnTo>
                  <a:cubicBezTo>
                    <a:pt x="2748" y="163"/>
                    <a:pt x="2761" y="0"/>
                    <a:pt x="2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51"/>
            <p:cNvSpPr/>
            <p:nvPr/>
          </p:nvSpPr>
          <p:spPr>
            <a:xfrm>
              <a:off x="7086713" y="4327191"/>
              <a:ext cx="8085" cy="43642"/>
            </a:xfrm>
            <a:custGeom>
              <a:avLst/>
              <a:gdLst/>
              <a:ahLst/>
              <a:cxnLst/>
              <a:rect l="l" t="t" r="r" b="b"/>
              <a:pathLst>
                <a:path w="166" h="896" extrusionOk="0">
                  <a:moveTo>
                    <a:pt x="166" y="1"/>
                  </a:moveTo>
                  <a:cubicBezTo>
                    <a:pt x="111" y="199"/>
                    <a:pt x="60" y="382"/>
                    <a:pt x="13" y="549"/>
                  </a:cubicBezTo>
                  <a:cubicBezTo>
                    <a:pt x="13" y="549"/>
                    <a:pt x="0" y="712"/>
                    <a:pt x="166" y="895"/>
                  </a:cubicBezTo>
                  <a:lnTo>
                    <a:pt x="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51"/>
            <p:cNvSpPr/>
            <p:nvPr/>
          </p:nvSpPr>
          <p:spPr>
            <a:xfrm>
              <a:off x="8424384" y="4102217"/>
              <a:ext cx="181776" cy="515520"/>
            </a:xfrm>
            <a:custGeom>
              <a:avLst/>
              <a:gdLst/>
              <a:ahLst/>
              <a:cxnLst/>
              <a:rect l="l" t="t" r="r" b="b"/>
              <a:pathLst>
                <a:path w="3732" h="10584" extrusionOk="0">
                  <a:moveTo>
                    <a:pt x="3662" y="1"/>
                  </a:moveTo>
                  <a:cubicBezTo>
                    <a:pt x="3521" y="1035"/>
                    <a:pt x="3319" y="2160"/>
                    <a:pt x="3038" y="3372"/>
                  </a:cubicBezTo>
                  <a:cubicBezTo>
                    <a:pt x="2908" y="3943"/>
                    <a:pt x="2759" y="4534"/>
                    <a:pt x="2594" y="5143"/>
                  </a:cubicBezTo>
                  <a:cubicBezTo>
                    <a:pt x="2594" y="5143"/>
                    <a:pt x="2457" y="5953"/>
                    <a:pt x="818" y="6087"/>
                  </a:cubicBezTo>
                  <a:cubicBezTo>
                    <a:pt x="752" y="6094"/>
                    <a:pt x="684" y="6097"/>
                    <a:pt x="614" y="6100"/>
                  </a:cubicBezTo>
                  <a:cubicBezTo>
                    <a:pt x="393" y="6110"/>
                    <a:pt x="188" y="6118"/>
                    <a:pt x="0" y="6126"/>
                  </a:cubicBezTo>
                  <a:lnTo>
                    <a:pt x="0" y="7905"/>
                  </a:lnTo>
                  <a:lnTo>
                    <a:pt x="0" y="9366"/>
                  </a:lnTo>
                  <a:cubicBezTo>
                    <a:pt x="0" y="10035"/>
                    <a:pt x="549" y="10583"/>
                    <a:pt x="1217" y="10583"/>
                  </a:cubicBezTo>
                  <a:lnTo>
                    <a:pt x="2515" y="10583"/>
                  </a:lnTo>
                  <a:cubicBezTo>
                    <a:pt x="3185" y="10583"/>
                    <a:pt x="3732" y="10035"/>
                    <a:pt x="3732" y="9366"/>
                  </a:cubicBezTo>
                  <a:lnTo>
                    <a:pt x="3732" y="398"/>
                  </a:lnTo>
                  <a:cubicBezTo>
                    <a:pt x="3732" y="259"/>
                    <a:pt x="3708" y="126"/>
                    <a:pt x="36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51"/>
            <p:cNvSpPr/>
            <p:nvPr/>
          </p:nvSpPr>
          <p:spPr>
            <a:xfrm>
              <a:off x="6771047" y="4102217"/>
              <a:ext cx="181874" cy="515520"/>
            </a:xfrm>
            <a:custGeom>
              <a:avLst/>
              <a:gdLst/>
              <a:ahLst/>
              <a:cxnLst/>
              <a:rect l="l" t="t" r="r" b="b"/>
              <a:pathLst>
                <a:path w="3734" h="10584" extrusionOk="0">
                  <a:moveTo>
                    <a:pt x="70" y="1"/>
                  </a:moveTo>
                  <a:cubicBezTo>
                    <a:pt x="25" y="126"/>
                    <a:pt x="1" y="259"/>
                    <a:pt x="1" y="398"/>
                  </a:cubicBezTo>
                  <a:lnTo>
                    <a:pt x="1" y="9366"/>
                  </a:lnTo>
                  <a:cubicBezTo>
                    <a:pt x="1" y="10035"/>
                    <a:pt x="548" y="10583"/>
                    <a:pt x="1218" y="10583"/>
                  </a:cubicBezTo>
                  <a:lnTo>
                    <a:pt x="2517" y="10583"/>
                  </a:lnTo>
                  <a:cubicBezTo>
                    <a:pt x="3185" y="10583"/>
                    <a:pt x="3734" y="10035"/>
                    <a:pt x="3734" y="9366"/>
                  </a:cubicBezTo>
                  <a:lnTo>
                    <a:pt x="3734" y="7905"/>
                  </a:lnTo>
                  <a:lnTo>
                    <a:pt x="3734" y="6126"/>
                  </a:lnTo>
                  <a:cubicBezTo>
                    <a:pt x="3544" y="6118"/>
                    <a:pt x="3341" y="6110"/>
                    <a:pt x="3119" y="6100"/>
                  </a:cubicBezTo>
                  <a:cubicBezTo>
                    <a:pt x="3048" y="6097"/>
                    <a:pt x="2980" y="6094"/>
                    <a:pt x="2915" y="6087"/>
                  </a:cubicBezTo>
                  <a:cubicBezTo>
                    <a:pt x="1276" y="5953"/>
                    <a:pt x="1138" y="5143"/>
                    <a:pt x="1138" y="5143"/>
                  </a:cubicBezTo>
                  <a:cubicBezTo>
                    <a:pt x="973" y="4534"/>
                    <a:pt x="825" y="3943"/>
                    <a:pt x="695" y="3372"/>
                  </a:cubicBezTo>
                  <a:cubicBezTo>
                    <a:pt x="415" y="2160"/>
                    <a:pt x="211" y="1035"/>
                    <a:pt x="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51"/>
            <p:cNvSpPr/>
            <p:nvPr/>
          </p:nvSpPr>
          <p:spPr>
            <a:xfrm>
              <a:off x="6804849" y="4165340"/>
              <a:ext cx="1767546" cy="236962"/>
            </a:xfrm>
            <a:custGeom>
              <a:avLst/>
              <a:gdLst/>
              <a:ahLst/>
              <a:cxnLst/>
              <a:rect l="l" t="t" r="r" b="b"/>
              <a:pathLst>
                <a:path w="36289" h="4865" extrusionOk="0">
                  <a:moveTo>
                    <a:pt x="13761" y="1"/>
                  </a:moveTo>
                  <a:cubicBezTo>
                    <a:pt x="13761" y="1"/>
                    <a:pt x="13256" y="8"/>
                    <a:pt x="12484" y="13"/>
                  </a:cubicBezTo>
                  <a:cubicBezTo>
                    <a:pt x="12486" y="1529"/>
                    <a:pt x="13714" y="2754"/>
                    <a:pt x="15228" y="2754"/>
                  </a:cubicBezTo>
                  <a:lnTo>
                    <a:pt x="21061" y="2754"/>
                  </a:lnTo>
                  <a:cubicBezTo>
                    <a:pt x="22577" y="2754"/>
                    <a:pt x="23803" y="1529"/>
                    <a:pt x="23805" y="13"/>
                  </a:cubicBezTo>
                  <a:cubicBezTo>
                    <a:pt x="23033" y="8"/>
                    <a:pt x="22528" y="1"/>
                    <a:pt x="22528" y="1"/>
                  </a:cubicBezTo>
                  <a:close/>
                  <a:moveTo>
                    <a:pt x="1" y="2076"/>
                  </a:moveTo>
                  <a:cubicBezTo>
                    <a:pt x="131" y="2647"/>
                    <a:pt x="279" y="3238"/>
                    <a:pt x="444" y="3847"/>
                  </a:cubicBezTo>
                  <a:cubicBezTo>
                    <a:pt x="444" y="3847"/>
                    <a:pt x="582" y="4657"/>
                    <a:pt x="2221" y="4791"/>
                  </a:cubicBezTo>
                  <a:cubicBezTo>
                    <a:pt x="2286" y="4798"/>
                    <a:pt x="2354" y="4801"/>
                    <a:pt x="2425" y="4804"/>
                  </a:cubicBezTo>
                  <a:cubicBezTo>
                    <a:pt x="2647" y="4814"/>
                    <a:pt x="2850" y="4822"/>
                    <a:pt x="3040" y="4830"/>
                  </a:cubicBezTo>
                  <a:cubicBezTo>
                    <a:pt x="3510" y="4851"/>
                    <a:pt x="3893" y="4864"/>
                    <a:pt x="4210" y="4864"/>
                  </a:cubicBezTo>
                  <a:cubicBezTo>
                    <a:pt x="4833" y="4864"/>
                    <a:pt x="5202" y="4811"/>
                    <a:pt x="5475" y="4644"/>
                  </a:cubicBezTo>
                  <a:cubicBezTo>
                    <a:pt x="5585" y="4577"/>
                    <a:pt x="5683" y="4282"/>
                    <a:pt x="5799" y="3872"/>
                  </a:cubicBezTo>
                  <a:cubicBezTo>
                    <a:pt x="5847" y="3705"/>
                    <a:pt x="5898" y="3522"/>
                    <a:pt x="5953" y="3324"/>
                  </a:cubicBezTo>
                  <a:cubicBezTo>
                    <a:pt x="6063" y="2934"/>
                    <a:pt x="6194" y="2500"/>
                    <a:pt x="6360" y="2076"/>
                  </a:cubicBezTo>
                  <a:close/>
                  <a:moveTo>
                    <a:pt x="29929" y="2076"/>
                  </a:moveTo>
                  <a:cubicBezTo>
                    <a:pt x="30095" y="2500"/>
                    <a:pt x="30226" y="2934"/>
                    <a:pt x="30336" y="3324"/>
                  </a:cubicBezTo>
                  <a:cubicBezTo>
                    <a:pt x="30392" y="3522"/>
                    <a:pt x="30443" y="3705"/>
                    <a:pt x="30491" y="3872"/>
                  </a:cubicBezTo>
                  <a:cubicBezTo>
                    <a:pt x="30606" y="4282"/>
                    <a:pt x="30704" y="4577"/>
                    <a:pt x="30814" y="4644"/>
                  </a:cubicBezTo>
                  <a:cubicBezTo>
                    <a:pt x="31087" y="4811"/>
                    <a:pt x="31456" y="4864"/>
                    <a:pt x="32079" y="4864"/>
                  </a:cubicBezTo>
                  <a:cubicBezTo>
                    <a:pt x="32397" y="4864"/>
                    <a:pt x="32780" y="4851"/>
                    <a:pt x="33250" y="4830"/>
                  </a:cubicBezTo>
                  <a:cubicBezTo>
                    <a:pt x="33439" y="4822"/>
                    <a:pt x="33644" y="4814"/>
                    <a:pt x="33865" y="4804"/>
                  </a:cubicBezTo>
                  <a:cubicBezTo>
                    <a:pt x="33935" y="4801"/>
                    <a:pt x="34003" y="4798"/>
                    <a:pt x="34069" y="4791"/>
                  </a:cubicBezTo>
                  <a:cubicBezTo>
                    <a:pt x="35708" y="4657"/>
                    <a:pt x="35845" y="3847"/>
                    <a:pt x="35845" y="3847"/>
                  </a:cubicBezTo>
                  <a:cubicBezTo>
                    <a:pt x="36010" y="3238"/>
                    <a:pt x="36159" y="2647"/>
                    <a:pt x="36289" y="2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51"/>
            <p:cNvSpPr/>
            <p:nvPr/>
          </p:nvSpPr>
          <p:spPr>
            <a:xfrm>
              <a:off x="6590200" y="2690900"/>
              <a:ext cx="2196952" cy="1705103"/>
            </a:xfrm>
            <a:custGeom>
              <a:avLst/>
              <a:gdLst/>
              <a:ahLst/>
              <a:cxnLst/>
              <a:rect l="l" t="t" r="r" b="b"/>
              <a:pathLst>
                <a:path w="45105" h="35007" extrusionOk="0">
                  <a:moveTo>
                    <a:pt x="42492" y="10676"/>
                  </a:moveTo>
                  <a:cubicBezTo>
                    <a:pt x="41575" y="10676"/>
                    <a:pt x="40695" y="10925"/>
                    <a:pt x="40252" y="11085"/>
                  </a:cubicBezTo>
                  <a:cubicBezTo>
                    <a:pt x="39572" y="11331"/>
                    <a:pt x="39705" y="12121"/>
                    <a:pt x="39727" y="12749"/>
                  </a:cubicBezTo>
                  <a:cubicBezTo>
                    <a:pt x="39730" y="12835"/>
                    <a:pt x="39732" y="12920"/>
                    <a:pt x="39729" y="12997"/>
                  </a:cubicBezTo>
                  <a:cubicBezTo>
                    <a:pt x="39701" y="13645"/>
                    <a:pt x="39455" y="13836"/>
                    <a:pt x="39455" y="13836"/>
                  </a:cubicBezTo>
                  <a:lnTo>
                    <a:pt x="39453" y="13836"/>
                  </a:lnTo>
                  <a:cubicBezTo>
                    <a:pt x="39513" y="14381"/>
                    <a:pt x="39566" y="14944"/>
                    <a:pt x="39611" y="15523"/>
                  </a:cubicBezTo>
                  <a:cubicBezTo>
                    <a:pt x="41050" y="15503"/>
                    <a:pt x="40816" y="15109"/>
                    <a:pt x="40854" y="14613"/>
                  </a:cubicBezTo>
                  <a:cubicBezTo>
                    <a:pt x="40895" y="14118"/>
                    <a:pt x="42204" y="13964"/>
                    <a:pt x="43370" y="13953"/>
                  </a:cubicBezTo>
                  <a:cubicBezTo>
                    <a:pt x="44023" y="13947"/>
                    <a:pt x="44692" y="13400"/>
                    <a:pt x="44923" y="12749"/>
                  </a:cubicBezTo>
                  <a:cubicBezTo>
                    <a:pt x="45104" y="12240"/>
                    <a:pt x="45017" y="11663"/>
                    <a:pt x="44440" y="11233"/>
                  </a:cubicBezTo>
                  <a:cubicBezTo>
                    <a:pt x="43881" y="10815"/>
                    <a:pt x="43177" y="10676"/>
                    <a:pt x="42492" y="10676"/>
                  </a:cubicBezTo>
                  <a:close/>
                  <a:moveTo>
                    <a:pt x="22514" y="979"/>
                  </a:moveTo>
                  <a:cubicBezTo>
                    <a:pt x="22514" y="979"/>
                    <a:pt x="30712" y="1021"/>
                    <a:pt x="34475" y="3025"/>
                  </a:cubicBezTo>
                  <a:cubicBezTo>
                    <a:pt x="34659" y="3122"/>
                    <a:pt x="34831" y="3225"/>
                    <a:pt x="34991" y="3331"/>
                  </a:cubicBezTo>
                  <a:cubicBezTo>
                    <a:pt x="38454" y="5637"/>
                    <a:pt x="37733" y="14873"/>
                    <a:pt x="37733" y="14873"/>
                  </a:cubicBezTo>
                  <a:cubicBezTo>
                    <a:pt x="38300" y="15041"/>
                    <a:pt x="38650" y="15591"/>
                    <a:pt x="38834" y="16298"/>
                  </a:cubicBezTo>
                  <a:cubicBezTo>
                    <a:pt x="38994" y="16910"/>
                    <a:pt x="39029" y="17639"/>
                    <a:pt x="38977" y="18339"/>
                  </a:cubicBezTo>
                  <a:cubicBezTo>
                    <a:pt x="38889" y="19512"/>
                    <a:pt x="38549" y="20602"/>
                    <a:pt x="38122" y="20917"/>
                  </a:cubicBezTo>
                  <a:cubicBezTo>
                    <a:pt x="37108" y="21668"/>
                    <a:pt x="35920" y="22393"/>
                    <a:pt x="33067" y="22667"/>
                  </a:cubicBezTo>
                  <a:cubicBezTo>
                    <a:pt x="33056" y="22668"/>
                    <a:pt x="33044" y="22668"/>
                    <a:pt x="33033" y="22668"/>
                  </a:cubicBezTo>
                  <a:cubicBezTo>
                    <a:pt x="32852" y="22668"/>
                    <a:pt x="32700" y="22534"/>
                    <a:pt x="32684" y="22350"/>
                  </a:cubicBezTo>
                  <a:cubicBezTo>
                    <a:pt x="32657" y="22022"/>
                    <a:pt x="32710" y="21416"/>
                    <a:pt x="33094" y="20377"/>
                  </a:cubicBezTo>
                  <a:lnTo>
                    <a:pt x="33094" y="20377"/>
                  </a:lnTo>
                  <a:cubicBezTo>
                    <a:pt x="33008" y="20465"/>
                    <a:pt x="30229" y="23239"/>
                    <a:pt x="22514" y="23239"/>
                  </a:cubicBezTo>
                  <a:cubicBezTo>
                    <a:pt x="14799" y="23239"/>
                    <a:pt x="12021" y="20465"/>
                    <a:pt x="11934" y="20377"/>
                  </a:cubicBezTo>
                  <a:lnTo>
                    <a:pt x="11934" y="20377"/>
                  </a:lnTo>
                  <a:cubicBezTo>
                    <a:pt x="12320" y="21416"/>
                    <a:pt x="12373" y="22022"/>
                    <a:pt x="12344" y="22350"/>
                  </a:cubicBezTo>
                  <a:cubicBezTo>
                    <a:pt x="12328" y="22534"/>
                    <a:pt x="12176" y="22668"/>
                    <a:pt x="11996" y="22668"/>
                  </a:cubicBezTo>
                  <a:cubicBezTo>
                    <a:pt x="11984" y="22668"/>
                    <a:pt x="11973" y="22668"/>
                    <a:pt x="11961" y="22667"/>
                  </a:cubicBezTo>
                  <a:cubicBezTo>
                    <a:pt x="9109" y="22393"/>
                    <a:pt x="7920" y="21668"/>
                    <a:pt x="6908" y="20917"/>
                  </a:cubicBezTo>
                  <a:cubicBezTo>
                    <a:pt x="6480" y="20602"/>
                    <a:pt x="6139" y="19512"/>
                    <a:pt x="6051" y="18339"/>
                  </a:cubicBezTo>
                  <a:cubicBezTo>
                    <a:pt x="5999" y="17639"/>
                    <a:pt x="6035" y="16910"/>
                    <a:pt x="6196" y="16298"/>
                  </a:cubicBezTo>
                  <a:cubicBezTo>
                    <a:pt x="6379" y="15591"/>
                    <a:pt x="6729" y="15041"/>
                    <a:pt x="7295" y="14873"/>
                  </a:cubicBezTo>
                  <a:cubicBezTo>
                    <a:pt x="7295" y="14873"/>
                    <a:pt x="6574" y="5637"/>
                    <a:pt x="10037" y="3331"/>
                  </a:cubicBezTo>
                  <a:cubicBezTo>
                    <a:pt x="10197" y="3225"/>
                    <a:pt x="10370" y="3122"/>
                    <a:pt x="10553" y="3025"/>
                  </a:cubicBezTo>
                  <a:cubicBezTo>
                    <a:pt x="14317" y="1021"/>
                    <a:pt x="22514" y="979"/>
                    <a:pt x="22514" y="979"/>
                  </a:cubicBezTo>
                  <a:close/>
                  <a:moveTo>
                    <a:pt x="22512" y="1"/>
                  </a:moveTo>
                  <a:cubicBezTo>
                    <a:pt x="22361" y="1"/>
                    <a:pt x="14406" y="8"/>
                    <a:pt x="9748" y="1469"/>
                  </a:cubicBezTo>
                  <a:cubicBezTo>
                    <a:pt x="8871" y="1743"/>
                    <a:pt x="8177" y="2418"/>
                    <a:pt x="7876" y="3287"/>
                  </a:cubicBezTo>
                  <a:cubicBezTo>
                    <a:pt x="7247" y="5103"/>
                    <a:pt x="6166" y="8767"/>
                    <a:pt x="5616" y="13804"/>
                  </a:cubicBezTo>
                  <a:cubicBezTo>
                    <a:pt x="5550" y="13727"/>
                    <a:pt x="5397" y="13499"/>
                    <a:pt x="5374" y="12997"/>
                  </a:cubicBezTo>
                  <a:cubicBezTo>
                    <a:pt x="5372" y="12920"/>
                    <a:pt x="5373" y="12835"/>
                    <a:pt x="5377" y="12749"/>
                  </a:cubicBezTo>
                  <a:cubicBezTo>
                    <a:pt x="5398" y="12121"/>
                    <a:pt x="5533" y="11331"/>
                    <a:pt x="4851" y="11085"/>
                  </a:cubicBezTo>
                  <a:cubicBezTo>
                    <a:pt x="4409" y="10925"/>
                    <a:pt x="3529" y="10676"/>
                    <a:pt x="2611" y="10676"/>
                  </a:cubicBezTo>
                  <a:cubicBezTo>
                    <a:pt x="1927" y="10676"/>
                    <a:pt x="1223" y="10815"/>
                    <a:pt x="663" y="11233"/>
                  </a:cubicBezTo>
                  <a:cubicBezTo>
                    <a:pt x="88" y="11663"/>
                    <a:pt x="0" y="12240"/>
                    <a:pt x="181" y="12749"/>
                  </a:cubicBezTo>
                  <a:cubicBezTo>
                    <a:pt x="412" y="13400"/>
                    <a:pt x="1080" y="13947"/>
                    <a:pt x="1733" y="13953"/>
                  </a:cubicBezTo>
                  <a:cubicBezTo>
                    <a:pt x="2901" y="13964"/>
                    <a:pt x="4208" y="14118"/>
                    <a:pt x="4249" y="14613"/>
                  </a:cubicBezTo>
                  <a:cubicBezTo>
                    <a:pt x="4287" y="15105"/>
                    <a:pt x="4057" y="15496"/>
                    <a:pt x="5454" y="15522"/>
                  </a:cubicBezTo>
                  <a:cubicBezTo>
                    <a:pt x="5394" y="16285"/>
                    <a:pt x="5346" y="17075"/>
                    <a:pt x="5316" y="17891"/>
                  </a:cubicBezTo>
                  <a:cubicBezTo>
                    <a:pt x="5316" y="17891"/>
                    <a:pt x="5287" y="18736"/>
                    <a:pt x="5005" y="19461"/>
                  </a:cubicBezTo>
                  <a:cubicBezTo>
                    <a:pt x="5005" y="19461"/>
                    <a:pt x="5225" y="24878"/>
                    <a:pt x="9578" y="24878"/>
                  </a:cubicBezTo>
                  <a:lnTo>
                    <a:pt x="35450" y="24878"/>
                  </a:lnTo>
                  <a:cubicBezTo>
                    <a:pt x="39805" y="24878"/>
                    <a:pt x="40024" y="19461"/>
                    <a:pt x="40024" y="19461"/>
                  </a:cubicBezTo>
                  <a:cubicBezTo>
                    <a:pt x="39742" y="18736"/>
                    <a:pt x="39713" y="17891"/>
                    <a:pt x="39713" y="17891"/>
                  </a:cubicBezTo>
                  <a:cubicBezTo>
                    <a:pt x="39684" y="17075"/>
                    <a:pt x="39636" y="16285"/>
                    <a:pt x="39575" y="15522"/>
                  </a:cubicBezTo>
                  <a:cubicBezTo>
                    <a:pt x="39530" y="14944"/>
                    <a:pt x="39476" y="14381"/>
                    <a:pt x="39416" y="13836"/>
                  </a:cubicBezTo>
                  <a:cubicBezTo>
                    <a:pt x="38868" y="8781"/>
                    <a:pt x="37784" y="5106"/>
                    <a:pt x="37152" y="3287"/>
                  </a:cubicBezTo>
                  <a:cubicBezTo>
                    <a:pt x="36852" y="2418"/>
                    <a:pt x="36158" y="1743"/>
                    <a:pt x="35282" y="1469"/>
                  </a:cubicBezTo>
                  <a:cubicBezTo>
                    <a:pt x="30624" y="8"/>
                    <a:pt x="22667" y="1"/>
                    <a:pt x="22516" y="1"/>
                  </a:cubicBezTo>
                  <a:cubicBezTo>
                    <a:pt x="22515" y="1"/>
                    <a:pt x="22514" y="1"/>
                    <a:pt x="22514" y="1"/>
                  </a:cubicBezTo>
                  <a:cubicBezTo>
                    <a:pt x="22514" y="1"/>
                    <a:pt x="22513" y="1"/>
                    <a:pt x="22512" y="1"/>
                  </a:cubicBezTo>
                  <a:close/>
                  <a:moveTo>
                    <a:pt x="4511" y="20258"/>
                  </a:moveTo>
                  <a:lnTo>
                    <a:pt x="4511" y="20258"/>
                  </a:lnTo>
                  <a:cubicBezTo>
                    <a:pt x="3903" y="20742"/>
                    <a:pt x="3061" y="23728"/>
                    <a:pt x="3783" y="28977"/>
                  </a:cubicBezTo>
                  <a:cubicBezTo>
                    <a:pt x="3926" y="30011"/>
                    <a:pt x="4128" y="31136"/>
                    <a:pt x="4408" y="32348"/>
                  </a:cubicBezTo>
                  <a:lnTo>
                    <a:pt x="7447" y="32348"/>
                  </a:lnTo>
                  <a:lnTo>
                    <a:pt x="7447" y="32161"/>
                  </a:lnTo>
                  <a:cubicBezTo>
                    <a:pt x="7144" y="31946"/>
                    <a:pt x="6871" y="31679"/>
                    <a:pt x="6628" y="31370"/>
                  </a:cubicBezTo>
                  <a:cubicBezTo>
                    <a:pt x="5965" y="30533"/>
                    <a:pt x="5503" y="29392"/>
                    <a:pt x="5184" y="28157"/>
                  </a:cubicBezTo>
                  <a:cubicBezTo>
                    <a:pt x="4261" y="24594"/>
                    <a:pt x="4511" y="20259"/>
                    <a:pt x="4511" y="20258"/>
                  </a:cubicBezTo>
                  <a:close/>
                  <a:moveTo>
                    <a:pt x="40592" y="20258"/>
                  </a:moveTo>
                  <a:cubicBezTo>
                    <a:pt x="40592" y="20259"/>
                    <a:pt x="40843" y="24594"/>
                    <a:pt x="39920" y="28157"/>
                  </a:cubicBezTo>
                  <a:cubicBezTo>
                    <a:pt x="39600" y="29392"/>
                    <a:pt x="39138" y="30533"/>
                    <a:pt x="38476" y="31370"/>
                  </a:cubicBezTo>
                  <a:cubicBezTo>
                    <a:pt x="38233" y="31679"/>
                    <a:pt x="37959" y="31946"/>
                    <a:pt x="37657" y="32161"/>
                  </a:cubicBezTo>
                  <a:lnTo>
                    <a:pt x="37657" y="32348"/>
                  </a:lnTo>
                  <a:lnTo>
                    <a:pt x="40696" y="32348"/>
                  </a:lnTo>
                  <a:cubicBezTo>
                    <a:pt x="40977" y="31136"/>
                    <a:pt x="41179" y="30011"/>
                    <a:pt x="41320" y="28977"/>
                  </a:cubicBezTo>
                  <a:cubicBezTo>
                    <a:pt x="42043" y="23728"/>
                    <a:pt x="41200" y="20742"/>
                    <a:pt x="40592" y="20258"/>
                  </a:cubicBezTo>
                  <a:close/>
                  <a:moveTo>
                    <a:pt x="12998" y="30272"/>
                  </a:moveTo>
                  <a:cubicBezTo>
                    <a:pt x="11848" y="30272"/>
                    <a:pt x="11190" y="31275"/>
                    <a:pt x="10768" y="32348"/>
                  </a:cubicBezTo>
                  <a:lnTo>
                    <a:pt x="10767" y="32348"/>
                  </a:lnTo>
                  <a:cubicBezTo>
                    <a:pt x="10601" y="32772"/>
                    <a:pt x="10470" y="33206"/>
                    <a:pt x="10360" y="33596"/>
                  </a:cubicBezTo>
                  <a:lnTo>
                    <a:pt x="10360" y="34490"/>
                  </a:lnTo>
                  <a:cubicBezTo>
                    <a:pt x="10576" y="34729"/>
                    <a:pt x="11095" y="35006"/>
                    <a:pt x="12340" y="35006"/>
                  </a:cubicBezTo>
                  <a:lnTo>
                    <a:pt x="32763" y="35006"/>
                  </a:lnTo>
                  <a:cubicBezTo>
                    <a:pt x="34010" y="35006"/>
                    <a:pt x="34527" y="34731"/>
                    <a:pt x="34743" y="34490"/>
                  </a:cubicBezTo>
                  <a:lnTo>
                    <a:pt x="34743" y="33596"/>
                  </a:lnTo>
                  <a:cubicBezTo>
                    <a:pt x="34633" y="33206"/>
                    <a:pt x="34502" y="32772"/>
                    <a:pt x="34336" y="32348"/>
                  </a:cubicBezTo>
                  <a:lnTo>
                    <a:pt x="34335" y="32348"/>
                  </a:lnTo>
                  <a:cubicBezTo>
                    <a:pt x="33913" y="31275"/>
                    <a:pt x="33255" y="30272"/>
                    <a:pt x="32105" y="30272"/>
                  </a:cubicBezTo>
                  <a:cubicBezTo>
                    <a:pt x="32096" y="30272"/>
                    <a:pt x="32086" y="30273"/>
                    <a:pt x="32076" y="30273"/>
                  </a:cubicBezTo>
                  <a:cubicBezTo>
                    <a:pt x="31228" y="30285"/>
                    <a:pt x="30345" y="30288"/>
                    <a:pt x="29556" y="30288"/>
                  </a:cubicBezTo>
                  <a:cubicBezTo>
                    <a:pt x="29061" y="30288"/>
                    <a:pt x="28603" y="30287"/>
                    <a:pt x="28212" y="30285"/>
                  </a:cubicBezTo>
                  <a:cubicBezTo>
                    <a:pt x="28210" y="31801"/>
                    <a:pt x="26982" y="33026"/>
                    <a:pt x="25468" y="33026"/>
                  </a:cubicBezTo>
                  <a:lnTo>
                    <a:pt x="19635" y="33026"/>
                  </a:lnTo>
                  <a:cubicBezTo>
                    <a:pt x="18120" y="33026"/>
                    <a:pt x="16893" y="31801"/>
                    <a:pt x="16891" y="30285"/>
                  </a:cubicBezTo>
                  <a:cubicBezTo>
                    <a:pt x="16501" y="30287"/>
                    <a:pt x="16042" y="30288"/>
                    <a:pt x="15547" y="30288"/>
                  </a:cubicBezTo>
                  <a:cubicBezTo>
                    <a:pt x="14758" y="30288"/>
                    <a:pt x="13876" y="30285"/>
                    <a:pt x="13027" y="30273"/>
                  </a:cubicBezTo>
                  <a:cubicBezTo>
                    <a:pt x="13017" y="30273"/>
                    <a:pt x="13008" y="30272"/>
                    <a:pt x="12998" y="30272"/>
                  </a:cubicBezTo>
                  <a:close/>
                </a:path>
              </a:pathLst>
            </a:custGeom>
            <a:gradFill>
              <a:gsLst>
                <a:gs pos="0">
                  <a:schemeClr val="accen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51"/>
            <p:cNvSpPr/>
            <p:nvPr/>
          </p:nvSpPr>
          <p:spPr>
            <a:xfrm>
              <a:off x="6937720" y="3631713"/>
              <a:ext cx="96490" cy="86212"/>
            </a:xfrm>
            <a:custGeom>
              <a:avLst/>
              <a:gdLst/>
              <a:ahLst/>
              <a:cxnLst/>
              <a:rect l="l" t="t" r="r" b="b"/>
              <a:pathLst>
                <a:path w="1981" h="1770" extrusionOk="0">
                  <a:moveTo>
                    <a:pt x="167" y="1"/>
                  </a:moveTo>
                  <a:cubicBezTo>
                    <a:pt x="1" y="268"/>
                    <a:pt x="32" y="668"/>
                    <a:pt x="32" y="668"/>
                  </a:cubicBezTo>
                  <a:cubicBezTo>
                    <a:pt x="297" y="1108"/>
                    <a:pt x="744" y="1378"/>
                    <a:pt x="1140" y="1539"/>
                  </a:cubicBezTo>
                  <a:cubicBezTo>
                    <a:pt x="1591" y="1724"/>
                    <a:pt x="1981" y="1769"/>
                    <a:pt x="1981" y="1769"/>
                  </a:cubicBezTo>
                  <a:cubicBezTo>
                    <a:pt x="1418" y="1537"/>
                    <a:pt x="1010" y="296"/>
                    <a:pt x="1010" y="296"/>
                  </a:cubicBezTo>
                  <a:cubicBezTo>
                    <a:pt x="980" y="299"/>
                    <a:pt x="951" y="301"/>
                    <a:pt x="922" y="301"/>
                  </a:cubicBezTo>
                  <a:cubicBezTo>
                    <a:pt x="499" y="301"/>
                    <a:pt x="167" y="1"/>
                    <a:pt x="167"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51"/>
            <p:cNvSpPr/>
            <p:nvPr/>
          </p:nvSpPr>
          <p:spPr>
            <a:xfrm>
              <a:off x="6884240" y="3423931"/>
              <a:ext cx="297408" cy="343778"/>
            </a:xfrm>
            <a:custGeom>
              <a:avLst/>
              <a:gdLst/>
              <a:ahLst/>
              <a:cxnLst/>
              <a:rect l="l" t="t" r="r" b="b"/>
              <a:pathLst>
                <a:path w="6106" h="7058" extrusionOk="0">
                  <a:moveTo>
                    <a:pt x="2299" y="754"/>
                  </a:moveTo>
                  <a:cubicBezTo>
                    <a:pt x="2870" y="754"/>
                    <a:pt x="3376" y="1030"/>
                    <a:pt x="3692" y="1453"/>
                  </a:cubicBezTo>
                  <a:cubicBezTo>
                    <a:pt x="3759" y="1543"/>
                    <a:pt x="3818" y="1638"/>
                    <a:pt x="3866" y="1738"/>
                  </a:cubicBezTo>
                  <a:cubicBezTo>
                    <a:pt x="3978" y="1967"/>
                    <a:pt x="4039" y="2223"/>
                    <a:pt x="4039" y="2493"/>
                  </a:cubicBezTo>
                  <a:cubicBezTo>
                    <a:pt x="4039" y="3454"/>
                    <a:pt x="3260" y="4232"/>
                    <a:pt x="2299" y="4232"/>
                  </a:cubicBezTo>
                  <a:lnTo>
                    <a:pt x="2290" y="4232"/>
                  </a:lnTo>
                  <a:cubicBezTo>
                    <a:pt x="1964" y="4230"/>
                    <a:pt x="1658" y="4140"/>
                    <a:pt x="1398" y="3980"/>
                  </a:cubicBezTo>
                  <a:cubicBezTo>
                    <a:pt x="896" y="3675"/>
                    <a:pt x="560" y="3123"/>
                    <a:pt x="560" y="2493"/>
                  </a:cubicBezTo>
                  <a:cubicBezTo>
                    <a:pt x="560" y="2162"/>
                    <a:pt x="652" y="1856"/>
                    <a:pt x="812" y="1591"/>
                  </a:cubicBezTo>
                  <a:cubicBezTo>
                    <a:pt x="1117" y="1091"/>
                    <a:pt x="1670" y="754"/>
                    <a:pt x="2299" y="754"/>
                  </a:cubicBezTo>
                  <a:close/>
                  <a:moveTo>
                    <a:pt x="1265" y="4267"/>
                  </a:moveTo>
                  <a:cubicBezTo>
                    <a:pt x="1265" y="4267"/>
                    <a:pt x="1597" y="4567"/>
                    <a:pt x="2020" y="4567"/>
                  </a:cubicBezTo>
                  <a:cubicBezTo>
                    <a:pt x="2049" y="4567"/>
                    <a:pt x="2078" y="4565"/>
                    <a:pt x="2108" y="4562"/>
                  </a:cubicBezTo>
                  <a:cubicBezTo>
                    <a:pt x="2108" y="4562"/>
                    <a:pt x="2516" y="5803"/>
                    <a:pt x="3079" y="6035"/>
                  </a:cubicBezTo>
                  <a:cubicBezTo>
                    <a:pt x="3079" y="6035"/>
                    <a:pt x="2689" y="5990"/>
                    <a:pt x="2238" y="5805"/>
                  </a:cubicBezTo>
                  <a:cubicBezTo>
                    <a:pt x="1842" y="5644"/>
                    <a:pt x="1395" y="5372"/>
                    <a:pt x="1130" y="4934"/>
                  </a:cubicBezTo>
                  <a:cubicBezTo>
                    <a:pt x="1130" y="4934"/>
                    <a:pt x="1099" y="4534"/>
                    <a:pt x="1265" y="4267"/>
                  </a:cubicBezTo>
                  <a:close/>
                  <a:moveTo>
                    <a:pt x="3942" y="3693"/>
                  </a:moveTo>
                  <a:cubicBezTo>
                    <a:pt x="3944" y="3693"/>
                    <a:pt x="5418" y="6370"/>
                    <a:pt x="4833" y="6370"/>
                  </a:cubicBezTo>
                  <a:cubicBezTo>
                    <a:pt x="4806" y="6370"/>
                    <a:pt x="4775" y="6365"/>
                    <a:pt x="4740" y="6353"/>
                  </a:cubicBezTo>
                  <a:cubicBezTo>
                    <a:pt x="3924" y="6087"/>
                    <a:pt x="2899" y="5826"/>
                    <a:pt x="2570" y="4517"/>
                  </a:cubicBezTo>
                  <a:cubicBezTo>
                    <a:pt x="2570" y="4517"/>
                    <a:pt x="3591" y="4275"/>
                    <a:pt x="3942" y="3693"/>
                  </a:cubicBezTo>
                  <a:close/>
                  <a:moveTo>
                    <a:pt x="1776" y="1"/>
                  </a:moveTo>
                  <a:cubicBezTo>
                    <a:pt x="1083" y="1"/>
                    <a:pt x="477" y="419"/>
                    <a:pt x="195" y="1248"/>
                  </a:cubicBezTo>
                  <a:cubicBezTo>
                    <a:pt x="36" y="1860"/>
                    <a:pt x="0" y="2589"/>
                    <a:pt x="53" y="3289"/>
                  </a:cubicBezTo>
                  <a:cubicBezTo>
                    <a:pt x="53" y="3289"/>
                    <a:pt x="491" y="5330"/>
                    <a:pt x="1470" y="5777"/>
                  </a:cubicBezTo>
                  <a:cubicBezTo>
                    <a:pt x="1639" y="5854"/>
                    <a:pt x="1872" y="5949"/>
                    <a:pt x="2143" y="6054"/>
                  </a:cubicBezTo>
                  <a:cubicBezTo>
                    <a:pt x="3269" y="6482"/>
                    <a:pt x="5062" y="7057"/>
                    <a:pt x="5673" y="7057"/>
                  </a:cubicBezTo>
                  <a:cubicBezTo>
                    <a:pt x="5774" y="7057"/>
                    <a:pt x="5843" y="7041"/>
                    <a:pt x="5870" y="7006"/>
                  </a:cubicBezTo>
                  <a:cubicBezTo>
                    <a:pt x="6105" y="6711"/>
                    <a:pt x="5688" y="5299"/>
                    <a:pt x="4550" y="2469"/>
                  </a:cubicBezTo>
                  <a:cubicBezTo>
                    <a:pt x="4385" y="2056"/>
                    <a:pt x="4190" y="1696"/>
                    <a:pt x="3974" y="1388"/>
                  </a:cubicBezTo>
                  <a:cubicBezTo>
                    <a:pt x="3327" y="461"/>
                    <a:pt x="2504" y="1"/>
                    <a:pt x="1776" y="1"/>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51"/>
            <p:cNvSpPr/>
            <p:nvPr/>
          </p:nvSpPr>
          <p:spPr>
            <a:xfrm>
              <a:off x="7009464" y="3603804"/>
              <a:ext cx="138719" cy="130439"/>
            </a:xfrm>
            <a:custGeom>
              <a:avLst/>
              <a:gdLst/>
              <a:ahLst/>
              <a:cxnLst/>
              <a:rect l="l" t="t" r="r" b="b"/>
              <a:pathLst>
                <a:path w="2848" h="2678" extrusionOk="0">
                  <a:moveTo>
                    <a:pt x="1373" y="0"/>
                  </a:moveTo>
                  <a:cubicBezTo>
                    <a:pt x="1020" y="582"/>
                    <a:pt x="0" y="824"/>
                    <a:pt x="0" y="824"/>
                  </a:cubicBezTo>
                  <a:cubicBezTo>
                    <a:pt x="330" y="2133"/>
                    <a:pt x="1353" y="2394"/>
                    <a:pt x="2169" y="2660"/>
                  </a:cubicBezTo>
                  <a:cubicBezTo>
                    <a:pt x="2204" y="2672"/>
                    <a:pt x="2235" y="2677"/>
                    <a:pt x="2262" y="2677"/>
                  </a:cubicBezTo>
                  <a:cubicBezTo>
                    <a:pt x="2847" y="2677"/>
                    <a:pt x="1373" y="0"/>
                    <a:pt x="1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51"/>
            <p:cNvSpPr/>
            <p:nvPr/>
          </p:nvSpPr>
          <p:spPr>
            <a:xfrm>
              <a:off x="6911516" y="3460656"/>
              <a:ext cx="169405" cy="169405"/>
            </a:xfrm>
            <a:custGeom>
              <a:avLst/>
              <a:gdLst/>
              <a:ahLst/>
              <a:cxnLst/>
              <a:rect l="l" t="t" r="r" b="b"/>
              <a:pathLst>
                <a:path w="3478" h="3478" extrusionOk="0">
                  <a:moveTo>
                    <a:pt x="1030" y="649"/>
                  </a:moveTo>
                  <a:cubicBezTo>
                    <a:pt x="1358" y="649"/>
                    <a:pt x="1626" y="901"/>
                    <a:pt x="1626" y="1209"/>
                  </a:cubicBezTo>
                  <a:lnTo>
                    <a:pt x="1626" y="1220"/>
                  </a:lnTo>
                  <a:cubicBezTo>
                    <a:pt x="1620" y="1527"/>
                    <a:pt x="1354" y="1772"/>
                    <a:pt x="1030" y="1772"/>
                  </a:cubicBezTo>
                  <a:cubicBezTo>
                    <a:pt x="701" y="1772"/>
                    <a:pt x="434" y="1520"/>
                    <a:pt x="434" y="1209"/>
                  </a:cubicBezTo>
                  <a:cubicBezTo>
                    <a:pt x="434" y="1095"/>
                    <a:pt x="471" y="984"/>
                    <a:pt x="536" y="895"/>
                  </a:cubicBezTo>
                  <a:cubicBezTo>
                    <a:pt x="643" y="747"/>
                    <a:pt x="824" y="649"/>
                    <a:pt x="1030" y="649"/>
                  </a:cubicBezTo>
                  <a:close/>
                  <a:moveTo>
                    <a:pt x="2551" y="737"/>
                  </a:moveTo>
                  <a:cubicBezTo>
                    <a:pt x="2778" y="737"/>
                    <a:pt x="2974" y="854"/>
                    <a:pt x="3076" y="1029"/>
                  </a:cubicBezTo>
                  <a:cubicBezTo>
                    <a:pt x="3121" y="1111"/>
                    <a:pt x="3146" y="1201"/>
                    <a:pt x="3146" y="1298"/>
                  </a:cubicBezTo>
                  <a:cubicBezTo>
                    <a:pt x="3146" y="1608"/>
                    <a:pt x="2881" y="1859"/>
                    <a:pt x="2551" y="1859"/>
                  </a:cubicBezTo>
                  <a:cubicBezTo>
                    <a:pt x="2222" y="1859"/>
                    <a:pt x="1955" y="1608"/>
                    <a:pt x="1955" y="1298"/>
                  </a:cubicBezTo>
                  <a:cubicBezTo>
                    <a:pt x="1955" y="1278"/>
                    <a:pt x="1956" y="1260"/>
                    <a:pt x="1958" y="1242"/>
                  </a:cubicBezTo>
                  <a:cubicBezTo>
                    <a:pt x="1989" y="957"/>
                    <a:pt x="2242" y="737"/>
                    <a:pt x="2551" y="737"/>
                  </a:cubicBezTo>
                  <a:close/>
                  <a:moveTo>
                    <a:pt x="1739" y="1948"/>
                  </a:moveTo>
                  <a:cubicBezTo>
                    <a:pt x="2068" y="1948"/>
                    <a:pt x="2335" y="2200"/>
                    <a:pt x="2335" y="2511"/>
                  </a:cubicBezTo>
                  <a:cubicBezTo>
                    <a:pt x="2335" y="2819"/>
                    <a:pt x="2068" y="3071"/>
                    <a:pt x="1739" y="3071"/>
                  </a:cubicBezTo>
                  <a:cubicBezTo>
                    <a:pt x="1409" y="3071"/>
                    <a:pt x="1144" y="2819"/>
                    <a:pt x="1144" y="2511"/>
                  </a:cubicBezTo>
                  <a:cubicBezTo>
                    <a:pt x="1144" y="2355"/>
                    <a:pt x="1210" y="2215"/>
                    <a:pt x="1317" y="2112"/>
                  </a:cubicBezTo>
                  <a:cubicBezTo>
                    <a:pt x="1425" y="2010"/>
                    <a:pt x="1575" y="1948"/>
                    <a:pt x="1739" y="1948"/>
                  </a:cubicBezTo>
                  <a:close/>
                  <a:moveTo>
                    <a:pt x="1739" y="0"/>
                  </a:moveTo>
                  <a:cubicBezTo>
                    <a:pt x="1110" y="0"/>
                    <a:pt x="557" y="335"/>
                    <a:pt x="252" y="837"/>
                  </a:cubicBezTo>
                  <a:cubicBezTo>
                    <a:pt x="91" y="1102"/>
                    <a:pt x="0" y="1408"/>
                    <a:pt x="0" y="1739"/>
                  </a:cubicBezTo>
                  <a:cubicBezTo>
                    <a:pt x="0" y="2368"/>
                    <a:pt x="336" y="2921"/>
                    <a:pt x="837" y="3226"/>
                  </a:cubicBezTo>
                  <a:cubicBezTo>
                    <a:pt x="1097" y="3384"/>
                    <a:pt x="1402" y="3476"/>
                    <a:pt x="1730" y="3478"/>
                  </a:cubicBezTo>
                  <a:lnTo>
                    <a:pt x="1739" y="3478"/>
                  </a:lnTo>
                  <a:cubicBezTo>
                    <a:pt x="2700" y="3478"/>
                    <a:pt x="3477" y="2699"/>
                    <a:pt x="3477" y="1739"/>
                  </a:cubicBezTo>
                  <a:cubicBezTo>
                    <a:pt x="3477" y="1469"/>
                    <a:pt x="3416" y="1212"/>
                    <a:pt x="3306" y="984"/>
                  </a:cubicBezTo>
                  <a:cubicBezTo>
                    <a:pt x="3258" y="884"/>
                    <a:pt x="3199" y="789"/>
                    <a:pt x="3132" y="699"/>
                  </a:cubicBezTo>
                  <a:cubicBezTo>
                    <a:pt x="2816" y="276"/>
                    <a:pt x="2310"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51"/>
            <p:cNvSpPr/>
            <p:nvPr/>
          </p:nvSpPr>
          <p:spPr>
            <a:xfrm>
              <a:off x="6884289" y="3410878"/>
              <a:ext cx="310364" cy="384156"/>
            </a:xfrm>
            <a:custGeom>
              <a:avLst/>
              <a:gdLst/>
              <a:ahLst/>
              <a:cxnLst/>
              <a:rect l="l" t="t" r="r" b="b"/>
              <a:pathLst>
                <a:path w="6372" h="7887" extrusionOk="0">
                  <a:moveTo>
                    <a:pt x="5451" y="4389"/>
                  </a:moveTo>
                  <a:lnTo>
                    <a:pt x="5451" y="4389"/>
                  </a:lnTo>
                  <a:cubicBezTo>
                    <a:pt x="5516" y="4553"/>
                    <a:pt x="5581" y="4719"/>
                    <a:pt x="5648" y="4881"/>
                  </a:cubicBezTo>
                  <a:cubicBezTo>
                    <a:pt x="5581" y="4719"/>
                    <a:pt x="5516" y="4555"/>
                    <a:pt x="5451" y="4389"/>
                  </a:cubicBezTo>
                  <a:close/>
                  <a:moveTo>
                    <a:pt x="1775" y="269"/>
                  </a:moveTo>
                  <a:cubicBezTo>
                    <a:pt x="2502" y="269"/>
                    <a:pt x="3326" y="729"/>
                    <a:pt x="3973" y="1656"/>
                  </a:cubicBezTo>
                  <a:cubicBezTo>
                    <a:pt x="4189" y="1964"/>
                    <a:pt x="4384" y="2324"/>
                    <a:pt x="4549" y="2737"/>
                  </a:cubicBezTo>
                  <a:cubicBezTo>
                    <a:pt x="5687" y="5567"/>
                    <a:pt x="6104" y="6977"/>
                    <a:pt x="5869" y="7273"/>
                  </a:cubicBezTo>
                  <a:cubicBezTo>
                    <a:pt x="5842" y="7308"/>
                    <a:pt x="5772" y="7324"/>
                    <a:pt x="5670" y="7324"/>
                  </a:cubicBezTo>
                  <a:cubicBezTo>
                    <a:pt x="5059" y="7324"/>
                    <a:pt x="3269" y="6749"/>
                    <a:pt x="2142" y="6322"/>
                  </a:cubicBezTo>
                  <a:cubicBezTo>
                    <a:pt x="1871" y="6217"/>
                    <a:pt x="1638" y="6122"/>
                    <a:pt x="1469" y="6045"/>
                  </a:cubicBezTo>
                  <a:cubicBezTo>
                    <a:pt x="719" y="5701"/>
                    <a:pt x="285" y="4420"/>
                    <a:pt x="124" y="3842"/>
                  </a:cubicBezTo>
                  <a:cubicBezTo>
                    <a:pt x="104" y="3659"/>
                    <a:pt x="91" y="3473"/>
                    <a:pt x="83" y="3290"/>
                  </a:cubicBezTo>
                  <a:cubicBezTo>
                    <a:pt x="67" y="2822"/>
                    <a:pt x="84" y="2351"/>
                    <a:pt x="168" y="1892"/>
                  </a:cubicBezTo>
                  <a:cubicBezTo>
                    <a:pt x="220" y="1606"/>
                    <a:pt x="293" y="1319"/>
                    <a:pt x="409" y="1054"/>
                  </a:cubicBezTo>
                  <a:cubicBezTo>
                    <a:pt x="731" y="532"/>
                    <a:pt x="1226" y="269"/>
                    <a:pt x="1775" y="269"/>
                  </a:cubicBezTo>
                  <a:close/>
                  <a:moveTo>
                    <a:pt x="1680" y="0"/>
                  </a:moveTo>
                  <a:cubicBezTo>
                    <a:pt x="1503" y="0"/>
                    <a:pt x="1322" y="30"/>
                    <a:pt x="1157" y="104"/>
                  </a:cubicBezTo>
                  <a:cubicBezTo>
                    <a:pt x="934" y="201"/>
                    <a:pt x="746" y="365"/>
                    <a:pt x="600" y="556"/>
                  </a:cubicBezTo>
                  <a:cubicBezTo>
                    <a:pt x="310" y="943"/>
                    <a:pt x="176" y="1415"/>
                    <a:pt x="94" y="1879"/>
                  </a:cubicBezTo>
                  <a:cubicBezTo>
                    <a:pt x="12" y="2345"/>
                    <a:pt x="1" y="2820"/>
                    <a:pt x="19" y="3293"/>
                  </a:cubicBezTo>
                  <a:cubicBezTo>
                    <a:pt x="43" y="3763"/>
                    <a:pt x="101" y="4234"/>
                    <a:pt x="210" y="4693"/>
                  </a:cubicBezTo>
                  <a:cubicBezTo>
                    <a:pt x="262" y="4924"/>
                    <a:pt x="330" y="5150"/>
                    <a:pt x="415" y="5372"/>
                  </a:cubicBezTo>
                  <a:cubicBezTo>
                    <a:pt x="501" y="5591"/>
                    <a:pt x="601" y="5808"/>
                    <a:pt x="753" y="5995"/>
                  </a:cubicBezTo>
                  <a:cubicBezTo>
                    <a:pt x="823" y="6093"/>
                    <a:pt x="927" y="6163"/>
                    <a:pt x="1020" y="6231"/>
                  </a:cubicBezTo>
                  <a:cubicBezTo>
                    <a:pt x="1115" y="6300"/>
                    <a:pt x="1212" y="6367"/>
                    <a:pt x="1308" y="6433"/>
                  </a:cubicBezTo>
                  <a:cubicBezTo>
                    <a:pt x="1505" y="6565"/>
                    <a:pt x="1704" y="6690"/>
                    <a:pt x="1910" y="6804"/>
                  </a:cubicBezTo>
                  <a:cubicBezTo>
                    <a:pt x="2323" y="7033"/>
                    <a:pt x="2760" y="7215"/>
                    <a:pt x="3208" y="7360"/>
                  </a:cubicBezTo>
                  <a:cubicBezTo>
                    <a:pt x="3843" y="7565"/>
                    <a:pt x="4497" y="7698"/>
                    <a:pt x="5157" y="7790"/>
                  </a:cubicBezTo>
                  <a:cubicBezTo>
                    <a:pt x="5409" y="7825"/>
                    <a:pt x="5677" y="7857"/>
                    <a:pt x="5961" y="7885"/>
                  </a:cubicBezTo>
                  <a:lnTo>
                    <a:pt x="5987" y="7885"/>
                  </a:lnTo>
                  <a:cubicBezTo>
                    <a:pt x="5995" y="7885"/>
                    <a:pt x="6004" y="7886"/>
                    <a:pt x="6012" y="7886"/>
                  </a:cubicBezTo>
                  <a:cubicBezTo>
                    <a:pt x="6012" y="7886"/>
                    <a:pt x="6012" y="7886"/>
                    <a:pt x="6013" y="7886"/>
                  </a:cubicBezTo>
                  <a:lnTo>
                    <a:pt x="6013" y="7886"/>
                  </a:lnTo>
                  <a:cubicBezTo>
                    <a:pt x="6006" y="7886"/>
                    <a:pt x="6000" y="7886"/>
                    <a:pt x="5994" y="7886"/>
                  </a:cubicBezTo>
                  <a:cubicBezTo>
                    <a:pt x="5993" y="7886"/>
                    <a:pt x="5992" y="7886"/>
                    <a:pt x="5991" y="7886"/>
                  </a:cubicBezTo>
                  <a:lnTo>
                    <a:pt x="5991" y="7886"/>
                  </a:lnTo>
                  <a:cubicBezTo>
                    <a:pt x="5997" y="7887"/>
                    <a:pt x="6002" y="7887"/>
                    <a:pt x="6008" y="7887"/>
                  </a:cubicBezTo>
                  <a:cubicBezTo>
                    <a:pt x="6037" y="7887"/>
                    <a:pt x="6066" y="7883"/>
                    <a:pt x="6094" y="7876"/>
                  </a:cubicBezTo>
                  <a:lnTo>
                    <a:pt x="6094" y="7876"/>
                  </a:lnTo>
                  <a:cubicBezTo>
                    <a:pt x="6067" y="7882"/>
                    <a:pt x="6040" y="7886"/>
                    <a:pt x="6013" y="7886"/>
                  </a:cubicBezTo>
                  <a:lnTo>
                    <a:pt x="6013" y="7886"/>
                  </a:lnTo>
                  <a:cubicBezTo>
                    <a:pt x="6184" y="7877"/>
                    <a:pt x="6329" y="7746"/>
                    <a:pt x="6344" y="7568"/>
                  </a:cubicBezTo>
                  <a:cubicBezTo>
                    <a:pt x="6371" y="7240"/>
                    <a:pt x="6319" y="6634"/>
                    <a:pt x="5934" y="5595"/>
                  </a:cubicBezTo>
                  <a:lnTo>
                    <a:pt x="5932" y="5594"/>
                  </a:lnTo>
                  <a:cubicBezTo>
                    <a:pt x="5892" y="5485"/>
                    <a:pt x="5848" y="5372"/>
                    <a:pt x="5800" y="5253"/>
                  </a:cubicBezTo>
                  <a:lnTo>
                    <a:pt x="5800" y="5253"/>
                  </a:lnTo>
                  <a:cubicBezTo>
                    <a:pt x="5817" y="5294"/>
                    <a:pt x="5836" y="5335"/>
                    <a:pt x="5853" y="5376"/>
                  </a:cubicBezTo>
                  <a:cubicBezTo>
                    <a:pt x="6025" y="5813"/>
                    <a:pt x="6179" y="6258"/>
                    <a:pt x="6277" y="6719"/>
                  </a:cubicBezTo>
                  <a:cubicBezTo>
                    <a:pt x="6325" y="6948"/>
                    <a:pt x="6360" y="7181"/>
                    <a:pt x="6361" y="7417"/>
                  </a:cubicBezTo>
                  <a:cubicBezTo>
                    <a:pt x="6361" y="7531"/>
                    <a:pt x="6364" y="7659"/>
                    <a:pt x="6285" y="7752"/>
                  </a:cubicBezTo>
                  <a:cubicBezTo>
                    <a:pt x="6238" y="7814"/>
                    <a:pt x="6169" y="7857"/>
                    <a:pt x="6094" y="7876"/>
                  </a:cubicBezTo>
                  <a:lnTo>
                    <a:pt x="6094" y="7876"/>
                  </a:lnTo>
                  <a:cubicBezTo>
                    <a:pt x="6170" y="7858"/>
                    <a:pt x="6240" y="7815"/>
                    <a:pt x="6288" y="7753"/>
                  </a:cubicBezTo>
                  <a:cubicBezTo>
                    <a:pt x="6367" y="7660"/>
                    <a:pt x="6366" y="7531"/>
                    <a:pt x="6367" y="7417"/>
                  </a:cubicBezTo>
                  <a:cubicBezTo>
                    <a:pt x="6367" y="7181"/>
                    <a:pt x="6333" y="6946"/>
                    <a:pt x="6288" y="6716"/>
                  </a:cubicBezTo>
                  <a:cubicBezTo>
                    <a:pt x="6193" y="6255"/>
                    <a:pt x="6041" y="5807"/>
                    <a:pt x="5872" y="5369"/>
                  </a:cubicBezTo>
                  <a:cubicBezTo>
                    <a:pt x="5509" y="4501"/>
                    <a:pt x="5205" y="3611"/>
                    <a:pt x="4829" y="2746"/>
                  </a:cubicBezTo>
                  <a:cubicBezTo>
                    <a:pt x="4640" y="2314"/>
                    <a:pt x="4433" y="1889"/>
                    <a:pt x="4170" y="1496"/>
                  </a:cubicBezTo>
                  <a:cubicBezTo>
                    <a:pt x="3910" y="1103"/>
                    <a:pt x="3594" y="738"/>
                    <a:pt x="3201" y="470"/>
                  </a:cubicBezTo>
                  <a:cubicBezTo>
                    <a:pt x="2809" y="201"/>
                    <a:pt x="2343" y="34"/>
                    <a:pt x="1867" y="10"/>
                  </a:cubicBezTo>
                  <a:cubicBezTo>
                    <a:pt x="1805" y="4"/>
                    <a:pt x="1743"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51"/>
            <p:cNvSpPr/>
            <p:nvPr/>
          </p:nvSpPr>
          <p:spPr>
            <a:xfrm>
              <a:off x="6995339" y="2803558"/>
              <a:ext cx="1415002" cy="620485"/>
            </a:xfrm>
            <a:custGeom>
              <a:avLst/>
              <a:gdLst/>
              <a:ahLst/>
              <a:cxnLst/>
              <a:rect l="l" t="t" r="r" b="b"/>
              <a:pathLst>
                <a:path w="29051" h="12739" extrusionOk="0">
                  <a:moveTo>
                    <a:pt x="9356" y="79"/>
                  </a:moveTo>
                  <a:lnTo>
                    <a:pt x="9356" y="79"/>
                  </a:lnTo>
                  <a:cubicBezTo>
                    <a:pt x="7086" y="164"/>
                    <a:pt x="4496" y="325"/>
                    <a:pt x="2691" y="635"/>
                  </a:cubicBezTo>
                  <a:lnTo>
                    <a:pt x="2691" y="636"/>
                  </a:lnTo>
                  <a:cubicBezTo>
                    <a:pt x="2691" y="636"/>
                    <a:pt x="312" y="2270"/>
                    <a:pt x="175" y="5613"/>
                  </a:cubicBezTo>
                  <a:cubicBezTo>
                    <a:pt x="122" y="6879"/>
                    <a:pt x="1" y="8208"/>
                    <a:pt x="63" y="9371"/>
                  </a:cubicBezTo>
                  <a:lnTo>
                    <a:pt x="9356" y="79"/>
                  </a:lnTo>
                  <a:close/>
                  <a:moveTo>
                    <a:pt x="15922" y="0"/>
                  </a:moveTo>
                  <a:lnTo>
                    <a:pt x="14234" y="1688"/>
                  </a:lnTo>
                  <a:lnTo>
                    <a:pt x="3185" y="12738"/>
                  </a:lnTo>
                  <a:lnTo>
                    <a:pt x="8433" y="12738"/>
                  </a:lnTo>
                  <a:lnTo>
                    <a:pt x="14233" y="6939"/>
                  </a:lnTo>
                  <a:lnTo>
                    <a:pt x="21005" y="167"/>
                  </a:lnTo>
                  <a:cubicBezTo>
                    <a:pt x="19104" y="61"/>
                    <a:pt x="17218" y="17"/>
                    <a:pt x="15922" y="0"/>
                  </a:cubicBezTo>
                  <a:close/>
                  <a:moveTo>
                    <a:pt x="27826" y="3388"/>
                  </a:moveTo>
                  <a:lnTo>
                    <a:pt x="18475" y="12738"/>
                  </a:lnTo>
                  <a:lnTo>
                    <a:pt x="25531" y="12738"/>
                  </a:lnTo>
                  <a:cubicBezTo>
                    <a:pt x="29050" y="12738"/>
                    <a:pt x="28430" y="8954"/>
                    <a:pt x="28293" y="5613"/>
                  </a:cubicBezTo>
                  <a:cubicBezTo>
                    <a:pt x="28259" y="4761"/>
                    <a:pt x="28078" y="4020"/>
                    <a:pt x="27826" y="338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51"/>
            <p:cNvSpPr/>
            <p:nvPr/>
          </p:nvSpPr>
          <p:spPr>
            <a:xfrm>
              <a:off x="6912246" y="2738535"/>
              <a:ext cx="1552746" cy="1066646"/>
            </a:xfrm>
            <a:custGeom>
              <a:avLst/>
              <a:gdLst/>
              <a:ahLst/>
              <a:cxnLst/>
              <a:rect l="l" t="t" r="r" b="b"/>
              <a:pathLst>
                <a:path w="31879" h="21899" extrusionOk="0">
                  <a:moveTo>
                    <a:pt x="16019" y="1321"/>
                  </a:moveTo>
                  <a:cubicBezTo>
                    <a:pt x="16835" y="1321"/>
                    <a:pt x="23798" y="1340"/>
                    <a:pt x="27483" y="1970"/>
                  </a:cubicBezTo>
                  <a:lnTo>
                    <a:pt x="27483" y="1971"/>
                  </a:lnTo>
                  <a:cubicBezTo>
                    <a:pt x="27483" y="1971"/>
                    <a:pt x="29862" y="3605"/>
                    <a:pt x="29999" y="6948"/>
                  </a:cubicBezTo>
                  <a:cubicBezTo>
                    <a:pt x="30136" y="10289"/>
                    <a:pt x="30756" y="14073"/>
                    <a:pt x="27237" y="14073"/>
                  </a:cubicBezTo>
                  <a:lnTo>
                    <a:pt x="4642" y="14073"/>
                  </a:lnTo>
                  <a:cubicBezTo>
                    <a:pt x="1123" y="14073"/>
                    <a:pt x="1745" y="10289"/>
                    <a:pt x="1881" y="6948"/>
                  </a:cubicBezTo>
                  <a:cubicBezTo>
                    <a:pt x="2018" y="3605"/>
                    <a:pt x="4397" y="1971"/>
                    <a:pt x="4397" y="1971"/>
                  </a:cubicBezTo>
                  <a:lnTo>
                    <a:pt x="4397" y="1970"/>
                  </a:lnTo>
                  <a:cubicBezTo>
                    <a:pt x="8081" y="1340"/>
                    <a:pt x="15046" y="1321"/>
                    <a:pt x="15862" y="1321"/>
                  </a:cubicBezTo>
                  <a:cubicBezTo>
                    <a:pt x="15913" y="1321"/>
                    <a:pt x="15940" y="1321"/>
                    <a:pt x="15940" y="1321"/>
                  </a:cubicBezTo>
                  <a:cubicBezTo>
                    <a:pt x="15940" y="1321"/>
                    <a:pt x="15967" y="1321"/>
                    <a:pt x="16019" y="1321"/>
                  </a:cubicBezTo>
                  <a:close/>
                  <a:moveTo>
                    <a:pt x="15940" y="1"/>
                  </a:moveTo>
                  <a:cubicBezTo>
                    <a:pt x="15940" y="1"/>
                    <a:pt x="7742" y="43"/>
                    <a:pt x="3980" y="2047"/>
                  </a:cubicBezTo>
                  <a:cubicBezTo>
                    <a:pt x="3796" y="2144"/>
                    <a:pt x="3623" y="2247"/>
                    <a:pt x="3462" y="2353"/>
                  </a:cubicBezTo>
                  <a:cubicBezTo>
                    <a:pt x="1" y="4659"/>
                    <a:pt x="721" y="13895"/>
                    <a:pt x="721" y="13895"/>
                  </a:cubicBezTo>
                  <a:cubicBezTo>
                    <a:pt x="844" y="13858"/>
                    <a:pt x="975" y="13839"/>
                    <a:pt x="1117" y="13839"/>
                  </a:cubicBezTo>
                  <a:cubicBezTo>
                    <a:pt x="1137" y="13839"/>
                    <a:pt x="1156" y="13839"/>
                    <a:pt x="1175" y="13840"/>
                  </a:cubicBezTo>
                  <a:cubicBezTo>
                    <a:pt x="1704" y="13863"/>
                    <a:pt x="2146" y="14010"/>
                    <a:pt x="2524" y="14247"/>
                  </a:cubicBezTo>
                  <a:cubicBezTo>
                    <a:pt x="3014" y="14557"/>
                    <a:pt x="3396" y="15017"/>
                    <a:pt x="3719" y="15563"/>
                  </a:cubicBezTo>
                  <a:cubicBezTo>
                    <a:pt x="4992" y="16140"/>
                    <a:pt x="15940" y="16565"/>
                    <a:pt x="15940" y="16565"/>
                  </a:cubicBezTo>
                  <a:cubicBezTo>
                    <a:pt x="15940" y="16565"/>
                    <a:pt x="26888" y="16140"/>
                    <a:pt x="28160" y="15563"/>
                  </a:cubicBezTo>
                  <a:cubicBezTo>
                    <a:pt x="28485" y="15017"/>
                    <a:pt x="28867" y="14557"/>
                    <a:pt x="29356" y="14247"/>
                  </a:cubicBezTo>
                  <a:cubicBezTo>
                    <a:pt x="29734" y="14010"/>
                    <a:pt x="30177" y="13863"/>
                    <a:pt x="30704" y="13840"/>
                  </a:cubicBezTo>
                  <a:cubicBezTo>
                    <a:pt x="30723" y="13839"/>
                    <a:pt x="30743" y="13839"/>
                    <a:pt x="30762" y="13839"/>
                  </a:cubicBezTo>
                  <a:cubicBezTo>
                    <a:pt x="30905" y="13839"/>
                    <a:pt x="31037" y="13858"/>
                    <a:pt x="31159" y="13895"/>
                  </a:cubicBezTo>
                  <a:cubicBezTo>
                    <a:pt x="31158" y="13895"/>
                    <a:pt x="31879" y="4659"/>
                    <a:pt x="28417" y="2353"/>
                  </a:cubicBezTo>
                  <a:cubicBezTo>
                    <a:pt x="28256" y="2247"/>
                    <a:pt x="28085" y="2144"/>
                    <a:pt x="27900" y="2047"/>
                  </a:cubicBezTo>
                  <a:cubicBezTo>
                    <a:pt x="24137" y="43"/>
                    <a:pt x="15940" y="1"/>
                    <a:pt x="15940" y="1"/>
                  </a:cubicBezTo>
                  <a:close/>
                  <a:moveTo>
                    <a:pt x="14352" y="16685"/>
                  </a:moveTo>
                  <a:cubicBezTo>
                    <a:pt x="13461" y="16685"/>
                    <a:pt x="12954" y="17964"/>
                    <a:pt x="13489" y="18858"/>
                  </a:cubicBezTo>
                  <a:lnTo>
                    <a:pt x="14986" y="21358"/>
                  </a:lnTo>
                  <a:cubicBezTo>
                    <a:pt x="15202" y="21719"/>
                    <a:pt x="15526" y="21899"/>
                    <a:pt x="15849" y="21899"/>
                  </a:cubicBezTo>
                  <a:cubicBezTo>
                    <a:pt x="16172" y="21899"/>
                    <a:pt x="16496" y="21719"/>
                    <a:pt x="16712" y="21358"/>
                  </a:cubicBezTo>
                  <a:lnTo>
                    <a:pt x="18210" y="18858"/>
                  </a:lnTo>
                  <a:cubicBezTo>
                    <a:pt x="18746" y="17964"/>
                    <a:pt x="18239" y="16685"/>
                    <a:pt x="17347" y="1668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51"/>
            <p:cNvSpPr/>
            <p:nvPr/>
          </p:nvSpPr>
          <p:spPr>
            <a:xfrm>
              <a:off x="7543140" y="3296954"/>
              <a:ext cx="282211" cy="254058"/>
            </a:xfrm>
            <a:custGeom>
              <a:avLst/>
              <a:gdLst/>
              <a:ahLst/>
              <a:cxnLst/>
              <a:rect l="l" t="t" r="r" b="b"/>
              <a:pathLst>
                <a:path w="5794" h="5216" extrusionOk="0">
                  <a:moveTo>
                    <a:pt x="2896" y="1"/>
                  </a:moveTo>
                  <a:cubicBezTo>
                    <a:pt x="2573" y="1"/>
                    <a:pt x="2249" y="181"/>
                    <a:pt x="2033" y="542"/>
                  </a:cubicBezTo>
                  <a:lnTo>
                    <a:pt x="536" y="3042"/>
                  </a:lnTo>
                  <a:cubicBezTo>
                    <a:pt x="1" y="3937"/>
                    <a:pt x="508" y="5216"/>
                    <a:pt x="1399" y="5216"/>
                  </a:cubicBezTo>
                  <a:lnTo>
                    <a:pt x="4394" y="5216"/>
                  </a:lnTo>
                  <a:cubicBezTo>
                    <a:pt x="5286" y="5216"/>
                    <a:pt x="5793" y="3937"/>
                    <a:pt x="5257" y="3042"/>
                  </a:cubicBezTo>
                  <a:lnTo>
                    <a:pt x="3759" y="542"/>
                  </a:lnTo>
                  <a:cubicBezTo>
                    <a:pt x="3543" y="181"/>
                    <a:pt x="3219" y="1"/>
                    <a:pt x="2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51"/>
            <p:cNvSpPr/>
            <p:nvPr/>
          </p:nvSpPr>
          <p:spPr>
            <a:xfrm>
              <a:off x="7608065" y="3569563"/>
              <a:ext cx="157520" cy="150847"/>
            </a:xfrm>
            <a:custGeom>
              <a:avLst/>
              <a:gdLst/>
              <a:ahLst/>
              <a:cxnLst/>
              <a:rect l="l" t="t" r="r" b="b"/>
              <a:pathLst>
                <a:path w="3234" h="3097" extrusionOk="0">
                  <a:moveTo>
                    <a:pt x="1616" y="415"/>
                  </a:moveTo>
                  <a:cubicBezTo>
                    <a:pt x="2242" y="415"/>
                    <a:pt x="2750" y="922"/>
                    <a:pt x="2750" y="1548"/>
                  </a:cubicBezTo>
                  <a:cubicBezTo>
                    <a:pt x="2750" y="2174"/>
                    <a:pt x="2242" y="2682"/>
                    <a:pt x="1616" y="2682"/>
                  </a:cubicBezTo>
                  <a:cubicBezTo>
                    <a:pt x="990" y="2682"/>
                    <a:pt x="483" y="2174"/>
                    <a:pt x="483" y="1548"/>
                  </a:cubicBezTo>
                  <a:cubicBezTo>
                    <a:pt x="483" y="922"/>
                    <a:pt x="990" y="415"/>
                    <a:pt x="1616" y="415"/>
                  </a:cubicBezTo>
                  <a:close/>
                  <a:moveTo>
                    <a:pt x="1616" y="1"/>
                  </a:moveTo>
                  <a:cubicBezTo>
                    <a:pt x="724" y="1"/>
                    <a:pt x="1" y="693"/>
                    <a:pt x="1" y="1548"/>
                  </a:cubicBezTo>
                  <a:cubicBezTo>
                    <a:pt x="1" y="2403"/>
                    <a:pt x="724" y="3096"/>
                    <a:pt x="1616" y="3096"/>
                  </a:cubicBezTo>
                  <a:cubicBezTo>
                    <a:pt x="2509" y="3096"/>
                    <a:pt x="3233" y="2403"/>
                    <a:pt x="3233" y="1548"/>
                  </a:cubicBezTo>
                  <a:cubicBezTo>
                    <a:pt x="3233" y="693"/>
                    <a:pt x="2509" y="1"/>
                    <a:pt x="16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51"/>
            <p:cNvSpPr/>
            <p:nvPr/>
          </p:nvSpPr>
          <p:spPr>
            <a:xfrm>
              <a:off x="8342167" y="3631713"/>
              <a:ext cx="96490" cy="86212"/>
            </a:xfrm>
            <a:custGeom>
              <a:avLst/>
              <a:gdLst/>
              <a:ahLst/>
              <a:cxnLst/>
              <a:rect l="l" t="t" r="r" b="b"/>
              <a:pathLst>
                <a:path w="1981" h="1770" extrusionOk="0">
                  <a:moveTo>
                    <a:pt x="1814" y="1"/>
                  </a:moveTo>
                  <a:cubicBezTo>
                    <a:pt x="1814" y="1"/>
                    <a:pt x="1482" y="301"/>
                    <a:pt x="1059" y="301"/>
                  </a:cubicBezTo>
                  <a:cubicBezTo>
                    <a:pt x="1030" y="301"/>
                    <a:pt x="1001" y="299"/>
                    <a:pt x="971" y="296"/>
                  </a:cubicBezTo>
                  <a:cubicBezTo>
                    <a:pt x="971" y="296"/>
                    <a:pt x="563" y="1537"/>
                    <a:pt x="0" y="1769"/>
                  </a:cubicBezTo>
                  <a:cubicBezTo>
                    <a:pt x="0" y="1769"/>
                    <a:pt x="391" y="1724"/>
                    <a:pt x="841" y="1539"/>
                  </a:cubicBezTo>
                  <a:cubicBezTo>
                    <a:pt x="1239" y="1378"/>
                    <a:pt x="1684" y="1108"/>
                    <a:pt x="1951" y="668"/>
                  </a:cubicBezTo>
                  <a:cubicBezTo>
                    <a:pt x="1951" y="668"/>
                    <a:pt x="1981" y="268"/>
                    <a:pt x="1814"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51"/>
            <p:cNvSpPr/>
            <p:nvPr/>
          </p:nvSpPr>
          <p:spPr>
            <a:xfrm>
              <a:off x="8194782" y="3423980"/>
              <a:ext cx="297457" cy="343680"/>
            </a:xfrm>
            <a:custGeom>
              <a:avLst/>
              <a:gdLst/>
              <a:ahLst/>
              <a:cxnLst/>
              <a:rect l="l" t="t" r="r" b="b"/>
              <a:pathLst>
                <a:path w="6107" h="7056" extrusionOk="0">
                  <a:moveTo>
                    <a:pt x="3807" y="753"/>
                  </a:moveTo>
                  <a:cubicBezTo>
                    <a:pt x="4437" y="753"/>
                    <a:pt x="4988" y="1090"/>
                    <a:pt x="5294" y="1590"/>
                  </a:cubicBezTo>
                  <a:cubicBezTo>
                    <a:pt x="5455" y="1855"/>
                    <a:pt x="5545" y="2161"/>
                    <a:pt x="5545" y="2492"/>
                  </a:cubicBezTo>
                  <a:cubicBezTo>
                    <a:pt x="5545" y="3122"/>
                    <a:pt x="5209" y="3674"/>
                    <a:pt x="4708" y="3979"/>
                  </a:cubicBezTo>
                  <a:cubicBezTo>
                    <a:pt x="4448" y="4139"/>
                    <a:pt x="4143" y="4229"/>
                    <a:pt x="3815" y="4231"/>
                  </a:cubicBezTo>
                  <a:lnTo>
                    <a:pt x="3807" y="4231"/>
                  </a:lnTo>
                  <a:cubicBezTo>
                    <a:pt x="2845" y="4231"/>
                    <a:pt x="2068" y="3453"/>
                    <a:pt x="2068" y="2492"/>
                  </a:cubicBezTo>
                  <a:cubicBezTo>
                    <a:pt x="2068" y="2222"/>
                    <a:pt x="2129" y="1966"/>
                    <a:pt x="2241" y="1737"/>
                  </a:cubicBezTo>
                  <a:cubicBezTo>
                    <a:pt x="2287" y="1637"/>
                    <a:pt x="2347" y="1542"/>
                    <a:pt x="2414" y="1452"/>
                  </a:cubicBezTo>
                  <a:cubicBezTo>
                    <a:pt x="2730" y="1029"/>
                    <a:pt x="3236" y="753"/>
                    <a:pt x="3807" y="753"/>
                  </a:cubicBezTo>
                  <a:close/>
                  <a:moveTo>
                    <a:pt x="4840" y="4266"/>
                  </a:moveTo>
                  <a:cubicBezTo>
                    <a:pt x="5007" y="4533"/>
                    <a:pt x="4977" y="4933"/>
                    <a:pt x="4977" y="4933"/>
                  </a:cubicBezTo>
                  <a:cubicBezTo>
                    <a:pt x="4710" y="5371"/>
                    <a:pt x="4265" y="5643"/>
                    <a:pt x="3867" y="5804"/>
                  </a:cubicBezTo>
                  <a:cubicBezTo>
                    <a:pt x="3417" y="5989"/>
                    <a:pt x="3026" y="6034"/>
                    <a:pt x="3026" y="6034"/>
                  </a:cubicBezTo>
                  <a:cubicBezTo>
                    <a:pt x="3589" y="5802"/>
                    <a:pt x="3997" y="4561"/>
                    <a:pt x="3997" y="4561"/>
                  </a:cubicBezTo>
                  <a:cubicBezTo>
                    <a:pt x="4026" y="4564"/>
                    <a:pt x="4055" y="4565"/>
                    <a:pt x="4083" y="4565"/>
                  </a:cubicBezTo>
                  <a:cubicBezTo>
                    <a:pt x="4507" y="4565"/>
                    <a:pt x="4840" y="4266"/>
                    <a:pt x="4840" y="4266"/>
                  </a:cubicBezTo>
                  <a:close/>
                  <a:moveTo>
                    <a:pt x="2163" y="3692"/>
                  </a:moveTo>
                  <a:cubicBezTo>
                    <a:pt x="2515" y="4274"/>
                    <a:pt x="3535" y="4516"/>
                    <a:pt x="3535" y="4516"/>
                  </a:cubicBezTo>
                  <a:cubicBezTo>
                    <a:pt x="3206" y="5825"/>
                    <a:pt x="2181" y="6086"/>
                    <a:pt x="1366" y="6352"/>
                  </a:cubicBezTo>
                  <a:cubicBezTo>
                    <a:pt x="1330" y="6364"/>
                    <a:pt x="1299" y="6369"/>
                    <a:pt x="1273" y="6369"/>
                  </a:cubicBezTo>
                  <a:cubicBezTo>
                    <a:pt x="687" y="6369"/>
                    <a:pt x="2163" y="3692"/>
                    <a:pt x="2163" y="3692"/>
                  </a:cubicBezTo>
                  <a:close/>
                  <a:moveTo>
                    <a:pt x="4330" y="0"/>
                  </a:moveTo>
                  <a:cubicBezTo>
                    <a:pt x="3603" y="0"/>
                    <a:pt x="2779" y="460"/>
                    <a:pt x="2132" y="1387"/>
                  </a:cubicBezTo>
                  <a:cubicBezTo>
                    <a:pt x="1915" y="1695"/>
                    <a:pt x="1720" y="2055"/>
                    <a:pt x="1555" y="2468"/>
                  </a:cubicBezTo>
                  <a:cubicBezTo>
                    <a:pt x="417" y="5298"/>
                    <a:pt x="0" y="6710"/>
                    <a:pt x="235" y="7004"/>
                  </a:cubicBezTo>
                  <a:cubicBezTo>
                    <a:pt x="263" y="7039"/>
                    <a:pt x="332" y="7055"/>
                    <a:pt x="434" y="7055"/>
                  </a:cubicBezTo>
                  <a:cubicBezTo>
                    <a:pt x="1046" y="7055"/>
                    <a:pt x="2837" y="6480"/>
                    <a:pt x="3962" y="6053"/>
                  </a:cubicBezTo>
                  <a:cubicBezTo>
                    <a:pt x="4233" y="5948"/>
                    <a:pt x="4467" y="5853"/>
                    <a:pt x="4635" y="5776"/>
                  </a:cubicBezTo>
                  <a:cubicBezTo>
                    <a:pt x="5614" y="5327"/>
                    <a:pt x="6054" y="3288"/>
                    <a:pt x="6054" y="3288"/>
                  </a:cubicBezTo>
                  <a:cubicBezTo>
                    <a:pt x="6106" y="2588"/>
                    <a:pt x="6071" y="1859"/>
                    <a:pt x="5910" y="1247"/>
                  </a:cubicBezTo>
                  <a:cubicBezTo>
                    <a:pt x="5628" y="418"/>
                    <a:pt x="5023" y="0"/>
                    <a:pt x="4330" y="0"/>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51"/>
            <p:cNvSpPr/>
            <p:nvPr/>
          </p:nvSpPr>
          <p:spPr>
            <a:xfrm>
              <a:off x="8228243" y="3603804"/>
              <a:ext cx="138768" cy="130439"/>
            </a:xfrm>
            <a:custGeom>
              <a:avLst/>
              <a:gdLst/>
              <a:ahLst/>
              <a:cxnLst/>
              <a:rect l="l" t="t" r="r" b="b"/>
              <a:pathLst>
                <a:path w="2849" h="2678" extrusionOk="0">
                  <a:moveTo>
                    <a:pt x="1476" y="0"/>
                  </a:moveTo>
                  <a:cubicBezTo>
                    <a:pt x="1476" y="0"/>
                    <a:pt x="0" y="2677"/>
                    <a:pt x="586" y="2677"/>
                  </a:cubicBezTo>
                  <a:cubicBezTo>
                    <a:pt x="612" y="2677"/>
                    <a:pt x="643" y="2672"/>
                    <a:pt x="679" y="2660"/>
                  </a:cubicBezTo>
                  <a:cubicBezTo>
                    <a:pt x="1494" y="2394"/>
                    <a:pt x="2519" y="2133"/>
                    <a:pt x="2848" y="824"/>
                  </a:cubicBezTo>
                  <a:cubicBezTo>
                    <a:pt x="2848" y="824"/>
                    <a:pt x="1828" y="582"/>
                    <a:pt x="1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51"/>
            <p:cNvSpPr/>
            <p:nvPr/>
          </p:nvSpPr>
          <p:spPr>
            <a:xfrm>
              <a:off x="8295507" y="3460656"/>
              <a:ext cx="169405" cy="169405"/>
            </a:xfrm>
            <a:custGeom>
              <a:avLst/>
              <a:gdLst/>
              <a:ahLst/>
              <a:cxnLst/>
              <a:rect l="l" t="t" r="r" b="b"/>
              <a:pathLst>
                <a:path w="3478" h="3478" extrusionOk="0">
                  <a:moveTo>
                    <a:pt x="2448" y="649"/>
                  </a:moveTo>
                  <a:cubicBezTo>
                    <a:pt x="2653" y="649"/>
                    <a:pt x="2834" y="747"/>
                    <a:pt x="2943" y="895"/>
                  </a:cubicBezTo>
                  <a:cubicBezTo>
                    <a:pt x="3007" y="984"/>
                    <a:pt x="3043" y="1095"/>
                    <a:pt x="3043" y="1209"/>
                  </a:cubicBezTo>
                  <a:cubicBezTo>
                    <a:pt x="3043" y="1520"/>
                    <a:pt x="2776" y="1772"/>
                    <a:pt x="2448" y="1772"/>
                  </a:cubicBezTo>
                  <a:cubicBezTo>
                    <a:pt x="2123" y="1772"/>
                    <a:pt x="1859" y="1527"/>
                    <a:pt x="1852" y="1220"/>
                  </a:cubicBezTo>
                  <a:lnTo>
                    <a:pt x="1852" y="1209"/>
                  </a:lnTo>
                  <a:cubicBezTo>
                    <a:pt x="1852" y="899"/>
                    <a:pt x="2119" y="649"/>
                    <a:pt x="2448" y="649"/>
                  </a:cubicBezTo>
                  <a:close/>
                  <a:moveTo>
                    <a:pt x="926" y="737"/>
                  </a:moveTo>
                  <a:cubicBezTo>
                    <a:pt x="1235" y="737"/>
                    <a:pt x="1488" y="957"/>
                    <a:pt x="1520" y="1242"/>
                  </a:cubicBezTo>
                  <a:cubicBezTo>
                    <a:pt x="1521" y="1260"/>
                    <a:pt x="1522" y="1278"/>
                    <a:pt x="1522" y="1298"/>
                  </a:cubicBezTo>
                  <a:cubicBezTo>
                    <a:pt x="1522" y="1608"/>
                    <a:pt x="1255" y="1859"/>
                    <a:pt x="926" y="1859"/>
                  </a:cubicBezTo>
                  <a:cubicBezTo>
                    <a:pt x="598" y="1859"/>
                    <a:pt x="331" y="1608"/>
                    <a:pt x="331" y="1298"/>
                  </a:cubicBezTo>
                  <a:cubicBezTo>
                    <a:pt x="331" y="1201"/>
                    <a:pt x="356" y="1111"/>
                    <a:pt x="401" y="1029"/>
                  </a:cubicBezTo>
                  <a:cubicBezTo>
                    <a:pt x="503" y="854"/>
                    <a:pt x="700" y="737"/>
                    <a:pt x="926" y="737"/>
                  </a:cubicBezTo>
                  <a:close/>
                  <a:moveTo>
                    <a:pt x="1739" y="1948"/>
                  </a:moveTo>
                  <a:cubicBezTo>
                    <a:pt x="1903" y="1948"/>
                    <a:pt x="2052" y="2010"/>
                    <a:pt x="2161" y="2112"/>
                  </a:cubicBezTo>
                  <a:cubicBezTo>
                    <a:pt x="2267" y="2215"/>
                    <a:pt x="2335" y="2355"/>
                    <a:pt x="2335" y="2511"/>
                  </a:cubicBezTo>
                  <a:cubicBezTo>
                    <a:pt x="2335" y="2819"/>
                    <a:pt x="2068" y="3071"/>
                    <a:pt x="1739" y="3071"/>
                  </a:cubicBezTo>
                  <a:cubicBezTo>
                    <a:pt x="1409" y="3071"/>
                    <a:pt x="1142" y="2819"/>
                    <a:pt x="1142" y="2511"/>
                  </a:cubicBezTo>
                  <a:cubicBezTo>
                    <a:pt x="1142" y="2200"/>
                    <a:pt x="1409" y="1948"/>
                    <a:pt x="1739" y="1948"/>
                  </a:cubicBezTo>
                  <a:close/>
                  <a:moveTo>
                    <a:pt x="1739" y="0"/>
                  </a:moveTo>
                  <a:cubicBezTo>
                    <a:pt x="1168" y="0"/>
                    <a:pt x="662" y="275"/>
                    <a:pt x="345" y="699"/>
                  </a:cubicBezTo>
                  <a:cubicBezTo>
                    <a:pt x="279" y="789"/>
                    <a:pt x="219" y="882"/>
                    <a:pt x="171" y="984"/>
                  </a:cubicBezTo>
                  <a:cubicBezTo>
                    <a:pt x="61" y="1212"/>
                    <a:pt x="0" y="1469"/>
                    <a:pt x="0" y="1739"/>
                  </a:cubicBezTo>
                  <a:cubicBezTo>
                    <a:pt x="0" y="2700"/>
                    <a:pt x="777" y="3478"/>
                    <a:pt x="1739" y="3478"/>
                  </a:cubicBezTo>
                  <a:lnTo>
                    <a:pt x="1747" y="3478"/>
                  </a:lnTo>
                  <a:cubicBezTo>
                    <a:pt x="2075" y="3476"/>
                    <a:pt x="2380" y="3384"/>
                    <a:pt x="2640" y="3226"/>
                  </a:cubicBezTo>
                  <a:cubicBezTo>
                    <a:pt x="3141" y="2921"/>
                    <a:pt x="3477" y="2368"/>
                    <a:pt x="3477" y="1739"/>
                  </a:cubicBezTo>
                  <a:cubicBezTo>
                    <a:pt x="3477" y="1408"/>
                    <a:pt x="3387" y="1100"/>
                    <a:pt x="3226" y="837"/>
                  </a:cubicBezTo>
                  <a:cubicBezTo>
                    <a:pt x="2920" y="335"/>
                    <a:pt x="2368"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51"/>
            <p:cNvSpPr/>
            <p:nvPr/>
          </p:nvSpPr>
          <p:spPr>
            <a:xfrm>
              <a:off x="8181777" y="3410878"/>
              <a:ext cx="310315" cy="384156"/>
            </a:xfrm>
            <a:custGeom>
              <a:avLst/>
              <a:gdLst/>
              <a:ahLst/>
              <a:cxnLst/>
              <a:rect l="l" t="t" r="r" b="b"/>
              <a:pathLst>
                <a:path w="6371" h="7887" extrusionOk="0">
                  <a:moveTo>
                    <a:pt x="920" y="4389"/>
                  </a:moveTo>
                  <a:cubicBezTo>
                    <a:pt x="855" y="4555"/>
                    <a:pt x="790" y="4719"/>
                    <a:pt x="724" y="4883"/>
                  </a:cubicBezTo>
                  <a:cubicBezTo>
                    <a:pt x="790" y="4719"/>
                    <a:pt x="855" y="4553"/>
                    <a:pt x="920" y="4389"/>
                  </a:cubicBezTo>
                  <a:close/>
                  <a:moveTo>
                    <a:pt x="4596" y="269"/>
                  </a:moveTo>
                  <a:cubicBezTo>
                    <a:pt x="5146" y="269"/>
                    <a:pt x="5640" y="532"/>
                    <a:pt x="5962" y="1054"/>
                  </a:cubicBezTo>
                  <a:cubicBezTo>
                    <a:pt x="6078" y="1319"/>
                    <a:pt x="6153" y="1606"/>
                    <a:pt x="6204" y="1892"/>
                  </a:cubicBezTo>
                  <a:cubicBezTo>
                    <a:pt x="6289" y="2351"/>
                    <a:pt x="6304" y="2822"/>
                    <a:pt x="6290" y="3290"/>
                  </a:cubicBezTo>
                  <a:cubicBezTo>
                    <a:pt x="6281" y="3475"/>
                    <a:pt x="6267" y="3659"/>
                    <a:pt x="6248" y="3842"/>
                  </a:cubicBezTo>
                  <a:cubicBezTo>
                    <a:pt x="6086" y="4420"/>
                    <a:pt x="5654" y="5701"/>
                    <a:pt x="4902" y="6045"/>
                  </a:cubicBezTo>
                  <a:cubicBezTo>
                    <a:pt x="4734" y="6122"/>
                    <a:pt x="4500" y="6217"/>
                    <a:pt x="4229" y="6322"/>
                  </a:cubicBezTo>
                  <a:cubicBezTo>
                    <a:pt x="3104" y="6749"/>
                    <a:pt x="1313" y="7324"/>
                    <a:pt x="701" y="7324"/>
                  </a:cubicBezTo>
                  <a:cubicBezTo>
                    <a:pt x="599" y="7324"/>
                    <a:pt x="530" y="7308"/>
                    <a:pt x="502" y="7273"/>
                  </a:cubicBezTo>
                  <a:cubicBezTo>
                    <a:pt x="267" y="6979"/>
                    <a:pt x="684" y="5567"/>
                    <a:pt x="1822" y="2737"/>
                  </a:cubicBezTo>
                  <a:cubicBezTo>
                    <a:pt x="1987" y="2324"/>
                    <a:pt x="2182" y="1964"/>
                    <a:pt x="2399" y="1656"/>
                  </a:cubicBezTo>
                  <a:cubicBezTo>
                    <a:pt x="3045" y="729"/>
                    <a:pt x="3869" y="269"/>
                    <a:pt x="4596" y="269"/>
                  </a:cubicBezTo>
                  <a:close/>
                  <a:moveTo>
                    <a:pt x="4691" y="0"/>
                  </a:moveTo>
                  <a:cubicBezTo>
                    <a:pt x="4628" y="0"/>
                    <a:pt x="4566" y="4"/>
                    <a:pt x="4505" y="10"/>
                  </a:cubicBezTo>
                  <a:cubicBezTo>
                    <a:pt x="4028" y="34"/>
                    <a:pt x="3562" y="201"/>
                    <a:pt x="3170" y="470"/>
                  </a:cubicBezTo>
                  <a:cubicBezTo>
                    <a:pt x="2777" y="738"/>
                    <a:pt x="2462" y="1103"/>
                    <a:pt x="2201" y="1496"/>
                  </a:cubicBezTo>
                  <a:cubicBezTo>
                    <a:pt x="1938" y="1889"/>
                    <a:pt x="1732" y="2316"/>
                    <a:pt x="1542" y="2747"/>
                  </a:cubicBezTo>
                  <a:cubicBezTo>
                    <a:pt x="1168" y="3611"/>
                    <a:pt x="864" y="4501"/>
                    <a:pt x="499" y="5369"/>
                  </a:cubicBezTo>
                  <a:cubicBezTo>
                    <a:pt x="331" y="5807"/>
                    <a:pt x="178" y="6255"/>
                    <a:pt x="83" y="6716"/>
                  </a:cubicBezTo>
                  <a:cubicBezTo>
                    <a:pt x="38" y="6946"/>
                    <a:pt x="4" y="7181"/>
                    <a:pt x="4" y="7417"/>
                  </a:cubicBezTo>
                  <a:cubicBezTo>
                    <a:pt x="6" y="7531"/>
                    <a:pt x="4" y="7660"/>
                    <a:pt x="83" y="7753"/>
                  </a:cubicBezTo>
                  <a:cubicBezTo>
                    <a:pt x="132" y="7816"/>
                    <a:pt x="204" y="7859"/>
                    <a:pt x="281" y="7877"/>
                  </a:cubicBezTo>
                  <a:lnTo>
                    <a:pt x="281" y="7877"/>
                  </a:lnTo>
                  <a:cubicBezTo>
                    <a:pt x="204" y="7858"/>
                    <a:pt x="134" y="7814"/>
                    <a:pt x="86" y="7752"/>
                  </a:cubicBezTo>
                  <a:cubicBezTo>
                    <a:pt x="7" y="7659"/>
                    <a:pt x="10" y="7531"/>
                    <a:pt x="10" y="7417"/>
                  </a:cubicBezTo>
                  <a:cubicBezTo>
                    <a:pt x="11" y="7181"/>
                    <a:pt x="47" y="6948"/>
                    <a:pt x="95" y="6719"/>
                  </a:cubicBezTo>
                  <a:cubicBezTo>
                    <a:pt x="192" y="6258"/>
                    <a:pt x="348" y="5813"/>
                    <a:pt x="519" y="5376"/>
                  </a:cubicBezTo>
                  <a:cubicBezTo>
                    <a:pt x="536" y="5335"/>
                    <a:pt x="554" y="5294"/>
                    <a:pt x="571" y="5253"/>
                  </a:cubicBezTo>
                  <a:lnTo>
                    <a:pt x="571" y="5253"/>
                  </a:lnTo>
                  <a:cubicBezTo>
                    <a:pt x="523" y="5372"/>
                    <a:pt x="479" y="5485"/>
                    <a:pt x="440" y="5594"/>
                  </a:cubicBezTo>
                  <a:lnTo>
                    <a:pt x="437" y="5595"/>
                  </a:lnTo>
                  <a:cubicBezTo>
                    <a:pt x="52" y="6634"/>
                    <a:pt x="0" y="7240"/>
                    <a:pt x="27" y="7570"/>
                  </a:cubicBezTo>
                  <a:cubicBezTo>
                    <a:pt x="43" y="7745"/>
                    <a:pt x="185" y="7876"/>
                    <a:pt x="355" y="7886"/>
                  </a:cubicBezTo>
                  <a:lnTo>
                    <a:pt x="355" y="7886"/>
                  </a:lnTo>
                  <a:cubicBezTo>
                    <a:pt x="357" y="7886"/>
                    <a:pt x="359" y="7886"/>
                    <a:pt x="360" y="7886"/>
                  </a:cubicBezTo>
                  <a:cubicBezTo>
                    <a:pt x="369" y="7886"/>
                    <a:pt x="377" y="7885"/>
                    <a:pt x="386" y="7885"/>
                  </a:cubicBezTo>
                  <a:lnTo>
                    <a:pt x="410" y="7885"/>
                  </a:lnTo>
                  <a:cubicBezTo>
                    <a:pt x="694" y="7857"/>
                    <a:pt x="963" y="7825"/>
                    <a:pt x="1216" y="7790"/>
                  </a:cubicBezTo>
                  <a:cubicBezTo>
                    <a:pt x="1874" y="7698"/>
                    <a:pt x="2529" y="7565"/>
                    <a:pt x="3163" y="7360"/>
                  </a:cubicBezTo>
                  <a:cubicBezTo>
                    <a:pt x="3611" y="7215"/>
                    <a:pt x="4048" y="7033"/>
                    <a:pt x="4461" y="6804"/>
                  </a:cubicBezTo>
                  <a:cubicBezTo>
                    <a:pt x="4667" y="6690"/>
                    <a:pt x="4867" y="6565"/>
                    <a:pt x="5063" y="6435"/>
                  </a:cubicBezTo>
                  <a:cubicBezTo>
                    <a:pt x="5159" y="6367"/>
                    <a:pt x="5257" y="6300"/>
                    <a:pt x="5351" y="6231"/>
                  </a:cubicBezTo>
                  <a:cubicBezTo>
                    <a:pt x="5445" y="6163"/>
                    <a:pt x="5548" y="6093"/>
                    <a:pt x="5619" y="5995"/>
                  </a:cubicBezTo>
                  <a:cubicBezTo>
                    <a:pt x="5770" y="5808"/>
                    <a:pt x="5870" y="5591"/>
                    <a:pt x="5956" y="5372"/>
                  </a:cubicBezTo>
                  <a:cubicBezTo>
                    <a:pt x="6041" y="5150"/>
                    <a:pt x="6109" y="4924"/>
                    <a:pt x="6161" y="4693"/>
                  </a:cubicBezTo>
                  <a:cubicBezTo>
                    <a:pt x="6270" y="4234"/>
                    <a:pt x="6328" y="3763"/>
                    <a:pt x="6354" y="3293"/>
                  </a:cubicBezTo>
                  <a:cubicBezTo>
                    <a:pt x="6371" y="2820"/>
                    <a:pt x="6359" y="2345"/>
                    <a:pt x="6277" y="1879"/>
                  </a:cubicBezTo>
                  <a:cubicBezTo>
                    <a:pt x="6195" y="1415"/>
                    <a:pt x="6061" y="943"/>
                    <a:pt x="5771" y="556"/>
                  </a:cubicBezTo>
                  <a:cubicBezTo>
                    <a:pt x="5626" y="365"/>
                    <a:pt x="5438" y="201"/>
                    <a:pt x="5214" y="104"/>
                  </a:cubicBezTo>
                  <a:cubicBezTo>
                    <a:pt x="5049" y="30"/>
                    <a:pt x="4869" y="0"/>
                    <a:pt x="4691" y="0"/>
                  </a:cubicBezTo>
                  <a:close/>
                  <a:moveTo>
                    <a:pt x="281" y="7877"/>
                  </a:moveTo>
                  <a:cubicBezTo>
                    <a:pt x="308" y="7883"/>
                    <a:pt x="336" y="7887"/>
                    <a:pt x="363" y="7887"/>
                  </a:cubicBezTo>
                  <a:cubicBezTo>
                    <a:pt x="369" y="7887"/>
                    <a:pt x="375" y="7887"/>
                    <a:pt x="380" y="7886"/>
                  </a:cubicBezTo>
                  <a:lnTo>
                    <a:pt x="380" y="7886"/>
                  </a:lnTo>
                  <a:cubicBezTo>
                    <a:pt x="378" y="7886"/>
                    <a:pt x="377" y="7886"/>
                    <a:pt x="375" y="7886"/>
                  </a:cubicBezTo>
                  <a:cubicBezTo>
                    <a:pt x="368" y="7886"/>
                    <a:pt x="361" y="7886"/>
                    <a:pt x="355" y="7886"/>
                  </a:cubicBezTo>
                  <a:lnTo>
                    <a:pt x="355" y="7886"/>
                  </a:lnTo>
                  <a:cubicBezTo>
                    <a:pt x="330" y="7885"/>
                    <a:pt x="305" y="7882"/>
                    <a:pt x="281" y="78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4" name="Google Shape;774;p51"/>
          <p:cNvSpPr/>
          <p:nvPr/>
        </p:nvSpPr>
        <p:spPr>
          <a:xfrm>
            <a:off x="10405703" y="1596243"/>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51"/>
          <p:cNvSpPr/>
          <p:nvPr/>
        </p:nvSpPr>
        <p:spPr>
          <a:xfrm>
            <a:off x="10003997" y="2031659"/>
            <a:ext cx="481763" cy="107449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51"/>
          <p:cNvSpPr/>
          <p:nvPr/>
        </p:nvSpPr>
        <p:spPr>
          <a:xfrm>
            <a:off x="8737778" y="2619514"/>
            <a:ext cx="267723" cy="34084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51"/>
          <p:cNvSpPr/>
          <p:nvPr/>
        </p:nvSpPr>
        <p:spPr>
          <a:xfrm>
            <a:off x="6707328" y="3079893"/>
            <a:ext cx="1438201" cy="34081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51"/>
          <p:cNvSpPr/>
          <p:nvPr/>
        </p:nvSpPr>
        <p:spPr>
          <a:xfrm>
            <a:off x="8014135" y="1282416"/>
            <a:ext cx="1675785" cy="39713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B5B66297-1A54-4501-A744-9A94E6B68674}"/>
              </a:ext>
            </a:extLst>
          </p:cNvPr>
          <p:cNvSpPr txBox="1"/>
          <p:nvPr/>
        </p:nvSpPr>
        <p:spPr>
          <a:xfrm>
            <a:off x="1114703" y="243157"/>
            <a:ext cx="6237900" cy="4579395"/>
          </a:xfrm>
          <a:prstGeom prst="rect">
            <a:avLst/>
          </a:prstGeom>
          <a:noFill/>
        </p:spPr>
        <p:txBody>
          <a:bodyPr wrap="square" rtlCol="0">
            <a:spAutoFit/>
          </a:bodyPr>
          <a:lstStyle/>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A vehicle transmission is a system that controls power delivery, adjusting speed and torque.</a:t>
            </a:r>
          </a:p>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The main components of our transmission assembly are Transaxle, Motor and its Controller</a:t>
            </a:r>
          </a:p>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In an electric golf cart, the traditional gearbox is replaced by a transaxle, which combines a differential gear and a single-speed reduction system.</a:t>
            </a:r>
          </a:p>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The transaxle's reduction system slows down the power from the electric motor to the wheels.</a:t>
            </a:r>
          </a:p>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Extensive market research led to the selection of a transaxle with a 10.45 reduction ratio for the electric golf cart.</a:t>
            </a:r>
          </a:p>
          <a:p>
            <a:pPr marL="285750" indent="-285750">
              <a:lnSpc>
                <a:spcPct val="150000"/>
              </a:lnSpc>
              <a:buBlip>
                <a:blip r:embed="rId3">
                  <a:extLst>
                    <a:ext uri="{96DAC541-7B7A-43D3-8B79-37D633B846F1}">
                      <asvg:svgBlip xmlns:asvg="http://schemas.microsoft.com/office/drawing/2016/SVG/main" r:embed="rId4"/>
                    </a:ext>
                  </a:extLst>
                </a:blip>
              </a:buBlip>
            </a:pPr>
            <a:r>
              <a:rPr lang="en-US" sz="1400" dirty="0">
                <a:solidFill>
                  <a:srgbClr val="1B667A"/>
                </a:solidFill>
                <a:latin typeface="SF Pro Text" panose="00000500000000000000" pitchFamily="2" charset="0"/>
                <a:ea typeface="SF Pro Text" panose="00000500000000000000" pitchFamily="2" charset="0"/>
              </a:rPr>
              <a:t>This ratio was chosen because it provided the ideal speed performance for the cart, even under a full passenger load, and was cost-effective. </a:t>
            </a:r>
            <a:endParaRPr lang="en-IN" sz="1400" dirty="0">
              <a:solidFill>
                <a:srgbClr val="1B667A"/>
              </a:solidFill>
              <a:latin typeface="SF Pro Text" panose="00000500000000000000" pitchFamily="2" charset="0"/>
              <a:ea typeface="SF Pro Text"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grpSp>
        <p:nvGrpSpPr>
          <p:cNvPr id="742" name="Google Shape;742;p51"/>
          <p:cNvGrpSpPr/>
          <p:nvPr/>
        </p:nvGrpSpPr>
        <p:grpSpPr>
          <a:xfrm>
            <a:off x="7013590" y="2367961"/>
            <a:ext cx="4411544" cy="2782519"/>
            <a:chOff x="4352672" y="2230153"/>
            <a:chExt cx="4618934" cy="2913327"/>
          </a:xfrm>
        </p:grpSpPr>
        <p:sp>
          <p:nvSpPr>
            <p:cNvPr id="743" name="Google Shape;743;p51"/>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51"/>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45" name="Google Shape;745;p51"/>
          <p:cNvSpPr/>
          <p:nvPr/>
        </p:nvSpPr>
        <p:spPr>
          <a:xfrm>
            <a:off x="7299153" y="3746876"/>
            <a:ext cx="587634" cy="74812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46" name="Google Shape;746;p51"/>
          <p:cNvGrpSpPr/>
          <p:nvPr/>
        </p:nvGrpSpPr>
        <p:grpSpPr>
          <a:xfrm>
            <a:off x="7839849" y="2391969"/>
            <a:ext cx="2696758" cy="2365192"/>
            <a:chOff x="6590200" y="2690900"/>
            <a:chExt cx="2196952" cy="1926837"/>
          </a:xfrm>
        </p:grpSpPr>
        <p:sp>
          <p:nvSpPr>
            <p:cNvPr id="747" name="Google Shape;747;p51"/>
            <p:cNvSpPr/>
            <p:nvPr/>
          </p:nvSpPr>
          <p:spPr>
            <a:xfrm>
              <a:off x="8282405" y="4353931"/>
              <a:ext cx="141934" cy="136673"/>
            </a:xfrm>
            <a:custGeom>
              <a:avLst/>
              <a:gdLst/>
              <a:ahLst/>
              <a:cxnLst/>
              <a:rect l="l" t="t" r="r" b="b"/>
              <a:pathLst>
                <a:path w="2914" h="2806" extrusionOk="0">
                  <a:moveTo>
                    <a:pt x="155" y="0"/>
                  </a:moveTo>
                  <a:lnTo>
                    <a:pt x="155" y="0"/>
                  </a:lnTo>
                  <a:cubicBezTo>
                    <a:pt x="155" y="0"/>
                    <a:pt x="166" y="163"/>
                    <a:pt x="0" y="346"/>
                  </a:cubicBezTo>
                  <a:lnTo>
                    <a:pt x="0" y="1587"/>
                  </a:lnTo>
                  <a:cubicBezTo>
                    <a:pt x="0" y="2257"/>
                    <a:pt x="549" y="2806"/>
                    <a:pt x="1217" y="2806"/>
                  </a:cubicBezTo>
                  <a:lnTo>
                    <a:pt x="2515" y="2806"/>
                  </a:lnTo>
                  <a:cubicBezTo>
                    <a:pt x="2654" y="2806"/>
                    <a:pt x="2789" y="2782"/>
                    <a:pt x="2914" y="2737"/>
                  </a:cubicBezTo>
                  <a:lnTo>
                    <a:pt x="2914" y="958"/>
                  </a:lnTo>
                  <a:cubicBezTo>
                    <a:pt x="2444" y="979"/>
                    <a:pt x="2061" y="992"/>
                    <a:pt x="1743" y="992"/>
                  </a:cubicBezTo>
                  <a:cubicBezTo>
                    <a:pt x="1120" y="992"/>
                    <a:pt x="751" y="939"/>
                    <a:pt x="478" y="772"/>
                  </a:cubicBezTo>
                  <a:cubicBezTo>
                    <a:pt x="368" y="705"/>
                    <a:pt x="270" y="41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51"/>
            <p:cNvSpPr/>
            <p:nvPr/>
          </p:nvSpPr>
          <p:spPr>
            <a:xfrm>
              <a:off x="8282405" y="4327191"/>
              <a:ext cx="8085" cy="43642"/>
            </a:xfrm>
            <a:custGeom>
              <a:avLst/>
              <a:gdLst/>
              <a:ahLst/>
              <a:cxnLst/>
              <a:rect l="l" t="t" r="r" b="b"/>
              <a:pathLst>
                <a:path w="166" h="896" extrusionOk="0">
                  <a:moveTo>
                    <a:pt x="0" y="1"/>
                  </a:moveTo>
                  <a:lnTo>
                    <a:pt x="0" y="895"/>
                  </a:lnTo>
                  <a:cubicBezTo>
                    <a:pt x="166" y="712"/>
                    <a:pt x="155" y="549"/>
                    <a:pt x="155" y="549"/>
                  </a:cubicBezTo>
                  <a:cubicBezTo>
                    <a:pt x="107" y="382"/>
                    <a:pt x="56" y="19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51"/>
            <p:cNvSpPr/>
            <p:nvPr/>
          </p:nvSpPr>
          <p:spPr>
            <a:xfrm>
              <a:off x="8410064" y="4257346"/>
              <a:ext cx="14271" cy="9108"/>
            </a:xfrm>
            <a:custGeom>
              <a:avLst/>
              <a:gdLst/>
              <a:ahLst/>
              <a:cxnLst/>
              <a:rect l="l" t="t" r="r" b="b"/>
              <a:pathLst>
                <a:path w="293" h="187" extrusionOk="0">
                  <a:moveTo>
                    <a:pt x="293" y="0"/>
                  </a:moveTo>
                  <a:cubicBezTo>
                    <a:pt x="199" y="69"/>
                    <a:pt x="100" y="130"/>
                    <a:pt x="0" y="187"/>
                  </a:cubicBezTo>
                  <a:lnTo>
                    <a:pt x="293" y="187"/>
                  </a:lnTo>
                  <a:lnTo>
                    <a:pt x="293" y="0"/>
                  </a:ln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51"/>
            <p:cNvSpPr/>
            <p:nvPr/>
          </p:nvSpPr>
          <p:spPr>
            <a:xfrm>
              <a:off x="6952867" y="4257346"/>
              <a:ext cx="14369" cy="9108"/>
            </a:xfrm>
            <a:custGeom>
              <a:avLst/>
              <a:gdLst/>
              <a:ahLst/>
              <a:cxnLst/>
              <a:rect l="l" t="t" r="r" b="b"/>
              <a:pathLst>
                <a:path w="295" h="187" extrusionOk="0">
                  <a:moveTo>
                    <a:pt x="1" y="0"/>
                  </a:moveTo>
                  <a:lnTo>
                    <a:pt x="1" y="187"/>
                  </a:lnTo>
                  <a:lnTo>
                    <a:pt x="295" y="187"/>
                  </a:lnTo>
                  <a:cubicBezTo>
                    <a:pt x="193" y="130"/>
                    <a:pt x="95" y="69"/>
                    <a:pt x="1" y="0"/>
                  </a:cubicBez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51"/>
            <p:cNvSpPr/>
            <p:nvPr/>
          </p:nvSpPr>
          <p:spPr>
            <a:xfrm>
              <a:off x="7093385" y="3496504"/>
              <a:ext cx="1190460" cy="326340"/>
            </a:xfrm>
            <a:custGeom>
              <a:avLst/>
              <a:gdLst/>
              <a:ahLst/>
              <a:cxnLst/>
              <a:rect l="l" t="t" r="r" b="b"/>
              <a:pathLst>
                <a:path w="24441" h="6700" extrusionOk="0">
                  <a:moveTo>
                    <a:pt x="0" y="1"/>
                  </a:moveTo>
                  <a:lnTo>
                    <a:pt x="0" y="1"/>
                  </a:lnTo>
                  <a:cubicBezTo>
                    <a:pt x="576" y="969"/>
                    <a:pt x="967" y="2204"/>
                    <a:pt x="1441" y="3331"/>
                  </a:cubicBezTo>
                  <a:cubicBezTo>
                    <a:pt x="1514" y="3511"/>
                    <a:pt x="1582" y="3677"/>
                    <a:pt x="1640" y="3836"/>
                  </a:cubicBezTo>
                  <a:lnTo>
                    <a:pt x="1641" y="3837"/>
                  </a:lnTo>
                  <a:cubicBezTo>
                    <a:pt x="1728" y="3925"/>
                    <a:pt x="4507" y="6699"/>
                    <a:pt x="12221" y="6699"/>
                  </a:cubicBezTo>
                  <a:cubicBezTo>
                    <a:pt x="19936" y="6699"/>
                    <a:pt x="22715" y="3925"/>
                    <a:pt x="22801" y="3837"/>
                  </a:cubicBezTo>
                  <a:lnTo>
                    <a:pt x="22803" y="3836"/>
                  </a:lnTo>
                  <a:cubicBezTo>
                    <a:pt x="22859" y="3677"/>
                    <a:pt x="22927" y="3511"/>
                    <a:pt x="23002" y="3331"/>
                  </a:cubicBezTo>
                  <a:cubicBezTo>
                    <a:pt x="23474" y="2204"/>
                    <a:pt x="23865" y="969"/>
                    <a:pt x="24441" y="1"/>
                  </a:cubicBezTo>
                  <a:lnTo>
                    <a:pt x="24441" y="1"/>
                  </a:lnTo>
                  <a:cubicBezTo>
                    <a:pt x="23169" y="578"/>
                    <a:pt x="12221" y="1003"/>
                    <a:pt x="12221" y="1003"/>
                  </a:cubicBezTo>
                  <a:cubicBezTo>
                    <a:pt x="12221" y="1003"/>
                    <a:pt x="1273" y="57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51"/>
            <p:cNvSpPr/>
            <p:nvPr/>
          </p:nvSpPr>
          <p:spPr>
            <a:xfrm>
              <a:off x="6797689" y="3638775"/>
              <a:ext cx="1781866" cy="627694"/>
            </a:xfrm>
            <a:custGeom>
              <a:avLst/>
              <a:gdLst/>
              <a:ahLst/>
              <a:cxnLst/>
              <a:rect l="l" t="t" r="r" b="b"/>
              <a:pathLst>
                <a:path w="36583" h="12887" extrusionOk="0">
                  <a:moveTo>
                    <a:pt x="782" y="0"/>
                  </a:moveTo>
                  <a:cubicBezTo>
                    <a:pt x="659" y="315"/>
                    <a:pt x="488" y="608"/>
                    <a:pt x="251" y="797"/>
                  </a:cubicBezTo>
                  <a:cubicBezTo>
                    <a:pt x="251" y="797"/>
                    <a:pt x="1" y="5132"/>
                    <a:pt x="924" y="8696"/>
                  </a:cubicBezTo>
                  <a:cubicBezTo>
                    <a:pt x="1243" y="9931"/>
                    <a:pt x="1705" y="11072"/>
                    <a:pt x="2368" y="11909"/>
                  </a:cubicBezTo>
                  <a:cubicBezTo>
                    <a:pt x="2611" y="12218"/>
                    <a:pt x="2884" y="12485"/>
                    <a:pt x="3187" y="12700"/>
                  </a:cubicBezTo>
                  <a:cubicBezTo>
                    <a:pt x="3281" y="12769"/>
                    <a:pt x="3379" y="12830"/>
                    <a:pt x="3481" y="12887"/>
                  </a:cubicBezTo>
                  <a:lnTo>
                    <a:pt x="6508" y="12887"/>
                  </a:lnTo>
                  <a:cubicBezTo>
                    <a:pt x="6930" y="11814"/>
                    <a:pt x="7589" y="10812"/>
                    <a:pt x="8740" y="10812"/>
                  </a:cubicBezTo>
                  <a:cubicBezTo>
                    <a:pt x="8749" y="10812"/>
                    <a:pt x="8758" y="10812"/>
                    <a:pt x="8767" y="10812"/>
                  </a:cubicBezTo>
                  <a:cubicBezTo>
                    <a:pt x="9616" y="10824"/>
                    <a:pt x="10498" y="10827"/>
                    <a:pt x="11288" y="10827"/>
                  </a:cubicBezTo>
                  <a:cubicBezTo>
                    <a:pt x="11783" y="10827"/>
                    <a:pt x="12241" y="10826"/>
                    <a:pt x="12631" y="10824"/>
                  </a:cubicBezTo>
                  <a:cubicBezTo>
                    <a:pt x="13403" y="10819"/>
                    <a:pt x="13908" y="10812"/>
                    <a:pt x="13908" y="10812"/>
                  </a:cubicBezTo>
                  <a:lnTo>
                    <a:pt x="22675" y="10812"/>
                  </a:lnTo>
                  <a:cubicBezTo>
                    <a:pt x="22675" y="10812"/>
                    <a:pt x="23180" y="10819"/>
                    <a:pt x="23952" y="10824"/>
                  </a:cubicBezTo>
                  <a:cubicBezTo>
                    <a:pt x="24343" y="10826"/>
                    <a:pt x="24801" y="10827"/>
                    <a:pt x="25296" y="10827"/>
                  </a:cubicBezTo>
                  <a:cubicBezTo>
                    <a:pt x="26085" y="10827"/>
                    <a:pt x="26968" y="10824"/>
                    <a:pt x="27816" y="10812"/>
                  </a:cubicBezTo>
                  <a:cubicBezTo>
                    <a:pt x="27826" y="10812"/>
                    <a:pt x="27836" y="10811"/>
                    <a:pt x="27845" y="10811"/>
                  </a:cubicBezTo>
                  <a:cubicBezTo>
                    <a:pt x="28995" y="10811"/>
                    <a:pt x="29653" y="11814"/>
                    <a:pt x="30075" y="12887"/>
                  </a:cubicBezTo>
                  <a:lnTo>
                    <a:pt x="33104" y="12887"/>
                  </a:lnTo>
                  <a:cubicBezTo>
                    <a:pt x="33204" y="12830"/>
                    <a:pt x="33303" y="12769"/>
                    <a:pt x="33397" y="12700"/>
                  </a:cubicBezTo>
                  <a:cubicBezTo>
                    <a:pt x="33699" y="12485"/>
                    <a:pt x="33973" y="12218"/>
                    <a:pt x="34216" y="11909"/>
                  </a:cubicBezTo>
                  <a:cubicBezTo>
                    <a:pt x="34878" y="11072"/>
                    <a:pt x="35340" y="9931"/>
                    <a:pt x="35660" y="8696"/>
                  </a:cubicBezTo>
                  <a:cubicBezTo>
                    <a:pt x="36583" y="5132"/>
                    <a:pt x="36332" y="797"/>
                    <a:pt x="36332" y="797"/>
                  </a:cubicBezTo>
                  <a:cubicBezTo>
                    <a:pt x="36095" y="608"/>
                    <a:pt x="35924" y="315"/>
                    <a:pt x="35801" y="0"/>
                  </a:cubicBezTo>
                  <a:cubicBezTo>
                    <a:pt x="35801" y="0"/>
                    <a:pt x="35582" y="5417"/>
                    <a:pt x="31228" y="5417"/>
                  </a:cubicBezTo>
                  <a:lnTo>
                    <a:pt x="5356" y="5417"/>
                  </a:lnTo>
                  <a:cubicBezTo>
                    <a:pt x="1001" y="5417"/>
                    <a:pt x="782" y="0"/>
                    <a:pt x="782"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51"/>
            <p:cNvSpPr/>
            <p:nvPr/>
          </p:nvSpPr>
          <p:spPr>
            <a:xfrm>
              <a:off x="6998359" y="2802925"/>
              <a:ext cx="1352364" cy="621118"/>
            </a:xfrm>
            <a:custGeom>
              <a:avLst/>
              <a:gdLst/>
              <a:ahLst/>
              <a:cxnLst/>
              <a:rect l="l" t="t" r="r" b="b"/>
              <a:pathLst>
                <a:path w="27765" h="12752" extrusionOk="0">
                  <a:moveTo>
                    <a:pt x="14307" y="0"/>
                  </a:moveTo>
                  <a:cubicBezTo>
                    <a:pt x="14219" y="0"/>
                    <a:pt x="14172" y="0"/>
                    <a:pt x="14172" y="0"/>
                  </a:cubicBezTo>
                  <a:cubicBezTo>
                    <a:pt x="14172" y="0"/>
                    <a:pt x="14138" y="0"/>
                    <a:pt x="14072" y="0"/>
                  </a:cubicBezTo>
                  <a:cubicBezTo>
                    <a:pt x="13611" y="0"/>
                    <a:pt x="11621" y="6"/>
                    <a:pt x="9294" y="92"/>
                  </a:cubicBezTo>
                  <a:lnTo>
                    <a:pt x="1" y="9384"/>
                  </a:lnTo>
                  <a:cubicBezTo>
                    <a:pt x="101" y="11291"/>
                    <a:pt x="689" y="12751"/>
                    <a:pt x="2874" y="12751"/>
                  </a:cubicBezTo>
                  <a:lnTo>
                    <a:pt x="3123" y="12751"/>
                  </a:lnTo>
                  <a:lnTo>
                    <a:pt x="14172" y="1701"/>
                  </a:lnTo>
                  <a:lnTo>
                    <a:pt x="15860" y="13"/>
                  </a:lnTo>
                  <a:cubicBezTo>
                    <a:pt x="15104" y="2"/>
                    <a:pt x="14549" y="0"/>
                    <a:pt x="14307" y="0"/>
                  </a:cubicBezTo>
                  <a:close/>
                  <a:moveTo>
                    <a:pt x="20943" y="180"/>
                  </a:moveTo>
                  <a:lnTo>
                    <a:pt x="14172" y="6952"/>
                  </a:lnTo>
                  <a:lnTo>
                    <a:pt x="8371" y="12751"/>
                  </a:lnTo>
                  <a:lnTo>
                    <a:pt x="18413" y="12751"/>
                  </a:lnTo>
                  <a:lnTo>
                    <a:pt x="27764" y="3401"/>
                  </a:lnTo>
                  <a:cubicBezTo>
                    <a:pt x="27035" y="1555"/>
                    <a:pt x="25715" y="649"/>
                    <a:pt x="25715" y="649"/>
                  </a:cubicBezTo>
                  <a:lnTo>
                    <a:pt x="25715" y="648"/>
                  </a:lnTo>
                  <a:cubicBezTo>
                    <a:pt x="24400" y="423"/>
                    <a:pt x="22664" y="274"/>
                    <a:pt x="20943" y="1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51"/>
            <p:cNvSpPr/>
            <p:nvPr/>
          </p:nvSpPr>
          <p:spPr>
            <a:xfrm>
              <a:off x="6952867" y="4353931"/>
              <a:ext cx="141934" cy="136673"/>
            </a:xfrm>
            <a:custGeom>
              <a:avLst/>
              <a:gdLst/>
              <a:ahLst/>
              <a:cxnLst/>
              <a:rect l="l" t="t" r="r" b="b"/>
              <a:pathLst>
                <a:path w="2914" h="2806" extrusionOk="0">
                  <a:moveTo>
                    <a:pt x="2761" y="0"/>
                  </a:moveTo>
                  <a:cubicBezTo>
                    <a:pt x="2644" y="410"/>
                    <a:pt x="2546" y="705"/>
                    <a:pt x="2436" y="772"/>
                  </a:cubicBezTo>
                  <a:cubicBezTo>
                    <a:pt x="2163" y="939"/>
                    <a:pt x="1794" y="992"/>
                    <a:pt x="1171" y="992"/>
                  </a:cubicBezTo>
                  <a:cubicBezTo>
                    <a:pt x="854" y="992"/>
                    <a:pt x="471" y="979"/>
                    <a:pt x="1" y="958"/>
                  </a:cubicBezTo>
                  <a:lnTo>
                    <a:pt x="1" y="2737"/>
                  </a:lnTo>
                  <a:cubicBezTo>
                    <a:pt x="125" y="2782"/>
                    <a:pt x="261" y="2806"/>
                    <a:pt x="399" y="2806"/>
                  </a:cubicBezTo>
                  <a:lnTo>
                    <a:pt x="1697" y="2806"/>
                  </a:lnTo>
                  <a:cubicBezTo>
                    <a:pt x="2365" y="2806"/>
                    <a:pt x="2914" y="2257"/>
                    <a:pt x="2914" y="1587"/>
                  </a:cubicBezTo>
                  <a:lnTo>
                    <a:pt x="2914" y="346"/>
                  </a:lnTo>
                  <a:cubicBezTo>
                    <a:pt x="2748" y="163"/>
                    <a:pt x="2761" y="0"/>
                    <a:pt x="2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51"/>
            <p:cNvSpPr/>
            <p:nvPr/>
          </p:nvSpPr>
          <p:spPr>
            <a:xfrm>
              <a:off x="7086713" y="4327191"/>
              <a:ext cx="8085" cy="43642"/>
            </a:xfrm>
            <a:custGeom>
              <a:avLst/>
              <a:gdLst/>
              <a:ahLst/>
              <a:cxnLst/>
              <a:rect l="l" t="t" r="r" b="b"/>
              <a:pathLst>
                <a:path w="166" h="896" extrusionOk="0">
                  <a:moveTo>
                    <a:pt x="166" y="1"/>
                  </a:moveTo>
                  <a:cubicBezTo>
                    <a:pt x="111" y="199"/>
                    <a:pt x="60" y="382"/>
                    <a:pt x="13" y="549"/>
                  </a:cubicBezTo>
                  <a:cubicBezTo>
                    <a:pt x="13" y="549"/>
                    <a:pt x="0" y="712"/>
                    <a:pt x="166" y="895"/>
                  </a:cubicBezTo>
                  <a:lnTo>
                    <a:pt x="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51"/>
            <p:cNvSpPr/>
            <p:nvPr/>
          </p:nvSpPr>
          <p:spPr>
            <a:xfrm>
              <a:off x="8424384" y="4102217"/>
              <a:ext cx="181776" cy="515520"/>
            </a:xfrm>
            <a:custGeom>
              <a:avLst/>
              <a:gdLst/>
              <a:ahLst/>
              <a:cxnLst/>
              <a:rect l="l" t="t" r="r" b="b"/>
              <a:pathLst>
                <a:path w="3732" h="10584" extrusionOk="0">
                  <a:moveTo>
                    <a:pt x="3662" y="1"/>
                  </a:moveTo>
                  <a:cubicBezTo>
                    <a:pt x="3521" y="1035"/>
                    <a:pt x="3319" y="2160"/>
                    <a:pt x="3038" y="3372"/>
                  </a:cubicBezTo>
                  <a:cubicBezTo>
                    <a:pt x="2908" y="3943"/>
                    <a:pt x="2759" y="4534"/>
                    <a:pt x="2594" y="5143"/>
                  </a:cubicBezTo>
                  <a:cubicBezTo>
                    <a:pt x="2594" y="5143"/>
                    <a:pt x="2457" y="5953"/>
                    <a:pt x="818" y="6087"/>
                  </a:cubicBezTo>
                  <a:cubicBezTo>
                    <a:pt x="752" y="6094"/>
                    <a:pt x="684" y="6097"/>
                    <a:pt x="614" y="6100"/>
                  </a:cubicBezTo>
                  <a:cubicBezTo>
                    <a:pt x="393" y="6110"/>
                    <a:pt x="188" y="6118"/>
                    <a:pt x="0" y="6126"/>
                  </a:cubicBezTo>
                  <a:lnTo>
                    <a:pt x="0" y="7905"/>
                  </a:lnTo>
                  <a:lnTo>
                    <a:pt x="0" y="9366"/>
                  </a:lnTo>
                  <a:cubicBezTo>
                    <a:pt x="0" y="10035"/>
                    <a:pt x="549" y="10583"/>
                    <a:pt x="1217" y="10583"/>
                  </a:cubicBezTo>
                  <a:lnTo>
                    <a:pt x="2515" y="10583"/>
                  </a:lnTo>
                  <a:cubicBezTo>
                    <a:pt x="3185" y="10583"/>
                    <a:pt x="3732" y="10035"/>
                    <a:pt x="3732" y="9366"/>
                  </a:cubicBezTo>
                  <a:lnTo>
                    <a:pt x="3732" y="398"/>
                  </a:lnTo>
                  <a:cubicBezTo>
                    <a:pt x="3732" y="259"/>
                    <a:pt x="3708" y="126"/>
                    <a:pt x="36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51"/>
            <p:cNvSpPr/>
            <p:nvPr/>
          </p:nvSpPr>
          <p:spPr>
            <a:xfrm>
              <a:off x="6771047" y="4102217"/>
              <a:ext cx="181874" cy="515520"/>
            </a:xfrm>
            <a:custGeom>
              <a:avLst/>
              <a:gdLst/>
              <a:ahLst/>
              <a:cxnLst/>
              <a:rect l="l" t="t" r="r" b="b"/>
              <a:pathLst>
                <a:path w="3734" h="10584" extrusionOk="0">
                  <a:moveTo>
                    <a:pt x="70" y="1"/>
                  </a:moveTo>
                  <a:cubicBezTo>
                    <a:pt x="25" y="126"/>
                    <a:pt x="1" y="259"/>
                    <a:pt x="1" y="398"/>
                  </a:cubicBezTo>
                  <a:lnTo>
                    <a:pt x="1" y="9366"/>
                  </a:lnTo>
                  <a:cubicBezTo>
                    <a:pt x="1" y="10035"/>
                    <a:pt x="548" y="10583"/>
                    <a:pt x="1218" y="10583"/>
                  </a:cubicBezTo>
                  <a:lnTo>
                    <a:pt x="2517" y="10583"/>
                  </a:lnTo>
                  <a:cubicBezTo>
                    <a:pt x="3185" y="10583"/>
                    <a:pt x="3734" y="10035"/>
                    <a:pt x="3734" y="9366"/>
                  </a:cubicBezTo>
                  <a:lnTo>
                    <a:pt x="3734" y="7905"/>
                  </a:lnTo>
                  <a:lnTo>
                    <a:pt x="3734" y="6126"/>
                  </a:lnTo>
                  <a:cubicBezTo>
                    <a:pt x="3544" y="6118"/>
                    <a:pt x="3341" y="6110"/>
                    <a:pt x="3119" y="6100"/>
                  </a:cubicBezTo>
                  <a:cubicBezTo>
                    <a:pt x="3048" y="6097"/>
                    <a:pt x="2980" y="6094"/>
                    <a:pt x="2915" y="6087"/>
                  </a:cubicBezTo>
                  <a:cubicBezTo>
                    <a:pt x="1276" y="5953"/>
                    <a:pt x="1138" y="5143"/>
                    <a:pt x="1138" y="5143"/>
                  </a:cubicBezTo>
                  <a:cubicBezTo>
                    <a:pt x="973" y="4534"/>
                    <a:pt x="825" y="3943"/>
                    <a:pt x="695" y="3372"/>
                  </a:cubicBezTo>
                  <a:cubicBezTo>
                    <a:pt x="415" y="2160"/>
                    <a:pt x="211" y="1035"/>
                    <a:pt x="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51"/>
            <p:cNvSpPr/>
            <p:nvPr/>
          </p:nvSpPr>
          <p:spPr>
            <a:xfrm>
              <a:off x="6804849" y="4165340"/>
              <a:ext cx="1767546" cy="236962"/>
            </a:xfrm>
            <a:custGeom>
              <a:avLst/>
              <a:gdLst/>
              <a:ahLst/>
              <a:cxnLst/>
              <a:rect l="l" t="t" r="r" b="b"/>
              <a:pathLst>
                <a:path w="36289" h="4865" extrusionOk="0">
                  <a:moveTo>
                    <a:pt x="13761" y="1"/>
                  </a:moveTo>
                  <a:cubicBezTo>
                    <a:pt x="13761" y="1"/>
                    <a:pt x="13256" y="8"/>
                    <a:pt x="12484" y="13"/>
                  </a:cubicBezTo>
                  <a:cubicBezTo>
                    <a:pt x="12486" y="1529"/>
                    <a:pt x="13714" y="2754"/>
                    <a:pt x="15228" y="2754"/>
                  </a:cubicBezTo>
                  <a:lnTo>
                    <a:pt x="21061" y="2754"/>
                  </a:lnTo>
                  <a:cubicBezTo>
                    <a:pt x="22577" y="2754"/>
                    <a:pt x="23803" y="1529"/>
                    <a:pt x="23805" y="13"/>
                  </a:cubicBezTo>
                  <a:cubicBezTo>
                    <a:pt x="23033" y="8"/>
                    <a:pt x="22528" y="1"/>
                    <a:pt x="22528" y="1"/>
                  </a:cubicBezTo>
                  <a:close/>
                  <a:moveTo>
                    <a:pt x="1" y="2076"/>
                  </a:moveTo>
                  <a:cubicBezTo>
                    <a:pt x="131" y="2647"/>
                    <a:pt x="279" y="3238"/>
                    <a:pt x="444" y="3847"/>
                  </a:cubicBezTo>
                  <a:cubicBezTo>
                    <a:pt x="444" y="3847"/>
                    <a:pt x="582" y="4657"/>
                    <a:pt x="2221" y="4791"/>
                  </a:cubicBezTo>
                  <a:cubicBezTo>
                    <a:pt x="2286" y="4798"/>
                    <a:pt x="2354" y="4801"/>
                    <a:pt x="2425" y="4804"/>
                  </a:cubicBezTo>
                  <a:cubicBezTo>
                    <a:pt x="2647" y="4814"/>
                    <a:pt x="2850" y="4822"/>
                    <a:pt x="3040" y="4830"/>
                  </a:cubicBezTo>
                  <a:cubicBezTo>
                    <a:pt x="3510" y="4851"/>
                    <a:pt x="3893" y="4864"/>
                    <a:pt x="4210" y="4864"/>
                  </a:cubicBezTo>
                  <a:cubicBezTo>
                    <a:pt x="4833" y="4864"/>
                    <a:pt x="5202" y="4811"/>
                    <a:pt x="5475" y="4644"/>
                  </a:cubicBezTo>
                  <a:cubicBezTo>
                    <a:pt x="5585" y="4577"/>
                    <a:pt x="5683" y="4282"/>
                    <a:pt x="5799" y="3872"/>
                  </a:cubicBezTo>
                  <a:cubicBezTo>
                    <a:pt x="5847" y="3705"/>
                    <a:pt x="5898" y="3522"/>
                    <a:pt x="5953" y="3324"/>
                  </a:cubicBezTo>
                  <a:cubicBezTo>
                    <a:pt x="6063" y="2934"/>
                    <a:pt x="6194" y="2500"/>
                    <a:pt x="6360" y="2076"/>
                  </a:cubicBezTo>
                  <a:close/>
                  <a:moveTo>
                    <a:pt x="29929" y="2076"/>
                  </a:moveTo>
                  <a:cubicBezTo>
                    <a:pt x="30095" y="2500"/>
                    <a:pt x="30226" y="2934"/>
                    <a:pt x="30336" y="3324"/>
                  </a:cubicBezTo>
                  <a:cubicBezTo>
                    <a:pt x="30392" y="3522"/>
                    <a:pt x="30443" y="3705"/>
                    <a:pt x="30491" y="3872"/>
                  </a:cubicBezTo>
                  <a:cubicBezTo>
                    <a:pt x="30606" y="4282"/>
                    <a:pt x="30704" y="4577"/>
                    <a:pt x="30814" y="4644"/>
                  </a:cubicBezTo>
                  <a:cubicBezTo>
                    <a:pt x="31087" y="4811"/>
                    <a:pt x="31456" y="4864"/>
                    <a:pt x="32079" y="4864"/>
                  </a:cubicBezTo>
                  <a:cubicBezTo>
                    <a:pt x="32397" y="4864"/>
                    <a:pt x="32780" y="4851"/>
                    <a:pt x="33250" y="4830"/>
                  </a:cubicBezTo>
                  <a:cubicBezTo>
                    <a:pt x="33439" y="4822"/>
                    <a:pt x="33644" y="4814"/>
                    <a:pt x="33865" y="4804"/>
                  </a:cubicBezTo>
                  <a:cubicBezTo>
                    <a:pt x="33935" y="4801"/>
                    <a:pt x="34003" y="4798"/>
                    <a:pt x="34069" y="4791"/>
                  </a:cubicBezTo>
                  <a:cubicBezTo>
                    <a:pt x="35708" y="4657"/>
                    <a:pt x="35845" y="3847"/>
                    <a:pt x="35845" y="3847"/>
                  </a:cubicBezTo>
                  <a:cubicBezTo>
                    <a:pt x="36010" y="3238"/>
                    <a:pt x="36159" y="2647"/>
                    <a:pt x="36289" y="2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51"/>
            <p:cNvSpPr/>
            <p:nvPr/>
          </p:nvSpPr>
          <p:spPr>
            <a:xfrm>
              <a:off x="6590200" y="2690900"/>
              <a:ext cx="2196952" cy="1705103"/>
            </a:xfrm>
            <a:custGeom>
              <a:avLst/>
              <a:gdLst/>
              <a:ahLst/>
              <a:cxnLst/>
              <a:rect l="l" t="t" r="r" b="b"/>
              <a:pathLst>
                <a:path w="45105" h="35007" extrusionOk="0">
                  <a:moveTo>
                    <a:pt x="42492" y="10676"/>
                  </a:moveTo>
                  <a:cubicBezTo>
                    <a:pt x="41575" y="10676"/>
                    <a:pt x="40695" y="10925"/>
                    <a:pt x="40252" y="11085"/>
                  </a:cubicBezTo>
                  <a:cubicBezTo>
                    <a:pt x="39572" y="11331"/>
                    <a:pt x="39705" y="12121"/>
                    <a:pt x="39727" y="12749"/>
                  </a:cubicBezTo>
                  <a:cubicBezTo>
                    <a:pt x="39730" y="12835"/>
                    <a:pt x="39732" y="12920"/>
                    <a:pt x="39729" y="12997"/>
                  </a:cubicBezTo>
                  <a:cubicBezTo>
                    <a:pt x="39701" y="13645"/>
                    <a:pt x="39455" y="13836"/>
                    <a:pt x="39455" y="13836"/>
                  </a:cubicBezTo>
                  <a:lnTo>
                    <a:pt x="39453" y="13836"/>
                  </a:lnTo>
                  <a:cubicBezTo>
                    <a:pt x="39513" y="14381"/>
                    <a:pt x="39566" y="14944"/>
                    <a:pt x="39611" y="15523"/>
                  </a:cubicBezTo>
                  <a:cubicBezTo>
                    <a:pt x="41050" y="15503"/>
                    <a:pt x="40816" y="15109"/>
                    <a:pt x="40854" y="14613"/>
                  </a:cubicBezTo>
                  <a:cubicBezTo>
                    <a:pt x="40895" y="14118"/>
                    <a:pt x="42204" y="13964"/>
                    <a:pt x="43370" y="13953"/>
                  </a:cubicBezTo>
                  <a:cubicBezTo>
                    <a:pt x="44023" y="13947"/>
                    <a:pt x="44692" y="13400"/>
                    <a:pt x="44923" y="12749"/>
                  </a:cubicBezTo>
                  <a:cubicBezTo>
                    <a:pt x="45104" y="12240"/>
                    <a:pt x="45017" y="11663"/>
                    <a:pt x="44440" y="11233"/>
                  </a:cubicBezTo>
                  <a:cubicBezTo>
                    <a:pt x="43881" y="10815"/>
                    <a:pt x="43177" y="10676"/>
                    <a:pt x="42492" y="10676"/>
                  </a:cubicBezTo>
                  <a:close/>
                  <a:moveTo>
                    <a:pt x="22514" y="979"/>
                  </a:moveTo>
                  <a:cubicBezTo>
                    <a:pt x="22514" y="979"/>
                    <a:pt x="30712" y="1021"/>
                    <a:pt x="34475" y="3025"/>
                  </a:cubicBezTo>
                  <a:cubicBezTo>
                    <a:pt x="34659" y="3122"/>
                    <a:pt x="34831" y="3225"/>
                    <a:pt x="34991" y="3331"/>
                  </a:cubicBezTo>
                  <a:cubicBezTo>
                    <a:pt x="38454" y="5637"/>
                    <a:pt x="37733" y="14873"/>
                    <a:pt x="37733" y="14873"/>
                  </a:cubicBezTo>
                  <a:cubicBezTo>
                    <a:pt x="38300" y="15041"/>
                    <a:pt x="38650" y="15591"/>
                    <a:pt x="38834" y="16298"/>
                  </a:cubicBezTo>
                  <a:cubicBezTo>
                    <a:pt x="38994" y="16910"/>
                    <a:pt x="39029" y="17639"/>
                    <a:pt x="38977" y="18339"/>
                  </a:cubicBezTo>
                  <a:cubicBezTo>
                    <a:pt x="38889" y="19512"/>
                    <a:pt x="38549" y="20602"/>
                    <a:pt x="38122" y="20917"/>
                  </a:cubicBezTo>
                  <a:cubicBezTo>
                    <a:pt x="37108" y="21668"/>
                    <a:pt x="35920" y="22393"/>
                    <a:pt x="33067" y="22667"/>
                  </a:cubicBezTo>
                  <a:cubicBezTo>
                    <a:pt x="33056" y="22668"/>
                    <a:pt x="33044" y="22668"/>
                    <a:pt x="33033" y="22668"/>
                  </a:cubicBezTo>
                  <a:cubicBezTo>
                    <a:pt x="32852" y="22668"/>
                    <a:pt x="32700" y="22534"/>
                    <a:pt x="32684" y="22350"/>
                  </a:cubicBezTo>
                  <a:cubicBezTo>
                    <a:pt x="32657" y="22022"/>
                    <a:pt x="32710" y="21416"/>
                    <a:pt x="33094" y="20377"/>
                  </a:cubicBezTo>
                  <a:lnTo>
                    <a:pt x="33094" y="20377"/>
                  </a:lnTo>
                  <a:cubicBezTo>
                    <a:pt x="33008" y="20465"/>
                    <a:pt x="30229" y="23239"/>
                    <a:pt x="22514" y="23239"/>
                  </a:cubicBezTo>
                  <a:cubicBezTo>
                    <a:pt x="14799" y="23239"/>
                    <a:pt x="12021" y="20465"/>
                    <a:pt x="11934" y="20377"/>
                  </a:cubicBezTo>
                  <a:lnTo>
                    <a:pt x="11934" y="20377"/>
                  </a:lnTo>
                  <a:cubicBezTo>
                    <a:pt x="12320" y="21416"/>
                    <a:pt x="12373" y="22022"/>
                    <a:pt x="12344" y="22350"/>
                  </a:cubicBezTo>
                  <a:cubicBezTo>
                    <a:pt x="12328" y="22534"/>
                    <a:pt x="12176" y="22668"/>
                    <a:pt x="11996" y="22668"/>
                  </a:cubicBezTo>
                  <a:cubicBezTo>
                    <a:pt x="11984" y="22668"/>
                    <a:pt x="11973" y="22668"/>
                    <a:pt x="11961" y="22667"/>
                  </a:cubicBezTo>
                  <a:cubicBezTo>
                    <a:pt x="9109" y="22393"/>
                    <a:pt x="7920" y="21668"/>
                    <a:pt x="6908" y="20917"/>
                  </a:cubicBezTo>
                  <a:cubicBezTo>
                    <a:pt x="6480" y="20602"/>
                    <a:pt x="6139" y="19512"/>
                    <a:pt x="6051" y="18339"/>
                  </a:cubicBezTo>
                  <a:cubicBezTo>
                    <a:pt x="5999" y="17639"/>
                    <a:pt x="6035" y="16910"/>
                    <a:pt x="6196" y="16298"/>
                  </a:cubicBezTo>
                  <a:cubicBezTo>
                    <a:pt x="6379" y="15591"/>
                    <a:pt x="6729" y="15041"/>
                    <a:pt x="7295" y="14873"/>
                  </a:cubicBezTo>
                  <a:cubicBezTo>
                    <a:pt x="7295" y="14873"/>
                    <a:pt x="6574" y="5637"/>
                    <a:pt x="10037" y="3331"/>
                  </a:cubicBezTo>
                  <a:cubicBezTo>
                    <a:pt x="10197" y="3225"/>
                    <a:pt x="10370" y="3122"/>
                    <a:pt x="10553" y="3025"/>
                  </a:cubicBezTo>
                  <a:cubicBezTo>
                    <a:pt x="14317" y="1021"/>
                    <a:pt x="22514" y="979"/>
                    <a:pt x="22514" y="979"/>
                  </a:cubicBezTo>
                  <a:close/>
                  <a:moveTo>
                    <a:pt x="22512" y="1"/>
                  </a:moveTo>
                  <a:cubicBezTo>
                    <a:pt x="22361" y="1"/>
                    <a:pt x="14406" y="8"/>
                    <a:pt x="9748" y="1469"/>
                  </a:cubicBezTo>
                  <a:cubicBezTo>
                    <a:pt x="8871" y="1743"/>
                    <a:pt x="8177" y="2418"/>
                    <a:pt x="7876" y="3287"/>
                  </a:cubicBezTo>
                  <a:cubicBezTo>
                    <a:pt x="7247" y="5103"/>
                    <a:pt x="6166" y="8767"/>
                    <a:pt x="5616" y="13804"/>
                  </a:cubicBezTo>
                  <a:cubicBezTo>
                    <a:pt x="5550" y="13727"/>
                    <a:pt x="5397" y="13499"/>
                    <a:pt x="5374" y="12997"/>
                  </a:cubicBezTo>
                  <a:cubicBezTo>
                    <a:pt x="5372" y="12920"/>
                    <a:pt x="5373" y="12835"/>
                    <a:pt x="5377" y="12749"/>
                  </a:cubicBezTo>
                  <a:cubicBezTo>
                    <a:pt x="5398" y="12121"/>
                    <a:pt x="5533" y="11331"/>
                    <a:pt x="4851" y="11085"/>
                  </a:cubicBezTo>
                  <a:cubicBezTo>
                    <a:pt x="4409" y="10925"/>
                    <a:pt x="3529" y="10676"/>
                    <a:pt x="2611" y="10676"/>
                  </a:cubicBezTo>
                  <a:cubicBezTo>
                    <a:pt x="1927" y="10676"/>
                    <a:pt x="1223" y="10815"/>
                    <a:pt x="663" y="11233"/>
                  </a:cubicBezTo>
                  <a:cubicBezTo>
                    <a:pt x="88" y="11663"/>
                    <a:pt x="0" y="12240"/>
                    <a:pt x="181" y="12749"/>
                  </a:cubicBezTo>
                  <a:cubicBezTo>
                    <a:pt x="412" y="13400"/>
                    <a:pt x="1080" y="13947"/>
                    <a:pt x="1733" y="13953"/>
                  </a:cubicBezTo>
                  <a:cubicBezTo>
                    <a:pt x="2901" y="13964"/>
                    <a:pt x="4208" y="14118"/>
                    <a:pt x="4249" y="14613"/>
                  </a:cubicBezTo>
                  <a:cubicBezTo>
                    <a:pt x="4287" y="15105"/>
                    <a:pt x="4057" y="15496"/>
                    <a:pt x="5454" y="15522"/>
                  </a:cubicBezTo>
                  <a:cubicBezTo>
                    <a:pt x="5394" y="16285"/>
                    <a:pt x="5346" y="17075"/>
                    <a:pt x="5316" y="17891"/>
                  </a:cubicBezTo>
                  <a:cubicBezTo>
                    <a:pt x="5316" y="17891"/>
                    <a:pt x="5287" y="18736"/>
                    <a:pt x="5005" y="19461"/>
                  </a:cubicBezTo>
                  <a:cubicBezTo>
                    <a:pt x="5005" y="19461"/>
                    <a:pt x="5225" y="24878"/>
                    <a:pt x="9578" y="24878"/>
                  </a:cubicBezTo>
                  <a:lnTo>
                    <a:pt x="35450" y="24878"/>
                  </a:lnTo>
                  <a:cubicBezTo>
                    <a:pt x="39805" y="24878"/>
                    <a:pt x="40024" y="19461"/>
                    <a:pt x="40024" y="19461"/>
                  </a:cubicBezTo>
                  <a:cubicBezTo>
                    <a:pt x="39742" y="18736"/>
                    <a:pt x="39713" y="17891"/>
                    <a:pt x="39713" y="17891"/>
                  </a:cubicBezTo>
                  <a:cubicBezTo>
                    <a:pt x="39684" y="17075"/>
                    <a:pt x="39636" y="16285"/>
                    <a:pt x="39575" y="15522"/>
                  </a:cubicBezTo>
                  <a:cubicBezTo>
                    <a:pt x="39530" y="14944"/>
                    <a:pt x="39476" y="14381"/>
                    <a:pt x="39416" y="13836"/>
                  </a:cubicBezTo>
                  <a:cubicBezTo>
                    <a:pt x="38868" y="8781"/>
                    <a:pt x="37784" y="5106"/>
                    <a:pt x="37152" y="3287"/>
                  </a:cubicBezTo>
                  <a:cubicBezTo>
                    <a:pt x="36852" y="2418"/>
                    <a:pt x="36158" y="1743"/>
                    <a:pt x="35282" y="1469"/>
                  </a:cubicBezTo>
                  <a:cubicBezTo>
                    <a:pt x="30624" y="8"/>
                    <a:pt x="22667" y="1"/>
                    <a:pt x="22516" y="1"/>
                  </a:cubicBezTo>
                  <a:cubicBezTo>
                    <a:pt x="22515" y="1"/>
                    <a:pt x="22514" y="1"/>
                    <a:pt x="22514" y="1"/>
                  </a:cubicBezTo>
                  <a:cubicBezTo>
                    <a:pt x="22514" y="1"/>
                    <a:pt x="22513" y="1"/>
                    <a:pt x="22512" y="1"/>
                  </a:cubicBezTo>
                  <a:close/>
                  <a:moveTo>
                    <a:pt x="4511" y="20258"/>
                  </a:moveTo>
                  <a:lnTo>
                    <a:pt x="4511" y="20258"/>
                  </a:lnTo>
                  <a:cubicBezTo>
                    <a:pt x="3903" y="20742"/>
                    <a:pt x="3061" y="23728"/>
                    <a:pt x="3783" y="28977"/>
                  </a:cubicBezTo>
                  <a:cubicBezTo>
                    <a:pt x="3926" y="30011"/>
                    <a:pt x="4128" y="31136"/>
                    <a:pt x="4408" y="32348"/>
                  </a:cubicBezTo>
                  <a:lnTo>
                    <a:pt x="7447" y="32348"/>
                  </a:lnTo>
                  <a:lnTo>
                    <a:pt x="7447" y="32161"/>
                  </a:lnTo>
                  <a:cubicBezTo>
                    <a:pt x="7144" y="31946"/>
                    <a:pt x="6871" y="31679"/>
                    <a:pt x="6628" y="31370"/>
                  </a:cubicBezTo>
                  <a:cubicBezTo>
                    <a:pt x="5965" y="30533"/>
                    <a:pt x="5503" y="29392"/>
                    <a:pt x="5184" y="28157"/>
                  </a:cubicBezTo>
                  <a:cubicBezTo>
                    <a:pt x="4261" y="24594"/>
                    <a:pt x="4511" y="20259"/>
                    <a:pt x="4511" y="20258"/>
                  </a:cubicBezTo>
                  <a:close/>
                  <a:moveTo>
                    <a:pt x="40592" y="20258"/>
                  </a:moveTo>
                  <a:cubicBezTo>
                    <a:pt x="40592" y="20259"/>
                    <a:pt x="40843" y="24594"/>
                    <a:pt x="39920" y="28157"/>
                  </a:cubicBezTo>
                  <a:cubicBezTo>
                    <a:pt x="39600" y="29392"/>
                    <a:pt x="39138" y="30533"/>
                    <a:pt x="38476" y="31370"/>
                  </a:cubicBezTo>
                  <a:cubicBezTo>
                    <a:pt x="38233" y="31679"/>
                    <a:pt x="37959" y="31946"/>
                    <a:pt x="37657" y="32161"/>
                  </a:cubicBezTo>
                  <a:lnTo>
                    <a:pt x="37657" y="32348"/>
                  </a:lnTo>
                  <a:lnTo>
                    <a:pt x="40696" y="32348"/>
                  </a:lnTo>
                  <a:cubicBezTo>
                    <a:pt x="40977" y="31136"/>
                    <a:pt x="41179" y="30011"/>
                    <a:pt x="41320" y="28977"/>
                  </a:cubicBezTo>
                  <a:cubicBezTo>
                    <a:pt x="42043" y="23728"/>
                    <a:pt x="41200" y="20742"/>
                    <a:pt x="40592" y="20258"/>
                  </a:cubicBezTo>
                  <a:close/>
                  <a:moveTo>
                    <a:pt x="12998" y="30272"/>
                  </a:moveTo>
                  <a:cubicBezTo>
                    <a:pt x="11848" y="30272"/>
                    <a:pt x="11190" y="31275"/>
                    <a:pt x="10768" y="32348"/>
                  </a:cubicBezTo>
                  <a:lnTo>
                    <a:pt x="10767" y="32348"/>
                  </a:lnTo>
                  <a:cubicBezTo>
                    <a:pt x="10601" y="32772"/>
                    <a:pt x="10470" y="33206"/>
                    <a:pt x="10360" y="33596"/>
                  </a:cubicBezTo>
                  <a:lnTo>
                    <a:pt x="10360" y="34490"/>
                  </a:lnTo>
                  <a:cubicBezTo>
                    <a:pt x="10576" y="34729"/>
                    <a:pt x="11095" y="35006"/>
                    <a:pt x="12340" y="35006"/>
                  </a:cubicBezTo>
                  <a:lnTo>
                    <a:pt x="32763" y="35006"/>
                  </a:lnTo>
                  <a:cubicBezTo>
                    <a:pt x="34010" y="35006"/>
                    <a:pt x="34527" y="34731"/>
                    <a:pt x="34743" y="34490"/>
                  </a:cubicBezTo>
                  <a:lnTo>
                    <a:pt x="34743" y="33596"/>
                  </a:lnTo>
                  <a:cubicBezTo>
                    <a:pt x="34633" y="33206"/>
                    <a:pt x="34502" y="32772"/>
                    <a:pt x="34336" y="32348"/>
                  </a:cubicBezTo>
                  <a:lnTo>
                    <a:pt x="34335" y="32348"/>
                  </a:lnTo>
                  <a:cubicBezTo>
                    <a:pt x="33913" y="31275"/>
                    <a:pt x="33255" y="30272"/>
                    <a:pt x="32105" y="30272"/>
                  </a:cubicBezTo>
                  <a:cubicBezTo>
                    <a:pt x="32096" y="30272"/>
                    <a:pt x="32086" y="30273"/>
                    <a:pt x="32076" y="30273"/>
                  </a:cubicBezTo>
                  <a:cubicBezTo>
                    <a:pt x="31228" y="30285"/>
                    <a:pt x="30345" y="30288"/>
                    <a:pt x="29556" y="30288"/>
                  </a:cubicBezTo>
                  <a:cubicBezTo>
                    <a:pt x="29061" y="30288"/>
                    <a:pt x="28603" y="30287"/>
                    <a:pt x="28212" y="30285"/>
                  </a:cubicBezTo>
                  <a:cubicBezTo>
                    <a:pt x="28210" y="31801"/>
                    <a:pt x="26982" y="33026"/>
                    <a:pt x="25468" y="33026"/>
                  </a:cubicBezTo>
                  <a:lnTo>
                    <a:pt x="19635" y="33026"/>
                  </a:lnTo>
                  <a:cubicBezTo>
                    <a:pt x="18120" y="33026"/>
                    <a:pt x="16893" y="31801"/>
                    <a:pt x="16891" y="30285"/>
                  </a:cubicBezTo>
                  <a:cubicBezTo>
                    <a:pt x="16501" y="30287"/>
                    <a:pt x="16042" y="30288"/>
                    <a:pt x="15547" y="30288"/>
                  </a:cubicBezTo>
                  <a:cubicBezTo>
                    <a:pt x="14758" y="30288"/>
                    <a:pt x="13876" y="30285"/>
                    <a:pt x="13027" y="30273"/>
                  </a:cubicBezTo>
                  <a:cubicBezTo>
                    <a:pt x="13017" y="30273"/>
                    <a:pt x="13008" y="30272"/>
                    <a:pt x="12998" y="30272"/>
                  </a:cubicBezTo>
                  <a:close/>
                </a:path>
              </a:pathLst>
            </a:custGeom>
            <a:gradFill>
              <a:gsLst>
                <a:gs pos="0">
                  <a:schemeClr val="accen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51"/>
            <p:cNvSpPr/>
            <p:nvPr/>
          </p:nvSpPr>
          <p:spPr>
            <a:xfrm>
              <a:off x="6937720" y="3631713"/>
              <a:ext cx="96490" cy="86212"/>
            </a:xfrm>
            <a:custGeom>
              <a:avLst/>
              <a:gdLst/>
              <a:ahLst/>
              <a:cxnLst/>
              <a:rect l="l" t="t" r="r" b="b"/>
              <a:pathLst>
                <a:path w="1981" h="1770" extrusionOk="0">
                  <a:moveTo>
                    <a:pt x="167" y="1"/>
                  </a:moveTo>
                  <a:cubicBezTo>
                    <a:pt x="1" y="268"/>
                    <a:pt x="32" y="668"/>
                    <a:pt x="32" y="668"/>
                  </a:cubicBezTo>
                  <a:cubicBezTo>
                    <a:pt x="297" y="1108"/>
                    <a:pt x="744" y="1378"/>
                    <a:pt x="1140" y="1539"/>
                  </a:cubicBezTo>
                  <a:cubicBezTo>
                    <a:pt x="1591" y="1724"/>
                    <a:pt x="1981" y="1769"/>
                    <a:pt x="1981" y="1769"/>
                  </a:cubicBezTo>
                  <a:cubicBezTo>
                    <a:pt x="1418" y="1537"/>
                    <a:pt x="1010" y="296"/>
                    <a:pt x="1010" y="296"/>
                  </a:cubicBezTo>
                  <a:cubicBezTo>
                    <a:pt x="980" y="299"/>
                    <a:pt x="951" y="301"/>
                    <a:pt x="922" y="301"/>
                  </a:cubicBezTo>
                  <a:cubicBezTo>
                    <a:pt x="499" y="301"/>
                    <a:pt x="167" y="1"/>
                    <a:pt x="167"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51"/>
            <p:cNvSpPr/>
            <p:nvPr/>
          </p:nvSpPr>
          <p:spPr>
            <a:xfrm>
              <a:off x="6884240" y="3423931"/>
              <a:ext cx="297408" cy="343778"/>
            </a:xfrm>
            <a:custGeom>
              <a:avLst/>
              <a:gdLst/>
              <a:ahLst/>
              <a:cxnLst/>
              <a:rect l="l" t="t" r="r" b="b"/>
              <a:pathLst>
                <a:path w="6106" h="7058" extrusionOk="0">
                  <a:moveTo>
                    <a:pt x="2299" y="754"/>
                  </a:moveTo>
                  <a:cubicBezTo>
                    <a:pt x="2870" y="754"/>
                    <a:pt x="3376" y="1030"/>
                    <a:pt x="3692" y="1453"/>
                  </a:cubicBezTo>
                  <a:cubicBezTo>
                    <a:pt x="3759" y="1543"/>
                    <a:pt x="3818" y="1638"/>
                    <a:pt x="3866" y="1738"/>
                  </a:cubicBezTo>
                  <a:cubicBezTo>
                    <a:pt x="3978" y="1967"/>
                    <a:pt x="4039" y="2223"/>
                    <a:pt x="4039" y="2493"/>
                  </a:cubicBezTo>
                  <a:cubicBezTo>
                    <a:pt x="4039" y="3454"/>
                    <a:pt x="3260" y="4232"/>
                    <a:pt x="2299" y="4232"/>
                  </a:cubicBezTo>
                  <a:lnTo>
                    <a:pt x="2290" y="4232"/>
                  </a:lnTo>
                  <a:cubicBezTo>
                    <a:pt x="1964" y="4230"/>
                    <a:pt x="1658" y="4140"/>
                    <a:pt x="1398" y="3980"/>
                  </a:cubicBezTo>
                  <a:cubicBezTo>
                    <a:pt x="896" y="3675"/>
                    <a:pt x="560" y="3123"/>
                    <a:pt x="560" y="2493"/>
                  </a:cubicBezTo>
                  <a:cubicBezTo>
                    <a:pt x="560" y="2162"/>
                    <a:pt x="652" y="1856"/>
                    <a:pt x="812" y="1591"/>
                  </a:cubicBezTo>
                  <a:cubicBezTo>
                    <a:pt x="1117" y="1091"/>
                    <a:pt x="1670" y="754"/>
                    <a:pt x="2299" y="754"/>
                  </a:cubicBezTo>
                  <a:close/>
                  <a:moveTo>
                    <a:pt x="1265" y="4267"/>
                  </a:moveTo>
                  <a:cubicBezTo>
                    <a:pt x="1265" y="4267"/>
                    <a:pt x="1597" y="4567"/>
                    <a:pt x="2020" y="4567"/>
                  </a:cubicBezTo>
                  <a:cubicBezTo>
                    <a:pt x="2049" y="4567"/>
                    <a:pt x="2078" y="4565"/>
                    <a:pt x="2108" y="4562"/>
                  </a:cubicBezTo>
                  <a:cubicBezTo>
                    <a:pt x="2108" y="4562"/>
                    <a:pt x="2516" y="5803"/>
                    <a:pt x="3079" y="6035"/>
                  </a:cubicBezTo>
                  <a:cubicBezTo>
                    <a:pt x="3079" y="6035"/>
                    <a:pt x="2689" y="5990"/>
                    <a:pt x="2238" y="5805"/>
                  </a:cubicBezTo>
                  <a:cubicBezTo>
                    <a:pt x="1842" y="5644"/>
                    <a:pt x="1395" y="5372"/>
                    <a:pt x="1130" y="4934"/>
                  </a:cubicBezTo>
                  <a:cubicBezTo>
                    <a:pt x="1130" y="4934"/>
                    <a:pt x="1099" y="4534"/>
                    <a:pt x="1265" y="4267"/>
                  </a:cubicBezTo>
                  <a:close/>
                  <a:moveTo>
                    <a:pt x="3942" y="3693"/>
                  </a:moveTo>
                  <a:cubicBezTo>
                    <a:pt x="3944" y="3693"/>
                    <a:pt x="5418" y="6370"/>
                    <a:pt x="4833" y="6370"/>
                  </a:cubicBezTo>
                  <a:cubicBezTo>
                    <a:pt x="4806" y="6370"/>
                    <a:pt x="4775" y="6365"/>
                    <a:pt x="4740" y="6353"/>
                  </a:cubicBezTo>
                  <a:cubicBezTo>
                    <a:pt x="3924" y="6087"/>
                    <a:pt x="2899" y="5826"/>
                    <a:pt x="2570" y="4517"/>
                  </a:cubicBezTo>
                  <a:cubicBezTo>
                    <a:pt x="2570" y="4517"/>
                    <a:pt x="3591" y="4275"/>
                    <a:pt x="3942" y="3693"/>
                  </a:cubicBezTo>
                  <a:close/>
                  <a:moveTo>
                    <a:pt x="1776" y="1"/>
                  </a:moveTo>
                  <a:cubicBezTo>
                    <a:pt x="1083" y="1"/>
                    <a:pt x="477" y="419"/>
                    <a:pt x="195" y="1248"/>
                  </a:cubicBezTo>
                  <a:cubicBezTo>
                    <a:pt x="36" y="1860"/>
                    <a:pt x="0" y="2589"/>
                    <a:pt x="53" y="3289"/>
                  </a:cubicBezTo>
                  <a:cubicBezTo>
                    <a:pt x="53" y="3289"/>
                    <a:pt x="491" y="5330"/>
                    <a:pt x="1470" y="5777"/>
                  </a:cubicBezTo>
                  <a:cubicBezTo>
                    <a:pt x="1639" y="5854"/>
                    <a:pt x="1872" y="5949"/>
                    <a:pt x="2143" y="6054"/>
                  </a:cubicBezTo>
                  <a:cubicBezTo>
                    <a:pt x="3269" y="6482"/>
                    <a:pt x="5062" y="7057"/>
                    <a:pt x="5673" y="7057"/>
                  </a:cubicBezTo>
                  <a:cubicBezTo>
                    <a:pt x="5774" y="7057"/>
                    <a:pt x="5843" y="7041"/>
                    <a:pt x="5870" y="7006"/>
                  </a:cubicBezTo>
                  <a:cubicBezTo>
                    <a:pt x="6105" y="6711"/>
                    <a:pt x="5688" y="5299"/>
                    <a:pt x="4550" y="2469"/>
                  </a:cubicBezTo>
                  <a:cubicBezTo>
                    <a:pt x="4385" y="2056"/>
                    <a:pt x="4190" y="1696"/>
                    <a:pt x="3974" y="1388"/>
                  </a:cubicBezTo>
                  <a:cubicBezTo>
                    <a:pt x="3327" y="461"/>
                    <a:pt x="2504" y="1"/>
                    <a:pt x="1776" y="1"/>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51"/>
            <p:cNvSpPr/>
            <p:nvPr/>
          </p:nvSpPr>
          <p:spPr>
            <a:xfrm>
              <a:off x="7009464" y="3603804"/>
              <a:ext cx="138719" cy="130439"/>
            </a:xfrm>
            <a:custGeom>
              <a:avLst/>
              <a:gdLst/>
              <a:ahLst/>
              <a:cxnLst/>
              <a:rect l="l" t="t" r="r" b="b"/>
              <a:pathLst>
                <a:path w="2848" h="2678" extrusionOk="0">
                  <a:moveTo>
                    <a:pt x="1373" y="0"/>
                  </a:moveTo>
                  <a:cubicBezTo>
                    <a:pt x="1020" y="582"/>
                    <a:pt x="0" y="824"/>
                    <a:pt x="0" y="824"/>
                  </a:cubicBezTo>
                  <a:cubicBezTo>
                    <a:pt x="330" y="2133"/>
                    <a:pt x="1353" y="2394"/>
                    <a:pt x="2169" y="2660"/>
                  </a:cubicBezTo>
                  <a:cubicBezTo>
                    <a:pt x="2204" y="2672"/>
                    <a:pt x="2235" y="2677"/>
                    <a:pt x="2262" y="2677"/>
                  </a:cubicBezTo>
                  <a:cubicBezTo>
                    <a:pt x="2847" y="2677"/>
                    <a:pt x="1373" y="0"/>
                    <a:pt x="1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51"/>
            <p:cNvSpPr/>
            <p:nvPr/>
          </p:nvSpPr>
          <p:spPr>
            <a:xfrm>
              <a:off x="6911516" y="3460656"/>
              <a:ext cx="169405" cy="169405"/>
            </a:xfrm>
            <a:custGeom>
              <a:avLst/>
              <a:gdLst/>
              <a:ahLst/>
              <a:cxnLst/>
              <a:rect l="l" t="t" r="r" b="b"/>
              <a:pathLst>
                <a:path w="3478" h="3478" extrusionOk="0">
                  <a:moveTo>
                    <a:pt x="1030" y="649"/>
                  </a:moveTo>
                  <a:cubicBezTo>
                    <a:pt x="1358" y="649"/>
                    <a:pt x="1626" y="901"/>
                    <a:pt x="1626" y="1209"/>
                  </a:cubicBezTo>
                  <a:lnTo>
                    <a:pt x="1626" y="1220"/>
                  </a:lnTo>
                  <a:cubicBezTo>
                    <a:pt x="1620" y="1527"/>
                    <a:pt x="1354" y="1772"/>
                    <a:pt x="1030" y="1772"/>
                  </a:cubicBezTo>
                  <a:cubicBezTo>
                    <a:pt x="701" y="1772"/>
                    <a:pt x="434" y="1520"/>
                    <a:pt x="434" y="1209"/>
                  </a:cubicBezTo>
                  <a:cubicBezTo>
                    <a:pt x="434" y="1095"/>
                    <a:pt x="471" y="984"/>
                    <a:pt x="536" y="895"/>
                  </a:cubicBezTo>
                  <a:cubicBezTo>
                    <a:pt x="643" y="747"/>
                    <a:pt x="824" y="649"/>
                    <a:pt x="1030" y="649"/>
                  </a:cubicBezTo>
                  <a:close/>
                  <a:moveTo>
                    <a:pt x="2551" y="737"/>
                  </a:moveTo>
                  <a:cubicBezTo>
                    <a:pt x="2778" y="737"/>
                    <a:pt x="2974" y="854"/>
                    <a:pt x="3076" y="1029"/>
                  </a:cubicBezTo>
                  <a:cubicBezTo>
                    <a:pt x="3121" y="1111"/>
                    <a:pt x="3146" y="1201"/>
                    <a:pt x="3146" y="1298"/>
                  </a:cubicBezTo>
                  <a:cubicBezTo>
                    <a:pt x="3146" y="1608"/>
                    <a:pt x="2881" y="1859"/>
                    <a:pt x="2551" y="1859"/>
                  </a:cubicBezTo>
                  <a:cubicBezTo>
                    <a:pt x="2222" y="1859"/>
                    <a:pt x="1955" y="1608"/>
                    <a:pt x="1955" y="1298"/>
                  </a:cubicBezTo>
                  <a:cubicBezTo>
                    <a:pt x="1955" y="1278"/>
                    <a:pt x="1956" y="1260"/>
                    <a:pt x="1958" y="1242"/>
                  </a:cubicBezTo>
                  <a:cubicBezTo>
                    <a:pt x="1989" y="957"/>
                    <a:pt x="2242" y="737"/>
                    <a:pt x="2551" y="737"/>
                  </a:cubicBezTo>
                  <a:close/>
                  <a:moveTo>
                    <a:pt x="1739" y="1948"/>
                  </a:moveTo>
                  <a:cubicBezTo>
                    <a:pt x="2068" y="1948"/>
                    <a:pt x="2335" y="2200"/>
                    <a:pt x="2335" y="2511"/>
                  </a:cubicBezTo>
                  <a:cubicBezTo>
                    <a:pt x="2335" y="2819"/>
                    <a:pt x="2068" y="3071"/>
                    <a:pt x="1739" y="3071"/>
                  </a:cubicBezTo>
                  <a:cubicBezTo>
                    <a:pt x="1409" y="3071"/>
                    <a:pt x="1144" y="2819"/>
                    <a:pt x="1144" y="2511"/>
                  </a:cubicBezTo>
                  <a:cubicBezTo>
                    <a:pt x="1144" y="2355"/>
                    <a:pt x="1210" y="2215"/>
                    <a:pt x="1317" y="2112"/>
                  </a:cubicBezTo>
                  <a:cubicBezTo>
                    <a:pt x="1425" y="2010"/>
                    <a:pt x="1575" y="1948"/>
                    <a:pt x="1739" y="1948"/>
                  </a:cubicBezTo>
                  <a:close/>
                  <a:moveTo>
                    <a:pt x="1739" y="0"/>
                  </a:moveTo>
                  <a:cubicBezTo>
                    <a:pt x="1110" y="0"/>
                    <a:pt x="557" y="335"/>
                    <a:pt x="252" y="837"/>
                  </a:cubicBezTo>
                  <a:cubicBezTo>
                    <a:pt x="91" y="1102"/>
                    <a:pt x="0" y="1408"/>
                    <a:pt x="0" y="1739"/>
                  </a:cubicBezTo>
                  <a:cubicBezTo>
                    <a:pt x="0" y="2368"/>
                    <a:pt x="336" y="2921"/>
                    <a:pt x="837" y="3226"/>
                  </a:cubicBezTo>
                  <a:cubicBezTo>
                    <a:pt x="1097" y="3384"/>
                    <a:pt x="1402" y="3476"/>
                    <a:pt x="1730" y="3478"/>
                  </a:cubicBezTo>
                  <a:lnTo>
                    <a:pt x="1739" y="3478"/>
                  </a:lnTo>
                  <a:cubicBezTo>
                    <a:pt x="2700" y="3478"/>
                    <a:pt x="3477" y="2699"/>
                    <a:pt x="3477" y="1739"/>
                  </a:cubicBezTo>
                  <a:cubicBezTo>
                    <a:pt x="3477" y="1469"/>
                    <a:pt x="3416" y="1212"/>
                    <a:pt x="3306" y="984"/>
                  </a:cubicBezTo>
                  <a:cubicBezTo>
                    <a:pt x="3258" y="884"/>
                    <a:pt x="3199" y="789"/>
                    <a:pt x="3132" y="699"/>
                  </a:cubicBezTo>
                  <a:cubicBezTo>
                    <a:pt x="2816" y="276"/>
                    <a:pt x="2310"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51"/>
            <p:cNvSpPr/>
            <p:nvPr/>
          </p:nvSpPr>
          <p:spPr>
            <a:xfrm>
              <a:off x="6884289" y="3410878"/>
              <a:ext cx="310364" cy="384156"/>
            </a:xfrm>
            <a:custGeom>
              <a:avLst/>
              <a:gdLst/>
              <a:ahLst/>
              <a:cxnLst/>
              <a:rect l="l" t="t" r="r" b="b"/>
              <a:pathLst>
                <a:path w="6372" h="7887" extrusionOk="0">
                  <a:moveTo>
                    <a:pt x="5451" y="4389"/>
                  </a:moveTo>
                  <a:lnTo>
                    <a:pt x="5451" y="4389"/>
                  </a:lnTo>
                  <a:cubicBezTo>
                    <a:pt x="5516" y="4553"/>
                    <a:pt x="5581" y="4719"/>
                    <a:pt x="5648" y="4881"/>
                  </a:cubicBezTo>
                  <a:cubicBezTo>
                    <a:pt x="5581" y="4719"/>
                    <a:pt x="5516" y="4555"/>
                    <a:pt x="5451" y="4389"/>
                  </a:cubicBezTo>
                  <a:close/>
                  <a:moveTo>
                    <a:pt x="1775" y="269"/>
                  </a:moveTo>
                  <a:cubicBezTo>
                    <a:pt x="2502" y="269"/>
                    <a:pt x="3326" y="729"/>
                    <a:pt x="3973" y="1656"/>
                  </a:cubicBezTo>
                  <a:cubicBezTo>
                    <a:pt x="4189" y="1964"/>
                    <a:pt x="4384" y="2324"/>
                    <a:pt x="4549" y="2737"/>
                  </a:cubicBezTo>
                  <a:cubicBezTo>
                    <a:pt x="5687" y="5567"/>
                    <a:pt x="6104" y="6977"/>
                    <a:pt x="5869" y="7273"/>
                  </a:cubicBezTo>
                  <a:cubicBezTo>
                    <a:pt x="5842" y="7308"/>
                    <a:pt x="5772" y="7324"/>
                    <a:pt x="5670" y="7324"/>
                  </a:cubicBezTo>
                  <a:cubicBezTo>
                    <a:pt x="5059" y="7324"/>
                    <a:pt x="3269" y="6749"/>
                    <a:pt x="2142" y="6322"/>
                  </a:cubicBezTo>
                  <a:cubicBezTo>
                    <a:pt x="1871" y="6217"/>
                    <a:pt x="1638" y="6122"/>
                    <a:pt x="1469" y="6045"/>
                  </a:cubicBezTo>
                  <a:cubicBezTo>
                    <a:pt x="719" y="5701"/>
                    <a:pt x="285" y="4420"/>
                    <a:pt x="124" y="3842"/>
                  </a:cubicBezTo>
                  <a:cubicBezTo>
                    <a:pt x="104" y="3659"/>
                    <a:pt x="91" y="3473"/>
                    <a:pt x="83" y="3290"/>
                  </a:cubicBezTo>
                  <a:cubicBezTo>
                    <a:pt x="67" y="2822"/>
                    <a:pt x="84" y="2351"/>
                    <a:pt x="168" y="1892"/>
                  </a:cubicBezTo>
                  <a:cubicBezTo>
                    <a:pt x="220" y="1606"/>
                    <a:pt x="293" y="1319"/>
                    <a:pt x="409" y="1054"/>
                  </a:cubicBezTo>
                  <a:cubicBezTo>
                    <a:pt x="731" y="532"/>
                    <a:pt x="1226" y="269"/>
                    <a:pt x="1775" y="269"/>
                  </a:cubicBezTo>
                  <a:close/>
                  <a:moveTo>
                    <a:pt x="1680" y="0"/>
                  </a:moveTo>
                  <a:cubicBezTo>
                    <a:pt x="1503" y="0"/>
                    <a:pt x="1322" y="30"/>
                    <a:pt x="1157" y="104"/>
                  </a:cubicBezTo>
                  <a:cubicBezTo>
                    <a:pt x="934" y="201"/>
                    <a:pt x="746" y="365"/>
                    <a:pt x="600" y="556"/>
                  </a:cubicBezTo>
                  <a:cubicBezTo>
                    <a:pt x="310" y="943"/>
                    <a:pt x="176" y="1415"/>
                    <a:pt x="94" y="1879"/>
                  </a:cubicBezTo>
                  <a:cubicBezTo>
                    <a:pt x="12" y="2345"/>
                    <a:pt x="1" y="2820"/>
                    <a:pt x="19" y="3293"/>
                  </a:cubicBezTo>
                  <a:cubicBezTo>
                    <a:pt x="43" y="3763"/>
                    <a:pt x="101" y="4234"/>
                    <a:pt x="210" y="4693"/>
                  </a:cubicBezTo>
                  <a:cubicBezTo>
                    <a:pt x="262" y="4924"/>
                    <a:pt x="330" y="5150"/>
                    <a:pt x="415" y="5372"/>
                  </a:cubicBezTo>
                  <a:cubicBezTo>
                    <a:pt x="501" y="5591"/>
                    <a:pt x="601" y="5808"/>
                    <a:pt x="753" y="5995"/>
                  </a:cubicBezTo>
                  <a:cubicBezTo>
                    <a:pt x="823" y="6093"/>
                    <a:pt x="927" y="6163"/>
                    <a:pt x="1020" y="6231"/>
                  </a:cubicBezTo>
                  <a:cubicBezTo>
                    <a:pt x="1115" y="6300"/>
                    <a:pt x="1212" y="6367"/>
                    <a:pt x="1308" y="6433"/>
                  </a:cubicBezTo>
                  <a:cubicBezTo>
                    <a:pt x="1505" y="6565"/>
                    <a:pt x="1704" y="6690"/>
                    <a:pt x="1910" y="6804"/>
                  </a:cubicBezTo>
                  <a:cubicBezTo>
                    <a:pt x="2323" y="7033"/>
                    <a:pt x="2760" y="7215"/>
                    <a:pt x="3208" y="7360"/>
                  </a:cubicBezTo>
                  <a:cubicBezTo>
                    <a:pt x="3843" y="7565"/>
                    <a:pt x="4497" y="7698"/>
                    <a:pt x="5157" y="7790"/>
                  </a:cubicBezTo>
                  <a:cubicBezTo>
                    <a:pt x="5409" y="7825"/>
                    <a:pt x="5677" y="7857"/>
                    <a:pt x="5961" y="7885"/>
                  </a:cubicBezTo>
                  <a:lnTo>
                    <a:pt x="5987" y="7885"/>
                  </a:lnTo>
                  <a:cubicBezTo>
                    <a:pt x="5995" y="7885"/>
                    <a:pt x="6004" y="7886"/>
                    <a:pt x="6012" y="7886"/>
                  </a:cubicBezTo>
                  <a:cubicBezTo>
                    <a:pt x="6012" y="7886"/>
                    <a:pt x="6012" y="7886"/>
                    <a:pt x="6013" y="7886"/>
                  </a:cubicBezTo>
                  <a:lnTo>
                    <a:pt x="6013" y="7886"/>
                  </a:lnTo>
                  <a:cubicBezTo>
                    <a:pt x="6006" y="7886"/>
                    <a:pt x="6000" y="7886"/>
                    <a:pt x="5994" y="7886"/>
                  </a:cubicBezTo>
                  <a:cubicBezTo>
                    <a:pt x="5993" y="7886"/>
                    <a:pt x="5992" y="7886"/>
                    <a:pt x="5991" y="7886"/>
                  </a:cubicBezTo>
                  <a:lnTo>
                    <a:pt x="5991" y="7886"/>
                  </a:lnTo>
                  <a:cubicBezTo>
                    <a:pt x="5997" y="7887"/>
                    <a:pt x="6002" y="7887"/>
                    <a:pt x="6008" y="7887"/>
                  </a:cubicBezTo>
                  <a:cubicBezTo>
                    <a:pt x="6037" y="7887"/>
                    <a:pt x="6066" y="7883"/>
                    <a:pt x="6094" y="7876"/>
                  </a:cubicBezTo>
                  <a:lnTo>
                    <a:pt x="6094" y="7876"/>
                  </a:lnTo>
                  <a:cubicBezTo>
                    <a:pt x="6067" y="7882"/>
                    <a:pt x="6040" y="7886"/>
                    <a:pt x="6013" y="7886"/>
                  </a:cubicBezTo>
                  <a:lnTo>
                    <a:pt x="6013" y="7886"/>
                  </a:lnTo>
                  <a:cubicBezTo>
                    <a:pt x="6184" y="7877"/>
                    <a:pt x="6329" y="7746"/>
                    <a:pt x="6344" y="7568"/>
                  </a:cubicBezTo>
                  <a:cubicBezTo>
                    <a:pt x="6371" y="7240"/>
                    <a:pt x="6319" y="6634"/>
                    <a:pt x="5934" y="5595"/>
                  </a:cubicBezTo>
                  <a:lnTo>
                    <a:pt x="5932" y="5594"/>
                  </a:lnTo>
                  <a:cubicBezTo>
                    <a:pt x="5892" y="5485"/>
                    <a:pt x="5848" y="5372"/>
                    <a:pt x="5800" y="5253"/>
                  </a:cubicBezTo>
                  <a:lnTo>
                    <a:pt x="5800" y="5253"/>
                  </a:lnTo>
                  <a:cubicBezTo>
                    <a:pt x="5817" y="5294"/>
                    <a:pt x="5836" y="5335"/>
                    <a:pt x="5853" y="5376"/>
                  </a:cubicBezTo>
                  <a:cubicBezTo>
                    <a:pt x="6025" y="5813"/>
                    <a:pt x="6179" y="6258"/>
                    <a:pt x="6277" y="6719"/>
                  </a:cubicBezTo>
                  <a:cubicBezTo>
                    <a:pt x="6325" y="6948"/>
                    <a:pt x="6360" y="7181"/>
                    <a:pt x="6361" y="7417"/>
                  </a:cubicBezTo>
                  <a:cubicBezTo>
                    <a:pt x="6361" y="7531"/>
                    <a:pt x="6364" y="7659"/>
                    <a:pt x="6285" y="7752"/>
                  </a:cubicBezTo>
                  <a:cubicBezTo>
                    <a:pt x="6238" y="7814"/>
                    <a:pt x="6169" y="7857"/>
                    <a:pt x="6094" y="7876"/>
                  </a:cubicBezTo>
                  <a:lnTo>
                    <a:pt x="6094" y="7876"/>
                  </a:lnTo>
                  <a:cubicBezTo>
                    <a:pt x="6170" y="7858"/>
                    <a:pt x="6240" y="7815"/>
                    <a:pt x="6288" y="7753"/>
                  </a:cubicBezTo>
                  <a:cubicBezTo>
                    <a:pt x="6367" y="7660"/>
                    <a:pt x="6366" y="7531"/>
                    <a:pt x="6367" y="7417"/>
                  </a:cubicBezTo>
                  <a:cubicBezTo>
                    <a:pt x="6367" y="7181"/>
                    <a:pt x="6333" y="6946"/>
                    <a:pt x="6288" y="6716"/>
                  </a:cubicBezTo>
                  <a:cubicBezTo>
                    <a:pt x="6193" y="6255"/>
                    <a:pt x="6041" y="5807"/>
                    <a:pt x="5872" y="5369"/>
                  </a:cubicBezTo>
                  <a:cubicBezTo>
                    <a:pt x="5509" y="4501"/>
                    <a:pt x="5205" y="3611"/>
                    <a:pt x="4829" y="2746"/>
                  </a:cubicBezTo>
                  <a:cubicBezTo>
                    <a:pt x="4640" y="2314"/>
                    <a:pt x="4433" y="1889"/>
                    <a:pt x="4170" y="1496"/>
                  </a:cubicBezTo>
                  <a:cubicBezTo>
                    <a:pt x="3910" y="1103"/>
                    <a:pt x="3594" y="738"/>
                    <a:pt x="3201" y="470"/>
                  </a:cubicBezTo>
                  <a:cubicBezTo>
                    <a:pt x="2809" y="201"/>
                    <a:pt x="2343" y="34"/>
                    <a:pt x="1867" y="10"/>
                  </a:cubicBezTo>
                  <a:cubicBezTo>
                    <a:pt x="1805" y="4"/>
                    <a:pt x="1743"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51"/>
            <p:cNvSpPr/>
            <p:nvPr/>
          </p:nvSpPr>
          <p:spPr>
            <a:xfrm>
              <a:off x="6995339" y="2803558"/>
              <a:ext cx="1415002" cy="620485"/>
            </a:xfrm>
            <a:custGeom>
              <a:avLst/>
              <a:gdLst/>
              <a:ahLst/>
              <a:cxnLst/>
              <a:rect l="l" t="t" r="r" b="b"/>
              <a:pathLst>
                <a:path w="29051" h="12739" extrusionOk="0">
                  <a:moveTo>
                    <a:pt x="9356" y="79"/>
                  </a:moveTo>
                  <a:lnTo>
                    <a:pt x="9356" y="79"/>
                  </a:lnTo>
                  <a:cubicBezTo>
                    <a:pt x="7086" y="164"/>
                    <a:pt x="4496" y="325"/>
                    <a:pt x="2691" y="635"/>
                  </a:cubicBezTo>
                  <a:lnTo>
                    <a:pt x="2691" y="636"/>
                  </a:lnTo>
                  <a:cubicBezTo>
                    <a:pt x="2691" y="636"/>
                    <a:pt x="312" y="2270"/>
                    <a:pt x="175" y="5613"/>
                  </a:cubicBezTo>
                  <a:cubicBezTo>
                    <a:pt x="122" y="6879"/>
                    <a:pt x="1" y="8208"/>
                    <a:pt x="63" y="9371"/>
                  </a:cubicBezTo>
                  <a:lnTo>
                    <a:pt x="9356" y="79"/>
                  </a:lnTo>
                  <a:close/>
                  <a:moveTo>
                    <a:pt x="15922" y="0"/>
                  </a:moveTo>
                  <a:lnTo>
                    <a:pt x="14234" y="1688"/>
                  </a:lnTo>
                  <a:lnTo>
                    <a:pt x="3185" y="12738"/>
                  </a:lnTo>
                  <a:lnTo>
                    <a:pt x="8433" y="12738"/>
                  </a:lnTo>
                  <a:lnTo>
                    <a:pt x="14233" y="6939"/>
                  </a:lnTo>
                  <a:lnTo>
                    <a:pt x="21005" y="167"/>
                  </a:lnTo>
                  <a:cubicBezTo>
                    <a:pt x="19104" y="61"/>
                    <a:pt x="17218" y="17"/>
                    <a:pt x="15922" y="0"/>
                  </a:cubicBezTo>
                  <a:close/>
                  <a:moveTo>
                    <a:pt x="27826" y="3388"/>
                  </a:moveTo>
                  <a:lnTo>
                    <a:pt x="18475" y="12738"/>
                  </a:lnTo>
                  <a:lnTo>
                    <a:pt x="25531" y="12738"/>
                  </a:lnTo>
                  <a:cubicBezTo>
                    <a:pt x="29050" y="12738"/>
                    <a:pt x="28430" y="8954"/>
                    <a:pt x="28293" y="5613"/>
                  </a:cubicBezTo>
                  <a:cubicBezTo>
                    <a:pt x="28259" y="4761"/>
                    <a:pt x="28078" y="4020"/>
                    <a:pt x="27826" y="338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51"/>
            <p:cNvSpPr/>
            <p:nvPr/>
          </p:nvSpPr>
          <p:spPr>
            <a:xfrm>
              <a:off x="6912246" y="2738535"/>
              <a:ext cx="1552746" cy="1066646"/>
            </a:xfrm>
            <a:custGeom>
              <a:avLst/>
              <a:gdLst/>
              <a:ahLst/>
              <a:cxnLst/>
              <a:rect l="l" t="t" r="r" b="b"/>
              <a:pathLst>
                <a:path w="31879" h="21899" extrusionOk="0">
                  <a:moveTo>
                    <a:pt x="16019" y="1321"/>
                  </a:moveTo>
                  <a:cubicBezTo>
                    <a:pt x="16835" y="1321"/>
                    <a:pt x="23798" y="1340"/>
                    <a:pt x="27483" y="1970"/>
                  </a:cubicBezTo>
                  <a:lnTo>
                    <a:pt x="27483" y="1971"/>
                  </a:lnTo>
                  <a:cubicBezTo>
                    <a:pt x="27483" y="1971"/>
                    <a:pt x="29862" y="3605"/>
                    <a:pt x="29999" y="6948"/>
                  </a:cubicBezTo>
                  <a:cubicBezTo>
                    <a:pt x="30136" y="10289"/>
                    <a:pt x="30756" y="14073"/>
                    <a:pt x="27237" y="14073"/>
                  </a:cubicBezTo>
                  <a:lnTo>
                    <a:pt x="4642" y="14073"/>
                  </a:lnTo>
                  <a:cubicBezTo>
                    <a:pt x="1123" y="14073"/>
                    <a:pt x="1745" y="10289"/>
                    <a:pt x="1881" y="6948"/>
                  </a:cubicBezTo>
                  <a:cubicBezTo>
                    <a:pt x="2018" y="3605"/>
                    <a:pt x="4397" y="1971"/>
                    <a:pt x="4397" y="1971"/>
                  </a:cubicBezTo>
                  <a:lnTo>
                    <a:pt x="4397" y="1970"/>
                  </a:lnTo>
                  <a:cubicBezTo>
                    <a:pt x="8081" y="1340"/>
                    <a:pt x="15046" y="1321"/>
                    <a:pt x="15862" y="1321"/>
                  </a:cubicBezTo>
                  <a:cubicBezTo>
                    <a:pt x="15913" y="1321"/>
                    <a:pt x="15940" y="1321"/>
                    <a:pt x="15940" y="1321"/>
                  </a:cubicBezTo>
                  <a:cubicBezTo>
                    <a:pt x="15940" y="1321"/>
                    <a:pt x="15967" y="1321"/>
                    <a:pt x="16019" y="1321"/>
                  </a:cubicBezTo>
                  <a:close/>
                  <a:moveTo>
                    <a:pt x="15940" y="1"/>
                  </a:moveTo>
                  <a:cubicBezTo>
                    <a:pt x="15940" y="1"/>
                    <a:pt x="7742" y="43"/>
                    <a:pt x="3980" y="2047"/>
                  </a:cubicBezTo>
                  <a:cubicBezTo>
                    <a:pt x="3796" y="2144"/>
                    <a:pt x="3623" y="2247"/>
                    <a:pt x="3462" y="2353"/>
                  </a:cubicBezTo>
                  <a:cubicBezTo>
                    <a:pt x="1" y="4659"/>
                    <a:pt x="721" y="13895"/>
                    <a:pt x="721" y="13895"/>
                  </a:cubicBezTo>
                  <a:cubicBezTo>
                    <a:pt x="844" y="13858"/>
                    <a:pt x="975" y="13839"/>
                    <a:pt x="1117" y="13839"/>
                  </a:cubicBezTo>
                  <a:cubicBezTo>
                    <a:pt x="1137" y="13839"/>
                    <a:pt x="1156" y="13839"/>
                    <a:pt x="1175" y="13840"/>
                  </a:cubicBezTo>
                  <a:cubicBezTo>
                    <a:pt x="1704" y="13863"/>
                    <a:pt x="2146" y="14010"/>
                    <a:pt x="2524" y="14247"/>
                  </a:cubicBezTo>
                  <a:cubicBezTo>
                    <a:pt x="3014" y="14557"/>
                    <a:pt x="3396" y="15017"/>
                    <a:pt x="3719" y="15563"/>
                  </a:cubicBezTo>
                  <a:cubicBezTo>
                    <a:pt x="4992" y="16140"/>
                    <a:pt x="15940" y="16565"/>
                    <a:pt x="15940" y="16565"/>
                  </a:cubicBezTo>
                  <a:cubicBezTo>
                    <a:pt x="15940" y="16565"/>
                    <a:pt x="26888" y="16140"/>
                    <a:pt x="28160" y="15563"/>
                  </a:cubicBezTo>
                  <a:cubicBezTo>
                    <a:pt x="28485" y="15017"/>
                    <a:pt x="28867" y="14557"/>
                    <a:pt x="29356" y="14247"/>
                  </a:cubicBezTo>
                  <a:cubicBezTo>
                    <a:pt x="29734" y="14010"/>
                    <a:pt x="30177" y="13863"/>
                    <a:pt x="30704" y="13840"/>
                  </a:cubicBezTo>
                  <a:cubicBezTo>
                    <a:pt x="30723" y="13839"/>
                    <a:pt x="30743" y="13839"/>
                    <a:pt x="30762" y="13839"/>
                  </a:cubicBezTo>
                  <a:cubicBezTo>
                    <a:pt x="30905" y="13839"/>
                    <a:pt x="31037" y="13858"/>
                    <a:pt x="31159" y="13895"/>
                  </a:cubicBezTo>
                  <a:cubicBezTo>
                    <a:pt x="31158" y="13895"/>
                    <a:pt x="31879" y="4659"/>
                    <a:pt x="28417" y="2353"/>
                  </a:cubicBezTo>
                  <a:cubicBezTo>
                    <a:pt x="28256" y="2247"/>
                    <a:pt x="28085" y="2144"/>
                    <a:pt x="27900" y="2047"/>
                  </a:cubicBezTo>
                  <a:cubicBezTo>
                    <a:pt x="24137" y="43"/>
                    <a:pt x="15940" y="1"/>
                    <a:pt x="15940" y="1"/>
                  </a:cubicBezTo>
                  <a:close/>
                  <a:moveTo>
                    <a:pt x="14352" y="16685"/>
                  </a:moveTo>
                  <a:cubicBezTo>
                    <a:pt x="13461" y="16685"/>
                    <a:pt x="12954" y="17964"/>
                    <a:pt x="13489" y="18858"/>
                  </a:cubicBezTo>
                  <a:lnTo>
                    <a:pt x="14986" y="21358"/>
                  </a:lnTo>
                  <a:cubicBezTo>
                    <a:pt x="15202" y="21719"/>
                    <a:pt x="15526" y="21899"/>
                    <a:pt x="15849" y="21899"/>
                  </a:cubicBezTo>
                  <a:cubicBezTo>
                    <a:pt x="16172" y="21899"/>
                    <a:pt x="16496" y="21719"/>
                    <a:pt x="16712" y="21358"/>
                  </a:cubicBezTo>
                  <a:lnTo>
                    <a:pt x="18210" y="18858"/>
                  </a:lnTo>
                  <a:cubicBezTo>
                    <a:pt x="18746" y="17964"/>
                    <a:pt x="18239" y="16685"/>
                    <a:pt x="17347" y="1668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51"/>
            <p:cNvSpPr/>
            <p:nvPr/>
          </p:nvSpPr>
          <p:spPr>
            <a:xfrm>
              <a:off x="7543140" y="3296954"/>
              <a:ext cx="282211" cy="254058"/>
            </a:xfrm>
            <a:custGeom>
              <a:avLst/>
              <a:gdLst/>
              <a:ahLst/>
              <a:cxnLst/>
              <a:rect l="l" t="t" r="r" b="b"/>
              <a:pathLst>
                <a:path w="5794" h="5216" extrusionOk="0">
                  <a:moveTo>
                    <a:pt x="2896" y="1"/>
                  </a:moveTo>
                  <a:cubicBezTo>
                    <a:pt x="2573" y="1"/>
                    <a:pt x="2249" y="181"/>
                    <a:pt x="2033" y="542"/>
                  </a:cubicBezTo>
                  <a:lnTo>
                    <a:pt x="536" y="3042"/>
                  </a:lnTo>
                  <a:cubicBezTo>
                    <a:pt x="1" y="3937"/>
                    <a:pt x="508" y="5216"/>
                    <a:pt x="1399" y="5216"/>
                  </a:cubicBezTo>
                  <a:lnTo>
                    <a:pt x="4394" y="5216"/>
                  </a:lnTo>
                  <a:cubicBezTo>
                    <a:pt x="5286" y="5216"/>
                    <a:pt x="5793" y="3937"/>
                    <a:pt x="5257" y="3042"/>
                  </a:cubicBezTo>
                  <a:lnTo>
                    <a:pt x="3759" y="542"/>
                  </a:lnTo>
                  <a:cubicBezTo>
                    <a:pt x="3543" y="181"/>
                    <a:pt x="3219" y="1"/>
                    <a:pt x="2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51"/>
            <p:cNvSpPr/>
            <p:nvPr/>
          </p:nvSpPr>
          <p:spPr>
            <a:xfrm>
              <a:off x="7608065" y="3569563"/>
              <a:ext cx="157520" cy="150847"/>
            </a:xfrm>
            <a:custGeom>
              <a:avLst/>
              <a:gdLst/>
              <a:ahLst/>
              <a:cxnLst/>
              <a:rect l="l" t="t" r="r" b="b"/>
              <a:pathLst>
                <a:path w="3234" h="3097" extrusionOk="0">
                  <a:moveTo>
                    <a:pt x="1616" y="415"/>
                  </a:moveTo>
                  <a:cubicBezTo>
                    <a:pt x="2242" y="415"/>
                    <a:pt x="2750" y="922"/>
                    <a:pt x="2750" y="1548"/>
                  </a:cubicBezTo>
                  <a:cubicBezTo>
                    <a:pt x="2750" y="2174"/>
                    <a:pt x="2242" y="2682"/>
                    <a:pt x="1616" y="2682"/>
                  </a:cubicBezTo>
                  <a:cubicBezTo>
                    <a:pt x="990" y="2682"/>
                    <a:pt x="483" y="2174"/>
                    <a:pt x="483" y="1548"/>
                  </a:cubicBezTo>
                  <a:cubicBezTo>
                    <a:pt x="483" y="922"/>
                    <a:pt x="990" y="415"/>
                    <a:pt x="1616" y="415"/>
                  </a:cubicBezTo>
                  <a:close/>
                  <a:moveTo>
                    <a:pt x="1616" y="1"/>
                  </a:moveTo>
                  <a:cubicBezTo>
                    <a:pt x="724" y="1"/>
                    <a:pt x="1" y="693"/>
                    <a:pt x="1" y="1548"/>
                  </a:cubicBezTo>
                  <a:cubicBezTo>
                    <a:pt x="1" y="2403"/>
                    <a:pt x="724" y="3096"/>
                    <a:pt x="1616" y="3096"/>
                  </a:cubicBezTo>
                  <a:cubicBezTo>
                    <a:pt x="2509" y="3096"/>
                    <a:pt x="3233" y="2403"/>
                    <a:pt x="3233" y="1548"/>
                  </a:cubicBezTo>
                  <a:cubicBezTo>
                    <a:pt x="3233" y="693"/>
                    <a:pt x="2509" y="1"/>
                    <a:pt x="16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51"/>
            <p:cNvSpPr/>
            <p:nvPr/>
          </p:nvSpPr>
          <p:spPr>
            <a:xfrm>
              <a:off x="8342167" y="3631713"/>
              <a:ext cx="96490" cy="86212"/>
            </a:xfrm>
            <a:custGeom>
              <a:avLst/>
              <a:gdLst/>
              <a:ahLst/>
              <a:cxnLst/>
              <a:rect l="l" t="t" r="r" b="b"/>
              <a:pathLst>
                <a:path w="1981" h="1770" extrusionOk="0">
                  <a:moveTo>
                    <a:pt x="1814" y="1"/>
                  </a:moveTo>
                  <a:cubicBezTo>
                    <a:pt x="1814" y="1"/>
                    <a:pt x="1482" y="301"/>
                    <a:pt x="1059" y="301"/>
                  </a:cubicBezTo>
                  <a:cubicBezTo>
                    <a:pt x="1030" y="301"/>
                    <a:pt x="1001" y="299"/>
                    <a:pt x="971" y="296"/>
                  </a:cubicBezTo>
                  <a:cubicBezTo>
                    <a:pt x="971" y="296"/>
                    <a:pt x="563" y="1537"/>
                    <a:pt x="0" y="1769"/>
                  </a:cubicBezTo>
                  <a:cubicBezTo>
                    <a:pt x="0" y="1769"/>
                    <a:pt x="391" y="1724"/>
                    <a:pt x="841" y="1539"/>
                  </a:cubicBezTo>
                  <a:cubicBezTo>
                    <a:pt x="1239" y="1378"/>
                    <a:pt x="1684" y="1108"/>
                    <a:pt x="1951" y="668"/>
                  </a:cubicBezTo>
                  <a:cubicBezTo>
                    <a:pt x="1951" y="668"/>
                    <a:pt x="1981" y="268"/>
                    <a:pt x="1814"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51"/>
            <p:cNvSpPr/>
            <p:nvPr/>
          </p:nvSpPr>
          <p:spPr>
            <a:xfrm>
              <a:off x="8194782" y="3423980"/>
              <a:ext cx="297457" cy="343680"/>
            </a:xfrm>
            <a:custGeom>
              <a:avLst/>
              <a:gdLst/>
              <a:ahLst/>
              <a:cxnLst/>
              <a:rect l="l" t="t" r="r" b="b"/>
              <a:pathLst>
                <a:path w="6107" h="7056" extrusionOk="0">
                  <a:moveTo>
                    <a:pt x="3807" y="753"/>
                  </a:moveTo>
                  <a:cubicBezTo>
                    <a:pt x="4437" y="753"/>
                    <a:pt x="4988" y="1090"/>
                    <a:pt x="5294" y="1590"/>
                  </a:cubicBezTo>
                  <a:cubicBezTo>
                    <a:pt x="5455" y="1855"/>
                    <a:pt x="5545" y="2161"/>
                    <a:pt x="5545" y="2492"/>
                  </a:cubicBezTo>
                  <a:cubicBezTo>
                    <a:pt x="5545" y="3122"/>
                    <a:pt x="5209" y="3674"/>
                    <a:pt x="4708" y="3979"/>
                  </a:cubicBezTo>
                  <a:cubicBezTo>
                    <a:pt x="4448" y="4139"/>
                    <a:pt x="4143" y="4229"/>
                    <a:pt x="3815" y="4231"/>
                  </a:cubicBezTo>
                  <a:lnTo>
                    <a:pt x="3807" y="4231"/>
                  </a:lnTo>
                  <a:cubicBezTo>
                    <a:pt x="2845" y="4231"/>
                    <a:pt x="2068" y="3453"/>
                    <a:pt x="2068" y="2492"/>
                  </a:cubicBezTo>
                  <a:cubicBezTo>
                    <a:pt x="2068" y="2222"/>
                    <a:pt x="2129" y="1966"/>
                    <a:pt x="2241" y="1737"/>
                  </a:cubicBezTo>
                  <a:cubicBezTo>
                    <a:pt x="2287" y="1637"/>
                    <a:pt x="2347" y="1542"/>
                    <a:pt x="2414" y="1452"/>
                  </a:cubicBezTo>
                  <a:cubicBezTo>
                    <a:pt x="2730" y="1029"/>
                    <a:pt x="3236" y="753"/>
                    <a:pt x="3807" y="753"/>
                  </a:cubicBezTo>
                  <a:close/>
                  <a:moveTo>
                    <a:pt x="4840" y="4266"/>
                  </a:moveTo>
                  <a:cubicBezTo>
                    <a:pt x="5007" y="4533"/>
                    <a:pt x="4977" y="4933"/>
                    <a:pt x="4977" y="4933"/>
                  </a:cubicBezTo>
                  <a:cubicBezTo>
                    <a:pt x="4710" y="5371"/>
                    <a:pt x="4265" y="5643"/>
                    <a:pt x="3867" y="5804"/>
                  </a:cubicBezTo>
                  <a:cubicBezTo>
                    <a:pt x="3417" y="5989"/>
                    <a:pt x="3026" y="6034"/>
                    <a:pt x="3026" y="6034"/>
                  </a:cubicBezTo>
                  <a:cubicBezTo>
                    <a:pt x="3589" y="5802"/>
                    <a:pt x="3997" y="4561"/>
                    <a:pt x="3997" y="4561"/>
                  </a:cubicBezTo>
                  <a:cubicBezTo>
                    <a:pt x="4026" y="4564"/>
                    <a:pt x="4055" y="4565"/>
                    <a:pt x="4083" y="4565"/>
                  </a:cubicBezTo>
                  <a:cubicBezTo>
                    <a:pt x="4507" y="4565"/>
                    <a:pt x="4840" y="4266"/>
                    <a:pt x="4840" y="4266"/>
                  </a:cubicBezTo>
                  <a:close/>
                  <a:moveTo>
                    <a:pt x="2163" y="3692"/>
                  </a:moveTo>
                  <a:cubicBezTo>
                    <a:pt x="2515" y="4274"/>
                    <a:pt x="3535" y="4516"/>
                    <a:pt x="3535" y="4516"/>
                  </a:cubicBezTo>
                  <a:cubicBezTo>
                    <a:pt x="3206" y="5825"/>
                    <a:pt x="2181" y="6086"/>
                    <a:pt x="1366" y="6352"/>
                  </a:cubicBezTo>
                  <a:cubicBezTo>
                    <a:pt x="1330" y="6364"/>
                    <a:pt x="1299" y="6369"/>
                    <a:pt x="1273" y="6369"/>
                  </a:cubicBezTo>
                  <a:cubicBezTo>
                    <a:pt x="687" y="6369"/>
                    <a:pt x="2163" y="3692"/>
                    <a:pt x="2163" y="3692"/>
                  </a:cubicBezTo>
                  <a:close/>
                  <a:moveTo>
                    <a:pt x="4330" y="0"/>
                  </a:moveTo>
                  <a:cubicBezTo>
                    <a:pt x="3603" y="0"/>
                    <a:pt x="2779" y="460"/>
                    <a:pt x="2132" y="1387"/>
                  </a:cubicBezTo>
                  <a:cubicBezTo>
                    <a:pt x="1915" y="1695"/>
                    <a:pt x="1720" y="2055"/>
                    <a:pt x="1555" y="2468"/>
                  </a:cubicBezTo>
                  <a:cubicBezTo>
                    <a:pt x="417" y="5298"/>
                    <a:pt x="0" y="6710"/>
                    <a:pt x="235" y="7004"/>
                  </a:cubicBezTo>
                  <a:cubicBezTo>
                    <a:pt x="263" y="7039"/>
                    <a:pt x="332" y="7055"/>
                    <a:pt x="434" y="7055"/>
                  </a:cubicBezTo>
                  <a:cubicBezTo>
                    <a:pt x="1046" y="7055"/>
                    <a:pt x="2837" y="6480"/>
                    <a:pt x="3962" y="6053"/>
                  </a:cubicBezTo>
                  <a:cubicBezTo>
                    <a:pt x="4233" y="5948"/>
                    <a:pt x="4467" y="5853"/>
                    <a:pt x="4635" y="5776"/>
                  </a:cubicBezTo>
                  <a:cubicBezTo>
                    <a:pt x="5614" y="5327"/>
                    <a:pt x="6054" y="3288"/>
                    <a:pt x="6054" y="3288"/>
                  </a:cubicBezTo>
                  <a:cubicBezTo>
                    <a:pt x="6106" y="2588"/>
                    <a:pt x="6071" y="1859"/>
                    <a:pt x="5910" y="1247"/>
                  </a:cubicBezTo>
                  <a:cubicBezTo>
                    <a:pt x="5628" y="418"/>
                    <a:pt x="5023" y="0"/>
                    <a:pt x="4330" y="0"/>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51"/>
            <p:cNvSpPr/>
            <p:nvPr/>
          </p:nvSpPr>
          <p:spPr>
            <a:xfrm>
              <a:off x="8228243" y="3603804"/>
              <a:ext cx="138768" cy="130439"/>
            </a:xfrm>
            <a:custGeom>
              <a:avLst/>
              <a:gdLst/>
              <a:ahLst/>
              <a:cxnLst/>
              <a:rect l="l" t="t" r="r" b="b"/>
              <a:pathLst>
                <a:path w="2849" h="2678" extrusionOk="0">
                  <a:moveTo>
                    <a:pt x="1476" y="0"/>
                  </a:moveTo>
                  <a:cubicBezTo>
                    <a:pt x="1476" y="0"/>
                    <a:pt x="0" y="2677"/>
                    <a:pt x="586" y="2677"/>
                  </a:cubicBezTo>
                  <a:cubicBezTo>
                    <a:pt x="612" y="2677"/>
                    <a:pt x="643" y="2672"/>
                    <a:pt x="679" y="2660"/>
                  </a:cubicBezTo>
                  <a:cubicBezTo>
                    <a:pt x="1494" y="2394"/>
                    <a:pt x="2519" y="2133"/>
                    <a:pt x="2848" y="824"/>
                  </a:cubicBezTo>
                  <a:cubicBezTo>
                    <a:pt x="2848" y="824"/>
                    <a:pt x="1828" y="582"/>
                    <a:pt x="1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51"/>
            <p:cNvSpPr/>
            <p:nvPr/>
          </p:nvSpPr>
          <p:spPr>
            <a:xfrm>
              <a:off x="8295507" y="3460656"/>
              <a:ext cx="169405" cy="169405"/>
            </a:xfrm>
            <a:custGeom>
              <a:avLst/>
              <a:gdLst/>
              <a:ahLst/>
              <a:cxnLst/>
              <a:rect l="l" t="t" r="r" b="b"/>
              <a:pathLst>
                <a:path w="3478" h="3478" extrusionOk="0">
                  <a:moveTo>
                    <a:pt x="2448" y="649"/>
                  </a:moveTo>
                  <a:cubicBezTo>
                    <a:pt x="2653" y="649"/>
                    <a:pt x="2834" y="747"/>
                    <a:pt x="2943" y="895"/>
                  </a:cubicBezTo>
                  <a:cubicBezTo>
                    <a:pt x="3007" y="984"/>
                    <a:pt x="3043" y="1095"/>
                    <a:pt x="3043" y="1209"/>
                  </a:cubicBezTo>
                  <a:cubicBezTo>
                    <a:pt x="3043" y="1520"/>
                    <a:pt x="2776" y="1772"/>
                    <a:pt x="2448" y="1772"/>
                  </a:cubicBezTo>
                  <a:cubicBezTo>
                    <a:pt x="2123" y="1772"/>
                    <a:pt x="1859" y="1527"/>
                    <a:pt x="1852" y="1220"/>
                  </a:cubicBezTo>
                  <a:lnTo>
                    <a:pt x="1852" y="1209"/>
                  </a:lnTo>
                  <a:cubicBezTo>
                    <a:pt x="1852" y="899"/>
                    <a:pt x="2119" y="649"/>
                    <a:pt x="2448" y="649"/>
                  </a:cubicBezTo>
                  <a:close/>
                  <a:moveTo>
                    <a:pt x="926" y="737"/>
                  </a:moveTo>
                  <a:cubicBezTo>
                    <a:pt x="1235" y="737"/>
                    <a:pt x="1488" y="957"/>
                    <a:pt x="1520" y="1242"/>
                  </a:cubicBezTo>
                  <a:cubicBezTo>
                    <a:pt x="1521" y="1260"/>
                    <a:pt x="1522" y="1278"/>
                    <a:pt x="1522" y="1298"/>
                  </a:cubicBezTo>
                  <a:cubicBezTo>
                    <a:pt x="1522" y="1608"/>
                    <a:pt x="1255" y="1859"/>
                    <a:pt x="926" y="1859"/>
                  </a:cubicBezTo>
                  <a:cubicBezTo>
                    <a:pt x="598" y="1859"/>
                    <a:pt x="331" y="1608"/>
                    <a:pt x="331" y="1298"/>
                  </a:cubicBezTo>
                  <a:cubicBezTo>
                    <a:pt x="331" y="1201"/>
                    <a:pt x="356" y="1111"/>
                    <a:pt x="401" y="1029"/>
                  </a:cubicBezTo>
                  <a:cubicBezTo>
                    <a:pt x="503" y="854"/>
                    <a:pt x="700" y="737"/>
                    <a:pt x="926" y="737"/>
                  </a:cubicBezTo>
                  <a:close/>
                  <a:moveTo>
                    <a:pt x="1739" y="1948"/>
                  </a:moveTo>
                  <a:cubicBezTo>
                    <a:pt x="1903" y="1948"/>
                    <a:pt x="2052" y="2010"/>
                    <a:pt x="2161" y="2112"/>
                  </a:cubicBezTo>
                  <a:cubicBezTo>
                    <a:pt x="2267" y="2215"/>
                    <a:pt x="2335" y="2355"/>
                    <a:pt x="2335" y="2511"/>
                  </a:cubicBezTo>
                  <a:cubicBezTo>
                    <a:pt x="2335" y="2819"/>
                    <a:pt x="2068" y="3071"/>
                    <a:pt x="1739" y="3071"/>
                  </a:cubicBezTo>
                  <a:cubicBezTo>
                    <a:pt x="1409" y="3071"/>
                    <a:pt x="1142" y="2819"/>
                    <a:pt x="1142" y="2511"/>
                  </a:cubicBezTo>
                  <a:cubicBezTo>
                    <a:pt x="1142" y="2200"/>
                    <a:pt x="1409" y="1948"/>
                    <a:pt x="1739" y="1948"/>
                  </a:cubicBezTo>
                  <a:close/>
                  <a:moveTo>
                    <a:pt x="1739" y="0"/>
                  </a:moveTo>
                  <a:cubicBezTo>
                    <a:pt x="1168" y="0"/>
                    <a:pt x="662" y="275"/>
                    <a:pt x="345" y="699"/>
                  </a:cubicBezTo>
                  <a:cubicBezTo>
                    <a:pt x="279" y="789"/>
                    <a:pt x="219" y="882"/>
                    <a:pt x="171" y="984"/>
                  </a:cubicBezTo>
                  <a:cubicBezTo>
                    <a:pt x="61" y="1212"/>
                    <a:pt x="0" y="1469"/>
                    <a:pt x="0" y="1739"/>
                  </a:cubicBezTo>
                  <a:cubicBezTo>
                    <a:pt x="0" y="2700"/>
                    <a:pt x="777" y="3478"/>
                    <a:pt x="1739" y="3478"/>
                  </a:cubicBezTo>
                  <a:lnTo>
                    <a:pt x="1747" y="3478"/>
                  </a:lnTo>
                  <a:cubicBezTo>
                    <a:pt x="2075" y="3476"/>
                    <a:pt x="2380" y="3384"/>
                    <a:pt x="2640" y="3226"/>
                  </a:cubicBezTo>
                  <a:cubicBezTo>
                    <a:pt x="3141" y="2921"/>
                    <a:pt x="3477" y="2368"/>
                    <a:pt x="3477" y="1739"/>
                  </a:cubicBezTo>
                  <a:cubicBezTo>
                    <a:pt x="3477" y="1408"/>
                    <a:pt x="3387" y="1100"/>
                    <a:pt x="3226" y="837"/>
                  </a:cubicBezTo>
                  <a:cubicBezTo>
                    <a:pt x="2920" y="335"/>
                    <a:pt x="2368"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51"/>
            <p:cNvSpPr/>
            <p:nvPr/>
          </p:nvSpPr>
          <p:spPr>
            <a:xfrm>
              <a:off x="8181777" y="3410878"/>
              <a:ext cx="310315" cy="384156"/>
            </a:xfrm>
            <a:custGeom>
              <a:avLst/>
              <a:gdLst/>
              <a:ahLst/>
              <a:cxnLst/>
              <a:rect l="l" t="t" r="r" b="b"/>
              <a:pathLst>
                <a:path w="6371" h="7887" extrusionOk="0">
                  <a:moveTo>
                    <a:pt x="920" y="4389"/>
                  </a:moveTo>
                  <a:cubicBezTo>
                    <a:pt x="855" y="4555"/>
                    <a:pt x="790" y="4719"/>
                    <a:pt x="724" y="4883"/>
                  </a:cubicBezTo>
                  <a:cubicBezTo>
                    <a:pt x="790" y="4719"/>
                    <a:pt x="855" y="4553"/>
                    <a:pt x="920" y="4389"/>
                  </a:cubicBezTo>
                  <a:close/>
                  <a:moveTo>
                    <a:pt x="4596" y="269"/>
                  </a:moveTo>
                  <a:cubicBezTo>
                    <a:pt x="5146" y="269"/>
                    <a:pt x="5640" y="532"/>
                    <a:pt x="5962" y="1054"/>
                  </a:cubicBezTo>
                  <a:cubicBezTo>
                    <a:pt x="6078" y="1319"/>
                    <a:pt x="6153" y="1606"/>
                    <a:pt x="6204" y="1892"/>
                  </a:cubicBezTo>
                  <a:cubicBezTo>
                    <a:pt x="6289" y="2351"/>
                    <a:pt x="6304" y="2822"/>
                    <a:pt x="6290" y="3290"/>
                  </a:cubicBezTo>
                  <a:cubicBezTo>
                    <a:pt x="6281" y="3475"/>
                    <a:pt x="6267" y="3659"/>
                    <a:pt x="6248" y="3842"/>
                  </a:cubicBezTo>
                  <a:cubicBezTo>
                    <a:pt x="6086" y="4420"/>
                    <a:pt x="5654" y="5701"/>
                    <a:pt x="4902" y="6045"/>
                  </a:cubicBezTo>
                  <a:cubicBezTo>
                    <a:pt x="4734" y="6122"/>
                    <a:pt x="4500" y="6217"/>
                    <a:pt x="4229" y="6322"/>
                  </a:cubicBezTo>
                  <a:cubicBezTo>
                    <a:pt x="3104" y="6749"/>
                    <a:pt x="1313" y="7324"/>
                    <a:pt x="701" y="7324"/>
                  </a:cubicBezTo>
                  <a:cubicBezTo>
                    <a:pt x="599" y="7324"/>
                    <a:pt x="530" y="7308"/>
                    <a:pt x="502" y="7273"/>
                  </a:cubicBezTo>
                  <a:cubicBezTo>
                    <a:pt x="267" y="6979"/>
                    <a:pt x="684" y="5567"/>
                    <a:pt x="1822" y="2737"/>
                  </a:cubicBezTo>
                  <a:cubicBezTo>
                    <a:pt x="1987" y="2324"/>
                    <a:pt x="2182" y="1964"/>
                    <a:pt x="2399" y="1656"/>
                  </a:cubicBezTo>
                  <a:cubicBezTo>
                    <a:pt x="3045" y="729"/>
                    <a:pt x="3869" y="269"/>
                    <a:pt x="4596" y="269"/>
                  </a:cubicBezTo>
                  <a:close/>
                  <a:moveTo>
                    <a:pt x="4691" y="0"/>
                  </a:moveTo>
                  <a:cubicBezTo>
                    <a:pt x="4628" y="0"/>
                    <a:pt x="4566" y="4"/>
                    <a:pt x="4505" y="10"/>
                  </a:cubicBezTo>
                  <a:cubicBezTo>
                    <a:pt x="4028" y="34"/>
                    <a:pt x="3562" y="201"/>
                    <a:pt x="3170" y="470"/>
                  </a:cubicBezTo>
                  <a:cubicBezTo>
                    <a:pt x="2777" y="738"/>
                    <a:pt x="2462" y="1103"/>
                    <a:pt x="2201" y="1496"/>
                  </a:cubicBezTo>
                  <a:cubicBezTo>
                    <a:pt x="1938" y="1889"/>
                    <a:pt x="1732" y="2316"/>
                    <a:pt x="1542" y="2747"/>
                  </a:cubicBezTo>
                  <a:cubicBezTo>
                    <a:pt x="1168" y="3611"/>
                    <a:pt x="864" y="4501"/>
                    <a:pt x="499" y="5369"/>
                  </a:cubicBezTo>
                  <a:cubicBezTo>
                    <a:pt x="331" y="5807"/>
                    <a:pt x="178" y="6255"/>
                    <a:pt x="83" y="6716"/>
                  </a:cubicBezTo>
                  <a:cubicBezTo>
                    <a:pt x="38" y="6946"/>
                    <a:pt x="4" y="7181"/>
                    <a:pt x="4" y="7417"/>
                  </a:cubicBezTo>
                  <a:cubicBezTo>
                    <a:pt x="6" y="7531"/>
                    <a:pt x="4" y="7660"/>
                    <a:pt x="83" y="7753"/>
                  </a:cubicBezTo>
                  <a:cubicBezTo>
                    <a:pt x="132" y="7816"/>
                    <a:pt x="204" y="7859"/>
                    <a:pt x="281" y="7877"/>
                  </a:cubicBezTo>
                  <a:lnTo>
                    <a:pt x="281" y="7877"/>
                  </a:lnTo>
                  <a:cubicBezTo>
                    <a:pt x="204" y="7858"/>
                    <a:pt x="134" y="7814"/>
                    <a:pt x="86" y="7752"/>
                  </a:cubicBezTo>
                  <a:cubicBezTo>
                    <a:pt x="7" y="7659"/>
                    <a:pt x="10" y="7531"/>
                    <a:pt x="10" y="7417"/>
                  </a:cubicBezTo>
                  <a:cubicBezTo>
                    <a:pt x="11" y="7181"/>
                    <a:pt x="47" y="6948"/>
                    <a:pt x="95" y="6719"/>
                  </a:cubicBezTo>
                  <a:cubicBezTo>
                    <a:pt x="192" y="6258"/>
                    <a:pt x="348" y="5813"/>
                    <a:pt x="519" y="5376"/>
                  </a:cubicBezTo>
                  <a:cubicBezTo>
                    <a:pt x="536" y="5335"/>
                    <a:pt x="554" y="5294"/>
                    <a:pt x="571" y="5253"/>
                  </a:cubicBezTo>
                  <a:lnTo>
                    <a:pt x="571" y="5253"/>
                  </a:lnTo>
                  <a:cubicBezTo>
                    <a:pt x="523" y="5372"/>
                    <a:pt x="479" y="5485"/>
                    <a:pt x="440" y="5594"/>
                  </a:cubicBezTo>
                  <a:lnTo>
                    <a:pt x="437" y="5595"/>
                  </a:lnTo>
                  <a:cubicBezTo>
                    <a:pt x="52" y="6634"/>
                    <a:pt x="0" y="7240"/>
                    <a:pt x="27" y="7570"/>
                  </a:cubicBezTo>
                  <a:cubicBezTo>
                    <a:pt x="43" y="7745"/>
                    <a:pt x="185" y="7876"/>
                    <a:pt x="355" y="7886"/>
                  </a:cubicBezTo>
                  <a:lnTo>
                    <a:pt x="355" y="7886"/>
                  </a:lnTo>
                  <a:cubicBezTo>
                    <a:pt x="357" y="7886"/>
                    <a:pt x="359" y="7886"/>
                    <a:pt x="360" y="7886"/>
                  </a:cubicBezTo>
                  <a:cubicBezTo>
                    <a:pt x="369" y="7886"/>
                    <a:pt x="377" y="7885"/>
                    <a:pt x="386" y="7885"/>
                  </a:cubicBezTo>
                  <a:lnTo>
                    <a:pt x="410" y="7885"/>
                  </a:lnTo>
                  <a:cubicBezTo>
                    <a:pt x="694" y="7857"/>
                    <a:pt x="963" y="7825"/>
                    <a:pt x="1216" y="7790"/>
                  </a:cubicBezTo>
                  <a:cubicBezTo>
                    <a:pt x="1874" y="7698"/>
                    <a:pt x="2529" y="7565"/>
                    <a:pt x="3163" y="7360"/>
                  </a:cubicBezTo>
                  <a:cubicBezTo>
                    <a:pt x="3611" y="7215"/>
                    <a:pt x="4048" y="7033"/>
                    <a:pt x="4461" y="6804"/>
                  </a:cubicBezTo>
                  <a:cubicBezTo>
                    <a:pt x="4667" y="6690"/>
                    <a:pt x="4867" y="6565"/>
                    <a:pt x="5063" y="6435"/>
                  </a:cubicBezTo>
                  <a:cubicBezTo>
                    <a:pt x="5159" y="6367"/>
                    <a:pt x="5257" y="6300"/>
                    <a:pt x="5351" y="6231"/>
                  </a:cubicBezTo>
                  <a:cubicBezTo>
                    <a:pt x="5445" y="6163"/>
                    <a:pt x="5548" y="6093"/>
                    <a:pt x="5619" y="5995"/>
                  </a:cubicBezTo>
                  <a:cubicBezTo>
                    <a:pt x="5770" y="5808"/>
                    <a:pt x="5870" y="5591"/>
                    <a:pt x="5956" y="5372"/>
                  </a:cubicBezTo>
                  <a:cubicBezTo>
                    <a:pt x="6041" y="5150"/>
                    <a:pt x="6109" y="4924"/>
                    <a:pt x="6161" y="4693"/>
                  </a:cubicBezTo>
                  <a:cubicBezTo>
                    <a:pt x="6270" y="4234"/>
                    <a:pt x="6328" y="3763"/>
                    <a:pt x="6354" y="3293"/>
                  </a:cubicBezTo>
                  <a:cubicBezTo>
                    <a:pt x="6371" y="2820"/>
                    <a:pt x="6359" y="2345"/>
                    <a:pt x="6277" y="1879"/>
                  </a:cubicBezTo>
                  <a:cubicBezTo>
                    <a:pt x="6195" y="1415"/>
                    <a:pt x="6061" y="943"/>
                    <a:pt x="5771" y="556"/>
                  </a:cubicBezTo>
                  <a:cubicBezTo>
                    <a:pt x="5626" y="365"/>
                    <a:pt x="5438" y="201"/>
                    <a:pt x="5214" y="104"/>
                  </a:cubicBezTo>
                  <a:cubicBezTo>
                    <a:pt x="5049" y="30"/>
                    <a:pt x="4869" y="0"/>
                    <a:pt x="4691" y="0"/>
                  </a:cubicBezTo>
                  <a:close/>
                  <a:moveTo>
                    <a:pt x="281" y="7877"/>
                  </a:moveTo>
                  <a:cubicBezTo>
                    <a:pt x="308" y="7883"/>
                    <a:pt x="336" y="7887"/>
                    <a:pt x="363" y="7887"/>
                  </a:cubicBezTo>
                  <a:cubicBezTo>
                    <a:pt x="369" y="7887"/>
                    <a:pt x="375" y="7887"/>
                    <a:pt x="380" y="7886"/>
                  </a:cubicBezTo>
                  <a:lnTo>
                    <a:pt x="380" y="7886"/>
                  </a:lnTo>
                  <a:cubicBezTo>
                    <a:pt x="378" y="7886"/>
                    <a:pt x="377" y="7886"/>
                    <a:pt x="375" y="7886"/>
                  </a:cubicBezTo>
                  <a:cubicBezTo>
                    <a:pt x="368" y="7886"/>
                    <a:pt x="361" y="7886"/>
                    <a:pt x="355" y="7886"/>
                  </a:cubicBezTo>
                  <a:lnTo>
                    <a:pt x="355" y="7886"/>
                  </a:lnTo>
                  <a:cubicBezTo>
                    <a:pt x="330" y="7885"/>
                    <a:pt x="305" y="7882"/>
                    <a:pt x="281" y="78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4" name="Google Shape;774;p51"/>
          <p:cNvSpPr/>
          <p:nvPr/>
        </p:nvSpPr>
        <p:spPr>
          <a:xfrm>
            <a:off x="10405703" y="1596243"/>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51"/>
          <p:cNvSpPr/>
          <p:nvPr/>
        </p:nvSpPr>
        <p:spPr>
          <a:xfrm>
            <a:off x="10003997" y="2031659"/>
            <a:ext cx="481763" cy="107449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51"/>
          <p:cNvSpPr/>
          <p:nvPr/>
        </p:nvSpPr>
        <p:spPr>
          <a:xfrm>
            <a:off x="8737778" y="2619514"/>
            <a:ext cx="267723" cy="34084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51"/>
          <p:cNvSpPr/>
          <p:nvPr/>
        </p:nvSpPr>
        <p:spPr>
          <a:xfrm>
            <a:off x="6707328" y="3079893"/>
            <a:ext cx="1438201" cy="34081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51"/>
          <p:cNvSpPr/>
          <p:nvPr/>
        </p:nvSpPr>
        <p:spPr>
          <a:xfrm>
            <a:off x="8014135" y="1282416"/>
            <a:ext cx="1675785" cy="39713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B5B66297-1A54-4501-A744-9A94E6B68674}"/>
              </a:ext>
            </a:extLst>
          </p:cNvPr>
          <p:cNvSpPr txBox="1"/>
          <p:nvPr/>
        </p:nvSpPr>
        <p:spPr>
          <a:xfrm>
            <a:off x="1114703" y="243157"/>
            <a:ext cx="6237900" cy="3613746"/>
          </a:xfrm>
          <a:prstGeom prst="rect">
            <a:avLst/>
          </a:prstGeom>
          <a:noFill/>
        </p:spPr>
        <p:txBody>
          <a:bodyPr wrap="square" rtlCol="0">
            <a:spAutoFit/>
          </a:bodyPr>
          <a:lstStyle/>
          <a:p>
            <a:pPr marL="285750" indent="-285750">
              <a:lnSpc>
                <a:spcPct val="150000"/>
              </a:lnSpc>
              <a:buBlip>
                <a:blip r:embed="rId3">
                  <a:extLst>
                    <a:ext uri="{96DAC541-7B7A-43D3-8B79-37D633B846F1}">
                      <asvg:svgBlip xmlns:asvg="http://schemas.microsoft.com/office/drawing/2016/SVG/main" r:embed="rId4"/>
                    </a:ext>
                  </a:extLst>
                </a:blip>
              </a:buBlip>
            </a:pPr>
            <a:r>
              <a:rPr lang="en-US" dirty="0">
                <a:solidFill>
                  <a:srgbClr val="1B667A"/>
                </a:solidFill>
                <a:latin typeface="SF Pro Text" panose="00000500000000000000" pitchFamily="2" charset="0"/>
                <a:ea typeface="SF Pro Text" panose="00000500000000000000" pitchFamily="2" charset="0"/>
              </a:rPr>
              <a:t>The vehicle traction motor of high density, high efficiency, and wide speed range and control system are the heart the electric car.</a:t>
            </a:r>
          </a:p>
          <a:p>
            <a:pPr marL="285750" indent="-285750">
              <a:lnSpc>
                <a:spcPct val="150000"/>
              </a:lnSpc>
              <a:buBlip>
                <a:blip r:embed="rId3">
                  <a:extLst>
                    <a:ext uri="{96DAC541-7B7A-43D3-8B79-37D633B846F1}">
                      <asvg:svgBlip xmlns:asvg="http://schemas.microsoft.com/office/drawing/2016/SVG/main" r:embed="rId4"/>
                    </a:ext>
                  </a:extLst>
                </a:blip>
              </a:buBlip>
            </a:pPr>
            <a:r>
              <a:rPr lang="en-US" dirty="0">
                <a:solidFill>
                  <a:srgbClr val="1B667A"/>
                </a:solidFill>
                <a:latin typeface="SF Pro Text" panose="00000500000000000000" pitchFamily="2" charset="0"/>
                <a:ea typeface="SF Pro Text" panose="00000500000000000000" pitchFamily="2" charset="0"/>
              </a:rPr>
              <a:t>The controller plays a vital role in managing power flow, matching voltage and current ratings with the motor, and ensuring compatibility with the battery pack.</a:t>
            </a:r>
          </a:p>
          <a:p>
            <a:pPr marL="285750" indent="-285750">
              <a:lnSpc>
                <a:spcPct val="150000"/>
              </a:lnSpc>
              <a:buBlip>
                <a:blip r:embed="rId3">
                  <a:extLst>
                    <a:ext uri="{96DAC541-7B7A-43D3-8B79-37D633B846F1}">
                      <asvg:svgBlip xmlns:asvg="http://schemas.microsoft.com/office/drawing/2016/SVG/main" r:embed="rId4"/>
                    </a:ext>
                  </a:extLst>
                </a:blip>
              </a:buBlip>
            </a:pPr>
            <a:r>
              <a:rPr lang="en-US" dirty="0">
                <a:solidFill>
                  <a:srgbClr val="1B667A"/>
                </a:solidFill>
                <a:latin typeface="SF Pro Text" panose="00000500000000000000" pitchFamily="2" charset="0"/>
                <a:ea typeface="SF Pro Text" panose="00000500000000000000" pitchFamily="2" charset="0"/>
              </a:rPr>
              <a:t>It should offer safety features, such as overcurrent protection and thermal shutdown, while also providing programmable options for customization and regenerative braking.</a:t>
            </a:r>
          </a:p>
          <a:p>
            <a:pPr marL="285750" indent="-285750">
              <a:lnSpc>
                <a:spcPct val="150000"/>
              </a:lnSpc>
              <a:buBlip>
                <a:blip r:embed="rId3">
                  <a:extLst>
                    <a:ext uri="{96DAC541-7B7A-43D3-8B79-37D633B846F1}">
                      <asvg:svgBlip xmlns:asvg="http://schemas.microsoft.com/office/drawing/2016/SVG/main" r:embed="rId4"/>
                    </a:ext>
                  </a:extLst>
                </a:blip>
              </a:buBlip>
            </a:pPr>
            <a:r>
              <a:rPr lang="en-US" dirty="0">
                <a:solidFill>
                  <a:srgbClr val="1B667A"/>
                </a:solidFill>
                <a:latin typeface="SF Pro Text" panose="00000500000000000000" pitchFamily="2" charset="0"/>
                <a:ea typeface="SF Pro Text" panose="00000500000000000000" pitchFamily="2" charset="0"/>
              </a:rPr>
              <a:t>Efficiency, ease of maintenance, compliance with standards, cost considerations, and manufacturer support are essential factors to evaluate when selecting a suitable controller for a 6-seater electric golf cart.</a:t>
            </a:r>
            <a:endParaRPr lang="en-IN" sz="1400" dirty="0">
              <a:solidFill>
                <a:srgbClr val="1B667A"/>
              </a:solidFill>
              <a:latin typeface="SF Pro Text" panose="00000500000000000000" pitchFamily="2" charset="0"/>
              <a:ea typeface="SF Pro Text" panose="00000500000000000000" pitchFamily="2" charset="0"/>
            </a:endParaRPr>
          </a:p>
        </p:txBody>
      </p:sp>
    </p:spTree>
    <p:extLst>
      <p:ext uri="{BB962C8B-B14F-4D97-AF65-F5344CB8AC3E}">
        <p14:creationId xmlns:p14="http://schemas.microsoft.com/office/powerpoint/2010/main" val="2638297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3"/>
          <p:cNvSpPr/>
          <p:nvPr/>
        </p:nvSpPr>
        <p:spPr>
          <a:xfrm>
            <a:off x="713225" y="3551425"/>
            <a:ext cx="7717500" cy="11427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53"/>
          <p:cNvSpPr txBox="1">
            <a:spLocks noGrp="1"/>
          </p:cNvSpPr>
          <p:nvPr>
            <p:ph type="title"/>
          </p:nvPr>
        </p:nvSpPr>
        <p:spPr>
          <a:xfrm>
            <a:off x="1425575" y="3551717"/>
            <a:ext cx="6548844" cy="1006800"/>
          </a:xfrm>
          <a:prstGeom prst="rect">
            <a:avLst/>
          </a:prstGeom>
        </p:spPr>
        <p:txBody>
          <a:bodyPr spcFirstLastPara="1" wrap="square" lIns="91425" tIns="91425" rIns="91425" bIns="91425" anchor="t" anchorCtr="0">
            <a:noAutofit/>
          </a:bodyPr>
          <a:lstStyle/>
          <a:p>
            <a:pPr algn="ctr"/>
            <a:r>
              <a:rPr lang="en-IN" sz="3200" dirty="0">
                <a:latin typeface="Montserrat" panose="00000500000000000000" pitchFamily="2" charset="0"/>
              </a:rPr>
              <a:t>Components &amp; specifications of transmission </a:t>
            </a:r>
          </a:p>
        </p:txBody>
      </p:sp>
      <p:sp>
        <p:nvSpPr>
          <p:cNvPr id="796" name="Google Shape;796;p53"/>
          <p:cNvSpPr txBox="1">
            <a:spLocks noGrp="1"/>
          </p:cNvSpPr>
          <p:nvPr>
            <p:ph type="subTitle" idx="1"/>
          </p:nvPr>
        </p:nvSpPr>
        <p:spPr>
          <a:xfrm>
            <a:off x="712174" y="1241950"/>
            <a:ext cx="3859825" cy="1845150"/>
          </a:xfrm>
          <a:prstGeom prst="rect">
            <a:avLst/>
          </a:prstGeom>
        </p:spPr>
        <p:txBody>
          <a:bodyPr spcFirstLastPara="1" wrap="square" lIns="91425" tIns="91425" rIns="91425" bIns="91425" anchor="t" anchorCtr="0">
            <a:noAutofit/>
          </a:bodyPr>
          <a:lstStyle/>
          <a:p>
            <a:pPr marL="342900" indent="-342900">
              <a:lnSpc>
                <a:spcPct val="150000"/>
              </a:lnSpc>
              <a:buAutoNum type="arabicPeriod"/>
            </a:pPr>
            <a:r>
              <a:rPr lang="en-IN" dirty="0">
                <a:latin typeface="SF Pro Text" panose="00000500000000000000" pitchFamily="2" charset="0"/>
                <a:ea typeface="SF Pro Text" panose="00000500000000000000" pitchFamily="2" charset="0"/>
              </a:rPr>
              <a:t>Motor</a:t>
            </a:r>
          </a:p>
          <a:p>
            <a:pPr marL="342900" indent="-342900">
              <a:lnSpc>
                <a:spcPct val="150000"/>
              </a:lnSpc>
              <a:buAutoNum type="arabicPeriod"/>
            </a:pPr>
            <a:r>
              <a:rPr lang="en-IN" dirty="0">
                <a:latin typeface="SF Pro Text" panose="00000500000000000000" pitchFamily="2" charset="0"/>
                <a:ea typeface="SF Pro Text" panose="00000500000000000000" pitchFamily="2" charset="0"/>
              </a:rPr>
              <a:t>Controller</a:t>
            </a:r>
          </a:p>
          <a:p>
            <a:pPr marL="342900" indent="-342900">
              <a:lnSpc>
                <a:spcPct val="150000"/>
              </a:lnSpc>
              <a:buAutoNum type="arabicPeriod"/>
            </a:pPr>
            <a:r>
              <a:rPr lang="en-IN" dirty="0">
                <a:latin typeface="SF Pro Text" panose="00000500000000000000" pitchFamily="2" charset="0"/>
                <a:ea typeface="SF Pro Text" panose="00000500000000000000" pitchFamily="2" charset="0"/>
              </a:rPr>
              <a:t>Transaxle with reduction ratio 10.45 </a:t>
            </a:r>
          </a:p>
          <a:p>
            <a:pPr marL="342900" indent="-342900">
              <a:lnSpc>
                <a:spcPct val="150000"/>
              </a:lnSpc>
              <a:buAutoNum type="arabicPeriod"/>
            </a:pPr>
            <a:endParaRPr lang="en-IN" dirty="0">
              <a:latin typeface="SF Pro Text" panose="00000500000000000000" pitchFamily="2" charset="0"/>
              <a:ea typeface="SF Pro Text" panose="00000500000000000000" pitchFamily="2" charset="0"/>
            </a:endParaRPr>
          </a:p>
        </p:txBody>
      </p:sp>
      <p:sp>
        <p:nvSpPr>
          <p:cNvPr id="798" name="Google Shape;798;p53"/>
          <p:cNvSpPr/>
          <p:nvPr/>
        </p:nvSpPr>
        <p:spPr>
          <a:xfrm>
            <a:off x="7216874" y="2803738"/>
            <a:ext cx="1600082" cy="3791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53"/>
          <p:cNvSpPr/>
          <p:nvPr/>
        </p:nvSpPr>
        <p:spPr>
          <a:xfrm rot="5400000" flipH="1">
            <a:off x="-1190188" y="471324"/>
            <a:ext cx="4287981" cy="94357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53"/>
          <p:cNvSpPr/>
          <p:nvPr/>
        </p:nvSpPr>
        <p:spPr>
          <a:xfrm>
            <a:off x="3184749" y="539500"/>
            <a:ext cx="1600082" cy="3791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794;p53">
            <a:extLst>
              <a:ext uri="{FF2B5EF4-FFF2-40B4-BE49-F238E27FC236}">
                <a16:creationId xmlns:a16="http://schemas.microsoft.com/office/drawing/2014/main" id="{15837645-2046-635F-9546-CDD4A0A5CCA0}"/>
              </a:ext>
            </a:extLst>
          </p:cNvPr>
          <p:cNvSpPr/>
          <p:nvPr/>
        </p:nvSpPr>
        <p:spPr>
          <a:xfrm>
            <a:off x="4930774" y="857526"/>
            <a:ext cx="3499951" cy="1698698"/>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 name="Group 1">
            <a:extLst>
              <a:ext uri="{FF2B5EF4-FFF2-40B4-BE49-F238E27FC236}">
                <a16:creationId xmlns:a16="http://schemas.microsoft.com/office/drawing/2014/main" id="{915F5765-F084-7451-0C84-868112F55162}"/>
              </a:ext>
            </a:extLst>
          </p:cNvPr>
          <p:cNvGrpSpPr/>
          <p:nvPr/>
        </p:nvGrpSpPr>
        <p:grpSpPr>
          <a:xfrm>
            <a:off x="4784831" y="943112"/>
            <a:ext cx="3708210" cy="2228939"/>
            <a:chOff x="3361987" y="2711478"/>
            <a:chExt cx="5468027" cy="3286734"/>
          </a:xfrm>
        </p:grpSpPr>
        <p:sp>
          <p:nvSpPr>
            <p:cNvPr id="3" name="TextBox 2">
              <a:extLst>
                <a:ext uri="{FF2B5EF4-FFF2-40B4-BE49-F238E27FC236}">
                  <a16:creationId xmlns:a16="http://schemas.microsoft.com/office/drawing/2014/main" id="{34ACF13D-A3F1-F885-D310-BD6206EAE4F6}"/>
                </a:ext>
              </a:extLst>
            </p:cNvPr>
            <p:cNvSpPr txBox="1"/>
            <p:nvPr/>
          </p:nvSpPr>
          <p:spPr>
            <a:xfrm>
              <a:off x="3737113" y="5135919"/>
              <a:ext cx="4717774" cy="862293"/>
            </a:xfrm>
            <a:prstGeom prst="rect">
              <a:avLst/>
            </a:prstGeom>
            <a:noFill/>
          </p:spPr>
          <p:txBody>
            <a:bodyPr wrap="square" rtlCol="0">
              <a:spAutoFit/>
            </a:bodyPr>
            <a:lstStyle/>
            <a:p>
              <a:pPr algn="ctr"/>
              <a:r>
                <a:rPr lang="en-US" sz="1600" dirty="0">
                  <a:solidFill>
                    <a:srgbClr val="3F5A42"/>
                  </a:solidFill>
                  <a:latin typeface="SF Pro Text" panose="00000500000000000000" pitchFamily="2" charset="0"/>
                  <a:ea typeface="SF Pro Text" panose="00000500000000000000" pitchFamily="2" charset="0"/>
                  <a:cs typeface="Times New Roman" panose="02020603050405020304" pitchFamily="18" charset="0"/>
                </a:rPr>
                <a:t>Fig : Transaxle with motor disc brake &amp; hub assembly</a:t>
              </a:r>
              <a:endParaRPr lang="en-IN" sz="1600" dirty="0">
                <a:solidFill>
                  <a:srgbClr val="3F5A42"/>
                </a:solidFill>
                <a:latin typeface="SF Pro Text" panose="00000500000000000000" pitchFamily="2" charset="0"/>
                <a:ea typeface="SF Pro Text" panose="00000500000000000000" pitchFamily="2" charset="0"/>
                <a:cs typeface="Times New Roman" panose="02020603050405020304" pitchFamily="18" charset="0"/>
              </a:endParaRPr>
            </a:p>
          </p:txBody>
        </p:sp>
        <p:pic>
          <p:nvPicPr>
            <p:cNvPr id="4" name="Picture 3">
              <a:extLst>
                <a:ext uri="{FF2B5EF4-FFF2-40B4-BE49-F238E27FC236}">
                  <a16:creationId xmlns:a16="http://schemas.microsoft.com/office/drawing/2014/main" id="{0A970F6E-A474-11F4-35CB-DB69CED220EA}"/>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6765" b="80474" l="11894" r="88481"/>
                      </a14:imgEffect>
                    </a14:imgLayer>
                  </a14:imgProps>
                </a:ext>
                <a:ext uri="{28A0092B-C50C-407E-A947-70E740481C1C}">
                  <a14:useLocalDpi xmlns:a14="http://schemas.microsoft.com/office/drawing/2010/main" val="0"/>
                </a:ext>
              </a:extLst>
            </a:blip>
            <a:srcRect l="2321" t="20051" r="1945" b="12813"/>
            <a:stretch/>
          </p:blipFill>
          <p:spPr>
            <a:xfrm>
              <a:off x="3361987" y="2711478"/>
              <a:ext cx="5468027" cy="2400936"/>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65;p68">
            <a:extLst>
              <a:ext uri="{FF2B5EF4-FFF2-40B4-BE49-F238E27FC236}">
                <a16:creationId xmlns:a16="http://schemas.microsoft.com/office/drawing/2014/main" id="{7736C18F-7B15-D6ED-108A-27CE47A9E634}"/>
              </a:ext>
            </a:extLst>
          </p:cNvPr>
          <p:cNvSpPr/>
          <p:nvPr/>
        </p:nvSpPr>
        <p:spPr>
          <a:xfrm>
            <a:off x="713247"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22466FAF-ED79-2380-155C-390F0FEE82E7}"/>
              </a:ext>
            </a:extLst>
          </p:cNvPr>
          <p:cNvSpPr>
            <a:spLocks noGrp="1"/>
          </p:cNvSpPr>
          <p:nvPr>
            <p:ph type="title"/>
          </p:nvPr>
        </p:nvSpPr>
        <p:spPr>
          <a:xfrm flipH="1">
            <a:off x="1547454" y="380882"/>
            <a:ext cx="6049085" cy="559751"/>
          </a:xfrm>
        </p:spPr>
        <p:txBody>
          <a:bodyPr/>
          <a:lstStyle/>
          <a:p>
            <a:pPr algn="ctr"/>
            <a:r>
              <a:rPr lang="en-US" sz="3200" dirty="0">
                <a:latin typeface="Montserrat" panose="00000500000000000000" pitchFamily="2" charset="0"/>
              </a:rPr>
              <a:t>Motor</a:t>
            </a:r>
            <a:endParaRPr lang="en-US" dirty="0">
              <a:latin typeface="Montserrat" panose="00000500000000000000" pitchFamily="2" charset="0"/>
            </a:endParaRPr>
          </a:p>
        </p:txBody>
      </p:sp>
      <p:sp>
        <p:nvSpPr>
          <p:cNvPr id="6" name="Google Shape;852;p55">
            <a:extLst>
              <a:ext uri="{FF2B5EF4-FFF2-40B4-BE49-F238E27FC236}">
                <a16:creationId xmlns:a16="http://schemas.microsoft.com/office/drawing/2014/main" id="{0968D90E-E42B-14BA-61B7-08EE673105AC}"/>
              </a:ext>
            </a:extLst>
          </p:cNvPr>
          <p:cNvSpPr/>
          <p:nvPr/>
        </p:nvSpPr>
        <p:spPr>
          <a:xfrm>
            <a:off x="2079775" y="2817432"/>
            <a:ext cx="1369839" cy="32462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854;p55">
            <a:extLst>
              <a:ext uri="{FF2B5EF4-FFF2-40B4-BE49-F238E27FC236}">
                <a16:creationId xmlns:a16="http://schemas.microsoft.com/office/drawing/2014/main" id="{6F82C81A-E18C-71CC-D6A9-AAA0C2FC2DA1}"/>
              </a:ext>
            </a:extLst>
          </p:cNvPr>
          <p:cNvSpPr/>
          <p:nvPr/>
        </p:nvSpPr>
        <p:spPr>
          <a:xfrm flipH="1">
            <a:off x="5816533" y="1148551"/>
            <a:ext cx="1446765" cy="34284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ubtitle 2">
            <a:extLst>
              <a:ext uri="{FF2B5EF4-FFF2-40B4-BE49-F238E27FC236}">
                <a16:creationId xmlns:a16="http://schemas.microsoft.com/office/drawing/2014/main" id="{EB98BFEC-DB24-D7FF-6270-08878CC586E8}"/>
              </a:ext>
            </a:extLst>
          </p:cNvPr>
          <p:cNvSpPr>
            <a:spLocks noGrp="1"/>
          </p:cNvSpPr>
          <p:nvPr>
            <p:ph type="subTitle" idx="4294967295"/>
          </p:nvPr>
        </p:nvSpPr>
        <p:spPr>
          <a:xfrm>
            <a:off x="208722" y="1148551"/>
            <a:ext cx="8701361" cy="3693464"/>
          </a:xfrm>
        </p:spPr>
        <p:txBody>
          <a:bodyPr/>
          <a:lstStyle/>
          <a:p>
            <a:pPr marL="342900" indent="-342900">
              <a:lnSpc>
                <a:spcPct val="150000"/>
              </a:lnSpc>
              <a:buBlip>
                <a:blip r:embed="rId2">
                  <a:extLst>
                    <a:ext uri="{96DAC541-7B7A-43D3-8B79-37D633B846F1}">
                      <asvg:svgBlip xmlns:asvg="http://schemas.microsoft.com/office/drawing/2016/SVG/main" r:embed="rId3"/>
                    </a:ext>
                  </a:extLst>
                </a:blip>
              </a:buBlip>
            </a:pPr>
            <a:r>
              <a:rPr lang="en-US" sz="1300" dirty="0">
                <a:solidFill>
                  <a:srgbClr val="1B667A"/>
                </a:solidFill>
                <a:latin typeface="SF Pro Text" panose="00000500000000000000" pitchFamily="2" charset="0"/>
                <a:ea typeface="SF Pro Text" panose="00000500000000000000" pitchFamily="2" charset="0"/>
              </a:rPr>
              <a:t>Electric vehicles can utilize both DC and AC motors. </a:t>
            </a:r>
          </a:p>
          <a:p>
            <a:pPr marL="342900" indent="-342900">
              <a:lnSpc>
                <a:spcPct val="150000"/>
              </a:lnSpc>
              <a:buBlip>
                <a:blip r:embed="rId2">
                  <a:extLst>
                    <a:ext uri="{96DAC541-7B7A-43D3-8B79-37D633B846F1}">
                      <asvg:svgBlip xmlns:asvg="http://schemas.microsoft.com/office/drawing/2016/SVG/main" r:embed="rId3"/>
                    </a:ext>
                  </a:extLst>
                </a:blip>
              </a:buBlip>
            </a:pPr>
            <a:r>
              <a:rPr lang="en-US" sz="1300" dirty="0">
                <a:solidFill>
                  <a:srgbClr val="1B667A"/>
                </a:solidFill>
                <a:latin typeface="SF Pro Text" panose="00000500000000000000" pitchFamily="2" charset="0"/>
                <a:ea typeface="SF Pro Text" panose="00000500000000000000" pitchFamily="2" charset="0"/>
              </a:rPr>
              <a:t>On the above power parameter we need a either 2kW or 3kW or 4kW  motor which runs on the RPM of 3000 at 48 rated voltage which generates the Torque of 15.7 Nm.</a:t>
            </a:r>
          </a:p>
          <a:p>
            <a:pPr marL="342900" indent="-342900">
              <a:lnSpc>
                <a:spcPct val="150000"/>
              </a:lnSpc>
              <a:buBlip>
                <a:blip r:embed="rId2">
                  <a:extLst>
                    <a:ext uri="{96DAC541-7B7A-43D3-8B79-37D633B846F1}">
                      <asvg:svgBlip xmlns:asvg="http://schemas.microsoft.com/office/drawing/2016/SVG/main" r:embed="rId3"/>
                    </a:ext>
                  </a:extLst>
                </a:blip>
              </a:buBlip>
            </a:pPr>
            <a:r>
              <a:rPr lang="en-US" sz="1300" dirty="0">
                <a:solidFill>
                  <a:srgbClr val="1B667A"/>
                </a:solidFill>
                <a:latin typeface="SF Pro Text" panose="00000500000000000000" pitchFamily="2" charset="0"/>
                <a:ea typeface="SF Pro Text" panose="00000500000000000000" pitchFamily="2" charset="0"/>
              </a:rPr>
              <a:t>On the above parameter various types of motor are present in the Market.</a:t>
            </a:r>
          </a:p>
          <a:p>
            <a:pPr marL="342900" indent="-342900">
              <a:lnSpc>
                <a:spcPct val="150000"/>
              </a:lnSpc>
              <a:buBlip>
                <a:blip r:embed="rId2">
                  <a:extLst>
                    <a:ext uri="{96DAC541-7B7A-43D3-8B79-37D633B846F1}">
                      <asvg:svgBlip xmlns:asvg="http://schemas.microsoft.com/office/drawing/2016/SVG/main" r:embed="rId3"/>
                    </a:ext>
                  </a:extLst>
                </a:blip>
              </a:buBlip>
            </a:pPr>
            <a:r>
              <a:rPr lang="en-US" sz="1300" dirty="0">
                <a:solidFill>
                  <a:srgbClr val="1B667A"/>
                </a:solidFill>
                <a:latin typeface="SF Pro Text" panose="00000500000000000000" pitchFamily="2" charset="0"/>
                <a:ea typeface="SF Pro Text" panose="00000500000000000000" pitchFamily="2" charset="0"/>
              </a:rPr>
              <a:t>Classification Of Motors	 </a:t>
            </a:r>
          </a:p>
          <a:p>
            <a:pPr marL="800100" lvl="1" indent="-342900">
              <a:lnSpc>
                <a:spcPct val="150000"/>
              </a:lnSpc>
              <a:buFont typeface="Wingdings" panose="05000000000000000000" pitchFamily="2" charset="2"/>
              <a:buChar char="Ø"/>
            </a:pPr>
            <a:r>
              <a:rPr lang="en-US" sz="1300" dirty="0">
                <a:solidFill>
                  <a:srgbClr val="1B667A"/>
                </a:solidFill>
                <a:latin typeface="SF Pro Text" panose="00000500000000000000" pitchFamily="2" charset="0"/>
                <a:ea typeface="SF Pro Text" panose="00000500000000000000" pitchFamily="2" charset="0"/>
              </a:rPr>
              <a:t>Induction Motor</a:t>
            </a:r>
          </a:p>
          <a:p>
            <a:pPr marL="800100" lvl="1" indent="-342900">
              <a:lnSpc>
                <a:spcPct val="150000"/>
              </a:lnSpc>
              <a:buFont typeface="Wingdings" panose="05000000000000000000" pitchFamily="2" charset="2"/>
              <a:buChar char="Ø"/>
            </a:pPr>
            <a:r>
              <a:rPr lang="en-US" sz="1300" dirty="0">
                <a:solidFill>
                  <a:srgbClr val="1B667A"/>
                </a:solidFill>
                <a:latin typeface="SF Pro Text" panose="00000500000000000000" pitchFamily="2" charset="0"/>
                <a:ea typeface="SF Pro Text" panose="00000500000000000000" pitchFamily="2" charset="0"/>
              </a:rPr>
              <a:t>Permanent Magnet Synchronous Motor</a:t>
            </a:r>
          </a:p>
          <a:p>
            <a:pPr marL="800100" lvl="1" indent="-342900">
              <a:lnSpc>
                <a:spcPct val="150000"/>
              </a:lnSpc>
              <a:buFont typeface="Wingdings" panose="05000000000000000000" pitchFamily="2" charset="2"/>
              <a:buChar char="Ø"/>
            </a:pPr>
            <a:r>
              <a:rPr lang="en-US" sz="1300" dirty="0">
                <a:solidFill>
                  <a:srgbClr val="1B667A"/>
                </a:solidFill>
                <a:latin typeface="SF Pro Text" panose="00000500000000000000" pitchFamily="2" charset="0"/>
                <a:ea typeface="SF Pro Text" panose="00000500000000000000" pitchFamily="2" charset="0"/>
              </a:rPr>
              <a:t>Brushless DC Motor</a:t>
            </a:r>
          </a:p>
          <a:p>
            <a:pPr marL="800100" lvl="1" indent="-342900">
              <a:lnSpc>
                <a:spcPct val="150000"/>
              </a:lnSpc>
              <a:buFont typeface="Wingdings" panose="05000000000000000000" pitchFamily="2" charset="2"/>
              <a:buChar char="Ø"/>
            </a:pPr>
            <a:r>
              <a:rPr lang="en-US" sz="1300" dirty="0">
                <a:solidFill>
                  <a:srgbClr val="1B667A"/>
                </a:solidFill>
                <a:latin typeface="SF Pro Text" panose="00000500000000000000" pitchFamily="2" charset="0"/>
                <a:ea typeface="SF Pro Text" panose="00000500000000000000" pitchFamily="2" charset="0"/>
              </a:rPr>
              <a:t>Switched Reluctance Motor</a:t>
            </a:r>
          </a:p>
          <a:p>
            <a:pPr marL="342900" indent="-342900">
              <a:lnSpc>
                <a:spcPct val="150000"/>
              </a:lnSpc>
              <a:buBlip>
                <a:blip r:embed="rId2">
                  <a:extLst>
                    <a:ext uri="{96DAC541-7B7A-43D3-8B79-37D633B846F1}">
                      <asvg:svgBlip xmlns:asvg="http://schemas.microsoft.com/office/drawing/2016/SVG/main" r:embed="rId3"/>
                    </a:ext>
                  </a:extLst>
                </a:blip>
              </a:buBlip>
            </a:pPr>
            <a:r>
              <a:rPr lang="en-US" sz="1300" dirty="0">
                <a:solidFill>
                  <a:srgbClr val="1B667A"/>
                </a:solidFill>
                <a:latin typeface="SF Pro Text" panose="00000500000000000000" pitchFamily="2" charset="0"/>
                <a:ea typeface="SF Pro Text" panose="00000500000000000000" pitchFamily="2" charset="0"/>
              </a:rPr>
              <a:t>From the above Parameters and Classification of motor Brushless DC Motor should be used because of following difference between the motors.</a:t>
            </a:r>
          </a:p>
          <a:p>
            <a:pPr marL="342900" indent="-342900">
              <a:lnSpc>
                <a:spcPct val="150000"/>
              </a:lnSpc>
              <a:buBlip>
                <a:blip r:embed="rId2">
                  <a:extLst>
                    <a:ext uri="{96DAC541-7B7A-43D3-8B79-37D633B846F1}">
                      <asvg:svgBlip xmlns:asvg="http://schemas.microsoft.com/office/drawing/2016/SVG/main" r:embed="rId3"/>
                    </a:ext>
                  </a:extLst>
                </a:blip>
              </a:buBlip>
            </a:pPr>
            <a:endParaRPr lang="en-US" sz="1300" dirty="0">
              <a:solidFill>
                <a:srgbClr val="1B667A"/>
              </a:solidFill>
              <a:latin typeface="SF Pro Text" panose="00000500000000000000" pitchFamily="2" charset="0"/>
              <a:ea typeface="SF Pro Text" panose="00000500000000000000" pitchFamily="2" charset="0"/>
            </a:endParaRPr>
          </a:p>
          <a:p>
            <a:pPr marL="0" indent="0">
              <a:lnSpc>
                <a:spcPct val="150000"/>
              </a:lnSpc>
              <a:buNone/>
            </a:pPr>
            <a:endParaRPr lang="en-US" sz="1300" dirty="0">
              <a:solidFill>
                <a:srgbClr val="1B667A"/>
              </a:solidFill>
              <a:latin typeface="SF Pro Text" panose="00000500000000000000" pitchFamily="2" charset="0"/>
              <a:ea typeface="SF Pro Text" panose="00000500000000000000" pitchFamily="2" charset="0"/>
            </a:endParaRPr>
          </a:p>
          <a:p>
            <a:pPr marL="0" indent="0">
              <a:lnSpc>
                <a:spcPct val="150000"/>
              </a:lnSpc>
              <a:buNone/>
            </a:pPr>
            <a:endParaRPr lang="en-US" sz="1300" dirty="0">
              <a:solidFill>
                <a:srgbClr val="1B667A"/>
              </a:solidFill>
              <a:latin typeface="SF Pro Text" panose="00000500000000000000" pitchFamily="2" charset="0"/>
              <a:ea typeface="SF Pro Text" panose="00000500000000000000" pitchFamily="2" charset="0"/>
            </a:endParaRPr>
          </a:p>
        </p:txBody>
      </p:sp>
      <p:sp>
        <p:nvSpPr>
          <p:cNvPr id="5" name="Google Shape;5166;p68">
            <a:extLst>
              <a:ext uri="{FF2B5EF4-FFF2-40B4-BE49-F238E27FC236}">
                <a16:creationId xmlns:a16="http://schemas.microsoft.com/office/drawing/2014/main" id="{218CDD37-C61D-A0FF-AF5B-6497048B2E9B}"/>
              </a:ext>
            </a:extLst>
          </p:cNvPr>
          <p:cNvSpPr/>
          <p:nvPr/>
        </p:nvSpPr>
        <p:spPr>
          <a:xfrm rot="16200000">
            <a:off x="6542334" y="2257520"/>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3181322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5165;p68">
            <a:extLst>
              <a:ext uri="{FF2B5EF4-FFF2-40B4-BE49-F238E27FC236}">
                <a16:creationId xmlns:a16="http://schemas.microsoft.com/office/drawing/2014/main" id="{5DD4CDD2-25F4-D5B3-EFAB-F53099A9E381}"/>
              </a:ext>
            </a:extLst>
          </p:cNvPr>
          <p:cNvSpPr/>
          <p:nvPr/>
        </p:nvSpPr>
        <p:spPr>
          <a:xfrm>
            <a:off x="713250" y="608970"/>
            <a:ext cx="7717500" cy="3239129"/>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813;p54">
            <a:extLst>
              <a:ext uri="{FF2B5EF4-FFF2-40B4-BE49-F238E27FC236}">
                <a16:creationId xmlns:a16="http://schemas.microsoft.com/office/drawing/2014/main" id="{DF78D618-7E4E-D0EB-D9DD-D3EC2CDEDD28}"/>
              </a:ext>
            </a:extLst>
          </p:cNvPr>
          <p:cNvSpPr/>
          <p:nvPr/>
        </p:nvSpPr>
        <p:spPr>
          <a:xfrm rot="10800000" flipV="1">
            <a:off x="-1830755" y="4041639"/>
            <a:ext cx="5514256" cy="1213361"/>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roup 2">
            <a:extLst>
              <a:ext uri="{FF2B5EF4-FFF2-40B4-BE49-F238E27FC236}">
                <a16:creationId xmlns:a16="http://schemas.microsoft.com/office/drawing/2014/main" id="{C1D11DCE-D548-202F-0181-57EB4C58F3A4}"/>
              </a:ext>
            </a:extLst>
          </p:cNvPr>
          <p:cNvGrpSpPr/>
          <p:nvPr/>
        </p:nvGrpSpPr>
        <p:grpSpPr>
          <a:xfrm>
            <a:off x="74892" y="249473"/>
            <a:ext cx="9069108" cy="4414951"/>
            <a:chOff x="1459846" y="2652254"/>
            <a:chExt cx="9069108" cy="4414951"/>
          </a:xfrm>
        </p:grpSpPr>
        <p:sp>
          <p:nvSpPr>
            <p:cNvPr id="4" name="TextBox 3">
              <a:extLst>
                <a:ext uri="{FF2B5EF4-FFF2-40B4-BE49-F238E27FC236}">
                  <a16:creationId xmlns:a16="http://schemas.microsoft.com/office/drawing/2014/main" id="{28E19CF0-C84C-48D1-B6D2-26FCA0FCC828}"/>
                </a:ext>
              </a:extLst>
            </p:cNvPr>
            <p:cNvSpPr txBox="1"/>
            <p:nvPr/>
          </p:nvSpPr>
          <p:spPr>
            <a:xfrm>
              <a:off x="4775200" y="6728651"/>
              <a:ext cx="5715000" cy="338554"/>
            </a:xfrm>
            <a:prstGeom prst="rect">
              <a:avLst/>
            </a:prstGeom>
            <a:noFill/>
          </p:spPr>
          <p:txBody>
            <a:bodyPr wrap="square" rtlCol="0">
              <a:spAutoFit/>
            </a:bodyPr>
            <a:lstStyle/>
            <a:p>
              <a:pPr algn="ctr"/>
              <a:r>
                <a:rPr lang="en-US" sz="1600" dirty="0">
                  <a:solidFill>
                    <a:srgbClr val="3F5A42"/>
                  </a:solidFill>
                  <a:latin typeface="SF Pro Text" panose="00000500000000000000" pitchFamily="2" charset="0"/>
                  <a:ea typeface="SF Pro Text" panose="00000500000000000000" pitchFamily="2" charset="0"/>
                  <a:cs typeface="Mongolian Baiti" panose="03000500000000000000" pitchFamily="66" charset="0"/>
                </a:rPr>
                <a:t>Fig : Classification of Electric Vehicle Motors</a:t>
              </a:r>
              <a:endParaRPr lang="en-IN" sz="1600" dirty="0">
                <a:solidFill>
                  <a:srgbClr val="3F5A42"/>
                </a:solidFill>
                <a:latin typeface="SF Pro Text" panose="00000500000000000000" pitchFamily="2" charset="0"/>
                <a:ea typeface="SF Pro Text" panose="00000500000000000000" pitchFamily="2" charset="0"/>
                <a:cs typeface="Mongolian Baiti" panose="03000500000000000000" pitchFamily="66" charset="0"/>
              </a:endParaRPr>
            </a:p>
          </p:txBody>
        </p:sp>
        <p:pic>
          <p:nvPicPr>
            <p:cNvPr id="5" name="Picture 4">
              <a:extLst>
                <a:ext uri="{FF2B5EF4-FFF2-40B4-BE49-F238E27FC236}">
                  <a16:creationId xmlns:a16="http://schemas.microsoft.com/office/drawing/2014/main" id="{348BAFBE-2DA3-ACF8-6462-21492F9A77A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00" b="96429" l="3526" r="96924">
                          <a14:foregroundMark x1="28282" y1="39464" x2="22206" y2="36786"/>
                          <a14:foregroundMark x1="22206" y1="36786" x2="16804" y2="51250"/>
                          <a14:foregroundMark x1="16804" y1="51250" x2="24981" y2="59821"/>
                          <a14:foregroundMark x1="24981" y1="59821" x2="29107" y2="47857"/>
                          <a14:foregroundMark x1="29107" y1="47857" x2="28582" y2="38393"/>
                          <a14:foregroundMark x1="22956" y1="42857" x2="22131" y2="42500"/>
                          <a14:foregroundMark x1="51238" y1="3750" x2="44411" y2="3571"/>
                          <a14:foregroundMark x1="44411" y1="3571" x2="43661" y2="16250"/>
                          <a14:foregroundMark x1="43661" y1="16250" x2="50113" y2="21607"/>
                          <a14:foregroundMark x1="50113" y1="21607" x2="55964" y2="15714"/>
                          <a14:foregroundMark x1="55964" y1="15714" x2="53413" y2="3393"/>
                          <a14:foregroundMark x1="53413" y1="3393" x2="51238" y2="2500"/>
                          <a14:foregroundMark x1="64291" y1="81786" x2="57389" y2="81429"/>
                          <a14:foregroundMark x1="57389" y1="81429" x2="58515" y2="94643"/>
                          <a14:foregroundMark x1="58515" y1="94643" x2="67067" y2="94464"/>
                          <a14:foregroundMark x1="67067" y1="94464" x2="68417" y2="80000"/>
                          <a14:foregroundMark x1="68417" y1="80000" x2="62191" y2="78393"/>
                          <a14:foregroundMark x1="62191" y1="78393" x2="61740" y2="80179"/>
                          <a14:foregroundMark x1="92573" y1="79107" x2="83571" y2="83571"/>
                          <a14:foregroundMark x1="83571" y1="83571" x2="88672" y2="95536"/>
                          <a14:foregroundMark x1="88672" y1="95536" x2="95799" y2="92143"/>
                          <a14:foregroundMark x1="95799" y1="92143" x2="94599" y2="79643"/>
                          <a14:foregroundMark x1="94599" y1="79643" x2="91148" y2="78750"/>
                          <a14:foregroundMark x1="15979" y1="79821" x2="5626" y2="81786"/>
                          <a14:foregroundMark x1="5626" y1="81786" x2="6602" y2="95179"/>
                          <a14:foregroundMark x1="6602" y1="95179" x2="12603" y2="96250"/>
                          <a14:foregroundMark x1="12603" y1="96250" x2="15604" y2="82679"/>
                          <a14:foregroundMark x1="15604" y1="82679" x2="15154" y2="78750"/>
                          <a14:foregroundMark x1="8252" y1="80179" x2="4126" y2="88929"/>
                          <a14:foregroundMark x1="4126" y1="88929" x2="9677" y2="92857"/>
                          <a14:foregroundMark x1="2101" y1="77857" x2="3526" y2="93929"/>
                          <a14:foregroundMark x1="3526" y1="93929" x2="5326" y2="94107"/>
                          <a14:foregroundMark x1="29707" y1="92857" x2="38560" y2="96607"/>
                          <a14:foregroundMark x1="38560" y1="96607" x2="42836" y2="92143"/>
                          <a14:foregroundMark x1="95199" y1="79821" x2="95424" y2="92679"/>
                          <a14:foregroundMark x1="95424" y1="92679" x2="96924" y2="91786"/>
                          <a14:foregroundMark x1="78695" y1="43214" x2="72993" y2="51786"/>
                          <a14:foregroundMark x1="72993" y1="51786" x2="78545" y2="54643"/>
                          <a14:foregroundMark x1="78545" y1="54643" x2="78845" y2="44464"/>
                          <a14:foregroundMark x1="69017" y1="48750" x2="62491" y2="50179"/>
                          <a14:foregroundMark x1="62491" y1="50179" x2="63016" y2="75714"/>
                          <a14:foregroundMark x1="84996" y1="50536" x2="90323" y2="62679"/>
                          <a14:foregroundMark x1="90323" y1="62679" x2="90473" y2="75179"/>
                          <a14:foregroundMark x1="90323" y1="62143" x2="90173" y2="77321"/>
                          <a14:foregroundMark x1="90173" y1="77321" x2="90473" y2="80179"/>
                          <a14:foregroundMark x1="85671" y1="48214" x2="90773" y2="56429"/>
                          <a14:foregroundMark x1="90773" y1="56429" x2="90773" y2="56429"/>
                          <a14:foregroundMark x1="66542" y1="49107" x2="62341" y2="57679"/>
                          <a14:foregroundMark x1="62341" y1="57679" x2="62191" y2="61071"/>
                          <a14:foregroundMark x1="50938" y1="5179" x2="43286" y2="8571"/>
                          <a14:foregroundMark x1="43286" y1="8571" x2="49062" y2="11786"/>
                          <a14:foregroundMark x1="49062" y1="11786" x2="51088" y2="9821"/>
                          <a14:foregroundMark x1="22806" y1="33750" x2="22656" y2="17857"/>
                          <a14:foregroundMark x1="25638" y1="14977" x2="27832" y2="12857"/>
                          <a14:foregroundMark x1="22656" y1="17857" x2="23574" y2="16970"/>
                          <a14:foregroundMark x1="27832" y1="12857" x2="42161" y2="13214"/>
                          <a14:foregroundMark x1="59115" y1="12143" x2="73143" y2="14643"/>
                          <a14:foregroundMark x1="75004" y1="21236" x2="76369" y2="26071"/>
                          <a14:foregroundMark x1="73143" y1="14643" x2="73621" y2="16337"/>
                          <a14:foregroundMark x1="76369" y1="26071" x2="77044" y2="36786"/>
                          <a14:backgroundMark x1="23631" y1="16786" x2="25731" y2="17857"/>
                          <a14:backgroundMark x1="69992" y1="19464" x2="66917" y2="25536"/>
                          <a14:backgroundMark x1="72993" y1="19821" x2="69992" y2="21429"/>
                          <a14:backgroundMark x1="74644" y1="18393" x2="74044" y2="1910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459846" y="2652254"/>
              <a:ext cx="9069108" cy="3809977"/>
            </a:xfrm>
            <a:prstGeom prst="rect">
              <a:avLst/>
            </a:prstGeom>
          </p:spPr>
        </p:pic>
      </p:grpSp>
    </p:spTree>
    <p:extLst>
      <p:ext uri="{BB962C8B-B14F-4D97-AF65-F5344CB8AC3E}">
        <p14:creationId xmlns:p14="http://schemas.microsoft.com/office/powerpoint/2010/main" val="997431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65;p68">
            <a:extLst>
              <a:ext uri="{FF2B5EF4-FFF2-40B4-BE49-F238E27FC236}">
                <a16:creationId xmlns:a16="http://schemas.microsoft.com/office/drawing/2014/main" id="{7736C18F-7B15-D6ED-108A-27CE47A9E634}"/>
              </a:ext>
            </a:extLst>
          </p:cNvPr>
          <p:cNvSpPr/>
          <p:nvPr/>
        </p:nvSpPr>
        <p:spPr>
          <a:xfrm>
            <a:off x="603918" y="297749"/>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22466FAF-ED79-2380-155C-390F0FEE82E7}"/>
              </a:ext>
            </a:extLst>
          </p:cNvPr>
          <p:cNvSpPr>
            <a:spLocks noGrp="1"/>
          </p:cNvSpPr>
          <p:nvPr>
            <p:ph type="title"/>
          </p:nvPr>
        </p:nvSpPr>
        <p:spPr>
          <a:xfrm flipH="1">
            <a:off x="1547454" y="380882"/>
            <a:ext cx="6049085" cy="559751"/>
          </a:xfrm>
        </p:spPr>
        <p:txBody>
          <a:bodyPr/>
          <a:lstStyle/>
          <a:p>
            <a:pPr algn="ctr"/>
            <a:r>
              <a:rPr lang="en-US" sz="3200" dirty="0">
                <a:latin typeface="Montserrat" panose="00000500000000000000" pitchFamily="2" charset="0"/>
              </a:rPr>
              <a:t>Classification of Motor</a:t>
            </a:r>
            <a:endParaRPr lang="en-US" dirty="0">
              <a:latin typeface="Montserrat" panose="00000500000000000000" pitchFamily="2" charset="0"/>
            </a:endParaRPr>
          </a:p>
        </p:txBody>
      </p:sp>
      <p:sp>
        <p:nvSpPr>
          <p:cNvPr id="5" name="Google Shape;5166;p68">
            <a:extLst>
              <a:ext uri="{FF2B5EF4-FFF2-40B4-BE49-F238E27FC236}">
                <a16:creationId xmlns:a16="http://schemas.microsoft.com/office/drawing/2014/main" id="{218CDD37-C61D-A0FF-AF5B-6497048B2E9B}"/>
              </a:ext>
            </a:extLst>
          </p:cNvPr>
          <p:cNvSpPr/>
          <p:nvPr/>
        </p:nvSpPr>
        <p:spPr>
          <a:xfrm rot="16200000">
            <a:off x="6536914" y="2252098"/>
            <a:ext cx="4226946" cy="940959"/>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aphicFrame>
        <p:nvGraphicFramePr>
          <p:cNvPr id="8" name="Table 7">
            <a:extLst>
              <a:ext uri="{FF2B5EF4-FFF2-40B4-BE49-F238E27FC236}">
                <a16:creationId xmlns:a16="http://schemas.microsoft.com/office/drawing/2014/main" id="{B49F5EB9-B623-489B-AAD0-4E2354C31FBA}"/>
              </a:ext>
            </a:extLst>
          </p:cNvPr>
          <p:cNvGraphicFramePr>
            <a:graphicFrameLocks noGrp="1"/>
          </p:cNvGraphicFramePr>
          <p:nvPr>
            <p:extLst>
              <p:ext uri="{D42A27DB-BD31-4B8C-83A1-F6EECF244321}">
                <p14:modId xmlns:p14="http://schemas.microsoft.com/office/powerpoint/2010/main" val="3222054412"/>
              </p:ext>
            </p:extLst>
          </p:nvPr>
        </p:nvGraphicFramePr>
        <p:xfrm>
          <a:off x="603918" y="1050815"/>
          <a:ext cx="7575989" cy="3785240"/>
        </p:xfrm>
        <a:graphic>
          <a:graphicData uri="http://schemas.openxmlformats.org/drawingml/2006/table">
            <a:tbl>
              <a:tblPr>
                <a:tableStyleId>{8BA0A24B-535D-4496-85AC-89E9A91CF1F9}</a:tableStyleId>
              </a:tblPr>
              <a:tblGrid>
                <a:gridCol w="2218177">
                  <a:extLst>
                    <a:ext uri="{9D8B030D-6E8A-4147-A177-3AD203B41FA5}">
                      <a16:colId xmlns:a16="http://schemas.microsoft.com/office/drawing/2014/main" val="588879644"/>
                    </a:ext>
                  </a:extLst>
                </a:gridCol>
                <a:gridCol w="1339453">
                  <a:extLst>
                    <a:ext uri="{9D8B030D-6E8A-4147-A177-3AD203B41FA5}">
                      <a16:colId xmlns:a16="http://schemas.microsoft.com/office/drawing/2014/main" val="384432609"/>
                    </a:ext>
                  </a:extLst>
                </a:gridCol>
                <a:gridCol w="1339453">
                  <a:extLst>
                    <a:ext uri="{9D8B030D-6E8A-4147-A177-3AD203B41FA5}">
                      <a16:colId xmlns:a16="http://schemas.microsoft.com/office/drawing/2014/main" val="1841361319"/>
                    </a:ext>
                  </a:extLst>
                </a:gridCol>
                <a:gridCol w="1339453">
                  <a:extLst>
                    <a:ext uri="{9D8B030D-6E8A-4147-A177-3AD203B41FA5}">
                      <a16:colId xmlns:a16="http://schemas.microsoft.com/office/drawing/2014/main" val="1296731342"/>
                    </a:ext>
                  </a:extLst>
                </a:gridCol>
                <a:gridCol w="1339453">
                  <a:extLst>
                    <a:ext uri="{9D8B030D-6E8A-4147-A177-3AD203B41FA5}">
                      <a16:colId xmlns:a16="http://schemas.microsoft.com/office/drawing/2014/main" val="3776495374"/>
                    </a:ext>
                  </a:extLst>
                </a:gridCol>
              </a:tblGrid>
              <a:tr h="277136">
                <a:tc>
                  <a:txBody>
                    <a:bodyPr/>
                    <a:lstStyle/>
                    <a:p>
                      <a:pPr algn="ctr" rtl="0" fontAlgn="b"/>
                      <a:r>
                        <a:rPr lang="en-IN" sz="1300" b="1" u="sng" dirty="0">
                          <a:solidFill>
                            <a:srgbClr val="1B667A"/>
                          </a:solidFill>
                          <a:effectLst/>
                          <a:latin typeface="SF Pro Text"/>
                        </a:rPr>
                        <a:t>Characteristic</a:t>
                      </a:r>
                    </a:p>
                  </a:txBody>
                  <a:tcPr marL="19093" marR="19093" marT="12728" marB="12728" anchor="b"/>
                </a:tc>
                <a:tc>
                  <a:txBody>
                    <a:bodyPr/>
                    <a:lstStyle/>
                    <a:p>
                      <a:pPr algn="ctr" rtl="0" fontAlgn="b"/>
                      <a:r>
                        <a:rPr lang="en-IN" sz="1300" b="1" u="sng" dirty="0">
                          <a:solidFill>
                            <a:srgbClr val="1B667A"/>
                          </a:solidFill>
                          <a:effectLst/>
                          <a:latin typeface="SF Pro Text"/>
                        </a:rPr>
                        <a:t>PMSM</a:t>
                      </a:r>
                    </a:p>
                  </a:txBody>
                  <a:tcPr marL="19093" marR="19093" marT="12728" marB="12728" anchor="b"/>
                </a:tc>
                <a:tc>
                  <a:txBody>
                    <a:bodyPr/>
                    <a:lstStyle/>
                    <a:p>
                      <a:pPr algn="ctr" rtl="0" fontAlgn="b"/>
                      <a:r>
                        <a:rPr lang="en-IN" sz="1300" b="1" u="sng" dirty="0">
                          <a:solidFill>
                            <a:srgbClr val="1B667A"/>
                          </a:solidFill>
                          <a:effectLst/>
                          <a:latin typeface="SF Pro Text"/>
                        </a:rPr>
                        <a:t>BLDC</a:t>
                      </a:r>
                    </a:p>
                  </a:txBody>
                  <a:tcPr marL="19093" marR="19093" marT="12728" marB="12728" anchor="b"/>
                </a:tc>
                <a:tc>
                  <a:txBody>
                    <a:bodyPr/>
                    <a:lstStyle/>
                    <a:p>
                      <a:pPr algn="ctr" rtl="0" fontAlgn="b"/>
                      <a:r>
                        <a:rPr lang="en-IN" sz="1300" b="1" u="sng" dirty="0">
                          <a:solidFill>
                            <a:srgbClr val="1B667A"/>
                          </a:solidFill>
                          <a:effectLst/>
                          <a:latin typeface="SF Pro Text"/>
                        </a:rPr>
                        <a:t>Induction</a:t>
                      </a:r>
                    </a:p>
                  </a:txBody>
                  <a:tcPr marL="19093" marR="19093" marT="12728" marB="12728" anchor="b"/>
                </a:tc>
                <a:tc>
                  <a:txBody>
                    <a:bodyPr/>
                    <a:lstStyle/>
                    <a:p>
                      <a:pPr algn="ctr" rtl="0" fontAlgn="b"/>
                      <a:r>
                        <a:rPr lang="en-IN" sz="1300" b="1" u="sng" dirty="0">
                          <a:solidFill>
                            <a:srgbClr val="1B667A"/>
                          </a:solidFill>
                          <a:effectLst/>
                          <a:latin typeface="SF Pro Text"/>
                        </a:rPr>
                        <a:t>SRM</a:t>
                      </a:r>
                    </a:p>
                  </a:txBody>
                  <a:tcPr marL="19093" marR="19093" marT="12728" marB="12728" anchor="b"/>
                </a:tc>
                <a:extLst>
                  <a:ext uri="{0D108BD9-81ED-4DB2-BD59-A6C34878D82A}">
                    <a16:rowId xmlns:a16="http://schemas.microsoft.com/office/drawing/2014/main" val="2079415846"/>
                  </a:ext>
                </a:extLst>
              </a:tr>
              <a:tr h="277136">
                <a:tc>
                  <a:txBody>
                    <a:bodyPr/>
                    <a:lstStyle/>
                    <a:p>
                      <a:pPr algn="ctr" rtl="0" fontAlgn="b"/>
                      <a:r>
                        <a:rPr lang="en-IN" sz="1300" b="1" dirty="0">
                          <a:solidFill>
                            <a:srgbClr val="1B667A"/>
                          </a:solidFill>
                          <a:effectLst/>
                          <a:latin typeface="SF Pro Text"/>
                        </a:rPr>
                        <a:t>Cost</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extLst>
                  <a:ext uri="{0D108BD9-81ED-4DB2-BD59-A6C34878D82A}">
                    <a16:rowId xmlns:a16="http://schemas.microsoft.com/office/drawing/2014/main" val="835539689"/>
                  </a:ext>
                </a:extLst>
              </a:tr>
              <a:tr h="277136">
                <a:tc>
                  <a:txBody>
                    <a:bodyPr/>
                    <a:lstStyle/>
                    <a:p>
                      <a:pPr algn="ctr" rtl="0" fontAlgn="b"/>
                      <a:r>
                        <a:rPr lang="en-IN" sz="1300" b="1" dirty="0">
                          <a:solidFill>
                            <a:srgbClr val="1B667A"/>
                          </a:solidFill>
                          <a:effectLst/>
                          <a:latin typeface="SF Pro Text"/>
                        </a:rPr>
                        <a:t>Efficiency</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1972344314"/>
                  </a:ext>
                </a:extLst>
              </a:tr>
              <a:tr h="277136">
                <a:tc>
                  <a:txBody>
                    <a:bodyPr/>
                    <a:lstStyle/>
                    <a:p>
                      <a:pPr algn="ctr" rtl="0" fontAlgn="b"/>
                      <a:r>
                        <a:rPr lang="en-IN" sz="1300" b="1" dirty="0">
                          <a:solidFill>
                            <a:srgbClr val="1B667A"/>
                          </a:solidFill>
                          <a:effectLst/>
                          <a:latin typeface="SF Pro Text"/>
                        </a:rPr>
                        <a:t>Torque generated</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1851976941"/>
                  </a:ext>
                </a:extLst>
              </a:tr>
              <a:tr h="277136">
                <a:tc>
                  <a:txBody>
                    <a:bodyPr/>
                    <a:lstStyle/>
                    <a:p>
                      <a:pPr algn="ctr" rtl="0" fontAlgn="b"/>
                      <a:r>
                        <a:rPr lang="en-IN" sz="1300" b="1" dirty="0">
                          <a:solidFill>
                            <a:srgbClr val="1B667A"/>
                          </a:solidFill>
                          <a:effectLst/>
                          <a:latin typeface="SF Pro Text"/>
                        </a:rPr>
                        <a:t>Speed range</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1236748426"/>
                  </a:ext>
                </a:extLst>
              </a:tr>
              <a:tr h="277136">
                <a:tc>
                  <a:txBody>
                    <a:bodyPr/>
                    <a:lstStyle/>
                    <a:p>
                      <a:pPr algn="ctr" rtl="0" fontAlgn="b"/>
                      <a:r>
                        <a:rPr lang="en-IN" sz="1300" b="1" dirty="0">
                          <a:solidFill>
                            <a:srgbClr val="1B667A"/>
                          </a:solidFill>
                          <a:effectLst/>
                          <a:latin typeface="SF Pro Text"/>
                        </a:rPr>
                        <a:t>Power density</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2161241812"/>
                  </a:ext>
                </a:extLst>
              </a:tr>
              <a:tr h="277136">
                <a:tc>
                  <a:txBody>
                    <a:bodyPr/>
                    <a:lstStyle/>
                    <a:p>
                      <a:pPr algn="ctr" rtl="0" fontAlgn="b"/>
                      <a:r>
                        <a:rPr lang="en-IN" sz="1300" b="1" dirty="0">
                          <a:solidFill>
                            <a:srgbClr val="1B667A"/>
                          </a:solidFill>
                          <a:effectLst/>
                          <a:latin typeface="SF Pro Text"/>
                        </a:rPr>
                        <a:t>Control complexity</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extLst>
                  <a:ext uri="{0D108BD9-81ED-4DB2-BD59-A6C34878D82A}">
                    <a16:rowId xmlns:a16="http://schemas.microsoft.com/office/drawing/2014/main" val="64531362"/>
                  </a:ext>
                </a:extLst>
              </a:tr>
              <a:tr h="277136">
                <a:tc>
                  <a:txBody>
                    <a:bodyPr/>
                    <a:lstStyle/>
                    <a:p>
                      <a:pPr algn="ctr" rtl="0" fontAlgn="b"/>
                      <a:r>
                        <a:rPr lang="en-IN" sz="1300" b="1" dirty="0">
                          <a:solidFill>
                            <a:srgbClr val="1B667A"/>
                          </a:solidFill>
                          <a:effectLst/>
                          <a:latin typeface="SF Pro Text"/>
                        </a:rPr>
                        <a:t>Noise</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Medium</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3226920157"/>
                  </a:ext>
                </a:extLst>
              </a:tr>
              <a:tr h="277136">
                <a:tc>
                  <a:txBody>
                    <a:bodyPr/>
                    <a:lstStyle/>
                    <a:p>
                      <a:pPr algn="ctr" rtl="0" fontAlgn="b"/>
                      <a:r>
                        <a:rPr lang="en-IN" sz="1300" b="1" dirty="0">
                          <a:solidFill>
                            <a:srgbClr val="1B667A"/>
                          </a:solidFill>
                          <a:effectLst/>
                          <a:latin typeface="SF Pro Text"/>
                        </a:rPr>
                        <a:t>Reliability</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tc>
                  <a:txBody>
                    <a:bodyPr/>
                    <a:lstStyle/>
                    <a:p>
                      <a:pPr algn="ctr" rtl="0" fontAlgn="b"/>
                      <a:r>
                        <a:rPr lang="en-IN" sz="1300" dirty="0">
                          <a:solidFill>
                            <a:srgbClr val="1B667A"/>
                          </a:solidFill>
                          <a:effectLst/>
                          <a:latin typeface="SF Pro Text"/>
                        </a:rPr>
                        <a:t>High</a:t>
                      </a:r>
                    </a:p>
                  </a:txBody>
                  <a:tcPr marL="19093" marR="19093" marT="12728" marB="12728" anchor="b"/>
                </a:tc>
                <a:extLst>
                  <a:ext uri="{0D108BD9-81ED-4DB2-BD59-A6C34878D82A}">
                    <a16:rowId xmlns:a16="http://schemas.microsoft.com/office/drawing/2014/main" val="2104310087"/>
                  </a:ext>
                </a:extLst>
              </a:tr>
              <a:tr h="277136">
                <a:tc>
                  <a:txBody>
                    <a:bodyPr/>
                    <a:lstStyle/>
                    <a:p>
                      <a:pPr algn="ctr" rtl="0" fontAlgn="b"/>
                      <a:r>
                        <a:rPr lang="en-IN" sz="1300" b="1" dirty="0">
                          <a:solidFill>
                            <a:srgbClr val="1B667A"/>
                          </a:solidFill>
                          <a:effectLst/>
                          <a:latin typeface="SF Pro Text"/>
                        </a:rPr>
                        <a:t>Maintenance</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tc>
                  <a:txBody>
                    <a:bodyPr/>
                    <a:lstStyle/>
                    <a:p>
                      <a:pPr algn="ctr" rtl="0" fontAlgn="b"/>
                      <a:r>
                        <a:rPr lang="en-IN" sz="1300" dirty="0">
                          <a:solidFill>
                            <a:srgbClr val="1B667A"/>
                          </a:solidFill>
                          <a:effectLst/>
                          <a:latin typeface="SF Pro Text"/>
                        </a:rPr>
                        <a:t>Low</a:t>
                      </a:r>
                    </a:p>
                  </a:txBody>
                  <a:tcPr marL="19093" marR="19093" marT="12728" marB="12728" anchor="b"/>
                </a:tc>
                <a:extLst>
                  <a:ext uri="{0D108BD9-81ED-4DB2-BD59-A6C34878D82A}">
                    <a16:rowId xmlns:a16="http://schemas.microsoft.com/office/drawing/2014/main" val="1899270084"/>
                  </a:ext>
                </a:extLst>
              </a:tr>
              <a:tr h="1013880">
                <a:tc>
                  <a:txBody>
                    <a:bodyPr/>
                    <a:lstStyle/>
                    <a:p>
                      <a:pPr algn="ctr" rtl="0" fontAlgn="b"/>
                      <a:r>
                        <a:rPr lang="en-IN" sz="1300" b="1" dirty="0">
                          <a:solidFill>
                            <a:srgbClr val="1B667A"/>
                          </a:solidFill>
                          <a:effectLst/>
                          <a:latin typeface="SF Pro Text"/>
                        </a:rPr>
                        <a:t>Applications</a:t>
                      </a:r>
                    </a:p>
                  </a:txBody>
                  <a:tcPr marL="19093" marR="19093" marT="12728" marB="12728" anchor="b"/>
                </a:tc>
                <a:tc>
                  <a:txBody>
                    <a:bodyPr/>
                    <a:lstStyle/>
                    <a:p>
                      <a:pPr algn="ctr" rtl="0" fontAlgn="b"/>
                      <a:r>
                        <a:rPr lang="en-IN" sz="1300" dirty="0">
                          <a:solidFill>
                            <a:srgbClr val="1B667A"/>
                          </a:solidFill>
                          <a:effectLst/>
                          <a:latin typeface="SF Pro Text"/>
                        </a:rPr>
                        <a:t>Electric vehicles, robotics, servo drives, aerospace</a:t>
                      </a:r>
                    </a:p>
                  </a:txBody>
                  <a:tcPr marL="19093" marR="19093" marT="12728" marB="12728" anchor="b"/>
                </a:tc>
                <a:tc>
                  <a:txBody>
                    <a:bodyPr/>
                    <a:lstStyle/>
                    <a:p>
                      <a:pPr algn="ctr" rtl="0" fontAlgn="b"/>
                      <a:r>
                        <a:rPr lang="en-IN" sz="1300" dirty="0">
                          <a:solidFill>
                            <a:srgbClr val="1B667A"/>
                          </a:solidFill>
                          <a:effectLst/>
                          <a:latin typeface="SF Pro Text"/>
                        </a:rPr>
                        <a:t>Electric vehicles, drones, fans, pumps, robotics</a:t>
                      </a:r>
                    </a:p>
                  </a:txBody>
                  <a:tcPr marL="19093" marR="19093" marT="12728" marB="12728" anchor="b"/>
                </a:tc>
                <a:tc>
                  <a:txBody>
                    <a:bodyPr/>
                    <a:lstStyle/>
                    <a:p>
                      <a:pPr algn="ctr" rtl="0" fontAlgn="b"/>
                      <a:r>
                        <a:rPr lang="en-US" sz="1300" dirty="0">
                          <a:solidFill>
                            <a:srgbClr val="1B667A"/>
                          </a:solidFill>
                          <a:effectLst/>
                          <a:latin typeface="SF Pro Text"/>
                        </a:rPr>
                        <a:t>Industrial applications, appliances, power tools</a:t>
                      </a:r>
                    </a:p>
                  </a:txBody>
                  <a:tcPr marL="19093" marR="19093" marT="12728" marB="12728" anchor="b"/>
                </a:tc>
                <a:tc>
                  <a:txBody>
                    <a:bodyPr/>
                    <a:lstStyle/>
                    <a:p>
                      <a:pPr algn="ctr" rtl="0" fontAlgn="b"/>
                      <a:r>
                        <a:rPr lang="en-IN" sz="1300" dirty="0">
                          <a:solidFill>
                            <a:srgbClr val="1B667A"/>
                          </a:solidFill>
                          <a:effectLst/>
                          <a:latin typeface="SF Pro Text"/>
                        </a:rPr>
                        <a:t>Industrial applications, electric vehicles, aerospace</a:t>
                      </a:r>
                    </a:p>
                  </a:txBody>
                  <a:tcPr marL="19093" marR="19093" marT="12728" marB="12728" anchor="b"/>
                </a:tc>
                <a:extLst>
                  <a:ext uri="{0D108BD9-81ED-4DB2-BD59-A6C34878D82A}">
                    <a16:rowId xmlns:a16="http://schemas.microsoft.com/office/drawing/2014/main" val="4069254011"/>
                  </a:ext>
                </a:extLst>
              </a:tr>
            </a:tbl>
          </a:graphicData>
        </a:graphic>
      </p:graphicFrame>
    </p:spTree>
    <p:extLst>
      <p:ext uri="{BB962C8B-B14F-4D97-AF65-F5344CB8AC3E}">
        <p14:creationId xmlns:p14="http://schemas.microsoft.com/office/powerpoint/2010/main" val="817245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165;p68">
            <a:extLst>
              <a:ext uri="{FF2B5EF4-FFF2-40B4-BE49-F238E27FC236}">
                <a16:creationId xmlns:a16="http://schemas.microsoft.com/office/drawing/2014/main" id="{242DDF98-2599-08EC-0BA4-3E185FCE6E57}"/>
              </a:ext>
            </a:extLst>
          </p:cNvPr>
          <p:cNvSpPr/>
          <p:nvPr/>
        </p:nvSpPr>
        <p:spPr>
          <a:xfrm>
            <a:off x="722772"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F8CC9F70-FC47-A071-B618-3012883D911C}"/>
              </a:ext>
            </a:extLst>
          </p:cNvPr>
          <p:cNvSpPr txBox="1"/>
          <p:nvPr/>
        </p:nvSpPr>
        <p:spPr>
          <a:xfrm>
            <a:off x="664095" y="361505"/>
            <a:ext cx="7908405" cy="584775"/>
          </a:xfrm>
          <a:prstGeom prst="rect">
            <a:avLst/>
          </a:prstGeom>
          <a:noFill/>
        </p:spPr>
        <p:txBody>
          <a:bodyPr wrap="square" rtlCol="0">
            <a:spAutoFit/>
          </a:bodyPr>
          <a:lstStyle/>
          <a:p>
            <a:r>
              <a:rPr lang="en-US" sz="3200" b="1" dirty="0">
                <a:solidFill>
                  <a:srgbClr val="718A1D"/>
                </a:solidFill>
                <a:latin typeface="Montserrat" panose="00000500000000000000" pitchFamily="2" charset="0"/>
              </a:rPr>
              <a:t>Construction of Brushless DC Motor</a:t>
            </a:r>
          </a:p>
        </p:txBody>
      </p:sp>
      <p:sp>
        <p:nvSpPr>
          <p:cNvPr id="9" name="Google Shape;5165;p68">
            <a:extLst>
              <a:ext uri="{FF2B5EF4-FFF2-40B4-BE49-F238E27FC236}">
                <a16:creationId xmlns:a16="http://schemas.microsoft.com/office/drawing/2014/main" id="{AD51651E-C59C-D20E-77D9-F48E4FD1859F}"/>
              </a:ext>
            </a:extLst>
          </p:cNvPr>
          <p:cNvSpPr/>
          <p:nvPr/>
        </p:nvSpPr>
        <p:spPr>
          <a:xfrm>
            <a:off x="713247" y="1059480"/>
            <a:ext cx="7771645" cy="352204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 name="Picture 6">
            <a:extLst>
              <a:ext uri="{FF2B5EF4-FFF2-40B4-BE49-F238E27FC236}">
                <a16:creationId xmlns:a16="http://schemas.microsoft.com/office/drawing/2014/main" id="{8C240876-42D5-4F61-83BA-AA640059B19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44191" y="1794131"/>
            <a:ext cx="3540701" cy="2174406"/>
          </a:xfrm>
          <a:prstGeom prst="rect">
            <a:avLst/>
          </a:prstGeom>
        </p:spPr>
      </p:pic>
      <p:sp>
        <p:nvSpPr>
          <p:cNvPr id="6" name="TextBox 5">
            <a:extLst>
              <a:ext uri="{FF2B5EF4-FFF2-40B4-BE49-F238E27FC236}">
                <a16:creationId xmlns:a16="http://schemas.microsoft.com/office/drawing/2014/main" id="{3AEA99C3-02F4-D79A-16FE-2A295EEFD79A}"/>
              </a:ext>
            </a:extLst>
          </p:cNvPr>
          <p:cNvSpPr txBox="1"/>
          <p:nvPr/>
        </p:nvSpPr>
        <p:spPr>
          <a:xfrm>
            <a:off x="798972" y="1307805"/>
            <a:ext cx="4571246" cy="2600712"/>
          </a:xfrm>
          <a:prstGeom prst="rect">
            <a:avLst/>
          </a:prstGeom>
          <a:noFill/>
        </p:spPr>
        <p:txBody>
          <a:bodyPr wrap="square" rtlCol="0">
            <a:spAutoFit/>
          </a:bodyPr>
          <a:lstStyle/>
          <a:p>
            <a:r>
              <a:rPr lang="en-US" sz="1300" dirty="0">
                <a:solidFill>
                  <a:srgbClr val="1B667A"/>
                </a:solidFill>
                <a:latin typeface="SF Pro Text" panose="00000500000000000000"/>
              </a:rPr>
              <a:t>A brushless DC (BLDC) motor has two main parts: the stator and the rotor. The stator is the fixed part of the motor and contains the windings, while the rotor is the rotating part and contains the permanent magnets.</a:t>
            </a:r>
          </a:p>
          <a:p>
            <a:endParaRPr lang="en-US" sz="1300" dirty="0">
              <a:latin typeface="SF Pro Text" panose="00000500000000000000"/>
            </a:endParaRPr>
          </a:p>
          <a:p>
            <a:endParaRPr lang="en-US" sz="1300" dirty="0">
              <a:latin typeface="SF Pro Text" panose="00000500000000000000"/>
            </a:endParaRPr>
          </a:p>
          <a:p>
            <a:r>
              <a:rPr lang="en-US" sz="2000" b="1" dirty="0">
                <a:solidFill>
                  <a:srgbClr val="718A1D"/>
                </a:solidFill>
                <a:latin typeface="SF Pro Text" panose="00000500000000000000"/>
              </a:rPr>
              <a:t>Stator</a:t>
            </a:r>
          </a:p>
          <a:p>
            <a:r>
              <a:rPr lang="en-US" sz="1300" dirty="0">
                <a:solidFill>
                  <a:srgbClr val="1B667A"/>
                </a:solidFill>
                <a:latin typeface="SF Pro Text" panose="00000500000000000000"/>
              </a:rPr>
              <a:t>The stator of a BLDC motor is made up of a stack of laminated steel laminations. These laminations are slotted to accommodate the windings. The windings are typically arranged in a three-phase star connection.</a:t>
            </a:r>
          </a:p>
          <a:p>
            <a:endParaRPr lang="en-US" sz="1300" dirty="0">
              <a:solidFill>
                <a:srgbClr val="3F5A42"/>
              </a:solidFill>
              <a:latin typeface="SF Pro Text" panose="00000500000000000000"/>
              <a:ea typeface="SF Pro Text" panose="00000500000000000000" pitchFamily="2" charset="0"/>
            </a:endParaRPr>
          </a:p>
        </p:txBody>
      </p:sp>
    </p:spTree>
    <p:extLst>
      <p:ext uri="{BB962C8B-B14F-4D97-AF65-F5344CB8AC3E}">
        <p14:creationId xmlns:p14="http://schemas.microsoft.com/office/powerpoint/2010/main" val="3898991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165;p68">
            <a:extLst>
              <a:ext uri="{FF2B5EF4-FFF2-40B4-BE49-F238E27FC236}">
                <a16:creationId xmlns:a16="http://schemas.microsoft.com/office/drawing/2014/main" id="{58E52AEC-AC89-0304-9279-6E1BEEB8340A}"/>
              </a:ext>
            </a:extLst>
          </p:cNvPr>
          <p:cNvSpPr/>
          <p:nvPr/>
        </p:nvSpPr>
        <p:spPr>
          <a:xfrm>
            <a:off x="713247"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C70196A8-74B1-51B0-B7E8-7535A2ECBE3E}"/>
              </a:ext>
            </a:extLst>
          </p:cNvPr>
          <p:cNvSpPr txBox="1"/>
          <p:nvPr/>
        </p:nvSpPr>
        <p:spPr>
          <a:xfrm>
            <a:off x="1770318" y="414685"/>
            <a:ext cx="5603358" cy="584775"/>
          </a:xfrm>
          <a:prstGeom prst="rect">
            <a:avLst/>
          </a:prstGeom>
          <a:noFill/>
        </p:spPr>
        <p:txBody>
          <a:bodyPr wrap="square" rtlCol="0">
            <a:spAutoFit/>
          </a:bodyPr>
          <a:lstStyle/>
          <a:p>
            <a:pPr algn="ctr"/>
            <a:r>
              <a:rPr lang="en-US" sz="3200" b="1" dirty="0">
                <a:solidFill>
                  <a:schemeClr val="tx2"/>
                </a:solidFill>
                <a:latin typeface="Montserrat" panose="00000500000000000000" pitchFamily="2" charset="0"/>
              </a:rPr>
              <a:t>How it works</a:t>
            </a:r>
          </a:p>
        </p:txBody>
      </p:sp>
      <p:sp>
        <p:nvSpPr>
          <p:cNvPr id="9" name="Google Shape;5165;p68">
            <a:extLst>
              <a:ext uri="{FF2B5EF4-FFF2-40B4-BE49-F238E27FC236}">
                <a16:creationId xmlns:a16="http://schemas.microsoft.com/office/drawing/2014/main" id="{5EF105F2-A5F1-CAF2-A4F5-081D24E097C5}"/>
              </a:ext>
            </a:extLst>
          </p:cNvPr>
          <p:cNvSpPr/>
          <p:nvPr/>
        </p:nvSpPr>
        <p:spPr>
          <a:xfrm>
            <a:off x="713247" y="1231472"/>
            <a:ext cx="7717500" cy="302274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6" name="Picture 5">
            <a:extLst>
              <a:ext uri="{FF2B5EF4-FFF2-40B4-BE49-F238E27FC236}">
                <a16:creationId xmlns:a16="http://schemas.microsoft.com/office/drawing/2014/main" id="{611E2859-508A-A6CE-5519-062A87313037}"/>
              </a:ext>
            </a:extLst>
          </p:cNvPr>
          <p:cNvPicPr>
            <a:picLocks noChangeAspect="1"/>
          </p:cNvPicPr>
          <p:nvPr/>
        </p:nvPicPr>
        <p:blipFill>
          <a:blip r:embed="rId2"/>
          <a:stretch>
            <a:fillRect/>
          </a:stretch>
        </p:blipFill>
        <p:spPr>
          <a:xfrm>
            <a:off x="834252" y="1511736"/>
            <a:ext cx="2721393" cy="2462213"/>
          </a:xfrm>
          <a:prstGeom prst="rect">
            <a:avLst/>
          </a:prstGeom>
        </p:spPr>
      </p:pic>
      <p:sp>
        <p:nvSpPr>
          <p:cNvPr id="7" name="Google Shape;641;p49">
            <a:extLst>
              <a:ext uri="{FF2B5EF4-FFF2-40B4-BE49-F238E27FC236}">
                <a16:creationId xmlns:a16="http://schemas.microsoft.com/office/drawing/2014/main" id="{6702A263-67A7-4487-B151-451794575207}"/>
              </a:ext>
            </a:extLst>
          </p:cNvPr>
          <p:cNvSpPr txBox="1">
            <a:spLocks/>
          </p:cNvSpPr>
          <p:nvPr/>
        </p:nvSpPr>
        <p:spPr>
          <a:xfrm>
            <a:off x="3398736" y="1710029"/>
            <a:ext cx="4979708" cy="254418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342900" indent="-342900">
              <a:lnSpc>
                <a:spcPct val="150000"/>
              </a:lnSpc>
              <a:buBlip>
                <a:blip r:embed="rId3">
                  <a:extLst>
                    <a:ext uri="{96DAC541-7B7A-43D3-8B79-37D633B846F1}">
                      <asvg:svgBlip xmlns:asvg="http://schemas.microsoft.com/office/drawing/2016/SVG/main" r:embed="rId4"/>
                    </a:ext>
                  </a:extLst>
                </a:blip>
              </a:buBlip>
            </a:pPr>
            <a:endParaRPr lang="en-US" dirty="0">
              <a:latin typeface="SF Pro Text" panose="00000500000000000000" pitchFamily="2" charset="0"/>
              <a:ea typeface="SF Pro Text" panose="00000500000000000000" pitchFamily="2" charset="0"/>
            </a:endParaRP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A brushless DC (BLDC) motor works by using an electronic controller to switch DC currents to the motor windings, which produces a rotating magnetic field. The rotor magnets then follow the rotating magnetic field, causing the rotor to rotate.</a:t>
            </a: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In simple terms, a BLDC motor works like a spinning magnet following a moving electric field. The electric field is created by the motor windings, and the magnetic field is created by the rotor magnets.</a:t>
            </a:r>
            <a:endParaRPr lang="en-US" dirty="0"/>
          </a:p>
        </p:txBody>
      </p:sp>
    </p:spTree>
    <p:extLst>
      <p:ext uri="{BB962C8B-B14F-4D97-AF65-F5344CB8AC3E}">
        <p14:creationId xmlns:p14="http://schemas.microsoft.com/office/powerpoint/2010/main" val="1408002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21EE-9FFF-45C0-8275-D0AC9EE4281C}"/>
              </a:ext>
            </a:extLst>
          </p:cNvPr>
          <p:cNvSpPr>
            <a:spLocks noGrp="1"/>
          </p:cNvSpPr>
          <p:nvPr>
            <p:ph type="title"/>
          </p:nvPr>
        </p:nvSpPr>
        <p:spPr>
          <a:xfrm>
            <a:off x="713250" y="213171"/>
            <a:ext cx="7717500" cy="576000"/>
          </a:xfrm>
          <a:solidFill>
            <a:schemeClr val="accent6"/>
          </a:solidFill>
          <a:effectLst>
            <a:softEdge rad="12700"/>
          </a:effectLst>
        </p:spPr>
        <p:txBody>
          <a:bodyPr/>
          <a:lstStyle/>
          <a:p>
            <a:r>
              <a:rPr lang="en-US" dirty="0"/>
              <a:t>Calculation of Rated Power</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FBE58E6-8325-450D-AFE9-9E9A1B50902D}"/>
                  </a:ext>
                </a:extLst>
              </p:cNvPr>
              <p:cNvSpPr txBox="1"/>
              <p:nvPr/>
            </p:nvSpPr>
            <p:spPr>
              <a:xfrm>
                <a:off x="920078" y="880285"/>
                <a:ext cx="7909754" cy="4194290"/>
              </a:xfrm>
              <a:prstGeom prst="rect">
                <a:avLst/>
              </a:prstGeom>
              <a:noFill/>
            </p:spPr>
            <p:txBody>
              <a:bodyPr wrap="square" rtlCol="0">
                <a:spAutoFit/>
              </a:bodyPr>
              <a:lstStyle/>
              <a:p>
                <a:r>
                  <a:rPr lang="en-US" dirty="0">
                    <a:solidFill>
                      <a:srgbClr val="1B667A"/>
                    </a:solidFill>
                    <a:latin typeface="SF Pro Text" panose="00000500000000000000"/>
                  </a:rPr>
                  <a:t>To select the right motor, you need to determine the power required for electric cars. This involves calculating motor power using a specific formula. You estimate the total weight of the electric car and then validate it using the following steps.</a:t>
                </a:r>
              </a:p>
              <a:p>
                <a:endParaRPr lang="en-US" dirty="0">
                  <a:solidFill>
                    <a:srgbClr val="1B667A"/>
                  </a:solidFill>
                  <a:latin typeface="SF Pro Text" panose="00000500000000000000"/>
                </a:endParaRPr>
              </a:p>
              <a:p>
                <a:pPr algn="ctr"/>
                <a:r>
                  <a:rPr lang="en-IN" dirty="0">
                    <a:solidFill>
                      <a:srgbClr val="1B667A"/>
                    </a:solidFill>
                    <a:latin typeface="SF Pro Text" panose="00000500000000000000"/>
                  </a:rPr>
                  <a:t>Pe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1</m:t>
                        </m:r>
                      </m:num>
                      <m:den>
                        <m:r>
                          <a:rPr lang="en-IN" i="1" smtClean="0">
                            <a:solidFill>
                              <a:srgbClr val="1B667A"/>
                            </a:solidFill>
                            <a:latin typeface="Cambria Math" panose="02040503050406030204" pitchFamily="18" charset="0"/>
                          </a:rPr>
                          <m:t>ƞ</m:t>
                        </m:r>
                      </m:den>
                    </m:f>
                  </m:oMath>
                </a14:m>
                <a:r>
                  <a:rPr lang="en-IN" dirty="0">
                    <a:solidFill>
                      <a:srgbClr val="1B667A"/>
                    </a:solidFill>
                    <a:latin typeface="SF Pro Text" panose="00000500000000000000"/>
                  </a:rPr>
                  <a:t>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𝐺𝑓𝑢</m:t>
                        </m:r>
                      </m:num>
                      <m:den>
                        <m:r>
                          <a:rPr lang="en-US" b="0" i="1" smtClean="0">
                            <a:solidFill>
                              <a:srgbClr val="1B667A"/>
                            </a:solidFill>
                            <a:latin typeface="Cambria Math" panose="02040503050406030204" pitchFamily="18" charset="0"/>
                          </a:rPr>
                          <m:t>3600</m:t>
                        </m:r>
                      </m:den>
                    </m:f>
                  </m:oMath>
                </a14:m>
                <a:r>
                  <a:rPr lang="en-IN" dirty="0">
                    <a:solidFill>
                      <a:srgbClr val="1B667A"/>
                    </a:solidFill>
                    <a:latin typeface="SF Pro Text" panose="00000500000000000000"/>
                  </a:rPr>
                  <a:t> +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𝐶𝐷</m:t>
                        </m:r>
                        <m:r>
                          <a:rPr lang="en-US" b="0" i="1" smtClean="0">
                            <a:solidFill>
                              <a:srgbClr val="1B667A"/>
                            </a:solidFill>
                            <a:latin typeface="Cambria Math" panose="02040503050406030204" pitchFamily="18" charset="0"/>
                          </a:rPr>
                          <m:t> </m:t>
                        </m:r>
                        <m:r>
                          <a:rPr lang="en-US" b="0" i="1" smtClean="0">
                            <a:solidFill>
                              <a:srgbClr val="1B667A"/>
                            </a:solidFill>
                            <a:latin typeface="Cambria Math" panose="02040503050406030204" pitchFamily="18" charset="0"/>
                          </a:rPr>
                          <m:t>𝐴</m:t>
                        </m:r>
                        <m:r>
                          <a:rPr lang="en-US" b="0" i="1" smtClean="0">
                            <a:solidFill>
                              <a:srgbClr val="1B667A"/>
                            </a:solidFill>
                            <a:latin typeface="Cambria Math" panose="02040503050406030204" pitchFamily="18" charset="0"/>
                          </a:rPr>
                          <m:t>(</m:t>
                        </m:r>
                        <m:r>
                          <a:rPr lang="en-US" b="0" i="1" smtClean="0">
                            <a:solidFill>
                              <a:srgbClr val="1B667A"/>
                            </a:solidFill>
                            <a:latin typeface="Cambria Math" panose="02040503050406030204" pitchFamily="18" charset="0"/>
                          </a:rPr>
                          <m:t>𝑢</m:t>
                        </m:r>
                        <m:r>
                          <a:rPr lang="en-US" b="0" i="1" smtClean="0">
                            <a:solidFill>
                              <a:srgbClr val="1B667A"/>
                            </a:solidFill>
                            <a:latin typeface="Cambria Math" panose="02040503050406030204" pitchFamily="18" charset="0"/>
                          </a:rPr>
                          <m:t>)^3</m:t>
                        </m:r>
                      </m:num>
                      <m:den>
                        <m:r>
                          <a:rPr lang="en-US" b="0" i="1" smtClean="0">
                            <a:solidFill>
                              <a:srgbClr val="1B667A"/>
                            </a:solidFill>
                            <a:latin typeface="Cambria Math" panose="02040503050406030204" pitchFamily="18" charset="0"/>
                          </a:rPr>
                          <m:t>76140</m:t>
                        </m:r>
                      </m:den>
                    </m:f>
                  </m:oMath>
                </a14:m>
                <a:r>
                  <a:rPr lang="en-IN" dirty="0">
                    <a:solidFill>
                      <a:srgbClr val="1B667A"/>
                    </a:solidFill>
                    <a:latin typeface="SF Pro Text" panose="00000500000000000000"/>
                  </a:rPr>
                  <a:t>)</a:t>
                </a:r>
              </a:p>
              <a:p>
                <a:r>
                  <a:rPr lang="en-US" dirty="0">
                    <a:solidFill>
                      <a:srgbClr val="1B667A"/>
                    </a:solidFill>
                    <a:latin typeface="SF Pro Text" panose="00000500000000000000"/>
                  </a:rPr>
                  <a:t>    </a:t>
                </a:r>
              </a:p>
              <a:p>
                <a:r>
                  <a:rPr lang="en-US" dirty="0">
                    <a:solidFill>
                      <a:srgbClr val="1B667A"/>
                    </a:solidFill>
                    <a:latin typeface="SF Pro Text" panose="00000500000000000000"/>
                  </a:rPr>
                  <a:t> where     ;        η  : Mechanical efficiency (Taking 0.92); </a:t>
                </a:r>
              </a:p>
              <a:p>
                <a:r>
                  <a:rPr lang="en-US" dirty="0">
                    <a:solidFill>
                      <a:srgbClr val="1B667A"/>
                    </a:solidFill>
                    <a:latin typeface="SF Pro Text" panose="00000500000000000000"/>
                  </a:rPr>
                  <a:t>	G  : The total weight of electric vehicles, N; </a:t>
                </a:r>
              </a:p>
              <a:p>
                <a:r>
                  <a:rPr lang="en-US" dirty="0">
                    <a:solidFill>
                      <a:srgbClr val="1B667A"/>
                    </a:solidFill>
                    <a:latin typeface="SF Pro Text" panose="00000500000000000000"/>
                  </a:rPr>
                  <a:t>	f   : Driving resistance coefficient of electric vehicles on good road, (taking0.015); </a:t>
                </a:r>
              </a:p>
              <a:p>
                <a:r>
                  <a:rPr lang="en-US" dirty="0">
                    <a:solidFill>
                      <a:srgbClr val="1B667A"/>
                    </a:solidFill>
                    <a:latin typeface="SF Pro Text" panose="00000500000000000000"/>
                  </a:rPr>
                  <a:t>	u  : speed of electric vehicle, km/h; </a:t>
                </a:r>
              </a:p>
              <a:p>
                <a:r>
                  <a:rPr lang="en-US" dirty="0">
                    <a:solidFill>
                      <a:srgbClr val="1B667A"/>
                    </a:solidFill>
                    <a:latin typeface="SF Pro Text" panose="00000500000000000000"/>
                  </a:rPr>
                  <a:t>	C  : The air drag coefficient (taking 0.5); </a:t>
                </a:r>
              </a:p>
              <a:p>
                <a:r>
                  <a:rPr lang="en-US" dirty="0">
                    <a:solidFill>
                      <a:srgbClr val="1B667A"/>
                    </a:solidFill>
                    <a:latin typeface="SF Pro Text" panose="00000500000000000000"/>
                  </a:rPr>
                  <a:t>	A  : The windward area of electric cars (m2).</a:t>
                </a:r>
              </a:p>
              <a:p>
                <a:r>
                  <a:rPr lang="en-US" dirty="0">
                    <a:solidFill>
                      <a:srgbClr val="1B667A"/>
                    </a:solidFill>
                    <a:latin typeface="SF Pro Text" panose="00000500000000000000"/>
                  </a:rPr>
                  <a:t> </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a:rPr>
                  <a:t>To the total weight for the design of the electric car, the total mass has been estimated 1500 kg, which was 14700 N.</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a:rPr>
                  <a:t>The top speed to the design requirements was 25 km/h.</a:t>
                </a:r>
              </a:p>
              <a:p>
                <a:endParaRPr lang="en-IN" dirty="0">
                  <a:solidFill>
                    <a:srgbClr val="1B667A"/>
                  </a:solidFill>
                  <a:latin typeface="SF Pro Text" panose="00000500000000000000"/>
                </a:endParaRPr>
              </a:p>
            </p:txBody>
          </p:sp>
        </mc:Choice>
        <mc:Fallback xmlns="">
          <p:sp>
            <p:nvSpPr>
              <p:cNvPr id="3" name="TextBox 2">
                <a:extLst>
                  <a:ext uri="{FF2B5EF4-FFF2-40B4-BE49-F238E27FC236}">
                    <a16:creationId xmlns:a16="http://schemas.microsoft.com/office/drawing/2014/main" id="{7FBE58E6-8325-450D-AFE9-9E9A1B50902D}"/>
                  </a:ext>
                </a:extLst>
              </p:cNvPr>
              <p:cNvSpPr txBox="1">
                <a:spLocks noRot="1" noChangeAspect="1" noMove="1" noResize="1" noEditPoints="1" noAdjustHandles="1" noChangeArrowheads="1" noChangeShapeType="1" noTextEdit="1"/>
              </p:cNvSpPr>
              <p:nvPr/>
            </p:nvSpPr>
            <p:spPr>
              <a:xfrm>
                <a:off x="920078" y="880285"/>
                <a:ext cx="7909754" cy="4194290"/>
              </a:xfrm>
              <a:prstGeom prst="rect">
                <a:avLst/>
              </a:prstGeom>
              <a:blipFill>
                <a:blip r:embed="rId4"/>
                <a:stretch>
                  <a:fillRect l="-231" t="-145" r="-540"/>
                </a:stretch>
              </a:blipFill>
            </p:spPr>
            <p:txBody>
              <a:bodyPr/>
              <a:lstStyle/>
              <a:p>
                <a:r>
                  <a:rPr lang="en-IN">
                    <a:noFill/>
                  </a:rPr>
                  <a:t> </a:t>
                </a:r>
              </a:p>
            </p:txBody>
          </p:sp>
        </mc:Fallback>
      </mc:AlternateContent>
    </p:spTree>
    <p:extLst>
      <p:ext uri="{BB962C8B-B14F-4D97-AF65-F5344CB8AC3E}">
        <p14:creationId xmlns:p14="http://schemas.microsoft.com/office/powerpoint/2010/main" val="1894103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21EE-9FFF-45C0-8275-D0AC9EE4281C}"/>
              </a:ext>
            </a:extLst>
          </p:cNvPr>
          <p:cNvSpPr>
            <a:spLocks noGrp="1"/>
          </p:cNvSpPr>
          <p:nvPr>
            <p:ph type="title"/>
          </p:nvPr>
        </p:nvSpPr>
        <p:spPr>
          <a:xfrm>
            <a:off x="713250" y="213171"/>
            <a:ext cx="7717500" cy="576000"/>
          </a:xfrm>
          <a:solidFill>
            <a:schemeClr val="accent6"/>
          </a:solidFill>
          <a:effectLst>
            <a:softEdge rad="12700"/>
          </a:effectLst>
        </p:spPr>
        <p:txBody>
          <a:bodyPr/>
          <a:lstStyle/>
          <a:p>
            <a:r>
              <a:rPr lang="en-US" dirty="0"/>
              <a:t>Calculation of Rated Power</a:t>
            </a:r>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3B5962-35FD-4F40-901C-B8555E97837A}"/>
                  </a:ext>
                </a:extLst>
              </p:cNvPr>
              <p:cNvSpPr txBox="1"/>
              <p:nvPr/>
            </p:nvSpPr>
            <p:spPr>
              <a:xfrm>
                <a:off x="443711" y="1071852"/>
                <a:ext cx="8256579" cy="2999796"/>
              </a:xfrm>
              <a:prstGeom prst="rect">
                <a:avLst/>
              </a:prstGeom>
              <a:noFill/>
            </p:spPr>
            <p:txBody>
              <a:bodyPr wrap="square" rtlCol="0">
                <a:spAutoFit/>
              </a:bodyPr>
              <a:lstStyle/>
              <a:p>
                <a:pPr marL="285750" lvl="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a:rPr>
                  <a:t>  The windward area of the electric car (A)  =  width of the car  *  height of the car</a:t>
                </a:r>
              </a:p>
              <a:p>
                <a:pPr lvl="0">
                  <a:lnSpc>
                    <a:spcPct val="150000"/>
                  </a:lnSpc>
                </a:pPr>
                <a:r>
                  <a:rPr lang="en-US" dirty="0">
                    <a:solidFill>
                      <a:srgbClr val="1B667A"/>
                    </a:solidFill>
                    <a:latin typeface="SF Pro Text" panose="00000500000000000000"/>
                  </a:rPr>
                  <a:t>          Width of the car was 1220 mm( 4 feet) ; Height of the car was 1982 mm ( 6.5 feet) .</a:t>
                </a:r>
              </a:p>
              <a:p>
                <a:pPr lvl="0">
                  <a:lnSpc>
                    <a:spcPct val="150000"/>
                  </a:lnSpc>
                </a:pPr>
                <a:r>
                  <a:rPr lang="en-US" dirty="0">
                    <a:solidFill>
                      <a:srgbClr val="1B667A"/>
                    </a:solidFill>
                    <a:latin typeface="SF Pro Text" panose="00000500000000000000"/>
                  </a:rPr>
                  <a:t>                                             So, A = 1220×1982 = 2418040 mm^2 = 2.42 m2</a:t>
                </a:r>
                <a:endParaRPr lang="en-IN" dirty="0">
                  <a:solidFill>
                    <a:srgbClr val="1B667A"/>
                  </a:solidFill>
                  <a:latin typeface="SF Pro Text" panose="00000500000000000000"/>
                </a:endParaRPr>
              </a:p>
              <a:p>
                <a:pPr algn="ctr">
                  <a:lnSpc>
                    <a:spcPct val="150000"/>
                  </a:lnSpc>
                </a:pPr>
                <a:r>
                  <a:rPr lang="en-IN" dirty="0">
                    <a:solidFill>
                      <a:srgbClr val="1B667A"/>
                    </a:solidFill>
                    <a:latin typeface="SF Pro Text" panose="00000500000000000000"/>
                  </a:rPr>
                  <a:t>Pe =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1</m:t>
                        </m:r>
                      </m:num>
                      <m:den>
                        <m:r>
                          <a:rPr lang="en-IN" i="1" smtClean="0">
                            <a:solidFill>
                              <a:srgbClr val="1B667A"/>
                            </a:solidFill>
                            <a:latin typeface="Cambria Math" panose="02040503050406030204" pitchFamily="18" charset="0"/>
                          </a:rPr>
                          <m:t>ƞ</m:t>
                        </m:r>
                      </m:den>
                    </m:f>
                  </m:oMath>
                </a14:m>
                <a:r>
                  <a:rPr lang="en-IN" dirty="0">
                    <a:solidFill>
                      <a:srgbClr val="1B667A"/>
                    </a:solidFill>
                    <a:latin typeface="SF Pro Text" panose="00000500000000000000"/>
                  </a:rPr>
                  <a:t>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𝐺𝑓𝑢</m:t>
                        </m:r>
                      </m:num>
                      <m:den>
                        <m:r>
                          <a:rPr lang="en-US" b="0" i="1" smtClean="0">
                            <a:solidFill>
                              <a:srgbClr val="1B667A"/>
                            </a:solidFill>
                            <a:latin typeface="Cambria Math" panose="02040503050406030204" pitchFamily="18" charset="0"/>
                          </a:rPr>
                          <m:t>3600</m:t>
                        </m:r>
                      </m:den>
                    </m:f>
                  </m:oMath>
                </a14:m>
                <a:r>
                  <a:rPr lang="en-IN" dirty="0">
                    <a:solidFill>
                      <a:srgbClr val="1B667A"/>
                    </a:solidFill>
                    <a:latin typeface="SF Pro Text" panose="00000500000000000000"/>
                  </a:rPr>
                  <a:t> +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𝐶𝐷</m:t>
                        </m:r>
                        <m:r>
                          <a:rPr lang="en-US" b="0" i="1" smtClean="0">
                            <a:solidFill>
                              <a:srgbClr val="1B667A"/>
                            </a:solidFill>
                            <a:latin typeface="Cambria Math" panose="02040503050406030204" pitchFamily="18" charset="0"/>
                          </a:rPr>
                          <m:t> </m:t>
                        </m:r>
                        <m:r>
                          <a:rPr lang="en-US" b="0" i="1" smtClean="0">
                            <a:solidFill>
                              <a:srgbClr val="1B667A"/>
                            </a:solidFill>
                            <a:latin typeface="Cambria Math" panose="02040503050406030204" pitchFamily="18" charset="0"/>
                          </a:rPr>
                          <m:t>𝐴</m:t>
                        </m:r>
                        <m:r>
                          <a:rPr lang="en-US" b="0" i="1" smtClean="0">
                            <a:solidFill>
                              <a:srgbClr val="1B667A"/>
                            </a:solidFill>
                            <a:latin typeface="Cambria Math" panose="02040503050406030204" pitchFamily="18" charset="0"/>
                          </a:rPr>
                          <m:t>(</m:t>
                        </m:r>
                        <m:r>
                          <a:rPr lang="en-US" b="0" i="1" smtClean="0">
                            <a:solidFill>
                              <a:srgbClr val="1B667A"/>
                            </a:solidFill>
                            <a:latin typeface="Cambria Math" panose="02040503050406030204" pitchFamily="18" charset="0"/>
                          </a:rPr>
                          <m:t>𝑢</m:t>
                        </m:r>
                        <m:r>
                          <a:rPr lang="en-US" b="0" i="1" smtClean="0">
                            <a:solidFill>
                              <a:srgbClr val="1B667A"/>
                            </a:solidFill>
                            <a:latin typeface="Cambria Math" panose="02040503050406030204" pitchFamily="18" charset="0"/>
                          </a:rPr>
                          <m:t>)^3</m:t>
                        </m:r>
                      </m:num>
                      <m:den>
                        <m:r>
                          <a:rPr lang="en-US" b="0" i="1" smtClean="0">
                            <a:solidFill>
                              <a:srgbClr val="1B667A"/>
                            </a:solidFill>
                            <a:latin typeface="Cambria Math" panose="02040503050406030204" pitchFamily="18" charset="0"/>
                          </a:rPr>
                          <m:t>76140</m:t>
                        </m:r>
                      </m:den>
                    </m:f>
                  </m:oMath>
                </a14:m>
                <a:r>
                  <a:rPr lang="en-IN" dirty="0">
                    <a:solidFill>
                      <a:srgbClr val="1B667A"/>
                    </a:solidFill>
                    <a:latin typeface="SF Pro Text" panose="00000500000000000000"/>
                  </a:rPr>
                  <a:t>)</a:t>
                </a:r>
                <a:endParaRPr lang="en-US" dirty="0">
                  <a:solidFill>
                    <a:srgbClr val="1B667A"/>
                  </a:solidFill>
                  <a:latin typeface="SF Pro Text" panose="00000500000000000000"/>
                </a:endParaRPr>
              </a:p>
              <a:p>
                <a:pPr algn="ctr">
                  <a:lnSpc>
                    <a:spcPct val="150000"/>
                  </a:lnSpc>
                </a:pPr>
                <a:r>
                  <a:rPr lang="en-IN" dirty="0">
                    <a:solidFill>
                      <a:srgbClr val="1B667A"/>
                    </a:solidFill>
                    <a:latin typeface="SF Pro Text" panose="00000500000000000000"/>
                  </a:rPr>
                  <a:t>Pe =  </a:t>
                </a:r>
                <a14:m>
                  <m:oMath xmlns:m="http://schemas.openxmlformats.org/officeDocument/2006/math">
                    <m:f>
                      <m:fPr>
                        <m:ctrlPr>
                          <a:rPr lang="en-IN" i="1">
                            <a:solidFill>
                              <a:srgbClr val="1B667A"/>
                            </a:solidFill>
                            <a:latin typeface="Cambria Math" panose="02040503050406030204" pitchFamily="18" charset="0"/>
                          </a:rPr>
                        </m:ctrlPr>
                      </m:fPr>
                      <m:num>
                        <m:r>
                          <a:rPr lang="en-US" i="1">
                            <a:solidFill>
                              <a:srgbClr val="1B667A"/>
                            </a:solidFill>
                            <a:latin typeface="Cambria Math" panose="02040503050406030204" pitchFamily="18" charset="0"/>
                          </a:rPr>
                          <m:t>1</m:t>
                        </m:r>
                      </m:num>
                      <m:den>
                        <m:r>
                          <a:rPr lang="en-US" b="0" i="1" smtClean="0">
                            <a:solidFill>
                              <a:srgbClr val="1B667A"/>
                            </a:solidFill>
                            <a:latin typeface="Cambria Math" panose="02040503050406030204" pitchFamily="18" charset="0"/>
                          </a:rPr>
                          <m:t>0.92</m:t>
                        </m:r>
                      </m:den>
                    </m:f>
                  </m:oMath>
                </a14:m>
                <a:r>
                  <a:rPr lang="en-IN" dirty="0">
                    <a:solidFill>
                      <a:srgbClr val="1B667A"/>
                    </a:solidFill>
                    <a:latin typeface="SF Pro Text" panose="00000500000000000000"/>
                  </a:rPr>
                  <a:t>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14700∗0.015 ∗25 </m:t>
                        </m:r>
                      </m:num>
                      <m:den>
                        <m:r>
                          <a:rPr lang="en-US" i="1">
                            <a:solidFill>
                              <a:srgbClr val="1B667A"/>
                            </a:solidFill>
                            <a:latin typeface="Cambria Math" panose="02040503050406030204" pitchFamily="18" charset="0"/>
                          </a:rPr>
                          <m:t>3600</m:t>
                        </m:r>
                      </m:den>
                    </m:f>
                  </m:oMath>
                </a14:m>
                <a:r>
                  <a:rPr lang="en-IN" dirty="0">
                    <a:solidFill>
                      <a:srgbClr val="1B667A"/>
                    </a:solidFill>
                    <a:latin typeface="SF Pro Text" panose="00000500000000000000"/>
                  </a:rPr>
                  <a:t> + </a:t>
                </a:r>
                <a14:m>
                  <m:oMath xmlns:m="http://schemas.openxmlformats.org/officeDocument/2006/math">
                    <m:f>
                      <m:fPr>
                        <m:ctrlPr>
                          <a:rPr lang="en-IN" i="1">
                            <a:solidFill>
                              <a:srgbClr val="1B667A"/>
                            </a:solidFill>
                            <a:latin typeface="Cambria Math" panose="02040503050406030204" pitchFamily="18" charset="0"/>
                          </a:rPr>
                        </m:ctrlPr>
                      </m:fPr>
                      <m:num>
                        <m:r>
                          <a:rPr lang="en-US" b="0" i="1" smtClean="0">
                            <a:solidFill>
                              <a:srgbClr val="1B667A"/>
                            </a:solidFill>
                            <a:latin typeface="Cambria Math" panose="02040503050406030204" pitchFamily="18" charset="0"/>
                          </a:rPr>
                          <m:t>0.5∗2.42 ∗</m:t>
                        </m:r>
                        <m:sSup>
                          <m:sSupPr>
                            <m:ctrlPr>
                              <a:rPr lang="en-US" b="0" i="1" smtClean="0">
                                <a:solidFill>
                                  <a:srgbClr val="1B667A"/>
                                </a:solidFill>
                                <a:latin typeface="Cambria Math" panose="02040503050406030204" pitchFamily="18" charset="0"/>
                              </a:rPr>
                            </m:ctrlPr>
                          </m:sSupPr>
                          <m:e>
                            <m:r>
                              <a:rPr lang="en-US" b="0" i="1" smtClean="0">
                                <a:solidFill>
                                  <a:srgbClr val="1B667A"/>
                                </a:solidFill>
                                <a:latin typeface="Cambria Math" panose="02040503050406030204" pitchFamily="18" charset="0"/>
                              </a:rPr>
                              <m:t>25</m:t>
                            </m:r>
                          </m:e>
                          <m:sup>
                            <m:r>
                              <a:rPr lang="en-US" b="0" i="1" smtClean="0">
                                <a:solidFill>
                                  <a:srgbClr val="1B667A"/>
                                </a:solidFill>
                                <a:latin typeface="Cambria Math" panose="02040503050406030204" pitchFamily="18" charset="0"/>
                              </a:rPr>
                              <m:t>3</m:t>
                            </m:r>
                          </m:sup>
                        </m:sSup>
                      </m:num>
                      <m:den>
                        <m:r>
                          <a:rPr lang="en-US" i="1">
                            <a:solidFill>
                              <a:srgbClr val="1B667A"/>
                            </a:solidFill>
                            <a:latin typeface="Cambria Math" panose="02040503050406030204" pitchFamily="18" charset="0"/>
                          </a:rPr>
                          <m:t>76140</m:t>
                        </m:r>
                      </m:den>
                    </m:f>
                  </m:oMath>
                </a14:m>
                <a:r>
                  <a:rPr lang="en-IN" dirty="0">
                    <a:solidFill>
                      <a:srgbClr val="1B667A"/>
                    </a:solidFill>
                    <a:latin typeface="SF Pro Text" panose="00000500000000000000"/>
                  </a:rPr>
                  <a:t>)</a:t>
                </a:r>
              </a:p>
              <a:p>
                <a:pPr algn="ctr">
                  <a:lnSpc>
                    <a:spcPct val="150000"/>
                  </a:lnSpc>
                </a:pPr>
                <a:r>
                  <a:rPr lang="en-US" dirty="0">
                    <a:solidFill>
                      <a:srgbClr val="1B667A"/>
                    </a:solidFill>
                    <a:latin typeface="SF Pro Text" panose="00000500000000000000"/>
                  </a:rPr>
                  <a:t>Pe = 1.94 kW</a:t>
                </a:r>
              </a:p>
              <a:p>
                <a:pPr>
                  <a:lnSpc>
                    <a:spcPct val="150000"/>
                  </a:lnSpc>
                </a:pPr>
                <a:endParaRPr lang="en-US" dirty="0">
                  <a:solidFill>
                    <a:srgbClr val="1B667A"/>
                  </a:solidFill>
                  <a:latin typeface="SF Pro Text" panose="00000500000000000000"/>
                </a:endParaRPr>
              </a:p>
              <a:p>
                <a:pPr algn="ctr">
                  <a:lnSpc>
                    <a:spcPct val="150000"/>
                  </a:lnSpc>
                </a:pPr>
                <a:r>
                  <a:rPr lang="en-US" b="1" dirty="0">
                    <a:solidFill>
                      <a:srgbClr val="002060"/>
                    </a:solidFill>
                    <a:latin typeface="SF Pro Text" panose="00000500000000000000"/>
                  </a:rPr>
                  <a:t>Therefore we have to choose the Motor of 2kW/ 3kW/ 4kW .</a:t>
                </a:r>
                <a:endParaRPr lang="en-IN" b="1" dirty="0">
                  <a:solidFill>
                    <a:srgbClr val="002060"/>
                  </a:solidFill>
                  <a:latin typeface="SF Pro Text" panose="00000500000000000000"/>
                </a:endParaRPr>
              </a:p>
            </p:txBody>
          </p:sp>
        </mc:Choice>
        <mc:Fallback xmlns="">
          <p:sp>
            <p:nvSpPr>
              <p:cNvPr id="3" name="TextBox 2">
                <a:extLst>
                  <a:ext uri="{FF2B5EF4-FFF2-40B4-BE49-F238E27FC236}">
                    <a16:creationId xmlns:a16="http://schemas.microsoft.com/office/drawing/2014/main" id="{953B5962-35FD-4F40-901C-B8555E97837A}"/>
                  </a:ext>
                </a:extLst>
              </p:cNvPr>
              <p:cNvSpPr txBox="1">
                <a:spLocks noRot="1" noChangeAspect="1" noMove="1" noResize="1" noEditPoints="1" noAdjustHandles="1" noChangeArrowheads="1" noChangeShapeType="1" noTextEdit="1"/>
              </p:cNvSpPr>
              <p:nvPr/>
            </p:nvSpPr>
            <p:spPr>
              <a:xfrm>
                <a:off x="443711" y="1071852"/>
                <a:ext cx="8256579" cy="2999796"/>
              </a:xfrm>
              <a:prstGeom prst="rect">
                <a:avLst/>
              </a:prstGeom>
              <a:blipFill>
                <a:blip r:embed="rId4"/>
                <a:stretch>
                  <a:fillRect b="-1220"/>
                </a:stretch>
              </a:blipFill>
            </p:spPr>
            <p:txBody>
              <a:bodyPr/>
              <a:lstStyle/>
              <a:p>
                <a:r>
                  <a:rPr lang="en-IN">
                    <a:noFill/>
                  </a:rPr>
                  <a:t> </a:t>
                </a:r>
              </a:p>
            </p:txBody>
          </p:sp>
        </mc:Fallback>
      </mc:AlternateContent>
    </p:spTree>
    <p:extLst>
      <p:ext uri="{BB962C8B-B14F-4D97-AF65-F5344CB8AC3E}">
        <p14:creationId xmlns:p14="http://schemas.microsoft.com/office/powerpoint/2010/main" val="2102390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3349A4-5937-4C9D-8EE5-BB4F3AB7FDD0}"/>
              </a:ext>
            </a:extLst>
          </p:cNvPr>
          <p:cNvSpPr>
            <a:spLocks noGrp="1"/>
          </p:cNvSpPr>
          <p:nvPr>
            <p:ph type="title"/>
          </p:nvPr>
        </p:nvSpPr>
        <p:spPr>
          <a:xfrm>
            <a:off x="712787" y="339750"/>
            <a:ext cx="7718425" cy="576263"/>
          </a:xfrm>
          <a:solidFill>
            <a:schemeClr val="accent6"/>
          </a:solidFill>
          <a:effectLst>
            <a:softEdge rad="12700"/>
          </a:effectLst>
        </p:spPr>
        <p:txBody>
          <a:bodyPr/>
          <a:lstStyle/>
          <a:p>
            <a:r>
              <a:rPr lang="en-US" dirty="0"/>
              <a:t>Calculation of Rated Current</a:t>
            </a: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C07250A-C6AD-4A07-9E50-2D0AC3842204}"/>
                  </a:ext>
                </a:extLst>
              </p:cNvPr>
              <p:cNvSpPr txBox="1"/>
              <p:nvPr/>
            </p:nvSpPr>
            <p:spPr>
              <a:xfrm>
                <a:off x="712788" y="916013"/>
                <a:ext cx="7718424" cy="3614900"/>
              </a:xfrm>
              <a:prstGeom prst="rect">
                <a:avLst/>
              </a:prstGeom>
              <a:noFill/>
            </p:spPr>
            <p:txBody>
              <a:bodyPr wrap="square" rtlCol="0">
                <a:spAutoFit/>
              </a:bodyPr>
              <a:lstStyle/>
              <a:p>
                <a:pPr>
                  <a:lnSpc>
                    <a:spcPct val="150000"/>
                  </a:lnSpc>
                </a:pPr>
                <a:r>
                  <a:rPr lang="en-US" sz="1300" dirty="0">
                    <a:solidFill>
                      <a:srgbClr val="1B667A"/>
                    </a:solidFill>
                    <a:latin typeface="SF Pro Text"/>
                  </a:rPr>
                  <a:t>To calculate the rated current of a motor, you will need some specific information about the motor and its intended application. The rated current is the maximum continuous current that a motor can safely handle without overheating or causing damage. Here are the steps to calculate it:</a:t>
                </a:r>
              </a:p>
              <a:p>
                <a:pPr algn="ctr">
                  <a:lnSpc>
                    <a:spcPct val="150000"/>
                  </a:lnSpc>
                </a:pPr>
                <a:r>
                  <a:rPr lang="en-IN" sz="1300" dirty="0">
                    <a:solidFill>
                      <a:srgbClr val="1B667A"/>
                    </a:solidFill>
                    <a:latin typeface="SF Pro Text" panose="00000500000000000000"/>
                  </a:rPr>
                  <a:t>Ir = </a:t>
                </a:r>
                <a14:m>
                  <m:oMath xmlns:m="http://schemas.openxmlformats.org/officeDocument/2006/math">
                    <m:f>
                      <m:fPr>
                        <m:ctrlPr>
                          <a:rPr lang="en-IN" sz="1300" i="1">
                            <a:solidFill>
                              <a:srgbClr val="1B667A"/>
                            </a:solidFill>
                            <a:latin typeface="Cambria Math" panose="02040503050406030204" pitchFamily="18" charset="0"/>
                          </a:rPr>
                        </m:ctrlPr>
                      </m:fPr>
                      <m:num>
                        <m:r>
                          <a:rPr lang="en-US" sz="1300" b="0" i="1" smtClean="0">
                            <a:solidFill>
                              <a:srgbClr val="1B667A"/>
                            </a:solidFill>
                            <a:latin typeface="Cambria Math" panose="02040503050406030204" pitchFamily="18" charset="0"/>
                          </a:rPr>
                          <m:t>𝑃𝑟</m:t>
                        </m:r>
                      </m:num>
                      <m:den>
                        <m:r>
                          <a:rPr lang="en-US" sz="1300" b="0" i="1" smtClean="0">
                            <a:solidFill>
                              <a:srgbClr val="1B667A"/>
                            </a:solidFill>
                            <a:latin typeface="Cambria Math" panose="02040503050406030204" pitchFamily="18" charset="0"/>
                          </a:rPr>
                          <m:t>𝑉𝑟</m:t>
                        </m:r>
                      </m:den>
                    </m:f>
                  </m:oMath>
                </a14:m>
                <a:r>
                  <a:rPr lang="en-IN" sz="1300" dirty="0">
                    <a:solidFill>
                      <a:srgbClr val="1B667A"/>
                    </a:solidFill>
                    <a:latin typeface="SF Pro Text" panose="00000500000000000000"/>
                  </a:rPr>
                  <a:t> </a:t>
                </a:r>
                <a:endParaRPr lang="en-US" sz="1300" dirty="0">
                  <a:solidFill>
                    <a:srgbClr val="1B667A"/>
                  </a:solidFill>
                  <a:latin typeface="SF Pro Text"/>
                </a:endParaRPr>
              </a:p>
              <a:p>
                <a:pPr lvl="7">
                  <a:lnSpc>
                    <a:spcPct val="150000"/>
                  </a:lnSpc>
                </a:pPr>
                <a:r>
                  <a:rPr lang="en-US" sz="1300" dirty="0">
                    <a:solidFill>
                      <a:srgbClr val="1B667A"/>
                    </a:solidFill>
                    <a:latin typeface="SF Pro Text"/>
                  </a:rPr>
                  <a:t>Where ;</a:t>
                </a:r>
              </a:p>
              <a:p>
                <a:pPr lvl="7">
                  <a:lnSpc>
                    <a:spcPct val="150000"/>
                  </a:lnSpc>
                </a:pPr>
                <a:r>
                  <a:rPr lang="en-US" sz="1300" dirty="0">
                    <a:solidFill>
                      <a:srgbClr val="1B667A"/>
                    </a:solidFill>
                    <a:latin typeface="SF Pro Text"/>
                  </a:rPr>
                  <a:t>Ir   : Rated current (in amperes, A)</a:t>
                </a:r>
              </a:p>
              <a:p>
                <a:pPr lvl="7">
                  <a:lnSpc>
                    <a:spcPct val="150000"/>
                  </a:lnSpc>
                </a:pPr>
                <a:r>
                  <a:rPr lang="en-US" sz="1300" dirty="0">
                    <a:solidFill>
                      <a:srgbClr val="1B667A"/>
                    </a:solidFill>
                    <a:latin typeface="SF Pro Text"/>
                  </a:rPr>
                  <a:t>Pr  : Rated power (in watts, W)</a:t>
                </a:r>
              </a:p>
              <a:p>
                <a:pPr lvl="7">
                  <a:lnSpc>
                    <a:spcPct val="150000"/>
                  </a:lnSpc>
                </a:pPr>
                <a:r>
                  <a:rPr lang="en-US" sz="1300" dirty="0">
                    <a:solidFill>
                      <a:srgbClr val="1B667A"/>
                    </a:solidFill>
                    <a:latin typeface="SF Pro Text"/>
                  </a:rPr>
                  <a:t>Vr  : Rated voltage (in volts, V)</a:t>
                </a:r>
              </a:p>
              <a:p>
                <a:pPr lvl="7" algn="ctr">
                  <a:lnSpc>
                    <a:spcPct val="150000"/>
                  </a:lnSpc>
                </a:pPr>
                <a:r>
                  <a:rPr lang="en-IN" sz="1300" dirty="0">
                    <a:solidFill>
                      <a:srgbClr val="1B667A"/>
                    </a:solidFill>
                    <a:latin typeface="SF Pro Text" panose="00000500000000000000"/>
                  </a:rPr>
                  <a:t>Ir = </a:t>
                </a:r>
                <a14:m>
                  <m:oMath xmlns:m="http://schemas.openxmlformats.org/officeDocument/2006/math">
                    <m:f>
                      <m:fPr>
                        <m:ctrlPr>
                          <a:rPr lang="en-IN" sz="1300" i="1">
                            <a:solidFill>
                              <a:srgbClr val="1B667A"/>
                            </a:solidFill>
                            <a:latin typeface="Cambria Math" panose="02040503050406030204" pitchFamily="18" charset="0"/>
                          </a:rPr>
                        </m:ctrlPr>
                      </m:fPr>
                      <m:num>
                        <m:r>
                          <a:rPr lang="en-US" sz="1300" b="0" i="1" smtClean="0">
                            <a:solidFill>
                              <a:srgbClr val="1B667A"/>
                            </a:solidFill>
                            <a:latin typeface="Cambria Math" panose="02040503050406030204" pitchFamily="18" charset="0"/>
                          </a:rPr>
                          <m:t>3000 </m:t>
                        </m:r>
                        <m:r>
                          <a:rPr lang="en-US" sz="1300" b="0" i="1" smtClean="0">
                            <a:solidFill>
                              <a:srgbClr val="1B667A"/>
                            </a:solidFill>
                            <a:latin typeface="Cambria Math" panose="02040503050406030204" pitchFamily="18" charset="0"/>
                          </a:rPr>
                          <m:t>𝑊</m:t>
                        </m:r>
                      </m:num>
                      <m:den>
                        <m:r>
                          <a:rPr lang="en-US" sz="1300" b="0" i="1" smtClean="0">
                            <a:solidFill>
                              <a:srgbClr val="1B667A"/>
                            </a:solidFill>
                            <a:latin typeface="Cambria Math" panose="02040503050406030204" pitchFamily="18" charset="0"/>
                          </a:rPr>
                          <m:t>48 </m:t>
                        </m:r>
                        <m:r>
                          <a:rPr lang="en-US" sz="1300" b="0" i="1" smtClean="0">
                            <a:solidFill>
                              <a:srgbClr val="1B667A"/>
                            </a:solidFill>
                            <a:latin typeface="Cambria Math" panose="02040503050406030204" pitchFamily="18" charset="0"/>
                          </a:rPr>
                          <m:t>𝑉</m:t>
                        </m:r>
                      </m:den>
                    </m:f>
                  </m:oMath>
                </a14:m>
                <a:r>
                  <a:rPr lang="en-IN" sz="1300" dirty="0">
                    <a:solidFill>
                      <a:srgbClr val="1B667A"/>
                    </a:solidFill>
                    <a:latin typeface="SF Pro Text" panose="00000500000000000000"/>
                  </a:rPr>
                  <a:t> </a:t>
                </a:r>
                <a:endParaRPr lang="en-US" sz="1300" dirty="0">
                  <a:solidFill>
                    <a:srgbClr val="1B667A"/>
                  </a:solidFill>
                  <a:latin typeface="SF Pro Text" panose="00000500000000000000"/>
                </a:endParaRPr>
              </a:p>
              <a:p>
                <a:pPr lvl="7" algn="ctr">
                  <a:lnSpc>
                    <a:spcPct val="150000"/>
                  </a:lnSpc>
                </a:pPr>
                <a:r>
                  <a:rPr lang="en-IN" sz="1300" dirty="0">
                    <a:solidFill>
                      <a:srgbClr val="1B667A"/>
                    </a:solidFill>
                    <a:latin typeface="SF Pro Text" panose="00000500000000000000"/>
                  </a:rPr>
                  <a:t>Ir = 62.5 A</a:t>
                </a:r>
              </a:p>
              <a:p>
                <a:pPr lvl="7" algn="ctr">
                  <a:lnSpc>
                    <a:spcPct val="150000"/>
                  </a:lnSpc>
                </a:pPr>
                <a:r>
                  <a:rPr lang="en-US" sz="1300" b="1" dirty="0">
                    <a:solidFill>
                      <a:srgbClr val="002060"/>
                    </a:solidFill>
                    <a:latin typeface="SF Pro Text"/>
                  </a:rPr>
                  <a:t>Therefore , we have to take a controller whose peak current rating will be approx.. 90-110 Amps</a:t>
                </a:r>
                <a:r>
                  <a:rPr lang="en-US" sz="1300" b="1" dirty="0">
                    <a:solidFill>
                      <a:srgbClr val="1B667A"/>
                    </a:solidFill>
                    <a:latin typeface="SF Pro Text"/>
                  </a:rPr>
                  <a:t>.</a:t>
                </a:r>
                <a:endParaRPr lang="en-IN" sz="1300" b="1" dirty="0">
                  <a:solidFill>
                    <a:srgbClr val="1B667A"/>
                  </a:solidFill>
                  <a:latin typeface="SF Pro Text"/>
                </a:endParaRPr>
              </a:p>
            </p:txBody>
          </p:sp>
        </mc:Choice>
        <mc:Fallback xmlns="">
          <p:sp>
            <p:nvSpPr>
              <p:cNvPr id="4" name="TextBox 3">
                <a:extLst>
                  <a:ext uri="{FF2B5EF4-FFF2-40B4-BE49-F238E27FC236}">
                    <a16:creationId xmlns:a16="http://schemas.microsoft.com/office/drawing/2014/main" id="{CC07250A-C6AD-4A07-9E50-2D0AC3842204}"/>
                  </a:ext>
                </a:extLst>
              </p:cNvPr>
              <p:cNvSpPr txBox="1">
                <a:spLocks noRot="1" noChangeAspect="1" noMove="1" noResize="1" noEditPoints="1" noAdjustHandles="1" noChangeArrowheads="1" noChangeShapeType="1" noTextEdit="1"/>
              </p:cNvSpPr>
              <p:nvPr/>
            </p:nvSpPr>
            <p:spPr>
              <a:xfrm>
                <a:off x="712788" y="916013"/>
                <a:ext cx="7718424" cy="3614900"/>
              </a:xfrm>
              <a:prstGeom prst="rect">
                <a:avLst/>
              </a:prstGeom>
              <a:blipFill>
                <a:blip r:embed="rId2"/>
                <a:stretch>
                  <a:fillRect l="-158" b="-506"/>
                </a:stretch>
              </a:blipFill>
            </p:spPr>
            <p:txBody>
              <a:bodyPr/>
              <a:lstStyle/>
              <a:p>
                <a:r>
                  <a:rPr lang="en-IN">
                    <a:noFill/>
                  </a:rPr>
                  <a:t> </a:t>
                </a:r>
              </a:p>
            </p:txBody>
          </p:sp>
        </mc:Fallback>
      </mc:AlternateContent>
    </p:spTree>
    <p:extLst>
      <p:ext uri="{BB962C8B-B14F-4D97-AF65-F5344CB8AC3E}">
        <p14:creationId xmlns:p14="http://schemas.microsoft.com/office/powerpoint/2010/main" val="3890448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3349A4-5937-4C9D-8EE5-BB4F3AB7FDD0}"/>
              </a:ext>
            </a:extLst>
          </p:cNvPr>
          <p:cNvSpPr>
            <a:spLocks noGrp="1"/>
          </p:cNvSpPr>
          <p:nvPr>
            <p:ph type="title"/>
          </p:nvPr>
        </p:nvSpPr>
        <p:spPr>
          <a:xfrm>
            <a:off x="712786" y="309525"/>
            <a:ext cx="7718425" cy="576263"/>
          </a:xfrm>
          <a:solidFill>
            <a:schemeClr val="accent6"/>
          </a:solidFill>
          <a:effectLst>
            <a:softEdge rad="12700"/>
          </a:effectLst>
        </p:spPr>
        <p:txBody>
          <a:bodyPr/>
          <a:lstStyle/>
          <a:p>
            <a:r>
              <a:rPr lang="en-US" dirty="0"/>
              <a:t>Why 48 Volts Motor? </a:t>
            </a:r>
            <a:endParaRPr lang="en-IN" dirty="0"/>
          </a:p>
        </p:txBody>
      </p:sp>
      <p:sp>
        <p:nvSpPr>
          <p:cNvPr id="5" name="TextBox 4">
            <a:extLst>
              <a:ext uri="{FF2B5EF4-FFF2-40B4-BE49-F238E27FC236}">
                <a16:creationId xmlns:a16="http://schemas.microsoft.com/office/drawing/2014/main" id="{DEF56349-63CA-4C45-93B5-9745EF42AA21}"/>
              </a:ext>
            </a:extLst>
          </p:cNvPr>
          <p:cNvSpPr txBox="1"/>
          <p:nvPr/>
        </p:nvSpPr>
        <p:spPr>
          <a:xfrm>
            <a:off x="801381" y="1088042"/>
            <a:ext cx="7629830" cy="2967415"/>
          </a:xfrm>
          <a:prstGeom prst="rect">
            <a:avLst/>
          </a:prstGeom>
          <a:noFill/>
        </p:spPr>
        <p:txBody>
          <a:bodyPr wrap="square" rtlCol="0">
            <a:spAutoFit/>
          </a:bodyPr>
          <a:lstStyle/>
          <a:p>
            <a:pPr algn="ctr">
              <a:lnSpc>
                <a:spcPct val="150000"/>
              </a:lnSpc>
            </a:pPr>
            <a:r>
              <a:rPr lang="en-US" dirty="0">
                <a:solidFill>
                  <a:srgbClr val="1B667A"/>
                </a:solidFill>
                <a:latin typeface="SF Pro Text" panose="00000500000000000000" pitchFamily="2" charset="0"/>
                <a:ea typeface="SF Pro Text" panose="00000500000000000000" pitchFamily="2" charset="0"/>
              </a:rPr>
              <a:t>Power = voltage × current.</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pitchFamily="2" charset="0"/>
                <a:ea typeface="SF Pro Text" panose="00000500000000000000" pitchFamily="2" charset="0"/>
              </a:rPr>
              <a:t> If we go for lower voltage level than current will increase. So then we will need  thicker wires for the application. As current is high you have to consider effect of heating due to currents in electronics components</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pitchFamily="2" charset="0"/>
                <a:ea typeface="SF Pro Text" panose="00000500000000000000" pitchFamily="2" charset="0"/>
              </a:rPr>
              <a:t>Using a higher voltage reduces the current flowing in the cables significantly. This reduces the cross-section of the cable along with the Ohmic losses. So, the higher the system voltage, the lower is the system current; hence, the lower is the system loss. </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solidFill>
                  <a:srgbClr val="1B667A"/>
                </a:solidFill>
                <a:latin typeface="SF Pro Text" panose="00000500000000000000" pitchFamily="2" charset="0"/>
                <a:ea typeface="SF Pro Text" panose="00000500000000000000" pitchFamily="2" charset="0"/>
              </a:rPr>
              <a:t>For instance , If a 48 V system is used instead of a 12 V system for the same load, then the current will decrease by 12÷48 = 25%.</a:t>
            </a:r>
          </a:p>
        </p:txBody>
      </p:sp>
    </p:spTree>
    <p:extLst>
      <p:ext uri="{BB962C8B-B14F-4D97-AF65-F5344CB8AC3E}">
        <p14:creationId xmlns:p14="http://schemas.microsoft.com/office/powerpoint/2010/main" val="68768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3349A4-5937-4C9D-8EE5-BB4F3AB7FDD0}"/>
              </a:ext>
            </a:extLst>
          </p:cNvPr>
          <p:cNvSpPr>
            <a:spLocks noGrp="1"/>
          </p:cNvSpPr>
          <p:nvPr>
            <p:ph type="title"/>
          </p:nvPr>
        </p:nvSpPr>
        <p:spPr>
          <a:xfrm>
            <a:off x="712786" y="309525"/>
            <a:ext cx="7718425" cy="576263"/>
          </a:xfrm>
          <a:solidFill>
            <a:schemeClr val="accent6"/>
          </a:solidFill>
          <a:effectLst>
            <a:softEdge rad="12700"/>
          </a:effectLst>
        </p:spPr>
        <p:txBody>
          <a:bodyPr/>
          <a:lstStyle/>
          <a:p>
            <a:r>
              <a:rPr lang="en-US" dirty="0"/>
              <a:t>Why 48 Volts Motor? </a:t>
            </a:r>
            <a:endParaRPr lang="en-IN" dirty="0"/>
          </a:p>
        </p:txBody>
      </p:sp>
      <p:sp>
        <p:nvSpPr>
          <p:cNvPr id="5" name="TextBox 4">
            <a:extLst>
              <a:ext uri="{FF2B5EF4-FFF2-40B4-BE49-F238E27FC236}">
                <a16:creationId xmlns:a16="http://schemas.microsoft.com/office/drawing/2014/main" id="{DEF56349-63CA-4C45-93B5-9745EF42AA21}"/>
              </a:ext>
            </a:extLst>
          </p:cNvPr>
          <p:cNvSpPr txBox="1"/>
          <p:nvPr/>
        </p:nvSpPr>
        <p:spPr>
          <a:xfrm>
            <a:off x="801381" y="1088042"/>
            <a:ext cx="7718424" cy="1997919"/>
          </a:xfrm>
          <a:prstGeom prst="rect">
            <a:avLst/>
          </a:prstGeom>
          <a:noFill/>
        </p:spPr>
        <p:txBody>
          <a:bodyPr wrap="square" rtlCol="0">
            <a:spAutoFit/>
          </a:bodyPr>
          <a:lstStyle/>
          <a:p>
            <a:pPr algn="ctr">
              <a:lnSpc>
                <a:spcPct val="150000"/>
              </a:lnSpc>
            </a:pPr>
            <a:r>
              <a:rPr lang="en-US" dirty="0">
                <a:solidFill>
                  <a:srgbClr val="1B667A"/>
                </a:solidFill>
                <a:latin typeface="SF Pro Text" panose="00000500000000000000" pitchFamily="2" charset="0"/>
                <a:ea typeface="SF Pro Text" panose="00000500000000000000" pitchFamily="2" charset="0"/>
              </a:rPr>
              <a:t>Lead-acid batteries have a nominal voltage of 12V. comprising six 2V cells connected in series. The batteries are connected in series to produce a higher voltage. </a:t>
            </a:r>
          </a:p>
          <a:p>
            <a:pPr algn="ctr">
              <a:lnSpc>
                <a:spcPct val="150000"/>
              </a:lnSpc>
            </a:pPr>
            <a:r>
              <a:rPr lang="en-US" dirty="0">
                <a:solidFill>
                  <a:srgbClr val="1B667A"/>
                </a:solidFill>
                <a:latin typeface="SF Pro Text" panose="00000500000000000000" pitchFamily="2" charset="0"/>
                <a:ea typeface="SF Pro Text" panose="00000500000000000000" pitchFamily="2" charset="0"/>
              </a:rPr>
              <a:t>Voltage of battery are designed for -:</a:t>
            </a:r>
          </a:p>
          <a:p>
            <a:pPr algn="ctr">
              <a:lnSpc>
                <a:spcPct val="150000"/>
              </a:lnSpc>
            </a:pPr>
            <a:r>
              <a:rPr lang="en-US" dirty="0">
                <a:solidFill>
                  <a:srgbClr val="1B667A"/>
                </a:solidFill>
                <a:latin typeface="SF Pro Text" panose="00000500000000000000" pitchFamily="2" charset="0"/>
                <a:ea typeface="SF Pro Text" panose="00000500000000000000" pitchFamily="2" charset="0"/>
              </a:rPr>
              <a:t>12V battery  up to 750 W devices </a:t>
            </a:r>
          </a:p>
          <a:p>
            <a:pPr algn="ctr">
              <a:lnSpc>
                <a:spcPct val="150000"/>
              </a:lnSpc>
            </a:pPr>
            <a:r>
              <a:rPr lang="en-US" dirty="0">
                <a:solidFill>
                  <a:srgbClr val="1B667A"/>
                </a:solidFill>
                <a:latin typeface="SF Pro Text" panose="00000500000000000000" pitchFamily="2" charset="0"/>
                <a:ea typeface="SF Pro Text" panose="00000500000000000000" pitchFamily="2" charset="0"/>
              </a:rPr>
              <a:t>24 V battery up to 1500 W </a:t>
            </a:r>
          </a:p>
          <a:p>
            <a:pPr algn="ctr">
              <a:lnSpc>
                <a:spcPct val="150000"/>
              </a:lnSpc>
            </a:pPr>
            <a:r>
              <a:rPr lang="en-US" dirty="0">
                <a:solidFill>
                  <a:srgbClr val="1B667A"/>
                </a:solidFill>
                <a:latin typeface="SF Pro Text" panose="00000500000000000000" pitchFamily="2" charset="0"/>
                <a:ea typeface="SF Pro Text" panose="00000500000000000000" pitchFamily="2" charset="0"/>
              </a:rPr>
              <a:t>48 V battery up to 3000 W. </a:t>
            </a:r>
          </a:p>
        </p:txBody>
      </p:sp>
      <p:sp>
        <p:nvSpPr>
          <p:cNvPr id="2" name="TextBox 1">
            <a:extLst>
              <a:ext uri="{FF2B5EF4-FFF2-40B4-BE49-F238E27FC236}">
                <a16:creationId xmlns:a16="http://schemas.microsoft.com/office/drawing/2014/main" id="{2B009E0F-2C32-44F5-B683-9D67CD882BF2}"/>
              </a:ext>
            </a:extLst>
          </p:cNvPr>
          <p:cNvSpPr txBox="1"/>
          <p:nvPr/>
        </p:nvSpPr>
        <p:spPr>
          <a:xfrm>
            <a:off x="2345635" y="3637722"/>
            <a:ext cx="4899991" cy="292388"/>
          </a:xfrm>
          <a:prstGeom prst="rect">
            <a:avLst/>
          </a:prstGeom>
          <a:noFill/>
        </p:spPr>
        <p:txBody>
          <a:bodyPr wrap="square" rtlCol="0">
            <a:spAutoFit/>
          </a:bodyPr>
          <a:lstStyle/>
          <a:p>
            <a:pPr algn="ctr"/>
            <a:r>
              <a:rPr lang="en-US" sz="1300" b="1" dirty="0">
                <a:solidFill>
                  <a:srgbClr val="002060"/>
                </a:solidFill>
                <a:latin typeface="SF Pro Text" panose="00000500000000000000"/>
              </a:rPr>
              <a:t>Therefore we have to choose a motor of 48V.</a:t>
            </a:r>
            <a:endParaRPr lang="en-IN" sz="1300" b="1" dirty="0">
              <a:solidFill>
                <a:srgbClr val="002060"/>
              </a:solidFill>
              <a:latin typeface="SF Pro Text" panose="00000500000000000000"/>
            </a:endParaRPr>
          </a:p>
        </p:txBody>
      </p:sp>
    </p:spTree>
    <p:extLst>
      <p:ext uri="{BB962C8B-B14F-4D97-AF65-F5344CB8AC3E}">
        <p14:creationId xmlns:p14="http://schemas.microsoft.com/office/powerpoint/2010/main" val="1389518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5825CB71-9DE0-1FE4-9BA8-6A3A9275BD10}"/>
              </a:ext>
            </a:extLst>
          </p:cNvPr>
          <p:cNvSpPr/>
          <p:nvPr/>
        </p:nvSpPr>
        <p:spPr>
          <a:xfrm>
            <a:off x="713228" y="18153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0509D711-44DB-4430-A4CD-3DBCC06252E6}"/>
              </a:ext>
            </a:extLst>
          </p:cNvPr>
          <p:cNvSpPr>
            <a:spLocks noGrp="1"/>
          </p:cNvSpPr>
          <p:nvPr>
            <p:ph type="title"/>
          </p:nvPr>
        </p:nvSpPr>
        <p:spPr>
          <a:xfrm>
            <a:off x="713228" y="254781"/>
            <a:ext cx="7717500" cy="576000"/>
          </a:xfrm>
        </p:spPr>
        <p:txBody>
          <a:bodyPr/>
          <a:lstStyle/>
          <a:p>
            <a:r>
              <a:rPr lang="en-US" dirty="0"/>
              <a:t>Calculation of Maximum Speed</a:t>
            </a:r>
            <a:endParaRPr lang="en-US" dirty="0">
              <a:solidFill>
                <a:schemeClr val="tx2"/>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AAB5CEF-23FE-7AA8-32DB-77FB2A05C161}"/>
                  </a:ext>
                </a:extLst>
              </p:cNvPr>
              <p:cNvSpPr txBox="1"/>
              <p:nvPr/>
            </p:nvSpPr>
            <p:spPr>
              <a:xfrm>
                <a:off x="713228" y="977275"/>
                <a:ext cx="7452577" cy="3797450"/>
              </a:xfrm>
              <a:prstGeom prst="rect">
                <a:avLst/>
              </a:prstGeom>
              <a:noFill/>
            </p:spPr>
            <p:txBody>
              <a:bodyPr wrap="square" rtlCol="0">
                <a:spAutoFit/>
              </a:bodyPr>
              <a:lstStyle/>
              <a:p>
                <a:pPr marL="0" algn="l" rtl="0" eaLnBrk="1" latinLnBrk="0" hangingPunct="1">
                  <a:lnSpc>
                    <a:spcPct val="150000"/>
                  </a:lnSpc>
                  <a:spcBef>
                    <a:spcPts val="0"/>
                  </a:spcBef>
                  <a:spcAft>
                    <a:spcPts val="0"/>
                  </a:spcAft>
                </a:pPr>
                <a:r>
                  <a:rPr lang="en-US" sz="1300" kern="1200" dirty="0">
                    <a:solidFill>
                      <a:srgbClr val="1B667A"/>
                    </a:solidFill>
                    <a:effectLst/>
                    <a:latin typeface="SF Pro Text" panose="00000500000000000000"/>
                    <a:ea typeface="SF Pro Text" panose="00000500000000000000" pitchFamily="2" charset="0"/>
                    <a:cs typeface="+mn-cs"/>
                  </a:rPr>
                  <a:t>Transmission calculations give the power transmitting values through the system in terms of Top Speed</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b="1" kern="1200" dirty="0">
                    <a:solidFill>
                      <a:srgbClr val="1B667A"/>
                    </a:solidFill>
                    <a:effectLst/>
                    <a:latin typeface="SF Pro Text" panose="00000500000000000000"/>
                    <a:ea typeface="SF Pro Text" panose="00000500000000000000" pitchFamily="2" charset="0"/>
                    <a:cs typeface="+mn-cs"/>
                  </a:rPr>
                  <a:t>Parameters considered: </a:t>
                </a:r>
                <a:endParaRPr lang="en-US" sz="1300" b="1" dirty="0">
                  <a:solidFill>
                    <a:srgbClr val="1B667A"/>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rgbClr val="1B667A"/>
                    </a:solidFill>
                    <a:effectLst/>
                    <a:latin typeface="SF Pro Text" panose="00000500000000000000"/>
                    <a:ea typeface="SF Pro Text" panose="00000500000000000000" pitchFamily="2" charset="0"/>
                    <a:cs typeface="+mn-cs"/>
                  </a:rPr>
                  <a:t>Motor 3kw with 3000 set rpm </a:t>
                </a:r>
                <a:endParaRPr lang="en-US" sz="1300" dirty="0">
                  <a:solidFill>
                    <a:srgbClr val="1B667A"/>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rgbClr val="1B667A"/>
                    </a:solidFill>
                    <a:effectLst/>
                    <a:latin typeface="SF Pro Text" panose="00000500000000000000"/>
                    <a:ea typeface="SF Pro Text" panose="00000500000000000000" pitchFamily="2" charset="0"/>
                    <a:cs typeface="+mn-cs"/>
                  </a:rPr>
                  <a:t>Transaxle reduction ratio 10.45 </a:t>
                </a:r>
                <a:endParaRPr lang="en-US" sz="1300" dirty="0">
                  <a:solidFill>
                    <a:srgbClr val="1B667A"/>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rgbClr val="1B667A"/>
                    </a:solidFill>
                    <a:effectLst/>
                    <a:latin typeface="SF Pro Text" panose="00000500000000000000"/>
                    <a:ea typeface="SF Pro Text" panose="00000500000000000000" pitchFamily="2" charset="0"/>
                    <a:cs typeface="+mn-cs"/>
                  </a:rPr>
                  <a:t>Tire 18 * 8.5 * 8 (l * b * h) (Approx.)</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IN" sz="1300" b="1" kern="1200" dirty="0">
                    <a:solidFill>
                      <a:srgbClr val="1B667A"/>
                    </a:solidFill>
                    <a:effectLst/>
                    <a:latin typeface="SF Pro Text" panose="00000500000000000000"/>
                    <a:ea typeface="SF Pro Text" panose="00000500000000000000" pitchFamily="2" charset="0"/>
                    <a:cs typeface="+mn-cs"/>
                  </a:rPr>
                  <a:t>Top speed :</a:t>
                </a:r>
                <a:endParaRPr lang="en-US" sz="1300" b="1"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b="1" kern="1200" dirty="0">
                    <a:solidFill>
                      <a:srgbClr val="1B667A"/>
                    </a:solidFill>
                    <a:effectLst/>
                    <a:latin typeface="SF Pro Text" panose="00000500000000000000"/>
                    <a:ea typeface="SF Pro Text" panose="00000500000000000000" pitchFamily="2" charset="0"/>
                    <a:cs typeface="+mn-cs"/>
                  </a:rPr>
                  <a:t> </a:t>
                </a:r>
                <a:r>
                  <a:rPr lang="en-IN" sz="1300" b="1" kern="1200" dirty="0">
                    <a:solidFill>
                      <a:srgbClr val="1B667A"/>
                    </a:solidFill>
                    <a:effectLst/>
                    <a:latin typeface="SF Pro Text" panose="00000500000000000000"/>
                    <a:ea typeface="SF Pro Text" panose="00000500000000000000" pitchFamily="2" charset="0"/>
                    <a:cs typeface="+mn-cs"/>
                  </a:rPr>
                  <a:t>  </a:t>
                </a:r>
                <a:r>
                  <a:rPr lang="en-IN" sz="1300" kern="1200" dirty="0">
                    <a:solidFill>
                      <a:srgbClr val="1B667A"/>
                    </a:solidFill>
                    <a:effectLst/>
                    <a:latin typeface="SF Pro Text" panose="00000500000000000000"/>
                    <a:ea typeface="SF Pro Text" panose="00000500000000000000" pitchFamily="2" charset="0"/>
                    <a:cs typeface="+mn-cs"/>
                  </a:rPr>
                  <a:t>RPM of Wheel    = </a:t>
                </a:r>
                <a14:m>
                  <m:oMath xmlns:m="http://schemas.openxmlformats.org/officeDocument/2006/math">
                    <m:f>
                      <m:fPr>
                        <m:ctrlPr>
                          <a:rPr lang="en-IN" sz="1300" i="1" kern="1200">
                            <a:solidFill>
                              <a:srgbClr val="1B667A"/>
                            </a:solidFill>
                            <a:effectLst/>
                            <a:latin typeface="Cambria Math" panose="02040503050406030204" pitchFamily="18" charset="0"/>
                            <a:ea typeface="+mn-ea"/>
                            <a:cs typeface="+mn-cs"/>
                          </a:rPr>
                        </m:ctrlPr>
                      </m:fPr>
                      <m:num>
                        <m:r>
                          <a:rPr lang="en-US" sz="1300" b="0" i="1" kern="1200">
                            <a:solidFill>
                              <a:srgbClr val="1B667A"/>
                            </a:solidFill>
                            <a:effectLst/>
                            <a:latin typeface="Cambria Math" panose="02040503050406030204" pitchFamily="18" charset="0"/>
                            <a:ea typeface="+mn-ea"/>
                            <a:cs typeface="+mn-cs"/>
                          </a:rPr>
                          <m:t>𝑟𝑝𝑚</m:t>
                        </m:r>
                        <m:r>
                          <a:rPr lang="en-US" sz="1300" b="0" i="1" kern="1200">
                            <a:solidFill>
                              <a:srgbClr val="1B667A"/>
                            </a:solidFill>
                            <a:effectLst/>
                            <a:latin typeface="Cambria Math" panose="02040503050406030204" pitchFamily="18" charset="0"/>
                            <a:ea typeface="+mn-ea"/>
                            <a:cs typeface="+mn-cs"/>
                          </a:rPr>
                          <m:t> </m:t>
                        </m:r>
                        <m:r>
                          <a:rPr lang="en-US" sz="1300" b="0" i="1" kern="1200">
                            <a:solidFill>
                              <a:srgbClr val="1B667A"/>
                            </a:solidFill>
                            <a:effectLst/>
                            <a:latin typeface="Cambria Math" panose="02040503050406030204" pitchFamily="18" charset="0"/>
                            <a:ea typeface="+mn-ea"/>
                            <a:cs typeface="+mn-cs"/>
                          </a:rPr>
                          <m:t>𝑜𝑓</m:t>
                        </m:r>
                        <m:r>
                          <a:rPr lang="en-US" sz="1300" b="0" i="1" kern="1200">
                            <a:solidFill>
                              <a:srgbClr val="1B667A"/>
                            </a:solidFill>
                            <a:effectLst/>
                            <a:latin typeface="Cambria Math" panose="02040503050406030204" pitchFamily="18" charset="0"/>
                            <a:ea typeface="+mn-ea"/>
                            <a:cs typeface="+mn-cs"/>
                          </a:rPr>
                          <m:t> </m:t>
                        </m:r>
                        <m:r>
                          <a:rPr lang="en-US" sz="1300" b="0" i="1" kern="1200">
                            <a:solidFill>
                              <a:srgbClr val="1B667A"/>
                            </a:solidFill>
                            <a:effectLst/>
                            <a:latin typeface="Cambria Math" panose="02040503050406030204" pitchFamily="18" charset="0"/>
                            <a:ea typeface="+mn-ea"/>
                            <a:cs typeface="+mn-cs"/>
                          </a:rPr>
                          <m:t>𝑚𝑜𝑡𝑜𝑟</m:t>
                        </m:r>
                      </m:num>
                      <m:den>
                        <m:r>
                          <a:rPr lang="en-US" sz="1300" b="0" i="1" kern="1200">
                            <a:solidFill>
                              <a:srgbClr val="1B667A"/>
                            </a:solidFill>
                            <a:effectLst/>
                            <a:latin typeface="Cambria Math" panose="02040503050406030204" pitchFamily="18" charset="0"/>
                            <a:ea typeface="+mn-ea"/>
                            <a:cs typeface="+mn-cs"/>
                          </a:rPr>
                          <m:t>𝑡𝑟𝑎𝑛𝑠𝑎𝑥𝑙𝑒</m:t>
                        </m:r>
                        <m:r>
                          <a:rPr lang="en-US" sz="1300" b="0" i="1" kern="1200">
                            <a:solidFill>
                              <a:srgbClr val="1B667A"/>
                            </a:solidFill>
                            <a:effectLst/>
                            <a:latin typeface="Cambria Math" panose="02040503050406030204" pitchFamily="18" charset="0"/>
                            <a:ea typeface="+mn-ea"/>
                            <a:cs typeface="+mn-cs"/>
                          </a:rPr>
                          <m:t> </m:t>
                        </m:r>
                        <m:r>
                          <a:rPr lang="en-US" sz="1300" b="0" i="1" kern="1200">
                            <a:solidFill>
                              <a:srgbClr val="1B667A"/>
                            </a:solidFill>
                            <a:effectLst/>
                            <a:latin typeface="Cambria Math" panose="02040503050406030204" pitchFamily="18" charset="0"/>
                            <a:ea typeface="+mn-ea"/>
                            <a:cs typeface="+mn-cs"/>
                          </a:rPr>
                          <m:t>𝑟𝑒𝑑𝑢𝑐𝑡𝑖𝑜𝑛</m:t>
                        </m:r>
                      </m:den>
                    </m:f>
                  </m:oMath>
                </a14:m>
                <a:r>
                  <a:rPr lang="en-IN" sz="1300" kern="1200" dirty="0">
                    <a:solidFill>
                      <a:srgbClr val="1B667A"/>
                    </a:solidFill>
                    <a:effectLst/>
                    <a:latin typeface="SF Pro Text" panose="00000500000000000000"/>
                    <a:ea typeface="SF Pro Text" panose="00000500000000000000" pitchFamily="2" charset="0"/>
                    <a:cs typeface="+mn-cs"/>
                  </a:rPr>
                  <a:t>  = 3000/10.45 = 287.08 RPM</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rgbClr val="1B667A"/>
                    </a:solidFill>
                    <a:effectLst/>
                    <a:latin typeface="SF Pro Text" panose="00000500000000000000"/>
                    <a:ea typeface="SF Pro Text" panose="00000500000000000000" pitchFamily="2" charset="0"/>
                    <a:cs typeface="+mn-cs"/>
                  </a:rPr>
                  <a:t> </a:t>
                </a:r>
                <a:r>
                  <a:rPr lang="en-IN" sz="1300" kern="1200" dirty="0">
                    <a:solidFill>
                      <a:srgbClr val="1B667A"/>
                    </a:solidFill>
                    <a:effectLst/>
                    <a:latin typeface="SF Pro Text" panose="00000500000000000000"/>
                    <a:ea typeface="SF Pro Text" panose="00000500000000000000" pitchFamily="2" charset="0"/>
                    <a:cs typeface="+mn-cs"/>
                  </a:rPr>
                  <a:t>                 Rpm / 60 = </a:t>
                </a:r>
                <a:r>
                  <a:rPr lang="en-IN" sz="1300" kern="1200" dirty="0">
                    <a:solidFill>
                      <a:srgbClr val="1B667A"/>
                    </a:solidFill>
                    <a:latin typeface="SF Pro Text" panose="00000500000000000000"/>
                    <a:ea typeface="SF Pro Text" panose="00000500000000000000" pitchFamily="2" charset="0"/>
                    <a:cs typeface="+mn-cs"/>
                  </a:rPr>
                  <a:t>r</a:t>
                </a:r>
                <a:r>
                  <a:rPr lang="en-IN" sz="1300" kern="1200" dirty="0">
                    <a:solidFill>
                      <a:srgbClr val="1B667A"/>
                    </a:solidFill>
                    <a:effectLst/>
                    <a:latin typeface="SF Pro Text" panose="00000500000000000000"/>
                    <a:ea typeface="SF Pro Text" panose="00000500000000000000" pitchFamily="2" charset="0"/>
                    <a:cs typeface="+mn-cs"/>
                  </a:rPr>
                  <a:t>ps hence</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rgbClr val="1B667A"/>
                    </a:solidFill>
                    <a:effectLst/>
                    <a:latin typeface="SF Pro Text" panose="00000500000000000000"/>
                    <a:ea typeface="SF Pro Text" panose="00000500000000000000" pitchFamily="2" charset="0"/>
                    <a:cs typeface="+mn-cs"/>
                  </a:rPr>
                  <a:t>	</a:t>
                </a:r>
                <a:r>
                  <a:rPr lang="en-IN" sz="1300" kern="1200" dirty="0">
                    <a:solidFill>
                      <a:srgbClr val="1B667A"/>
                    </a:solidFill>
                    <a:effectLst/>
                    <a:latin typeface="SF Pro Text" panose="00000500000000000000"/>
                    <a:ea typeface="SF Pro Text" panose="00000500000000000000" pitchFamily="2" charset="0"/>
                    <a:cs typeface="+mn-cs"/>
                  </a:rPr>
                  <a:t>		287.08/ 60  = 4.785 </a:t>
                </a:r>
                <a:r>
                  <a:rPr lang="en-IN" sz="1300" kern="1200" dirty="0">
                    <a:solidFill>
                      <a:srgbClr val="1B667A"/>
                    </a:solidFill>
                    <a:latin typeface="SF Pro Text" panose="00000500000000000000"/>
                    <a:ea typeface="SF Pro Text" panose="00000500000000000000" pitchFamily="2" charset="0"/>
                    <a:cs typeface="+mn-cs"/>
                  </a:rPr>
                  <a:t>r</a:t>
                </a:r>
                <a:r>
                  <a:rPr lang="en-IN" sz="1300" kern="1200" dirty="0">
                    <a:solidFill>
                      <a:srgbClr val="1B667A"/>
                    </a:solidFill>
                    <a:effectLst/>
                    <a:latin typeface="SF Pro Text" panose="00000500000000000000"/>
                    <a:ea typeface="SF Pro Text" panose="00000500000000000000" pitchFamily="2" charset="0"/>
                    <a:cs typeface="+mn-cs"/>
                  </a:rPr>
                  <a:t>ps</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rgbClr val="1B667A"/>
                    </a:solidFill>
                    <a:effectLst/>
                    <a:latin typeface="SF Pro Text" panose="00000500000000000000"/>
                    <a:ea typeface="SF Pro Text" panose="00000500000000000000" pitchFamily="2" charset="0"/>
                    <a:cs typeface="+mn-cs"/>
                  </a:rPr>
                  <a:t>  [Speed = </a:t>
                </a:r>
                <a:r>
                  <a:rPr lang="en-US" sz="1300" kern="1200" dirty="0">
                    <a:solidFill>
                      <a:srgbClr val="1B667A"/>
                    </a:solidFill>
                    <a:latin typeface="SF Pro Text" panose="00000500000000000000"/>
                    <a:ea typeface="SF Pro Text" panose="00000500000000000000" pitchFamily="2" charset="0"/>
                    <a:cs typeface="+mn-cs"/>
                  </a:rPr>
                  <a:t>r</a:t>
                </a:r>
                <a:r>
                  <a:rPr lang="en-US" sz="1300" kern="1200" dirty="0">
                    <a:solidFill>
                      <a:srgbClr val="1B667A"/>
                    </a:solidFill>
                    <a:effectLst/>
                    <a:latin typeface="SF Pro Text" panose="00000500000000000000"/>
                    <a:ea typeface="SF Pro Text" panose="00000500000000000000" pitchFamily="2" charset="0"/>
                    <a:cs typeface="+mn-cs"/>
                  </a:rPr>
                  <a:t>ps x Circumference of the tire]  =&gt;    </a:t>
                </a:r>
                <a:r>
                  <a:rPr lang="en-US" sz="1300" b="1" kern="1200" dirty="0">
                    <a:solidFill>
                      <a:srgbClr val="1B667A"/>
                    </a:solidFill>
                    <a:effectLst/>
                    <a:latin typeface="SF Pro Text" panose="00000500000000000000"/>
                    <a:ea typeface="SF Pro Text" panose="00000500000000000000" pitchFamily="2" charset="0"/>
                    <a:cs typeface="+mn-cs"/>
                  </a:rPr>
                  <a:t>TOP SPEED = 6.53 m/s or 23.5 km/hr.</a:t>
                </a:r>
                <a:endParaRPr lang="en-US" sz="1300" dirty="0">
                  <a:solidFill>
                    <a:srgbClr val="1B667A"/>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rgbClr val="1B667A"/>
                    </a:solidFill>
                    <a:effectLst/>
                    <a:latin typeface="SF Pro Text" panose="00000500000000000000"/>
                    <a:ea typeface="SF Pro Text" panose="00000500000000000000" pitchFamily="2" charset="0"/>
                    <a:cs typeface="+mn-cs"/>
                  </a:rPr>
                  <a:t> </a:t>
                </a:r>
                <a:r>
                  <a:rPr lang="en-IN" sz="1300" kern="1200" dirty="0">
                    <a:solidFill>
                      <a:srgbClr val="1B667A"/>
                    </a:solidFill>
                    <a:effectLst/>
                    <a:latin typeface="SF Pro Text" panose="00000500000000000000"/>
                    <a:ea typeface="SF Pro Text" panose="00000500000000000000" pitchFamily="2" charset="0"/>
                    <a:cs typeface="+mn-cs"/>
                  </a:rPr>
                  <a:t>                        </a:t>
                </a:r>
                <a:endParaRPr lang="en-US" sz="1300" dirty="0">
                  <a:solidFill>
                    <a:srgbClr val="1B667A"/>
                  </a:solidFill>
                  <a:effectLst/>
                  <a:latin typeface="SF Pro Text" panose="00000500000000000000"/>
                  <a:ea typeface="SF Pro Text" panose="00000500000000000000" pitchFamily="2" charset="0"/>
                </a:endParaRPr>
              </a:p>
              <a:p>
                <a:pPr algn="ctr">
                  <a:lnSpc>
                    <a:spcPct val="150000"/>
                  </a:lnSpc>
                </a:pPr>
                <a:r>
                  <a:rPr lang="en-US" sz="1300" b="1" dirty="0">
                    <a:solidFill>
                      <a:srgbClr val="002060"/>
                    </a:solidFill>
                    <a:latin typeface="SF Pro Text" panose="00000500000000000000"/>
                    <a:ea typeface="SF Pro Text" panose="00000500000000000000" pitchFamily="2" charset="0"/>
                  </a:rPr>
                  <a:t>Therefore the top speed of the Cart will be around 25 Km/hr.</a:t>
                </a:r>
              </a:p>
            </p:txBody>
          </p:sp>
        </mc:Choice>
        <mc:Fallback xmlns="">
          <p:sp>
            <p:nvSpPr>
              <p:cNvPr id="3" name="TextBox 2">
                <a:extLst>
                  <a:ext uri="{FF2B5EF4-FFF2-40B4-BE49-F238E27FC236}">
                    <a16:creationId xmlns:a16="http://schemas.microsoft.com/office/drawing/2014/main" id="{8AAB5CEF-23FE-7AA8-32DB-77FB2A05C161}"/>
                  </a:ext>
                </a:extLst>
              </p:cNvPr>
              <p:cNvSpPr txBox="1">
                <a:spLocks noRot="1" noChangeAspect="1" noMove="1" noResize="1" noEditPoints="1" noAdjustHandles="1" noChangeArrowheads="1" noChangeShapeType="1" noTextEdit="1"/>
              </p:cNvSpPr>
              <p:nvPr/>
            </p:nvSpPr>
            <p:spPr>
              <a:xfrm>
                <a:off x="713228" y="977275"/>
                <a:ext cx="7452577" cy="3797450"/>
              </a:xfrm>
              <a:prstGeom prst="rect">
                <a:avLst/>
              </a:prstGeom>
              <a:blipFill>
                <a:blip r:embed="rId2"/>
                <a:stretch>
                  <a:fillRect l="-164" b="-482"/>
                </a:stretch>
              </a:blipFill>
            </p:spPr>
            <p:txBody>
              <a:bodyPr/>
              <a:lstStyle/>
              <a:p>
                <a:r>
                  <a:rPr lang="en-IN">
                    <a:noFill/>
                  </a:rPr>
                  <a:t> </a:t>
                </a:r>
              </a:p>
            </p:txBody>
          </p:sp>
        </mc:Fallback>
      </mc:AlternateContent>
    </p:spTree>
    <p:extLst>
      <p:ext uri="{BB962C8B-B14F-4D97-AF65-F5344CB8AC3E}">
        <p14:creationId xmlns:p14="http://schemas.microsoft.com/office/powerpoint/2010/main" val="2037899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5825CB71-9DE0-1FE4-9BA8-6A3A9275BD10}"/>
              </a:ext>
            </a:extLst>
          </p:cNvPr>
          <p:cNvSpPr/>
          <p:nvPr/>
        </p:nvSpPr>
        <p:spPr>
          <a:xfrm>
            <a:off x="713228" y="18153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0509D711-44DB-4430-A4CD-3DBCC06252E6}"/>
              </a:ext>
            </a:extLst>
          </p:cNvPr>
          <p:cNvSpPr>
            <a:spLocks noGrp="1"/>
          </p:cNvSpPr>
          <p:nvPr>
            <p:ph type="title"/>
          </p:nvPr>
        </p:nvSpPr>
        <p:spPr>
          <a:xfrm>
            <a:off x="713228" y="254781"/>
            <a:ext cx="7717500" cy="576000"/>
          </a:xfrm>
        </p:spPr>
        <p:txBody>
          <a:bodyPr/>
          <a:lstStyle/>
          <a:p>
            <a:r>
              <a:rPr lang="en-US" dirty="0"/>
              <a:t>Calculation of Torque Generated</a:t>
            </a:r>
            <a:endParaRPr lang="en-US" dirty="0">
              <a:solidFill>
                <a:schemeClr val="tx2"/>
              </a:solidFill>
              <a:latin typeface="Montserrat" panose="00000500000000000000" pitchFamily="2" charset="0"/>
            </a:endParaRPr>
          </a:p>
        </p:txBody>
      </p:sp>
      <p:sp>
        <p:nvSpPr>
          <p:cNvPr id="12" name="TextBox 11">
            <a:extLst>
              <a:ext uri="{FF2B5EF4-FFF2-40B4-BE49-F238E27FC236}">
                <a16:creationId xmlns:a16="http://schemas.microsoft.com/office/drawing/2014/main" id="{F5908DF5-FC7F-40C0-AB99-050E57F71394}"/>
              </a:ext>
            </a:extLst>
          </p:cNvPr>
          <p:cNvSpPr txBox="1"/>
          <p:nvPr/>
        </p:nvSpPr>
        <p:spPr>
          <a:xfrm>
            <a:off x="1083365" y="987215"/>
            <a:ext cx="7717500" cy="3062120"/>
          </a:xfrm>
          <a:prstGeom prst="rect">
            <a:avLst/>
          </a:prstGeom>
          <a:noFill/>
        </p:spPr>
        <p:txBody>
          <a:bodyPr wrap="square" rtlCol="0">
            <a:spAutoFit/>
          </a:bodyPr>
          <a:lstStyle/>
          <a:p>
            <a:pPr>
              <a:lnSpc>
                <a:spcPct val="150000"/>
              </a:lnSpc>
            </a:pPr>
            <a:r>
              <a:rPr lang="en-US" sz="1300" dirty="0">
                <a:solidFill>
                  <a:srgbClr val="1B667A"/>
                </a:solidFill>
                <a:latin typeface="SF Pro Text"/>
              </a:rPr>
              <a:t>The motor constant can be used to calculate the torque output of the motor using the following equation:</a:t>
            </a:r>
          </a:p>
          <a:p>
            <a:pPr algn="ctr">
              <a:lnSpc>
                <a:spcPct val="150000"/>
              </a:lnSpc>
            </a:pPr>
            <a:r>
              <a:rPr lang="en-US" sz="1300" dirty="0">
                <a:solidFill>
                  <a:srgbClr val="1B667A"/>
                </a:solidFill>
                <a:latin typeface="SF Pro Text"/>
              </a:rPr>
              <a:t>Torque = Kit * Ia</a:t>
            </a:r>
          </a:p>
          <a:p>
            <a:pPr>
              <a:lnSpc>
                <a:spcPct val="150000"/>
              </a:lnSpc>
            </a:pPr>
            <a:r>
              <a:rPr lang="en-US" sz="1300" dirty="0">
                <a:solidFill>
                  <a:srgbClr val="1B667A"/>
                </a:solidFill>
                <a:latin typeface="SF Pro Text"/>
              </a:rPr>
              <a:t>Where:</a:t>
            </a:r>
          </a:p>
          <a:p>
            <a:pPr>
              <a:lnSpc>
                <a:spcPct val="150000"/>
              </a:lnSpc>
            </a:pPr>
            <a:r>
              <a:rPr lang="en-US" sz="1300" dirty="0">
                <a:solidFill>
                  <a:srgbClr val="1B667A"/>
                </a:solidFill>
                <a:latin typeface="SF Pro Text"/>
              </a:rPr>
              <a:t>Torque is the torque output of the motor in Nm</a:t>
            </a:r>
          </a:p>
          <a:p>
            <a:pPr>
              <a:lnSpc>
                <a:spcPct val="150000"/>
              </a:lnSpc>
            </a:pPr>
            <a:r>
              <a:rPr lang="en-US" sz="1300" dirty="0">
                <a:solidFill>
                  <a:srgbClr val="1B667A"/>
                </a:solidFill>
                <a:latin typeface="SF Pro Text"/>
              </a:rPr>
              <a:t>Kt is the motor constant in Nm/A</a:t>
            </a:r>
          </a:p>
          <a:p>
            <a:pPr>
              <a:lnSpc>
                <a:spcPct val="150000"/>
              </a:lnSpc>
            </a:pPr>
            <a:r>
              <a:rPr lang="en-US" sz="1300" dirty="0">
                <a:solidFill>
                  <a:srgbClr val="1B667A"/>
                </a:solidFill>
                <a:latin typeface="SF Pro Text"/>
              </a:rPr>
              <a:t>Ia is the armature current in A</a:t>
            </a:r>
          </a:p>
          <a:p>
            <a:pPr lvl="7" algn="ctr">
              <a:lnSpc>
                <a:spcPct val="150000"/>
              </a:lnSpc>
            </a:pPr>
            <a:r>
              <a:rPr lang="en-US" sz="1300" dirty="0">
                <a:solidFill>
                  <a:srgbClr val="1B667A"/>
                </a:solidFill>
                <a:latin typeface="SF Pro Text"/>
              </a:rPr>
              <a:t>Torque = 0.25 * </a:t>
            </a:r>
            <a:r>
              <a:rPr lang="en-IN" sz="1300" dirty="0">
                <a:solidFill>
                  <a:srgbClr val="1B667A"/>
                </a:solidFill>
                <a:latin typeface="SF Pro Text" panose="00000500000000000000"/>
              </a:rPr>
              <a:t>62.5 </a:t>
            </a:r>
          </a:p>
          <a:p>
            <a:pPr lvl="7" algn="ctr">
              <a:lnSpc>
                <a:spcPct val="150000"/>
              </a:lnSpc>
            </a:pPr>
            <a:r>
              <a:rPr lang="en-US" sz="1300" dirty="0">
                <a:solidFill>
                  <a:srgbClr val="1B667A"/>
                </a:solidFill>
                <a:latin typeface="SF Pro Text"/>
              </a:rPr>
              <a:t>Torque = 15.625 Nm</a:t>
            </a:r>
            <a:endParaRPr lang="en-IN" sz="1300" dirty="0">
              <a:solidFill>
                <a:srgbClr val="1B667A"/>
              </a:solidFill>
              <a:latin typeface="SF Pro Text" panose="00000500000000000000"/>
            </a:endParaRPr>
          </a:p>
          <a:p>
            <a:pPr lvl="7" algn="ctr">
              <a:lnSpc>
                <a:spcPct val="150000"/>
              </a:lnSpc>
            </a:pPr>
            <a:endParaRPr lang="en-IN" sz="1300" dirty="0">
              <a:solidFill>
                <a:srgbClr val="1B667A"/>
              </a:solidFill>
              <a:latin typeface="SF Pro Text" panose="00000500000000000000"/>
            </a:endParaRPr>
          </a:p>
          <a:p>
            <a:pPr algn="ctr">
              <a:lnSpc>
                <a:spcPct val="150000"/>
              </a:lnSpc>
            </a:pPr>
            <a:r>
              <a:rPr lang="en-US" sz="1300" b="1" dirty="0">
                <a:solidFill>
                  <a:srgbClr val="002060"/>
                </a:solidFill>
                <a:latin typeface="SF Pro Text"/>
              </a:rPr>
              <a:t>Therefore the Torque of Motor is Around 15.7 Nm.</a:t>
            </a:r>
            <a:endParaRPr lang="en-IN" sz="1300" b="1" dirty="0">
              <a:solidFill>
                <a:srgbClr val="002060"/>
              </a:solidFill>
              <a:latin typeface="SF Pro Text"/>
            </a:endParaRPr>
          </a:p>
        </p:txBody>
      </p:sp>
    </p:spTree>
    <p:extLst>
      <p:ext uri="{BB962C8B-B14F-4D97-AF65-F5344CB8AC3E}">
        <p14:creationId xmlns:p14="http://schemas.microsoft.com/office/powerpoint/2010/main" val="3597531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E3685FEF-5959-15CF-4558-018898050E88}"/>
              </a:ext>
            </a:extLst>
          </p:cNvPr>
          <p:cNvSpPr/>
          <p:nvPr/>
        </p:nvSpPr>
        <p:spPr>
          <a:xfrm>
            <a:off x="713228" y="162778"/>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68D26716-5E0E-4B2E-2C89-1FE5FD15FB6F}"/>
              </a:ext>
            </a:extLst>
          </p:cNvPr>
          <p:cNvSpPr>
            <a:spLocks noGrp="1"/>
          </p:cNvSpPr>
          <p:nvPr>
            <p:ph type="title"/>
          </p:nvPr>
        </p:nvSpPr>
        <p:spPr>
          <a:xfrm>
            <a:off x="713228" y="237855"/>
            <a:ext cx="7717500" cy="576000"/>
          </a:xfrm>
        </p:spPr>
        <p:txBody>
          <a:bodyPr/>
          <a:lstStyle/>
          <a:p>
            <a:r>
              <a:rPr lang="en-US" kern="1200" dirty="0">
                <a:solidFill>
                  <a:schemeClr val="tx2"/>
                </a:solidFill>
                <a:effectLst/>
                <a:latin typeface="Montserrat" panose="00000500000000000000" pitchFamily="2" charset="0"/>
                <a:ea typeface="+mn-ea"/>
                <a:cs typeface="+mn-cs"/>
              </a:rPr>
              <a:t>Golf Cart Controller</a:t>
            </a:r>
            <a:endParaRPr lang="en-US" dirty="0">
              <a:solidFill>
                <a:schemeClr val="tx2"/>
              </a:solidFill>
              <a:latin typeface="Montserrat" panose="00000500000000000000" pitchFamily="2" charset="0"/>
            </a:endParaRPr>
          </a:p>
        </p:txBody>
      </p:sp>
      <p:sp>
        <p:nvSpPr>
          <p:cNvPr id="3" name="TextBox 2">
            <a:extLst>
              <a:ext uri="{FF2B5EF4-FFF2-40B4-BE49-F238E27FC236}">
                <a16:creationId xmlns:a16="http://schemas.microsoft.com/office/drawing/2014/main" id="{D54FB8E7-217E-853A-D915-7791101B590B}"/>
              </a:ext>
            </a:extLst>
          </p:cNvPr>
          <p:cNvSpPr txBox="1"/>
          <p:nvPr/>
        </p:nvSpPr>
        <p:spPr>
          <a:xfrm>
            <a:off x="903767" y="960349"/>
            <a:ext cx="7526961" cy="3662285"/>
          </a:xfrm>
          <a:prstGeom prst="rect">
            <a:avLst/>
          </a:prstGeom>
          <a:noFill/>
        </p:spPr>
        <p:txBody>
          <a:bodyPr wrap="square" rtlCol="0">
            <a:spAutoFit/>
          </a:bodyPr>
          <a:lstStyle/>
          <a:p>
            <a:pPr marL="283464" indent="-283464" algn="l" rtl="0" eaLnBrk="1" latinLnBrk="0" hangingPunct="1">
              <a:lnSpc>
                <a:spcPct val="150000"/>
              </a:lnSpc>
              <a:spcBef>
                <a:spcPts val="0"/>
              </a:spcBef>
              <a:spcAft>
                <a:spcPts val="0"/>
              </a:spcAft>
              <a:buClrTx/>
              <a:buSzPts val="1800"/>
              <a:buBlip>
                <a:blip r:embed="rId2">
                  <a:extLst>
                    <a:ext uri="{96DAC541-7B7A-43D3-8B79-37D633B846F1}">
                      <asvg:svgBlip xmlns:asvg="http://schemas.microsoft.com/office/drawing/2016/SVG/main" r:embed="rId3"/>
                    </a:ext>
                  </a:extLst>
                </a:blip>
              </a:buBlip>
            </a:pPr>
            <a:r>
              <a:rPr lang="en-US" sz="1300" kern="1200" dirty="0">
                <a:solidFill>
                  <a:srgbClr val="3F5A42"/>
                </a:solidFill>
                <a:effectLst/>
                <a:latin typeface="SF Pro Text" panose="00000500000000000000" pitchFamily="2" charset="0"/>
                <a:ea typeface="SF Pro Text" panose="00000500000000000000" pitchFamily="2" charset="0"/>
                <a:cs typeface="+mn-cs"/>
              </a:rPr>
              <a:t>The Motor controller is the very important part of the golf cart drive.</a:t>
            </a:r>
            <a:endParaRPr lang="en-US" sz="1300" dirty="0">
              <a:solidFill>
                <a:srgbClr val="3F5A42"/>
              </a:solidFill>
              <a:latin typeface="SF Pro Text" panose="00000500000000000000" pitchFamily="2" charset="0"/>
              <a:ea typeface="SF Pro Text" panose="00000500000000000000" pitchFamily="2" charset="0"/>
            </a:endParaRP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300" kern="1200" dirty="0">
                <a:solidFill>
                  <a:srgbClr val="3F5A42"/>
                </a:solidFill>
                <a:latin typeface="SF Pro Text" panose="00000500000000000000" pitchFamily="2" charset="0"/>
                <a:ea typeface="SF Pro Text" panose="00000500000000000000" pitchFamily="2" charset="0"/>
                <a:cs typeface="+mn-cs"/>
              </a:rPr>
              <a:t>The Motor Controller is a device that controls the power output from the batteries to the motor. It is similar to the gas pedal in a car, but instead of controlling the flow of fuel, it controls the flow of electricity.</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300" dirty="0">
                <a:solidFill>
                  <a:srgbClr val="3F5A42"/>
                </a:solidFill>
                <a:latin typeface="SF Pro Text" panose="00000500000000000000" pitchFamily="2" charset="0"/>
                <a:ea typeface="SF Pro Text" panose="00000500000000000000" pitchFamily="2" charset="0"/>
              </a:rPr>
              <a:t>Golf cart controllers are typically located under the seat of the golf cart. They are connected to the batteries, the motor, and the accelerator pedal.</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300" dirty="0">
                <a:solidFill>
                  <a:srgbClr val="3F5A42"/>
                </a:solidFill>
                <a:latin typeface="SF Pro Text" panose="00000500000000000000" pitchFamily="2" charset="0"/>
                <a:ea typeface="SF Pro Text" panose="00000500000000000000" pitchFamily="2" charset="0"/>
              </a:rPr>
              <a:t>When you press down on the accelerator pedal, the controller sends more electricity to the motor, which causes the golf cart to go faster. When you release the accelerator pedal, the controller sends less electricity to the motor, which causes the golf cart to slow down.</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300" dirty="0">
                <a:solidFill>
                  <a:srgbClr val="3F5A42"/>
                </a:solidFill>
                <a:latin typeface="SF Pro Text" panose="00000500000000000000" pitchFamily="2" charset="0"/>
                <a:ea typeface="SF Pro Text" panose="00000500000000000000" pitchFamily="2" charset="0"/>
              </a:rPr>
              <a:t>Golf cart controllers also play an important role in protecting the batteries and the motor. They have a number of safety features that prevent the batteries from being over-discharged and the motor from overheating.</a:t>
            </a:r>
          </a:p>
        </p:txBody>
      </p:sp>
    </p:spTree>
    <p:extLst>
      <p:ext uri="{BB962C8B-B14F-4D97-AF65-F5344CB8AC3E}">
        <p14:creationId xmlns:p14="http://schemas.microsoft.com/office/powerpoint/2010/main" val="2097911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sz="3200" dirty="0">
                <a:solidFill>
                  <a:srgbClr val="718A1D"/>
                </a:solidFill>
                <a:latin typeface="Montserrat" panose="00000500000000000000" pitchFamily="2" charset="0"/>
              </a:rPr>
              <a:t>The Curtis</a:t>
            </a:r>
            <a:r>
              <a:rPr lang="en-US" sz="3200" dirty="0">
                <a:latin typeface="Montserrat" panose="00000500000000000000" pitchFamily="2" charset="0"/>
              </a:rPr>
              <a:t> Model 1226BL</a:t>
            </a:r>
            <a:endParaRPr lang="en-US" dirty="0">
              <a:latin typeface="Montserrat" panose="00000500000000000000" pitchFamily="2" charset="0"/>
            </a:endParaRPr>
          </a:p>
        </p:txBody>
      </p:sp>
      <p:sp>
        <p:nvSpPr>
          <p:cNvPr id="17" name="TextBox 16">
            <a:extLst>
              <a:ext uri="{FF2B5EF4-FFF2-40B4-BE49-F238E27FC236}">
                <a16:creationId xmlns:a16="http://schemas.microsoft.com/office/drawing/2014/main" id="{0F45BADE-68D7-61FD-32C0-DD89DE33001D}"/>
              </a:ext>
            </a:extLst>
          </p:cNvPr>
          <p:cNvSpPr txBox="1"/>
          <p:nvPr/>
        </p:nvSpPr>
        <p:spPr>
          <a:xfrm>
            <a:off x="1028700" y="1135249"/>
            <a:ext cx="7315200" cy="1494896"/>
          </a:xfrm>
          <a:prstGeom prst="rect">
            <a:avLst/>
          </a:prstGeom>
          <a:noFill/>
        </p:spPr>
        <p:txBody>
          <a:bodyPr wrap="square" rtlCol="0">
            <a:spAutoFit/>
          </a:bodyPr>
          <a:lstStyle/>
          <a:p>
            <a:pPr algn="l" rtl="0" eaLnBrk="1" latinLnBrk="0" hangingPunct="1">
              <a:lnSpc>
                <a:spcPct val="150000"/>
              </a:lnSpc>
              <a:spcBef>
                <a:spcPts val="0"/>
              </a:spcBef>
              <a:spcAft>
                <a:spcPts val="0"/>
              </a:spcAft>
              <a:buClrTx/>
              <a:buSzPts val="1800"/>
            </a:pPr>
            <a:r>
              <a:rPr lang="en-US" b="1" kern="1200" dirty="0">
                <a:solidFill>
                  <a:srgbClr val="3F5A42"/>
                </a:solidFill>
                <a:latin typeface="SF Pro Text" panose="00000500000000000000" pitchFamily="2" charset="0"/>
                <a:ea typeface="SF Pro Text" panose="00000500000000000000" pitchFamily="2" charset="0"/>
                <a:cs typeface="+mn-cs"/>
              </a:rPr>
              <a:t>Specification Of Controller :-</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Motor Type                    		Brushless DC (BLDC)</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Application/Function    		Traction / Pump</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Nominal Voltage Range (VDC)	24V / 36V / 48V</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Maximum Current</a:t>
            </a:r>
            <a:r>
              <a:rPr lang="el-GR" sz="1200" dirty="0">
                <a:solidFill>
                  <a:srgbClr val="3F5A42"/>
                </a:solidFill>
                <a:latin typeface="SF Pro Text" panose="00000500000000000000" pitchFamily="2" charset="0"/>
                <a:ea typeface="SF Pro Text" panose="00000500000000000000" pitchFamily="2" charset="0"/>
              </a:rPr>
              <a:t>Δ</a:t>
            </a:r>
            <a:r>
              <a:rPr lang="en-US" sz="1200" dirty="0">
                <a:solidFill>
                  <a:srgbClr val="3F5A42"/>
                </a:solidFill>
                <a:latin typeface="SF Pro Text" panose="00000500000000000000" pitchFamily="2" charset="0"/>
                <a:ea typeface="SF Pro Text" panose="00000500000000000000" pitchFamily="2" charset="0"/>
              </a:rPr>
              <a:t>		</a:t>
            </a:r>
            <a:r>
              <a:rPr lang="el-GR" sz="1200" dirty="0">
                <a:solidFill>
                  <a:srgbClr val="3F5A42"/>
                </a:solidFill>
                <a:latin typeface="SF Pro Text" panose="00000500000000000000" pitchFamily="2" charset="0"/>
                <a:ea typeface="SF Pro Text" panose="00000500000000000000" pitchFamily="2" charset="0"/>
              </a:rPr>
              <a:t>90-150</a:t>
            </a:r>
            <a:r>
              <a:rPr lang="en-US" sz="1200" dirty="0">
                <a:solidFill>
                  <a:srgbClr val="3F5A42"/>
                </a:solidFill>
                <a:latin typeface="SF Pro Text" panose="00000500000000000000" pitchFamily="2" charset="0"/>
                <a:ea typeface="SF Pro Text" panose="00000500000000000000" pitchFamily="2" charset="0"/>
              </a:rPr>
              <a:t> Amps</a:t>
            </a:r>
          </a:p>
        </p:txBody>
      </p:sp>
      <p:grpSp>
        <p:nvGrpSpPr>
          <p:cNvPr id="5" name="Group 4">
            <a:extLst>
              <a:ext uri="{FF2B5EF4-FFF2-40B4-BE49-F238E27FC236}">
                <a16:creationId xmlns:a16="http://schemas.microsoft.com/office/drawing/2014/main" id="{29761643-DE37-4E85-937D-DC0616D9DE40}"/>
              </a:ext>
            </a:extLst>
          </p:cNvPr>
          <p:cNvGrpSpPr/>
          <p:nvPr/>
        </p:nvGrpSpPr>
        <p:grpSpPr>
          <a:xfrm>
            <a:off x="2981739" y="2571750"/>
            <a:ext cx="2564803" cy="2245907"/>
            <a:chOff x="2981739" y="2464905"/>
            <a:chExt cx="2564803" cy="2245907"/>
          </a:xfrm>
        </p:grpSpPr>
        <p:pic>
          <p:nvPicPr>
            <p:cNvPr id="3" name="Picture 2">
              <a:extLst>
                <a:ext uri="{FF2B5EF4-FFF2-40B4-BE49-F238E27FC236}">
                  <a16:creationId xmlns:a16="http://schemas.microsoft.com/office/drawing/2014/main" id="{BB2E802F-F0DE-4329-9F4C-4E4FA5ED4A7E}"/>
                </a:ext>
              </a:extLst>
            </p:cNvPr>
            <p:cNvPicPr>
              <a:picLocks noChangeAspect="1"/>
            </p:cNvPicPr>
            <p:nvPr/>
          </p:nvPicPr>
          <p:blipFill>
            <a:blip r:embed="rId2"/>
            <a:stretch>
              <a:fillRect/>
            </a:stretch>
          </p:blipFill>
          <p:spPr>
            <a:xfrm>
              <a:off x="2981739" y="2464905"/>
              <a:ext cx="2564802" cy="2126973"/>
            </a:xfrm>
            <a:prstGeom prst="rect">
              <a:avLst/>
            </a:prstGeom>
          </p:spPr>
        </p:pic>
        <p:sp>
          <p:nvSpPr>
            <p:cNvPr id="4" name="TextBox 3">
              <a:extLst>
                <a:ext uri="{FF2B5EF4-FFF2-40B4-BE49-F238E27FC236}">
                  <a16:creationId xmlns:a16="http://schemas.microsoft.com/office/drawing/2014/main" id="{DB72B5FF-5265-4EE7-9C1E-B685F2E4B1B4}"/>
                </a:ext>
              </a:extLst>
            </p:cNvPr>
            <p:cNvSpPr txBox="1"/>
            <p:nvPr/>
          </p:nvSpPr>
          <p:spPr>
            <a:xfrm>
              <a:off x="3001618" y="4403035"/>
              <a:ext cx="2544924" cy="307777"/>
            </a:xfrm>
            <a:prstGeom prst="rect">
              <a:avLst/>
            </a:prstGeom>
            <a:noFill/>
          </p:spPr>
          <p:txBody>
            <a:bodyPr wrap="square" rtlCol="0">
              <a:spAutoFit/>
            </a:bodyPr>
            <a:lstStyle/>
            <a:p>
              <a:pPr algn="ctr"/>
              <a:r>
                <a:rPr lang="en-US" u="sng" dirty="0">
                  <a:solidFill>
                    <a:srgbClr val="002060"/>
                  </a:solidFill>
                  <a:latin typeface="Times New Roman" panose="02020603050405020304" pitchFamily="18" charset="0"/>
                  <a:cs typeface="Times New Roman" panose="02020603050405020304" pitchFamily="18" charset="0"/>
                </a:rPr>
                <a:t>Curtis Motor 1226BL</a:t>
              </a:r>
              <a:endParaRPr lang="en-IN" u="sng" dirty="0">
                <a:solidFill>
                  <a:srgbClr val="00206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60611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sz="3200" dirty="0">
                <a:solidFill>
                  <a:srgbClr val="718A1D"/>
                </a:solidFill>
                <a:latin typeface="Montserrat" panose="00000500000000000000" pitchFamily="2" charset="0"/>
              </a:rPr>
              <a:t>The </a:t>
            </a:r>
            <a:r>
              <a:rPr lang="en-IN" dirty="0"/>
              <a:t>Weber Drivetrain’s Controller</a:t>
            </a:r>
            <a:br>
              <a:rPr lang="en-IN" dirty="0"/>
            </a:br>
            <a:endParaRPr lang="en-US" dirty="0">
              <a:latin typeface="Montserrat" panose="00000500000000000000" pitchFamily="2" charset="0"/>
            </a:endParaRPr>
          </a:p>
        </p:txBody>
      </p:sp>
      <p:sp>
        <p:nvSpPr>
          <p:cNvPr id="10" name="Rectangle 14">
            <a:extLst>
              <a:ext uri="{FF2B5EF4-FFF2-40B4-BE49-F238E27FC236}">
                <a16:creationId xmlns:a16="http://schemas.microsoft.com/office/drawing/2014/main" id="{1CAF435C-8D42-4276-8558-3A2A011312AD}"/>
              </a:ext>
            </a:extLst>
          </p:cNvPr>
          <p:cNvSpPr>
            <a:spLocks noChangeArrowheads="1"/>
          </p:cNvSpPr>
          <p:nvPr/>
        </p:nvSpPr>
        <p:spPr bwMode="auto">
          <a:xfrm>
            <a:off x="949161" y="1168974"/>
            <a:ext cx="6907694" cy="2782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3F5A42"/>
                </a:solidFill>
                <a:effectLst/>
                <a:latin typeface="SF Pro Text"/>
                <a:ea typeface="Times New Roman" panose="02020603050405020304" pitchFamily="18" charset="0"/>
                <a:cs typeface="Arial" panose="020B0604020202020204" pitchFamily="34" charset="0"/>
              </a:rPr>
              <a:t>Specification Of Controller :- </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Motor Type                    		Brushless DC (BLDC)			 </a:t>
            </a:r>
          </a:p>
          <a:p>
            <a:pPr>
              <a:lnSpc>
                <a:spcPct val="150000"/>
              </a:lnSpc>
              <a:buClrTx/>
              <a:buSzPts val="1800"/>
            </a:pPr>
            <a:r>
              <a:rPr lang="en-US" sz="1200" dirty="0">
                <a:solidFill>
                  <a:srgbClr val="3F5A42"/>
                </a:solidFill>
                <a:latin typeface="SF Pro Text" panose="00000500000000000000" pitchFamily="2" charset="0"/>
                <a:ea typeface="SF Pro Text" panose="00000500000000000000" pitchFamily="2" charset="0"/>
              </a:rPr>
              <a:t>Application/Function    		Traction / Pump</a:t>
            </a:r>
          </a:p>
          <a:p>
            <a:pPr lvl="0" eaLnBrk="0" fontAlgn="base" hangingPunct="0">
              <a:lnSpc>
                <a:spcPct val="150000"/>
              </a:lnSpc>
              <a:spcBef>
                <a:spcPct val="0"/>
              </a:spcBef>
              <a:spcAft>
                <a:spcPct val="0"/>
              </a:spcAft>
              <a:buClrTx/>
            </a:pPr>
            <a:r>
              <a:rPr lang="en-US" sz="1200" dirty="0">
                <a:solidFill>
                  <a:srgbClr val="3F5A42"/>
                </a:solidFill>
                <a:latin typeface="SF Pro Text" panose="00000500000000000000" pitchFamily="2" charset="0"/>
                <a:ea typeface="SF Pro Text" panose="00000500000000000000" pitchFamily="2" charset="0"/>
              </a:rPr>
              <a:t>Nominal Voltage Range (VDC) </a:t>
            </a:r>
            <a:r>
              <a:rPr lang="en-US" sz="1200" dirty="0">
                <a:solidFill>
                  <a:srgbClr val="3F5A42"/>
                </a:solidFill>
                <a:latin typeface="SF Pro Text"/>
                <a:ea typeface="SF Pro Text" panose="00000500000000000000" pitchFamily="2" charset="0"/>
                <a:cs typeface="Arial" panose="020B0604020202020204" pitchFamily="34" charset="0"/>
              </a:rPr>
              <a:t>   	</a:t>
            </a:r>
            <a:r>
              <a:rPr kumimoji="0" lang="en-US" altLang="en-US" sz="1200" i="0" u="none" strike="noStrike" cap="none" normalizeH="0" baseline="0" dirty="0">
                <a:ln>
                  <a:noFill/>
                </a:ln>
                <a:solidFill>
                  <a:srgbClr val="3F5A42"/>
                </a:solidFill>
                <a:effectLst/>
                <a:latin typeface="SF Pro Text"/>
                <a:ea typeface="Times New Roman" panose="02020603050405020304" pitchFamily="18" charset="0"/>
                <a:cs typeface="Arial" panose="020B0604020202020204" pitchFamily="34" charset="0"/>
              </a:rPr>
              <a:t>48 V / 60 V / 72 V</a:t>
            </a:r>
            <a:endParaRPr lang="en-US" altLang="en-US" sz="1200" dirty="0">
              <a:solidFill>
                <a:srgbClr val="3F5A42"/>
              </a:solidFill>
              <a:latin typeface="SF Pro Text"/>
              <a:ea typeface="Times New Roman" panose="02020603050405020304" pitchFamily="18" charset="0"/>
              <a:cs typeface="Arial" panose="020B0604020202020204" pitchFamily="34" charset="0"/>
            </a:endParaRPr>
          </a:p>
          <a:p>
            <a:pPr eaLnBrk="0" fontAlgn="base" hangingPunct="0">
              <a:lnSpc>
                <a:spcPct val="150000"/>
              </a:lnSpc>
              <a:spcBef>
                <a:spcPct val="0"/>
              </a:spcBef>
              <a:spcAft>
                <a:spcPct val="0"/>
              </a:spcAft>
              <a:buClrTx/>
            </a:pPr>
            <a:r>
              <a:rPr lang="en-US" sz="1200" dirty="0">
                <a:solidFill>
                  <a:srgbClr val="3F5A42"/>
                </a:solidFill>
                <a:latin typeface="SF Pro Text" panose="00000500000000000000" pitchFamily="2" charset="0"/>
                <a:ea typeface="SF Pro Text" panose="00000500000000000000" pitchFamily="2" charset="0"/>
              </a:rPr>
              <a:t>Maximum Current</a:t>
            </a:r>
            <a:r>
              <a:rPr lang="el-GR" sz="1200" dirty="0">
                <a:solidFill>
                  <a:srgbClr val="3F5A42"/>
                </a:solidFill>
                <a:latin typeface="SF Pro Text" panose="00000500000000000000" pitchFamily="2" charset="0"/>
                <a:ea typeface="SF Pro Text" panose="00000500000000000000" pitchFamily="2" charset="0"/>
              </a:rPr>
              <a:t>Δ</a:t>
            </a:r>
            <a:r>
              <a:rPr lang="en-US" altLang="en-US" sz="1200" dirty="0">
                <a:solidFill>
                  <a:srgbClr val="3F5A42"/>
                </a:solidFill>
                <a:latin typeface="SF Pro Text"/>
                <a:ea typeface="Times New Roman" panose="02020603050405020304" pitchFamily="18" charset="0"/>
                <a:cs typeface="Arial" panose="020B0604020202020204" pitchFamily="34" charset="0"/>
              </a:rPr>
              <a:t> 		30 A – 150 A</a:t>
            </a:r>
          </a:p>
          <a:p>
            <a:pPr eaLnBrk="0" fontAlgn="base" hangingPunct="0">
              <a:lnSpc>
                <a:spcPct val="150000"/>
              </a:lnSpc>
              <a:spcBef>
                <a:spcPct val="0"/>
              </a:spcBef>
              <a:spcAft>
                <a:spcPct val="0"/>
              </a:spcAft>
              <a:buClrTx/>
            </a:pPr>
            <a:endParaRPr lang="en-US" altLang="en-US" dirty="0">
              <a:solidFill>
                <a:srgbClr val="3F5A42"/>
              </a:solidFill>
              <a:latin typeface="SF Pro Text"/>
            </a:endParaRPr>
          </a:p>
          <a:p>
            <a:pPr eaLnBrk="0" fontAlgn="base" hangingPunct="0">
              <a:lnSpc>
                <a:spcPct val="150000"/>
              </a:lnSpc>
              <a:spcBef>
                <a:spcPct val="0"/>
              </a:spcBef>
              <a:spcAft>
                <a:spcPct val="0"/>
              </a:spcAft>
              <a:buClrTx/>
            </a:pPr>
            <a:endParaRPr lang="en-US" altLang="en-US" dirty="0">
              <a:solidFill>
                <a:srgbClr val="3F5A42"/>
              </a:solidFill>
              <a:latin typeface="SF Pro Tex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rgbClr val="3F5A42"/>
              </a:solidFill>
              <a:effectLst/>
              <a:latin typeface="SF Pro Tex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rgbClr val="3F5A42"/>
              </a:solidFill>
              <a:effectLst/>
              <a:latin typeface="SF Pro Text"/>
            </a:endParaRPr>
          </a:p>
        </p:txBody>
      </p:sp>
      <p:sp>
        <p:nvSpPr>
          <p:cNvPr id="11" name="Rectangle 15">
            <a:extLst>
              <a:ext uri="{FF2B5EF4-FFF2-40B4-BE49-F238E27FC236}">
                <a16:creationId xmlns:a16="http://schemas.microsoft.com/office/drawing/2014/main" id="{81DB6ED0-A493-4FB3-AB66-794FE67361F3}"/>
              </a:ext>
            </a:extLst>
          </p:cNvPr>
          <p:cNvSpPr>
            <a:spLocks noChangeArrowheads="1"/>
          </p:cNvSpPr>
          <p:nvPr/>
        </p:nvSpPr>
        <p:spPr bwMode="auto">
          <a:xfrm>
            <a:off x="1526829" y="1589913"/>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DBB18B69-F743-433E-A4CF-30979883BEC0}"/>
              </a:ext>
            </a:extLst>
          </p:cNvPr>
          <p:cNvSpPr>
            <a:spLocks noChangeArrowheads="1"/>
          </p:cNvSpPr>
          <p:nvPr/>
        </p:nvSpPr>
        <p:spPr bwMode="auto">
          <a:xfrm>
            <a:off x="1808922" y="1973599"/>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7">
            <a:extLst>
              <a:ext uri="{FF2B5EF4-FFF2-40B4-BE49-F238E27FC236}">
                <a16:creationId xmlns:a16="http://schemas.microsoft.com/office/drawing/2014/main" id="{342BE2A8-72B4-46E9-BFA5-CFD1B8724AD7}"/>
              </a:ext>
            </a:extLst>
          </p:cNvPr>
          <p:cNvSpPr>
            <a:spLocks noChangeArrowheads="1"/>
          </p:cNvSpPr>
          <p:nvPr/>
        </p:nvSpPr>
        <p:spPr bwMode="auto">
          <a:xfrm>
            <a:off x="1808922" y="2192964"/>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p:txBody>
      </p:sp>
      <p:grpSp>
        <p:nvGrpSpPr>
          <p:cNvPr id="19" name="Group 18">
            <a:extLst>
              <a:ext uri="{FF2B5EF4-FFF2-40B4-BE49-F238E27FC236}">
                <a16:creationId xmlns:a16="http://schemas.microsoft.com/office/drawing/2014/main" id="{3DCD8BE9-3C21-49AE-A611-B7C1840FDD82}"/>
              </a:ext>
            </a:extLst>
          </p:cNvPr>
          <p:cNvGrpSpPr/>
          <p:nvPr/>
        </p:nvGrpSpPr>
        <p:grpSpPr>
          <a:xfrm>
            <a:off x="3428724" y="2858438"/>
            <a:ext cx="1948569" cy="2285062"/>
            <a:chOff x="3597715" y="2858438"/>
            <a:chExt cx="1948569" cy="2285062"/>
          </a:xfrm>
        </p:grpSpPr>
        <p:pic>
          <p:nvPicPr>
            <p:cNvPr id="26" name="Picture 25">
              <a:extLst>
                <a:ext uri="{FF2B5EF4-FFF2-40B4-BE49-F238E27FC236}">
                  <a16:creationId xmlns:a16="http://schemas.microsoft.com/office/drawing/2014/main" id="{59B86C2A-9F31-4373-A762-CFD9034ADF4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97715" y="2858438"/>
              <a:ext cx="1948569" cy="1773533"/>
            </a:xfrm>
            <a:prstGeom prst="rect">
              <a:avLst/>
            </a:prstGeom>
            <a:noFill/>
            <a:ln>
              <a:noFill/>
            </a:ln>
          </p:spPr>
        </p:pic>
        <p:sp>
          <p:nvSpPr>
            <p:cNvPr id="15" name="TextBox 14">
              <a:extLst>
                <a:ext uri="{FF2B5EF4-FFF2-40B4-BE49-F238E27FC236}">
                  <a16:creationId xmlns:a16="http://schemas.microsoft.com/office/drawing/2014/main" id="{BFC889F0-849F-4EE6-83A8-2A73F1A3F659}"/>
                </a:ext>
              </a:extLst>
            </p:cNvPr>
            <p:cNvSpPr txBox="1"/>
            <p:nvPr/>
          </p:nvSpPr>
          <p:spPr>
            <a:xfrm>
              <a:off x="3597715" y="4620280"/>
              <a:ext cx="1948569" cy="523220"/>
            </a:xfrm>
            <a:prstGeom prst="rect">
              <a:avLst/>
            </a:prstGeom>
            <a:noFill/>
          </p:spPr>
          <p:txBody>
            <a:bodyPr wrap="square" rtlCol="0">
              <a:spAutoFit/>
            </a:bodyPr>
            <a:lstStyle/>
            <a:p>
              <a:pPr algn="ctr"/>
              <a:r>
                <a:rPr lang="en-IN" u="sng" dirty="0">
                  <a:solidFill>
                    <a:srgbClr val="002060"/>
                  </a:solidFill>
                  <a:latin typeface="Times New Roman" panose="02020603050405020304" pitchFamily="18" charset="0"/>
                  <a:cs typeface="Times New Roman" panose="02020603050405020304" pitchFamily="18" charset="0"/>
                </a:rPr>
                <a:t>Weber Drivetrain’s Controller</a:t>
              </a:r>
            </a:p>
          </p:txBody>
        </p:sp>
      </p:grpSp>
    </p:spTree>
    <p:extLst>
      <p:ext uri="{BB962C8B-B14F-4D97-AF65-F5344CB8AC3E}">
        <p14:creationId xmlns:p14="http://schemas.microsoft.com/office/powerpoint/2010/main" val="3660582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dirty="0">
                <a:solidFill>
                  <a:srgbClr val="718A1D"/>
                </a:solidFill>
                <a:latin typeface="Montserrat" panose="00000500000000000000" pitchFamily="2" charset="0"/>
              </a:rPr>
              <a:t>Some Other </a:t>
            </a:r>
            <a:r>
              <a:rPr lang="en-IN" dirty="0"/>
              <a:t>Controllers</a:t>
            </a:r>
            <a:br>
              <a:rPr lang="en-IN" dirty="0"/>
            </a:br>
            <a:endParaRPr lang="en-US" dirty="0">
              <a:latin typeface="Montserrat" panose="00000500000000000000" pitchFamily="2" charset="0"/>
            </a:endParaRPr>
          </a:p>
        </p:txBody>
      </p:sp>
      <p:sp>
        <p:nvSpPr>
          <p:cNvPr id="11" name="Rectangle 15">
            <a:extLst>
              <a:ext uri="{FF2B5EF4-FFF2-40B4-BE49-F238E27FC236}">
                <a16:creationId xmlns:a16="http://schemas.microsoft.com/office/drawing/2014/main" id="{81DB6ED0-A493-4FB3-AB66-794FE67361F3}"/>
              </a:ext>
            </a:extLst>
          </p:cNvPr>
          <p:cNvSpPr>
            <a:spLocks noChangeArrowheads="1"/>
          </p:cNvSpPr>
          <p:nvPr/>
        </p:nvSpPr>
        <p:spPr bwMode="auto">
          <a:xfrm>
            <a:off x="1526829" y="1589913"/>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DBB18B69-F743-433E-A4CF-30979883BEC0}"/>
              </a:ext>
            </a:extLst>
          </p:cNvPr>
          <p:cNvSpPr>
            <a:spLocks noChangeArrowheads="1"/>
          </p:cNvSpPr>
          <p:nvPr/>
        </p:nvSpPr>
        <p:spPr bwMode="auto">
          <a:xfrm>
            <a:off x="1808922" y="1973599"/>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7">
            <a:extLst>
              <a:ext uri="{FF2B5EF4-FFF2-40B4-BE49-F238E27FC236}">
                <a16:creationId xmlns:a16="http://schemas.microsoft.com/office/drawing/2014/main" id="{342BE2A8-72B4-46E9-BFA5-CFD1B8724AD7}"/>
              </a:ext>
            </a:extLst>
          </p:cNvPr>
          <p:cNvSpPr>
            <a:spLocks noChangeArrowheads="1"/>
          </p:cNvSpPr>
          <p:nvPr/>
        </p:nvSpPr>
        <p:spPr bwMode="auto">
          <a:xfrm>
            <a:off x="1808922" y="2192964"/>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p:txBody>
      </p:sp>
      <p:sp>
        <p:nvSpPr>
          <p:cNvPr id="2" name="TextBox 1">
            <a:extLst>
              <a:ext uri="{FF2B5EF4-FFF2-40B4-BE49-F238E27FC236}">
                <a16:creationId xmlns:a16="http://schemas.microsoft.com/office/drawing/2014/main" id="{C39D4E2F-0757-4E16-88C8-5FA8060A3805}"/>
              </a:ext>
            </a:extLst>
          </p:cNvPr>
          <p:cNvSpPr txBox="1"/>
          <p:nvPr/>
        </p:nvSpPr>
        <p:spPr>
          <a:xfrm>
            <a:off x="2743201" y="1084570"/>
            <a:ext cx="3250095" cy="3962367"/>
          </a:xfrm>
          <a:prstGeom prst="rect">
            <a:avLst/>
          </a:prstGeom>
          <a:noFill/>
        </p:spPr>
        <p:txBody>
          <a:bodyPr wrap="square" rtlCol="0">
            <a:spAutoFit/>
          </a:bodyPr>
          <a:lstStyle/>
          <a:p>
            <a:pPr>
              <a:lnSpc>
                <a:spcPct val="150000"/>
              </a:lnSpc>
            </a:pPr>
            <a:r>
              <a:rPr lang="en-US" sz="1300" b="1" dirty="0">
                <a:solidFill>
                  <a:srgbClr val="3F5A42"/>
                </a:solidFill>
                <a:latin typeface="SF Pro Text"/>
              </a:rPr>
              <a:t>1. Kelly Controller KLS-H Series:</a:t>
            </a:r>
            <a:endParaRPr lang="en-US" sz="1300" dirty="0">
              <a:solidFill>
                <a:srgbClr val="3F5A42"/>
              </a:solidFill>
              <a:latin typeface="SF Pro Text"/>
            </a:endParaRPr>
          </a:p>
          <a:p>
            <a:pPr>
              <a:lnSpc>
                <a:spcPct val="150000"/>
              </a:lnSpc>
            </a:pPr>
            <a:r>
              <a:rPr lang="en-US" sz="1300" b="1" dirty="0">
                <a:solidFill>
                  <a:srgbClr val="3F5A42"/>
                </a:solidFill>
                <a:latin typeface="SF Pro Text"/>
              </a:rPr>
              <a:t>Peak Current:</a:t>
            </a:r>
            <a:r>
              <a:rPr lang="en-US" sz="1300" dirty="0">
                <a:solidFill>
                  <a:srgbClr val="3F5A42"/>
                </a:solidFill>
                <a:latin typeface="SF Pro Text"/>
              </a:rPr>
              <a:t> Up to 120A</a:t>
            </a:r>
          </a:p>
          <a:p>
            <a:pPr>
              <a:lnSpc>
                <a:spcPct val="150000"/>
              </a:lnSpc>
            </a:pPr>
            <a:r>
              <a:rPr lang="en-US" sz="1300" b="1" dirty="0">
                <a:solidFill>
                  <a:srgbClr val="3F5A42"/>
                </a:solidFill>
                <a:latin typeface="SF Pro Text"/>
              </a:rPr>
              <a:t>Voltage:</a:t>
            </a:r>
            <a:r>
              <a:rPr lang="en-US" sz="1300" dirty="0">
                <a:solidFill>
                  <a:srgbClr val="3F5A42"/>
                </a:solidFill>
                <a:latin typeface="SF Pro Text"/>
              </a:rPr>
              <a:t> 24V to 96V</a:t>
            </a:r>
          </a:p>
          <a:p>
            <a:pPr>
              <a:lnSpc>
                <a:spcPct val="150000"/>
              </a:lnSpc>
            </a:pPr>
            <a:r>
              <a:rPr lang="en-US" sz="1300" dirty="0">
                <a:solidFill>
                  <a:srgbClr val="3F5A42"/>
                </a:solidFill>
                <a:latin typeface="SF Pro Text"/>
              </a:rPr>
              <a:t> </a:t>
            </a:r>
          </a:p>
          <a:p>
            <a:pPr>
              <a:lnSpc>
                <a:spcPct val="150000"/>
              </a:lnSpc>
            </a:pPr>
            <a:r>
              <a:rPr lang="en-US" sz="1300" b="1" dirty="0">
                <a:solidFill>
                  <a:srgbClr val="3F5A42"/>
                </a:solidFill>
                <a:latin typeface="SF Pro Text"/>
              </a:rPr>
              <a:t>2. Sevcon Gen4 Size 4 Motor Controller:</a:t>
            </a:r>
            <a:endParaRPr lang="en-US" sz="1300" dirty="0">
              <a:solidFill>
                <a:srgbClr val="3F5A42"/>
              </a:solidFill>
              <a:latin typeface="SF Pro Text"/>
            </a:endParaRPr>
          </a:p>
          <a:p>
            <a:pPr>
              <a:lnSpc>
                <a:spcPct val="150000"/>
              </a:lnSpc>
            </a:pPr>
            <a:r>
              <a:rPr lang="en-US" sz="1300" b="1" dirty="0">
                <a:solidFill>
                  <a:srgbClr val="3F5A42"/>
                </a:solidFill>
                <a:latin typeface="SF Pro Text"/>
              </a:rPr>
              <a:t>Peak Current:</a:t>
            </a:r>
            <a:r>
              <a:rPr lang="en-US" sz="1300" dirty="0">
                <a:solidFill>
                  <a:srgbClr val="3F5A42"/>
                </a:solidFill>
                <a:latin typeface="SF Pro Text"/>
              </a:rPr>
              <a:t> Up to 100A</a:t>
            </a:r>
          </a:p>
          <a:p>
            <a:pPr>
              <a:lnSpc>
                <a:spcPct val="150000"/>
              </a:lnSpc>
            </a:pPr>
            <a:r>
              <a:rPr lang="en-US" sz="1300" b="1" dirty="0">
                <a:solidFill>
                  <a:srgbClr val="3F5A42"/>
                </a:solidFill>
                <a:latin typeface="SF Pro Text"/>
              </a:rPr>
              <a:t>Voltage:</a:t>
            </a:r>
            <a:r>
              <a:rPr lang="en-US" sz="1300" dirty="0">
                <a:solidFill>
                  <a:srgbClr val="3F5A42"/>
                </a:solidFill>
                <a:latin typeface="SF Pro Text"/>
              </a:rPr>
              <a:t> 24V to 96V</a:t>
            </a:r>
          </a:p>
          <a:p>
            <a:pPr>
              <a:lnSpc>
                <a:spcPct val="150000"/>
              </a:lnSpc>
            </a:pPr>
            <a:endParaRPr lang="en-US" sz="1300" dirty="0">
              <a:solidFill>
                <a:srgbClr val="3F5A42"/>
              </a:solidFill>
              <a:latin typeface="SF Pro Text"/>
            </a:endParaRPr>
          </a:p>
          <a:p>
            <a:pPr>
              <a:lnSpc>
                <a:spcPct val="150000"/>
              </a:lnSpc>
            </a:pPr>
            <a:r>
              <a:rPr lang="en-US" sz="1300" b="1" dirty="0">
                <a:solidFill>
                  <a:srgbClr val="3F5A42"/>
                </a:solidFill>
                <a:latin typeface="SF Pro Text"/>
              </a:rPr>
              <a:t>3. Adaptto Mini-E Motor Controller:</a:t>
            </a:r>
            <a:endParaRPr lang="en-US" sz="1300" dirty="0">
              <a:solidFill>
                <a:srgbClr val="3F5A42"/>
              </a:solidFill>
              <a:latin typeface="SF Pro Text"/>
            </a:endParaRPr>
          </a:p>
          <a:p>
            <a:pPr>
              <a:lnSpc>
                <a:spcPct val="150000"/>
              </a:lnSpc>
            </a:pPr>
            <a:r>
              <a:rPr lang="en-US" sz="1300" b="1" dirty="0">
                <a:solidFill>
                  <a:srgbClr val="3F5A42"/>
                </a:solidFill>
                <a:latin typeface="SF Pro Text"/>
              </a:rPr>
              <a:t>Peak Current:</a:t>
            </a:r>
            <a:r>
              <a:rPr lang="en-US" sz="1300" dirty="0">
                <a:solidFill>
                  <a:srgbClr val="3F5A42"/>
                </a:solidFill>
                <a:latin typeface="SF Pro Text"/>
              </a:rPr>
              <a:t> Up to 120A</a:t>
            </a:r>
          </a:p>
          <a:p>
            <a:pPr>
              <a:lnSpc>
                <a:spcPct val="150000"/>
              </a:lnSpc>
            </a:pPr>
            <a:r>
              <a:rPr lang="en-US" sz="1300" b="1" dirty="0">
                <a:solidFill>
                  <a:srgbClr val="3F5A42"/>
                </a:solidFill>
                <a:latin typeface="SF Pro Text"/>
              </a:rPr>
              <a:t>Voltage:</a:t>
            </a:r>
            <a:r>
              <a:rPr lang="en-US" sz="1300" dirty="0">
                <a:solidFill>
                  <a:srgbClr val="3F5A42"/>
                </a:solidFill>
                <a:latin typeface="SF Pro Text"/>
              </a:rPr>
              <a:t> 48V to 100V</a:t>
            </a:r>
          </a:p>
          <a:p>
            <a:pPr>
              <a:lnSpc>
                <a:spcPct val="150000"/>
              </a:lnSpc>
            </a:pPr>
            <a:endParaRPr lang="en-US" sz="1300" dirty="0">
              <a:solidFill>
                <a:srgbClr val="3F5A42"/>
              </a:solidFill>
              <a:latin typeface="SF Pro Text"/>
            </a:endParaRPr>
          </a:p>
          <a:p>
            <a:pPr>
              <a:lnSpc>
                <a:spcPct val="150000"/>
              </a:lnSpc>
            </a:pPr>
            <a:endParaRPr lang="en-IN" sz="1300" dirty="0">
              <a:solidFill>
                <a:srgbClr val="3F5A42"/>
              </a:solidFill>
              <a:latin typeface="SF Pro Text"/>
            </a:endParaRPr>
          </a:p>
        </p:txBody>
      </p:sp>
    </p:spTree>
    <p:extLst>
      <p:ext uri="{BB962C8B-B14F-4D97-AF65-F5344CB8AC3E}">
        <p14:creationId xmlns:p14="http://schemas.microsoft.com/office/powerpoint/2010/main" val="1957517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3" name="Google Shape;5163;p68"/>
          <p:cNvSpPr txBox="1">
            <a:spLocks noGrp="1"/>
          </p:cNvSpPr>
          <p:nvPr>
            <p:ph type="title" idx="2"/>
          </p:nvPr>
        </p:nvSpPr>
        <p:spPr>
          <a:xfrm>
            <a:off x="713250" y="1969635"/>
            <a:ext cx="1356600" cy="95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167" name="Google Shape;5167;p68"/>
          <p:cNvSpPr txBox="1">
            <a:spLocks noGrp="1"/>
          </p:cNvSpPr>
          <p:nvPr>
            <p:ph type="title"/>
          </p:nvPr>
        </p:nvSpPr>
        <p:spPr>
          <a:xfrm>
            <a:off x="713250" y="3093515"/>
            <a:ext cx="7717500" cy="89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a:t>
            </a:r>
            <a:endParaRPr dirty="0"/>
          </a:p>
        </p:txBody>
      </p:sp>
    </p:spTree>
    <p:extLst>
      <p:ext uri="{BB962C8B-B14F-4D97-AF65-F5344CB8AC3E}">
        <p14:creationId xmlns:p14="http://schemas.microsoft.com/office/powerpoint/2010/main" val="203590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kern="1200" dirty="0">
                <a:solidFill>
                  <a:schemeClr val="tx1"/>
                </a:solidFill>
                <a:effectLst/>
                <a:latin typeface="Montserrat" panose="00000500000000000000" pitchFamily="2" charset="0"/>
                <a:ea typeface="+mn-ea"/>
                <a:cs typeface="+mn-cs"/>
              </a:rPr>
              <a:t>Conclusion</a:t>
            </a:r>
            <a:endParaRPr lang="en-US" dirty="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1D241925-E3FE-4F43-9143-A92CD528E02B}"/>
              </a:ext>
            </a:extLst>
          </p:cNvPr>
          <p:cNvSpPr txBox="1"/>
          <p:nvPr/>
        </p:nvSpPr>
        <p:spPr>
          <a:xfrm>
            <a:off x="713229" y="882503"/>
            <a:ext cx="7516371" cy="2859885"/>
          </a:xfrm>
          <a:prstGeom prst="rect">
            <a:avLst/>
          </a:prstGeom>
          <a:noFill/>
        </p:spPr>
        <p:txBody>
          <a:bodyPr wrap="square" rtlCol="0">
            <a:spAutoFit/>
          </a:bodyPr>
          <a:lstStyle/>
          <a:p>
            <a:pPr algn="just"/>
            <a:r>
              <a:rPr lang="en-US" dirty="0">
                <a:solidFill>
                  <a:schemeClr val="tx1"/>
                </a:solidFill>
                <a:latin typeface="Fira Sans" panose="020B0503050000020004" pitchFamily="34" charset="0"/>
              </a:rPr>
              <a:t>The following outcomes were made in the design and fabrication of the golf cart:</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A lot of market research went into the design of the electric golf cart and desirable results were achieved.</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Finalizing the design of the chassis and trying to innovate with different pipe sizes and shapes gave a unique looking cart with considerable strength and balance.</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An excellent range of mileage of 60 km is obtained for such a heavy vehicle with lead acid batteries.</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The performance of overall vehicle including its speed, braking distance and turning radius, which were achieved under the pre-set assumed values.</a:t>
            </a:r>
          </a:p>
        </p:txBody>
      </p:sp>
    </p:spTree>
    <p:extLst>
      <p:ext uri="{BB962C8B-B14F-4D97-AF65-F5344CB8AC3E}">
        <p14:creationId xmlns:p14="http://schemas.microsoft.com/office/powerpoint/2010/main" val="4158142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kern="1200" dirty="0">
                <a:solidFill>
                  <a:schemeClr val="tx1"/>
                </a:solidFill>
                <a:effectLst/>
                <a:latin typeface="Montserrat" panose="00000500000000000000" pitchFamily="2" charset="0"/>
                <a:ea typeface="+mn-ea"/>
                <a:cs typeface="+mn-cs"/>
              </a:rPr>
              <a:t>Conclusion</a:t>
            </a:r>
            <a:endParaRPr lang="en-US" dirty="0">
              <a:solidFill>
                <a:schemeClr val="tx1"/>
              </a:solidFill>
              <a:latin typeface="Montserrat" panose="00000500000000000000" pitchFamily="2" charset="0"/>
            </a:endParaRPr>
          </a:p>
        </p:txBody>
      </p:sp>
      <p:sp>
        <p:nvSpPr>
          <p:cNvPr id="4" name="TextBox 3">
            <a:extLst>
              <a:ext uri="{FF2B5EF4-FFF2-40B4-BE49-F238E27FC236}">
                <a16:creationId xmlns:a16="http://schemas.microsoft.com/office/drawing/2014/main" id="{1D241925-E3FE-4F43-9143-A92CD528E02B}"/>
              </a:ext>
            </a:extLst>
          </p:cNvPr>
          <p:cNvSpPr txBox="1"/>
          <p:nvPr/>
        </p:nvSpPr>
        <p:spPr>
          <a:xfrm>
            <a:off x="713229" y="882502"/>
            <a:ext cx="7496493" cy="2644442"/>
          </a:xfrm>
          <a:prstGeom prst="rect">
            <a:avLst/>
          </a:prstGeom>
          <a:noFill/>
        </p:spPr>
        <p:txBody>
          <a:bodyPr wrap="square" rtlCol="0">
            <a:spAutoFit/>
          </a:bodyPr>
          <a:lstStyle/>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The suspension design was selected carefully to give the best performance at maximum loading conditions.</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The transaxle ratio of 10.45 gives the most optimum output with the coupled motor. The Golf Cart is able to climb fully loaded in grassy/muddy terrain with 20° inclination from horizontal as per design.</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dirty="0">
                <a:solidFill>
                  <a:schemeClr val="tx1"/>
                </a:solidFill>
                <a:latin typeface="Fira Sans" panose="020B0503050000020004" pitchFamily="34" charset="0"/>
              </a:rPr>
              <a:t>The heavy batteries placed below the seats makes the majority of the weight carried by the cart at low height even after passenger is seated, which gives the entire cart a very low roll center that reduces the risk of cart rolling during uneven terrains.</a:t>
            </a:r>
            <a:endParaRPr lang="en-IN" dirty="0">
              <a:solidFill>
                <a:schemeClr val="tx1"/>
              </a:solidFill>
              <a:latin typeface="Fira Sans" panose="020B0503050000020004" pitchFamily="34" charset="0"/>
            </a:endParaRPr>
          </a:p>
        </p:txBody>
      </p:sp>
    </p:spTree>
    <p:extLst>
      <p:ext uri="{BB962C8B-B14F-4D97-AF65-F5344CB8AC3E}">
        <p14:creationId xmlns:p14="http://schemas.microsoft.com/office/powerpoint/2010/main" val="266514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kern="1200" dirty="0">
                <a:solidFill>
                  <a:schemeClr val="tx2"/>
                </a:solidFill>
                <a:effectLst/>
                <a:latin typeface="Montserrat" panose="00000500000000000000" pitchFamily="2" charset="0"/>
                <a:ea typeface="+mn-ea"/>
                <a:cs typeface="+mn-cs"/>
              </a:rPr>
              <a:t>Conclusion</a:t>
            </a:r>
            <a:endParaRPr lang="en-US" dirty="0">
              <a:solidFill>
                <a:schemeClr val="tx2"/>
              </a:solidFill>
              <a:latin typeface="Montserrat" panose="00000500000000000000" pitchFamily="2" charset="0"/>
            </a:endParaRPr>
          </a:p>
        </p:txBody>
      </p:sp>
      <p:graphicFrame>
        <p:nvGraphicFramePr>
          <p:cNvPr id="3" name="Table 2">
            <a:extLst>
              <a:ext uri="{FF2B5EF4-FFF2-40B4-BE49-F238E27FC236}">
                <a16:creationId xmlns:a16="http://schemas.microsoft.com/office/drawing/2014/main" id="{18AD012A-6C24-43E5-B52A-0ED663B44101}"/>
              </a:ext>
            </a:extLst>
          </p:cNvPr>
          <p:cNvGraphicFramePr>
            <a:graphicFrameLocks noGrp="1"/>
          </p:cNvGraphicFramePr>
          <p:nvPr/>
        </p:nvGraphicFramePr>
        <p:xfrm>
          <a:off x="2212133" y="1344820"/>
          <a:ext cx="4719734" cy="2966720"/>
        </p:xfrm>
        <a:graphic>
          <a:graphicData uri="http://schemas.openxmlformats.org/drawingml/2006/table">
            <a:tbl>
              <a:tblPr firstRow="1" bandRow="1">
                <a:tableStyleId>{3C2FFA5D-87B4-456A-9821-1D502468CF0F}</a:tableStyleId>
              </a:tblPr>
              <a:tblGrid>
                <a:gridCol w="2032000">
                  <a:extLst>
                    <a:ext uri="{9D8B030D-6E8A-4147-A177-3AD203B41FA5}">
                      <a16:colId xmlns:a16="http://schemas.microsoft.com/office/drawing/2014/main" val="676881250"/>
                    </a:ext>
                  </a:extLst>
                </a:gridCol>
                <a:gridCol w="2687734">
                  <a:extLst>
                    <a:ext uri="{9D8B030D-6E8A-4147-A177-3AD203B41FA5}">
                      <a16:colId xmlns:a16="http://schemas.microsoft.com/office/drawing/2014/main" val="4089945452"/>
                    </a:ext>
                  </a:extLst>
                </a:gridCol>
              </a:tblGrid>
              <a:tr h="370840">
                <a:tc>
                  <a:txBody>
                    <a:bodyPr/>
                    <a:lstStyle/>
                    <a:p>
                      <a:pPr algn="ctr"/>
                      <a:r>
                        <a:rPr lang="en-US" dirty="0"/>
                        <a:t>Specification </a:t>
                      </a:r>
                      <a:endParaRPr lang="en-IN" b="1" dirty="0">
                        <a:solidFill>
                          <a:srgbClr val="718A1D"/>
                        </a:solidFill>
                        <a:latin typeface="SF Pro Text"/>
                      </a:endParaRPr>
                    </a:p>
                  </a:txBody>
                  <a:tcPr/>
                </a:tc>
                <a:tc>
                  <a:txBody>
                    <a:bodyPr/>
                    <a:lstStyle/>
                    <a:p>
                      <a:pPr algn="ctr"/>
                      <a:r>
                        <a:rPr lang="en-US" dirty="0"/>
                        <a:t>Values</a:t>
                      </a:r>
                      <a:endParaRPr lang="en-IN" b="1" dirty="0">
                        <a:solidFill>
                          <a:srgbClr val="718A1D"/>
                        </a:solidFill>
                        <a:latin typeface="SF Pro Text"/>
                      </a:endParaRPr>
                    </a:p>
                  </a:txBody>
                  <a:tcPr/>
                </a:tc>
                <a:extLst>
                  <a:ext uri="{0D108BD9-81ED-4DB2-BD59-A6C34878D82A}">
                    <a16:rowId xmlns:a16="http://schemas.microsoft.com/office/drawing/2014/main" val="458401735"/>
                  </a:ext>
                </a:extLst>
              </a:tr>
              <a:tr h="370840">
                <a:tc>
                  <a:txBody>
                    <a:bodyPr/>
                    <a:lstStyle/>
                    <a:p>
                      <a:pPr algn="ctr"/>
                      <a:r>
                        <a:rPr lang="en-US" dirty="0"/>
                        <a:t>Motor Type</a:t>
                      </a:r>
                      <a:endParaRPr lang="en-IN" b="1" dirty="0">
                        <a:solidFill>
                          <a:srgbClr val="718A1D"/>
                        </a:solidFill>
                        <a:latin typeface="SF Pro Text"/>
                      </a:endParaRPr>
                    </a:p>
                  </a:txBody>
                  <a:tcPr/>
                </a:tc>
                <a:tc>
                  <a:txBody>
                    <a:bodyPr/>
                    <a:lstStyle/>
                    <a:p>
                      <a:pPr algn="ctr"/>
                      <a:r>
                        <a:rPr lang="en-US" dirty="0"/>
                        <a:t>Brushless DC Motor</a:t>
                      </a:r>
                      <a:endParaRPr lang="en-IN" dirty="0">
                        <a:solidFill>
                          <a:srgbClr val="1B667A"/>
                        </a:solidFill>
                        <a:latin typeface="SF Pro Text"/>
                      </a:endParaRPr>
                    </a:p>
                  </a:txBody>
                  <a:tcPr/>
                </a:tc>
                <a:extLst>
                  <a:ext uri="{0D108BD9-81ED-4DB2-BD59-A6C34878D82A}">
                    <a16:rowId xmlns:a16="http://schemas.microsoft.com/office/drawing/2014/main" val="2332673573"/>
                  </a:ext>
                </a:extLst>
              </a:tr>
              <a:tr h="370840">
                <a:tc>
                  <a:txBody>
                    <a:bodyPr/>
                    <a:lstStyle/>
                    <a:p>
                      <a:pPr algn="ctr"/>
                      <a:r>
                        <a:rPr lang="en-US" dirty="0"/>
                        <a:t>Rated Power </a:t>
                      </a:r>
                      <a:endParaRPr lang="en-IN" b="1" dirty="0">
                        <a:solidFill>
                          <a:srgbClr val="718A1D"/>
                        </a:solidFill>
                        <a:latin typeface="SF Pro Text"/>
                      </a:endParaRPr>
                    </a:p>
                  </a:txBody>
                  <a:tcPr/>
                </a:tc>
                <a:tc>
                  <a:txBody>
                    <a:bodyPr/>
                    <a:lstStyle/>
                    <a:p>
                      <a:pPr algn="ctr"/>
                      <a:r>
                        <a:rPr lang="en-US" dirty="0"/>
                        <a:t>2kW/ 3kW/ 4kW</a:t>
                      </a:r>
                      <a:endParaRPr lang="en-IN" dirty="0">
                        <a:solidFill>
                          <a:srgbClr val="1B667A"/>
                        </a:solidFill>
                        <a:latin typeface="SF Pro Text"/>
                      </a:endParaRPr>
                    </a:p>
                  </a:txBody>
                  <a:tcPr/>
                </a:tc>
                <a:extLst>
                  <a:ext uri="{0D108BD9-81ED-4DB2-BD59-A6C34878D82A}">
                    <a16:rowId xmlns:a16="http://schemas.microsoft.com/office/drawing/2014/main" val="74300472"/>
                  </a:ext>
                </a:extLst>
              </a:tr>
              <a:tr h="370840">
                <a:tc>
                  <a:txBody>
                    <a:bodyPr/>
                    <a:lstStyle/>
                    <a:p>
                      <a:pPr algn="ctr"/>
                      <a:r>
                        <a:rPr lang="en-US" dirty="0"/>
                        <a:t>Rated Voltage </a:t>
                      </a:r>
                      <a:endParaRPr lang="en-IN" b="1" dirty="0">
                        <a:solidFill>
                          <a:srgbClr val="718A1D"/>
                        </a:solidFill>
                        <a:latin typeface="SF Pro Text"/>
                      </a:endParaRPr>
                    </a:p>
                  </a:txBody>
                  <a:tcPr/>
                </a:tc>
                <a:tc>
                  <a:txBody>
                    <a:bodyPr/>
                    <a:lstStyle/>
                    <a:p>
                      <a:pPr algn="ctr"/>
                      <a:r>
                        <a:rPr lang="en-US" dirty="0"/>
                        <a:t>48V</a:t>
                      </a:r>
                      <a:endParaRPr lang="en-IN" dirty="0">
                        <a:solidFill>
                          <a:srgbClr val="1B667A"/>
                        </a:solidFill>
                        <a:latin typeface="SF Pro Text"/>
                      </a:endParaRPr>
                    </a:p>
                  </a:txBody>
                  <a:tcPr/>
                </a:tc>
                <a:extLst>
                  <a:ext uri="{0D108BD9-81ED-4DB2-BD59-A6C34878D82A}">
                    <a16:rowId xmlns:a16="http://schemas.microsoft.com/office/drawing/2014/main" val="2725931359"/>
                  </a:ext>
                </a:extLst>
              </a:tr>
              <a:tr h="370840">
                <a:tc>
                  <a:txBody>
                    <a:bodyPr/>
                    <a:lstStyle/>
                    <a:p>
                      <a:pPr algn="ctr"/>
                      <a:r>
                        <a:rPr lang="en-US" dirty="0"/>
                        <a:t>Peak Current</a:t>
                      </a:r>
                      <a:endParaRPr lang="en-IN" b="1" dirty="0">
                        <a:solidFill>
                          <a:srgbClr val="718A1D"/>
                        </a:solidFill>
                        <a:latin typeface="SF Pro Text"/>
                      </a:endParaRPr>
                    </a:p>
                  </a:txBody>
                  <a:tcPr/>
                </a:tc>
                <a:tc>
                  <a:txBody>
                    <a:bodyPr/>
                    <a:lstStyle/>
                    <a:p>
                      <a:pPr algn="ctr"/>
                      <a:r>
                        <a:rPr lang="en-US" dirty="0"/>
                        <a:t>90-110Amps</a:t>
                      </a:r>
                      <a:endParaRPr lang="en-IN" dirty="0">
                        <a:solidFill>
                          <a:srgbClr val="1B667A"/>
                        </a:solidFill>
                        <a:latin typeface="SF Pro Text"/>
                      </a:endParaRPr>
                    </a:p>
                  </a:txBody>
                  <a:tcPr/>
                </a:tc>
                <a:extLst>
                  <a:ext uri="{0D108BD9-81ED-4DB2-BD59-A6C34878D82A}">
                    <a16:rowId xmlns:a16="http://schemas.microsoft.com/office/drawing/2014/main" val="1716120399"/>
                  </a:ext>
                </a:extLst>
              </a:tr>
              <a:tr h="370840">
                <a:tc>
                  <a:txBody>
                    <a:bodyPr/>
                    <a:lstStyle/>
                    <a:p>
                      <a:pPr algn="ctr"/>
                      <a:r>
                        <a:rPr lang="en-US" dirty="0"/>
                        <a:t>Continuous Current</a:t>
                      </a:r>
                      <a:endParaRPr lang="en-IN" b="1" dirty="0">
                        <a:solidFill>
                          <a:srgbClr val="718A1D"/>
                        </a:solidFill>
                        <a:latin typeface="SF Pro Text"/>
                      </a:endParaRPr>
                    </a:p>
                  </a:txBody>
                  <a:tcPr/>
                </a:tc>
                <a:tc>
                  <a:txBody>
                    <a:bodyPr/>
                    <a:lstStyle/>
                    <a:p>
                      <a:pPr algn="ctr"/>
                      <a:r>
                        <a:rPr lang="en-US" dirty="0"/>
                        <a:t>65Amps</a:t>
                      </a:r>
                      <a:endParaRPr lang="en-IN" dirty="0">
                        <a:solidFill>
                          <a:srgbClr val="1B667A"/>
                        </a:solidFill>
                        <a:latin typeface="SF Pro Text"/>
                      </a:endParaRPr>
                    </a:p>
                  </a:txBody>
                  <a:tcPr/>
                </a:tc>
                <a:extLst>
                  <a:ext uri="{0D108BD9-81ED-4DB2-BD59-A6C34878D82A}">
                    <a16:rowId xmlns:a16="http://schemas.microsoft.com/office/drawing/2014/main" val="1920309176"/>
                  </a:ext>
                </a:extLst>
              </a:tr>
              <a:tr h="370840">
                <a:tc>
                  <a:txBody>
                    <a:bodyPr/>
                    <a:lstStyle/>
                    <a:p>
                      <a:pPr algn="ctr"/>
                      <a:r>
                        <a:rPr lang="en-US" dirty="0"/>
                        <a:t>Controller </a:t>
                      </a:r>
                      <a:endParaRPr lang="en-IN" b="1" dirty="0">
                        <a:solidFill>
                          <a:srgbClr val="718A1D"/>
                        </a:solidFill>
                        <a:latin typeface="SF Pro Text"/>
                      </a:endParaRPr>
                    </a:p>
                  </a:txBody>
                  <a:tcPr/>
                </a:tc>
                <a:tc>
                  <a:txBody>
                    <a:bodyPr/>
                    <a:lstStyle/>
                    <a:p>
                      <a:pPr algn="ctr"/>
                      <a:r>
                        <a:rPr lang="en-US" dirty="0"/>
                        <a:t>Curtis Controller 1226BL</a:t>
                      </a:r>
                      <a:endParaRPr lang="en-IN" dirty="0">
                        <a:solidFill>
                          <a:srgbClr val="1B667A"/>
                        </a:solidFill>
                        <a:latin typeface="SF Pro Text"/>
                      </a:endParaRPr>
                    </a:p>
                  </a:txBody>
                  <a:tcPr/>
                </a:tc>
                <a:extLst>
                  <a:ext uri="{0D108BD9-81ED-4DB2-BD59-A6C34878D82A}">
                    <a16:rowId xmlns:a16="http://schemas.microsoft.com/office/drawing/2014/main" val="867740710"/>
                  </a:ext>
                </a:extLst>
              </a:tr>
              <a:tr h="370840">
                <a:tc>
                  <a:txBody>
                    <a:bodyPr/>
                    <a:lstStyle/>
                    <a:p>
                      <a:pPr algn="ctr"/>
                      <a:r>
                        <a:rPr lang="en-US" dirty="0"/>
                        <a:t>Transaxle</a:t>
                      </a:r>
                      <a:endParaRPr lang="en-IN" b="1" dirty="0">
                        <a:solidFill>
                          <a:srgbClr val="718A1D"/>
                        </a:solidFill>
                        <a:latin typeface="SF Pro Text"/>
                      </a:endParaRPr>
                    </a:p>
                  </a:txBody>
                  <a:tcPr/>
                </a:tc>
                <a:tc>
                  <a:txBody>
                    <a:bodyPr/>
                    <a:lstStyle/>
                    <a:p>
                      <a:pPr algn="ctr"/>
                      <a:r>
                        <a:rPr lang="en-US" dirty="0"/>
                        <a:t>44 inch MS type </a:t>
                      </a:r>
                      <a:endParaRPr lang="en-IN" dirty="0">
                        <a:solidFill>
                          <a:srgbClr val="1B667A"/>
                        </a:solidFill>
                        <a:latin typeface="SF Pro Text"/>
                      </a:endParaRPr>
                    </a:p>
                  </a:txBody>
                  <a:tcPr/>
                </a:tc>
                <a:extLst>
                  <a:ext uri="{0D108BD9-81ED-4DB2-BD59-A6C34878D82A}">
                    <a16:rowId xmlns:a16="http://schemas.microsoft.com/office/drawing/2014/main" val="352151578"/>
                  </a:ext>
                </a:extLst>
              </a:tr>
            </a:tbl>
          </a:graphicData>
        </a:graphic>
      </p:graphicFrame>
    </p:spTree>
    <p:extLst>
      <p:ext uri="{BB962C8B-B14F-4D97-AF65-F5344CB8AC3E}">
        <p14:creationId xmlns:p14="http://schemas.microsoft.com/office/powerpoint/2010/main" val="816326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794;p53">
            <a:extLst>
              <a:ext uri="{FF2B5EF4-FFF2-40B4-BE49-F238E27FC236}">
                <a16:creationId xmlns:a16="http://schemas.microsoft.com/office/drawing/2014/main" id="{97D6695E-A8B7-4469-A1F2-95AC4E82591C}"/>
              </a:ext>
            </a:extLst>
          </p:cNvPr>
          <p:cNvSpPr/>
          <p:nvPr/>
        </p:nvSpPr>
        <p:spPr>
          <a:xfrm>
            <a:off x="713250" y="10220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1AB6F51-8EBC-4197-8FC3-403BBAA19AAB}"/>
              </a:ext>
            </a:extLst>
          </p:cNvPr>
          <p:cNvSpPr>
            <a:spLocks noGrp="1"/>
          </p:cNvSpPr>
          <p:nvPr>
            <p:ph type="title"/>
          </p:nvPr>
        </p:nvSpPr>
        <p:spPr>
          <a:xfrm>
            <a:off x="703311" y="165245"/>
            <a:ext cx="7717500" cy="576000"/>
          </a:xfrm>
        </p:spPr>
        <p:txBody>
          <a:bodyPr/>
          <a:lstStyle/>
          <a:p>
            <a:r>
              <a:rPr lang="en-US" dirty="0"/>
              <a:t>References</a:t>
            </a:r>
            <a:endParaRPr lang="en-IN" dirty="0"/>
          </a:p>
        </p:txBody>
      </p:sp>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1138265" y="915635"/>
            <a:ext cx="8005735" cy="4062620"/>
          </a:xfrm>
          <a:prstGeom prst="rect">
            <a:avLst/>
          </a:prstGeom>
          <a:noFill/>
        </p:spPr>
        <p:txBody>
          <a:bodyPr wrap="square" rtlCol="0">
            <a:spAutoFit/>
          </a:bodyPr>
          <a:lstStyle/>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[1]. H. Zakaria, M. Hamid, E. M. Abdellatif and A. Imane, "Recent Advancements and Developments for Electric Vehicle Technology," 2019 IEEE International Conference of Computer Science and Renewable Energies (ICCSRE), Agadir, Morocco, 2019, pp. 1-6, doi: 10.1109/ICCSRE.2019.8807726.</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[2]. Hybrid &amp; Electric Vehicle Technology and its market feasibility by Sang Yeob Jeon (S.M. in System Design and Management)--</a:t>
            </a:r>
            <a:r>
              <a:rPr lang="en-IN" sz="1200" i="1" dirty="0"/>
              <a:t>Massachusetts Institute of Technology, Engineering Systems Division</a:t>
            </a:r>
            <a:r>
              <a:rPr lang="en-IN" sz="1200" dirty="0"/>
              <a:t>, 2010.</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 [3]. N. Hashemnia and B. Asaei, "Comparative study of using different electric motors in the electric vehicles," 2008 IEEE 18th International Conference on Electrical Machines, Vilamoura, Portugal, 2008, pp. 1-5, doi: 10.1109/ICELMACH.2008.4800157.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[4]. M. A. Hassanin, F. E. Abdel-Kader, S. I. Amer and A. E. Abu-Moubarka, "Operation of Brushless DC Motor to Drive the Electric Vehicle," 2018 IEEE Twentieth International Middle East Power Systems Conference (MEPCON), Cairo, Egypt, 2018, pp. 500-503, doi: 10.1109/MEPCON.2018.8635158.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[5]. A. Loganayaki and R. B. Kumar, "Permanent Magnet Synchronous Motor for Electric Vehicle Applications," 2019 IEEE 5th International Conference on Advanced Computing &amp; Communication Systems (ICACCS), Coimbatore, India, 2019, pp. 1064-1069, doi: 10.1109/ICACCS.2019.8728442.</a:t>
            </a:r>
          </a:p>
        </p:txBody>
      </p:sp>
    </p:spTree>
    <p:extLst>
      <p:ext uri="{BB962C8B-B14F-4D97-AF65-F5344CB8AC3E}">
        <p14:creationId xmlns:p14="http://schemas.microsoft.com/office/powerpoint/2010/main" val="981389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1066534" y="276999"/>
            <a:ext cx="8077465" cy="4339619"/>
          </a:xfrm>
          <a:prstGeom prst="rect">
            <a:avLst/>
          </a:prstGeom>
          <a:noFill/>
        </p:spPr>
        <p:txBody>
          <a:bodyPr wrap="square" rtlCol="0">
            <a:spAutoFit/>
          </a:bodyPr>
          <a:lstStyle/>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[6]. B. Pryymak, "Induction Motor Control System of Electric Vehicle with Improved Dynamics in Field Weakening Region," 2019 IEEE 2nd Ukraine Conference on Electrical and Computer Engineering (UKRCON), Lviv, Ukraine, 2019, pp. 615-620, doi: 10.1109/UKRCON.2019.8880012.</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[7]. U. Mahapatra, "Energy Storages and Technologies for Electric Vehicle," 2021 IEEE Innovations in Energy Management and Renewable Resources(52042), Kolkata, India, 2021, pp. 1-3, doi: 10.1109/IEMRE52042.2021.9386526.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[8]. A. C. R and A. Ghosh, "Battery Management System in Electric Vehicle," 2021 IEEE 4th Biennial International Conference on Nascent Technologies in Engineering (ICNTE), NaviMumbai, India, 2021, pp. 1-6, doi: 10.1109/ICNTE51185.2021.9487762.</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 [9]. M. L. De Klerk and A. K. Saha, "A Comprehensive Review of Advanced Traction Motor Control Techniques Suitable for Electric Vehicle Applications," in IEEE Access, vol. 9, pp. 125080-125108, 2021, doi: 10.1109/ACCESS.2021.3110736. [10]. V. Totev, V. Gueorgiev and P. Rizov, "Regenerative braking of electric vehicles," 2019 IEEE 11th Electrical Engineering Faculty Conference (BulEF), Varna, Bulgaria, 2019, pp.1-5, doi: 10.1109/BulEF48056.2019.9030768.</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[11]. L. Zhao, A. M. I. Mahbub and A. A. Malikopoulos, "Optimal Vehicle Dynamics and Powertrain Control for Connected and Automated Vehicles," 2019 IEEE Conference on Control Technology and Applications (CCTA), Hong Kong, China, 2019, pp. 33-38, doi: 10.1109/CCTA.2019.8920531.</a:t>
            </a:r>
          </a:p>
        </p:txBody>
      </p:sp>
    </p:spTree>
    <p:extLst>
      <p:ext uri="{BB962C8B-B14F-4D97-AF65-F5344CB8AC3E}">
        <p14:creationId xmlns:p14="http://schemas.microsoft.com/office/powerpoint/2010/main" val="665305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1113159" y="124941"/>
            <a:ext cx="8030841" cy="4893617"/>
          </a:xfrm>
          <a:prstGeom prst="rect">
            <a:avLst/>
          </a:prstGeom>
          <a:noFill/>
        </p:spPr>
        <p:txBody>
          <a:bodyPr wrap="square" rtlCol="0">
            <a:spAutoFit/>
          </a:bodyPr>
          <a:lstStyle/>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[12]. J. Romo, E. Cañibano and J. C. Merino, "Lightweighting and passive safety for urban electric vehicle," 2017 IEEE Electric Vehicles International Conference (EV), Bucharest, Romania,2017, pp. 1-5, doi: 10.1109/EV.2017.8242113.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[13]. C. H. T. Lee, W. Hua, T. Long, C. Jiang and L. V. Iyer, "A Critical Review of Emerging Technologies for Electric and Hybrid Vehicles," in IEEE Open Journal of Vehicular Technology, vol. 2, pp. 471-485, 2021, doi: 10.1109/OJVT.2021.3138894</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rgbClr val="3F5A42"/>
                </a:solidFill>
                <a:latin typeface="SF Pro Text" panose="00000500000000000000"/>
                <a:ea typeface="SF Pro Text" panose="00000500000000000000" pitchFamily="2" charset="0"/>
              </a:rPr>
              <a:t>[14]. Sinha, R., and Bangia, S. (2021). Performance Analysis of Electric Vehicle Based on Various Working Scenarios. International Transaction Journal of Engineering, Management,&amp; Applied Sciences &amp; Technologies, 12(1), 12A1R, 1-15. http://TUENGR.COM/V12/12A1R.pdf DOI: 10.14456/ITJEMAST.2021.18</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[15]. L. Zhao and Z. Jin, "Analysis of Intelligent Vehicle Climbing Force and Battery Selection," 2019 IEEE International Conference on Mechatronics and Automation (ICMA), Tianjin, China, 2019, pp. 2395-2400, doi: 10.1109/ICMA.2019.8816496.</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 [16]. S. Raveena and M. A. Berlin, "Broadcasting weather report to vehicles in urban roads," 2017 IEEE International Conference on Inventive Systems and Control (ICISC), Coimbatore, India,2017, pp. 1-5, doi: 10.1109/ICISC.2017.8068624.</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[17]. K. Zhou, H. Fang and Y. Liu, "Driving–Charging Integrated Controller for Electric Vehicles," in IEEE Access, vol. 10, pp. 66545-66563, 2022, doi: 10.1109/ACCESS.2022.3185261.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t>[18]. J. Fan, "Solar Powered Golf Cart: Testing and Performance Analyses," 2018 IEEE 2ndInternational Conference on Green Energy and Applications (ICGEA), Singapore, 2018, pp. 74-78, doi: 10.1109/ICGEA.2018.8356302.</a:t>
            </a:r>
          </a:p>
        </p:txBody>
      </p:sp>
    </p:spTree>
    <p:extLst>
      <p:ext uri="{BB962C8B-B14F-4D97-AF65-F5344CB8AC3E}">
        <p14:creationId xmlns:p14="http://schemas.microsoft.com/office/powerpoint/2010/main" val="3747225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5369;p74">
            <a:extLst>
              <a:ext uri="{FF2B5EF4-FFF2-40B4-BE49-F238E27FC236}">
                <a16:creationId xmlns:a16="http://schemas.microsoft.com/office/drawing/2014/main" id="{26E720B4-2931-677E-385B-C89987D20467}"/>
              </a:ext>
            </a:extLst>
          </p:cNvPr>
          <p:cNvSpPr/>
          <p:nvPr/>
        </p:nvSpPr>
        <p:spPr>
          <a:xfrm>
            <a:off x="2423250" y="1029335"/>
            <a:ext cx="4297500" cy="8730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5370;p74">
            <a:extLst>
              <a:ext uri="{FF2B5EF4-FFF2-40B4-BE49-F238E27FC236}">
                <a16:creationId xmlns:a16="http://schemas.microsoft.com/office/drawing/2014/main" id="{B9614C1B-70FA-F886-3E94-E25E83F6BDD4}"/>
              </a:ext>
            </a:extLst>
          </p:cNvPr>
          <p:cNvSpPr txBox="1">
            <a:spLocks/>
          </p:cNvSpPr>
          <p:nvPr/>
        </p:nvSpPr>
        <p:spPr>
          <a:xfrm>
            <a:off x="2560656" y="1023830"/>
            <a:ext cx="3897300" cy="873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200"/>
              <a:buFont typeface="Montserrat"/>
              <a:buNone/>
              <a:defRPr sz="3200" b="1" i="0" u="none" strike="noStrike" cap="none">
                <a:solidFill>
                  <a:schemeClr val="lt2"/>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pPr algn="ctr"/>
            <a:r>
              <a:rPr lang="en-US" dirty="0"/>
              <a:t>THANKS!</a:t>
            </a:r>
          </a:p>
        </p:txBody>
      </p:sp>
      <p:grpSp>
        <p:nvGrpSpPr>
          <p:cNvPr id="10" name="Google Shape;5389;p74">
            <a:extLst>
              <a:ext uri="{FF2B5EF4-FFF2-40B4-BE49-F238E27FC236}">
                <a16:creationId xmlns:a16="http://schemas.microsoft.com/office/drawing/2014/main" id="{564B3771-0FED-2BCE-1A53-D3A161C3755D}"/>
              </a:ext>
            </a:extLst>
          </p:cNvPr>
          <p:cNvGrpSpPr/>
          <p:nvPr/>
        </p:nvGrpSpPr>
        <p:grpSpPr>
          <a:xfrm>
            <a:off x="6168158" y="1736950"/>
            <a:ext cx="3240024" cy="1785611"/>
            <a:chOff x="6168158" y="1736950"/>
            <a:chExt cx="3240024" cy="1785611"/>
          </a:xfrm>
        </p:grpSpPr>
        <p:grpSp>
          <p:nvGrpSpPr>
            <p:cNvPr id="11" name="Google Shape;5390;p74">
              <a:extLst>
                <a:ext uri="{FF2B5EF4-FFF2-40B4-BE49-F238E27FC236}">
                  <a16:creationId xmlns:a16="http://schemas.microsoft.com/office/drawing/2014/main" id="{9CA0C99E-A18C-CE44-4F81-47CEF36A3F93}"/>
                </a:ext>
              </a:extLst>
            </p:cNvPr>
            <p:cNvGrpSpPr/>
            <p:nvPr/>
          </p:nvGrpSpPr>
          <p:grpSpPr>
            <a:xfrm rot="5400000">
              <a:off x="7114355" y="1109010"/>
              <a:ext cx="1554810" cy="3032843"/>
              <a:chOff x="7681597" y="-387360"/>
              <a:chExt cx="1692402" cy="3470072"/>
            </a:xfrm>
          </p:grpSpPr>
          <p:sp>
            <p:nvSpPr>
              <p:cNvPr id="46" name="Google Shape;5391;p74">
                <a:extLst>
                  <a:ext uri="{FF2B5EF4-FFF2-40B4-BE49-F238E27FC236}">
                    <a16:creationId xmlns:a16="http://schemas.microsoft.com/office/drawing/2014/main" id="{97AF0D79-74DE-2E27-04EE-E28C6B526789}"/>
                  </a:ext>
                </a:extLst>
              </p:cNvPr>
              <p:cNvSpPr/>
              <p:nvPr/>
            </p:nvSpPr>
            <p:spPr>
              <a:xfrm rot="-5400000">
                <a:off x="6792550" y="501687"/>
                <a:ext cx="3470072"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5392;p74">
                <a:extLst>
                  <a:ext uri="{FF2B5EF4-FFF2-40B4-BE49-F238E27FC236}">
                    <a16:creationId xmlns:a16="http://schemas.microsoft.com/office/drawing/2014/main" id="{BA0D0714-D73F-9821-61EF-1CF482D6E66E}"/>
                  </a:ext>
                </a:extLst>
              </p:cNvPr>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5393;p74">
              <a:extLst>
                <a:ext uri="{FF2B5EF4-FFF2-40B4-BE49-F238E27FC236}">
                  <a16:creationId xmlns:a16="http://schemas.microsoft.com/office/drawing/2014/main" id="{A60EBE75-4DDE-28F5-E021-96B63907BCAB}"/>
                </a:ext>
              </a:extLst>
            </p:cNvPr>
            <p:cNvSpPr/>
            <p:nvPr/>
          </p:nvSpPr>
          <p:spPr>
            <a:xfrm>
              <a:off x="8510196" y="1883951"/>
              <a:ext cx="316673" cy="40320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5394;p74">
              <a:extLst>
                <a:ext uri="{FF2B5EF4-FFF2-40B4-BE49-F238E27FC236}">
                  <a16:creationId xmlns:a16="http://schemas.microsoft.com/office/drawing/2014/main" id="{FE4FA8A0-2545-ED16-806C-9B926AD3CE7E}"/>
                </a:ext>
              </a:extLst>
            </p:cNvPr>
            <p:cNvSpPr/>
            <p:nvPr/>
          </p:nvSpPr>
          <p:spPr>
            <a:xfrm>
              <a:off x="7871115" y="1736950"/>
              <a:ext cx="384439" cy="489493"/>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5395;p74">
              <a:extLst>
                <a:ext uri="{FF2B5EF4-FFF2-40B4-BE49-F238E27FC236}">
                  <a16:creationId xmlns:a16="http://schemas.microsoft.com/office/drawing/2014/main" id="{CC89CBC9-6714-90DF-9F02-E917525D6FED}"/>
                </a:ext>
              </a:extLst>
            </p:cNvPr>
            <p:cNvSpPr/>
            <p:nvPr/>
          </p:nvSpPr>
          <p:spPr>
            <a:xfrm>
              <a:off x="8766067" y="1943025"/>
              <a:ext cx="222591" cy="2834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 name="Google Shape;5396;p74">
              <a:extLst>
                <a:ext uri="{FF2B5EF4-FFF2-40B4-BE49-F238E27FC236}">
                  <a16:creationId xmlns:a16="http://schemas.microsoft.com/office/drawing/2014/main" id="{9C79784F-8FE3-FA6D-AD2E-6D1B001F6F73}"/>
                </a:ext>
              </a:extLst>
            </p:cNvPr>
            <p:cNvGrpSpPr/>
            <p:nvPr/>
          </p:nvGrpSpPr>
          <p:grpSpPr>
            <a:xfrm flipH="1">
              <a:off x="7967799" y="2220472"/>
              <a:ext cx="726618" cy="1302090"/>
              <a:chOff x="6484504" y="1911584"/>
              <a:chExt cx="1676553" cy="3004361"/>
            </a:xfrm>
          </p:grpSpPr>
          <p:sp>
            <p:nvSpPr>
              <p:cNvPr id="33" name="Google Shape;5397;p74">
                <a:extLst>
                  <a:ext uri="{FF2B5EF4-FFF2-40B4-BE49-F238E27FC236}">
                    <a16:creationId xmlns:a16="http://schemas.microsoft.com/office/drawing/2014/main" id="{BA2F664D-16B6-623F-AEA6-4B196EBADFFD}"/>
                  </a:ext>
                </a:extLst>
              </p:cNvPr>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5398;p74">
                <a:extLst>
                  <a:ext uri="{FF2B5EF4-FFF2-40B4-BE49-F238E27FC236}">
                    <a16:creationId xmlns:a16="http://schemas.microsoft.com/office/drawing/2014/main" id="{1A1A652C-066F-FB8E-B744-FC433D6F7BDB}"/>
                  </a:ext>
                </a:extLst>
              </p:cNvPr>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5399;p74">
                <a:extLst>
                  <a:ext uri="{FF2B5EF4-FFF2-40B4-BE49-F238E27FC236}">
                    <a16:creationId xmlns:a16="http://schemas.microsoft.com/office/drawing/2014/main" id="{51C04AE0-AE23-CDE8-DE49-16A4130700DA}"/>
                  </a:ext>
                </a:extLst>
              </p:cNvPr>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5400;p74">
                <a:extLst>
                  <a:ext uri="{FF2B5EF4-FFF2-40B4-BE49-F238E27FC236}">
                    <a16:creationId xmlns:a16="http://schemas.microsoft.com/office/drawing/2014/main" id="{11FBFD02-9571-2B6F-5AB4-93A545411DEB}"/>
                  </a:ext>
                </a:extLst>
              </p:cNvPr>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gradFill>
                <a:gsLst>
                  <a:gs pos="0">
                    <a:schemeClr val="lt2"/>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5401;p74">
                <a:extLst>
                  <a:ext uri="{FF2B5EF4-FFF2-40B4-BE49-F238E27FC236}">
                    <a16:creationId xmlns:a16="http://schemas.microsoft.com/office/drawing/2014/main" id="{503B77FB-F20D-4F51-1380-B6AB1B7B897D}"/>
                  </a:ext>
                </a:extLst>
              </p:cNvPr>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5402;p74">
                <a:extLst>
                  <a:ext uri="{FF2B5EF4-FFF2-40B4-BE49-F238E27FC236}">
                    <a16:creationId xmlns:a16="http://schemas.microsoft.com/office/drawing/2014/main" id="{DF830851-BBD6-CB47-6C75-90C94BFF3488}"/>
                  </a:ext>
                </a:extLst>
              </p:cNvPr>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5403;p74">
                <a:extLst>
                  <a:ext uri="{FF2B5EF4-FFF2-40B4-BE49-F238E27FC236}">
                    <a16:creationId xmlns:a16="http://schemas.microsoft.com/office/drawing/2014/main" id="{6A1C2D13-7B90-B9A1-19AB-ECB0FD66A346}"/>
                  </a:ext>
                </a:extLst>
              </p:cNvPr>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5404;p74">
                <a:extLst>
                  <a:ext uri="{FF2B5EF4-FFF2-40B4-BE49-F238E27FC236}">
                    <a16:creationId xmlns:a16="http://schemas.microsoft.com/office/drawing/2014/main" id="{186407C5-6A68-2412-42C6-31518630540F}"/>
                  </a:ext>
                </a:extLst>
              </p:cNvPr>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5405;p74">
                <a:extLst>
                  <a:ext uri="{FF2B5EF4-FFF2-40B4-BE49-F238E27FC236}">
                    <a16:creationId xmlns:a16="http://schemas.microsoft.com/office/drawing/2014/main" id="{AC7D3473-71A3-EAA4-3DCD-086B924A947C}"/>
                  </a:ext>
                </a:extLst>
              </p:cNvPr>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5406;p74">
                <a:extLst>
                  <a:ext uri="{FF2B5EF4-FFF2-40B4-BE49-F238E27FC236}">
                    <a16:creationId xmlns:a16="http://schemas.microsoft.com/office/drawing/2014/main" id="{E097635C-8161-F52E-74B6-A916F52BB04D}"/>
                  </a:ext>
                </a:extLst>
              </p:cNvPr>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5407;p74">
                <a:extLst>
                  <a:ext uri="{FF2B5EF4-FFF2-40B4-BE49-F238E27FC236}">
                    <a16:creationId xmlns:a16="http://schemas.microsoft.com/office/drawing/2014/main" id="{31A696AE-78BC-11DE-A336-58CC31133729}"/>
                  </a:ext>
                </a:extLst>
              </p:cNvPr>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5408;p74">
                <a:extLst>
                  <a:ext uri="{FF2B5EF4-FFF2-40B4-BE49-F238E27FC236}">
                    <a16:creationId xmlns:a16="http://schemas.microsoft.com/office/drawing/2014/main" id="{6DD56CA8-F84D-29E5-BEBC-3DB32B1457FE}"/>
                  </a:ext>
                </a:extLst>
              </p:cNvPr>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5409;p74">
                <a:extLst>
                  <a:ext uri="{FF2B5EF4-FFF2-40B4-BE49-F238E27FC236}">
                    <a16:creationId xmlns:a16="http://schemas.microsoft.com/office/drawing/2014/main" id="{AB5905EF-FBAD-3EBD-6042-041E69B10883}"/>
                  </a:ext>
                </a:extLst>
              </p:cNvPr>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 name="Google Shape;5410;p74">
              <a:extLst>
                <a:ext uri="{FF2B5EF4-FFF2-40B4-BE49-F238E27FC236}">
                  <a16:creationId xmlns:a16="http://schemas.microsoft.com/office/drawing/2014/main" id="{F5E965C5-7745-5FD9-7ACF-B1A80079207B}"/>
                </a:ext>
              </a:extLst>
            </p:cNvPr>
            <p:cNvGrpSpPr/>
            <p:nvPr/>
          </p:nvGrpSpPr>
          <p:grpSpPr>
            <a:xfrm>
              <a:off x="6336692" y="2605078"/>
              <a:ext cx="1852375" cy="788154"/>
              <a:chOff x="1895075" y="2324440"/>
              <a:chExt cx="3410744" cy="1451480"/>
            </a:xfrm>
          </p:grpSpPr>
          <p:sp>
            <p:nvSpPr>
              <p:cNvPr id="18" name="Google Shape;5411;p74">
                <a:extLst>
                  <a:ext uri="{FF2B5EF4-FFF2-40B4-BE49-F238E27FC236}">
                    <a16:creationId xmlns:a16="http://schemas.microsoft.com/office/drawing/2014/main" id="{F9FF5EA5-7CFC-BBD0-8D65-0F20B98F2316}"/>
                  </a:ext>
                </a:extLst>
              </p:cNvPr>
              <p:cNvSpPr/>
              <p:nvPr/>
            </p:nvSpPr>
            <p:spPr>
              <a:xfrm>
                <a:off x="2266434" y="3116176"/>
                <a:ext cx="2866084" cy="307734"/>
              </a:xfrm>
              <a:custGeom>
                <a:avLst/>
                <a:gdLst/>
                <a:ahLst/>
                <a:cxnLst/>
                <a:rect l="l" t="t" r="r" b="b"/>
                <a:pathLst>
                  <a:path w="132643" h="14242" extrusionOk="0">
                    <a:moveTo>
                      <a:pt x="117927" y="1"/>
                    </a:moveTo>
                    <a:cubicBezTo>
                      <a:pt x="109481" y="1"/>
                      <a:pt x="105587" y="5361"/>
                      <a:pt x="103802" y="10777"/>
                    </a:cubicBezTo>
                    <a:lnTo>
                      <a:pt x="104745" y="11087"/>
                    </a:lnTo>
                    <a:cubicBezTo>
                      <a:pt x="106633" y="5503"/>
                      <a:pt x="111914" y="1484"/>
                      <a:pt x="118134" y="1484"/>
                    </a:cubicBezTo>
                    <a:cubicBezTo>
                      <a:pt x="124601" y="1484"/>
                      <a:pt x="130054" y="5825"/>
                      <a:pt x="131735" y="11751"/>
                    </a:cubicBezTo>
                    <a:lnTo>
                      <a:pt x="132642" y="11489"/>
                    </a:lnTo>
                    <a:cubicBezTo>
                      <a:pt x="131075" y="6009"/>
                      <a:pt x="127241" y="27"/>
                      <a:pt x="117978" y="1"/>
                    </a:cubicBezTo>
                    <a:cubicBezTo>
                      <a:pt x="117961" y="1"/>
                      <a:pt x="117944" y="1"/>
                      <a:pt x="117927" y="1"/>
                    </a:cubicBezTo>
                    <a:close/>
                    <a:moveTo>
                      <a:pt x="14610" y="271"/>
                    </a:moveTo>
                    <a:cubicBezTo>
                      <a:pt x="4312" y="271"/>
                      <a:pt x="992" y="7867"/>
                      <a:pt x="1" y="14106"/>
                    </a:cubicBezTo>
                    <a:lnTo>
                      <a:pt x="910" y="14242"/>
                    </a:lnTo>
                    <a:cubicBezTo>
                      <a:pt x="1948" y="7461"/>
                      <a:pt x="7811" y="2260"/>
                      <a:pt x="14884" y="2260"/>
                    </a:cubicBezTo>
                    <a:cubicBezTo>
                      <a:pt x="21768" y="2260"/>
                      <a:pt x="27506" y="7187"/>
                      <a:pt x="28762" y="13701"/>
                    </a:cubicBezTo>
                    <a:lnTo>
                      <a:pt x="29447" y="13570"/>
                    </a:lnTo>
                    <a:cubicBezTo>
                      <a:pt x="28252" y="7479"/>
                      <a:pt x="24700" y="271"/>
                      <a:pt x="14610" y="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5412;p74">
                <a:extLst>
                  <a:ext uri="{FF2B5EF4-FFF2-40B4-BE49-F238E27FC236}">
                    <a16:creationId xmlns:a16="http://schemas.microsoft.com/office/drawing/2014/main" id="{5B5A44E3-CFC6-484E-802A-688EAED92B41}"/>
                  </a:ext>
                </a:extLst>
              </p:cNvPr>
              <p:cNvSpPr/>
              <p:nvPr/>
            </p:nvSpPr>
            <p:spPr>
              <a:xfrm>
                <a:off x="2034629" y="2857580"/>
                <a:ext cx="3181013" cy="275128"/>
              </a:xfrm>
              <a:custGeom>
                <a:avLst/>
                <a:gdLst/>
                <a:ahLst/>
                <a:cxnLst/>
                <a:rect l="l" t="t" r="r" b="b"/>
                <a:pathLst>
                  <a:path w="147218" h="12733" extrusionOk="0">
                    <a:moveTo>
                      <a:pt x="138159" y="1"/>
                    </a:moveTo>
                    <a:cubicBezTo>
                      <a:pt x="138081" y="1"/>
                      <a:pt x="138008" y="3"/>
                      <a:pt x="137941" y="8"/>
                    </a:cubicBezTo>
                    <a:cubicBezTo>
                      <a:pt x="136327" y="135"/>
                      <a:pt x="139176" y="2845"/>
                      <a:pt x="139665" y="3708"/>
                    </a:cubicBezTo>
                    <a:cubicBezTo>
                      <a:pt x="140062" y="4411"/>
                      <a:pt x="143378" y="8137"/>
                      <a:pt x="144607" y="9508"/>
                    </a:cubicBezTo>
                    <a:cubicBezTo>
                      <a:pt x="144901" y="9834"/>
                      <a:pt x="145306" y="10035"/>
                      <a:pt x="145742" y="10074"/>
                    </a:cubicBezTo>
                    <a:lnTo>
                      <a:pt x="147217" y="10196"/>
                    </a:lnTo>
                    <a:cubicBezTo>
                      <a:pt x="147217" y="10196"/>
                      <a:pt x="145699" y="4184"/>
                      <a:pt x="144290" y="1282"/>
                    </a:cubicBezTo>
                    <a:cubicBezTo>
                      <a:pt x="144290" y="1282"/>
                      <a:pt x="139941" y="1"/>
                      <a:pt x="138159" y="1"/>
                    </a:cubicBezTo>
                    <a:close/>
                    <a:moveTo>
                      <a:pt x="7294" y="4589"/>
                    </a:moveTo>
                    <a:cubicBezTo>
                      <a:pt x="6136" y="4589"/>
                      <a:pt x="4424" y="5492"/>
                      <a:pt x="2905" y="7011"/>
                    </a:cubicBezTo>
                    <a:cubicBezTo>
                      <a:pt x="2735" y="7182"/>
                      <a:pt x="2579" y="7352"/>
                      <a:pt x="2426" y="7522"/>
                    </a:cubicBezTo>
                    <a:cubicBezTo>
                      <a:pt x="711" y="9450"/>
                      <a:pt x="0" y="11544"/>
                      <a:pt x="837" y="12382"/>
                    </a:cubicBezTo>
                    <a:cubicBezTo>
                      <a:pt x="1074" y="12620"/>
                      <a:pt x="1413" y="12733"/>
                      <a:pt x="1821" y="12733"/>
                    </a:cubicBezTo>
                    <a:cubicBezTo>
                      <a:pt x="2977" y="12733"/>
                      <a:pt x="4689" y="11829"/>
                      <a:pt x="6208" y="10310"/>
                    </a:cubicBezTo>
                    <a:cubicBezTo>
                      <a:pt x="7124" y="9394"/>
                      <a:pt x="7815" y="8412"/>
                      <a:pt x="8220" y="7522"/>
                    </a:cubicBezTo>
                    <a:cubicBezTo>
                      <a:pt x="8726" y="6409"/>
                      <a:pt x="8787" y="5445"/>
                      <a:pt x="8280" y="4939"/>
                    </a:cubicBezTo>
                    <a:cubicBezTo>
                      <a:pt x="8043" y="4701"/>
                      <a:pt x="7703" y="4589"/>
                      <a:pt x="7294" y="4589"/>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5413;p74">
                <a:extLst>
                  <a:ext uri="{FF2B5EF4-FFF2-40B4-BE49-F238E27FC236}">
                    <a16:creationId xmlns:a16="http://schemas.microsoft.com/office/drawing/2014/main" id="{B041B63B-0AA4-8191-E909-FC813AE9510C}"/>
                  </a:ext>
                </a:extLst>
              </p:cNvPr>
              <p:cNvSpPr/>
              <p:nvPr/>
            </p:nvSpPr>
            <p:spPr>
              <a:xfrm>
                <a:off x="2629366" y="2407181"/>
                <a:ext cx="2015677" cy="390620"/>
              </a:xfrm>
              <a:custGeom>
                <a:avLst/>
                <a:gdLst/>
                <a:ahLst/>
                <a:cxnLst/>
                <a:rect l="l" t="t" r="r" b="b"/>
                <a:pathLst>
                  <a:path w="93286" h="18078" extrusionOk="0">
                    <a:moveTo>
                      <a:pt x="68600" y="49"/>
                    </a:moveTo>
                    <a:lnTo>
                      <a:pt x="70990" y="14931"/>
                    </a:lnTo>
                    <a:cubicBezTo>
                      <a:pt x="70990" y="14931"/>
                      <a:pt x="70999" y="15010"/>
                      <a:pt x="71020" y="15162"/>
                    </a:cubicBezTo>
                    <a:lnTo>
                      <a:pt x="91384" y="14294"/>
                    </a:lnTo>
                    <a:cubicBezTo>
                      <a:pt x="91384" y="14294"/>
                      <a:pt x="93285" y="13796"/>
                      <a:pt x="91384" y="11437"/>
                    </a:cubicBezTo>
                    <a:cubicBezTo>
                      <a:pt x="89477" y="9075"/>
                      <a:pt x="85096" y="184"/>
                      <a:pt x="68600" y="49"/>
                    </a:cubicBezTo>
                    <a:close/>
                    <a:moveTo>
                      <a:pt x="61452" y="0"/>
                    </a:moveTo>
                    <a:cubicBezTo>
                      <a:pt x="47646" y="0"/>
                      <a:pt x="34677" y="1005"/>
                      <a:pt x="22649" y="10577"/>
                    </a:cubicBezTo>
                    <a:lnTo>
                      <a:pt x="22649" y="17230"/>
                    </a:lnTo>
                    <a:lnTo>
                      <a:pt x="65419" y="15403"/>
                    </a:lnTo>
                    <a:lnTo>
                      <a:pt x="64639" y="14"/>
                    </a:lnTo>
                    <a:cubicBezTo>
                      <a:pt x="63572" y="6"/>
                      <a:pt x="62509" y="0"/>
                      <a:pt x="61452" y="0"/>
                    </a:cubicBezTo>
                    <a:close/>
                    <a:moveTo>
                      <a:pt x="28678" y="2074"/>
                    </a:moveTo>
                    <a:cubicBezTo>
                      <a:pt x="18900" y="7261"/>
                      <a:pt x="6008" y="15615"/>
                      <a:pt x="0" y="17706"/>
                    </a:cubicBezTo>
                    <a:lnTo>
                      <a:pt x="0" y="17711"/>
                    </a:lnTo>
                    <a:lnTo>
                      <a:pt x="6496" y="18077"/>
                    </a:lnTo>
                    <a:lnTo>
                      <a:pt x="28678" y="207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5414;p74">
                <a:extLst>
                  <a:ext uri="{FF2B5EF4-FFF2-40B4-BE49-F238E27FC236}">
                    <a16:creationId xmlns:a16="http://schemas.microsoft.com/office/drawing/2014/main" id="{F7378F9D-AB5A-F5D2-6271-0305463370C5}"/>
                  </a:ext>
                </a:extLst>
              </p:cNvPr>
              <p:cNvSpPr/>
              <p:nvPr/>
            </p:nvSpPr>
            <p:spPr>
              <a:xfrm>
                <a:off x="2868345" y="2658149"/>
                <a:ext cx="174351" cy="146542"/>
              </a:xfrm>
              <a:custGeom>
                <a:avLst/>
                <a:gdLst/>
                <a:ahLst/>
                <a:cxnLst/>
                <a:rect l="l" t="t" r="r" b="b"/>
                <a:pathLst>
                  <a:path w="8069" h="6782" extrusionOk="0">
                    <a:moveTo>
                      <a:pt x="8068" y="1"/>
                    </a:moveTo>
                    <a:lnTo>
                      <a:pt x="8068" y="1"/>
                    </a:lnTo>
                    <a:cubicBezTo>
                      <a:pt x="7436" y="464"/>
                      <a:pt x="6820" y="921"/>
                      <a:pt x="6236" y="1363"/>
                    </a:cubicBezTo>
                    <a:cubicBezTo>
                      <a:pt x="3540" y="3400"/>
                      <a:pt x="1406" y="5162"/>
                      <a:pt x="276" y="6109"/>
                    </a:cubicBezTo>
                    <a:cubicBezTo>
                      <a:pt x="1" y="6342"/>
                      <a:pt x="170" y="6781"/>
                      <a:pt x="522" y="6781"/>
                    </a:cubicBezTo>
                    <a:cubicBezTo>
                      <a:pt x="527" y="6781"/>
                      <a:pt x="532" y="6781"/>
                      <a:pt x="537" y="6781"/>
                    </a:cubicBezTo>
                    <a:lnTo>
                      <a:pt x="6903" y="6515"/>
                    </a:lnTo>
                    <a:lnTo>
                      <a:pt x="6903" y="6511"/>
                    </a:lnTo>
                    <a:lnTo>
                      <a:pt x="80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5415;p74">
                <a:extLst>
                  <a:ext uri="{FF2B5EF4-FFF2-40B4-BE49-F238E27FC236}">
                    <a16:creationId xmlns:a16="http://schemas.microsoft.com/office/drawing/2014/main" id="{A75E8B3E-D81D-2135-FEEF-2F8CAA145876}"/>
                  </a:ext>
                </a:extLst>
              </p:cNvPr>
              <p:cNvSpPr/>
              <p:nvPr/>
            </p:nvSpPr>
            <p:spPr>
              <a:xfrm>
                <a:off x="3017515" y="2384535"/>
                <a:ext cx="1634910" cy="414367"/>
              </a:xfrm>
              <a:custGeom>
                <a:avLst/>
                <a:gdLst/>
                <a:ahLst/>
                <a:cxnLst/>
                <a:rect l="l" t="t" r="r" b="b"/>
                <a:pathLst>
                  <a:path w="75664" h="19177" extrusionOk="0">
                    <a:moveTo>
                      <a:pt x="43490" y="1048"/>
                    </a:moveTo>
                    <a:cubicBezTo>
                      <a:pt x="44548" y="1048"/>
                      <a:pt x="45610" y="1054"/>
                      <a:pt x="46677" y="1062"/>
                    </a:cubicBezTo>
                    <a:cubicBezTo>
                      <a:pt x="47990" y="1071"/>
                      <a:pt x="49307" y="1084"/>
                      <a:pt x="50638" y="1097"/>
                    </a:cubicBezTo>
                    <a:cubicBezTo>
                      <a:pt x="67135" y="1232"/>
                      <a:pt x="71515" y="10123"/>
                      <a:pt x="73422" y="12485"/>
                    </a:cubicBezTo>
                    <a:cubicBezTo>
                      <a:pt x="75325" y="14844"/>
                      <a:pt x="73422" y="15342"/>
                      <a:pt x="73422" y="15342"/>
                    </a:cubicBezTo>
                    <a:lnTo>
                      <a:pt x="53060" y="16210"/>
                    </a:lnTo>
                    <a:lnTo>
                      <a:pt x="47457" y="16451"/>
                    </a:lnTo>
                    <a:lnTo>
                      <a:pt x="4687" y="18278"/>
                    </a:lnTo>
                    <a:lnTo>
                      <a:pt x="4687" y="11625"/>
                    </a:lnTo>
                    <a:cubicBezTo>
                      <a:pt x="16715" y="2053"/>
                      <a:pt x="29685" y="1048"/>
                      <a:pt x="43490" y="1048"/>
                    </a:cubicBezTo>
                    <a:close/>
                    <a:moveTo>
                      <a:pt x="44703" y="0"/>
                    </a:moveTo>
                    <a:cubicBezTo>
                      <a:pt x="38246" y="0"/>
                      <a:pt x="28584" y="402"/>
                      <a:pt x="20690" y="2183"/>
                    </a:cubicBezTo>
                    <a:cubicBezTo>
                      <a:pt x="14590" y="3562"/>
                      <a:pt x="6955" y="8435"/>
                      <a:pt x="1165" y="12663"/>
                    </a:cubicBezTo>
                    <a:lnTo>
                      <a:pt x="0" y="19173"/>
                    </a:lnTo>
                    <a:lnTo>
                      <a:pt x="0" y="19177"/>
                    </a:lnTo>
                    <a:lnTo>
                      <a:pt x="53146" y="16944"/>
                    </a:lnTo>
                    <a:lnTo>
                      <a:pt x="74150" y="16062"/>
                    </a:lnTo>
                    <a:cubicBezTo>
                      <a:pt x="75093" y="16022"/>
                      <a:pt x="75664" y="15001"/>
                      <a:pt x="75211" y="14177"/>
                    </a:cubicBezTo>
                    <a:cubicBezTo>
                      <a:pt x="67518" y="207"/>
                      <a:pt x="56048" y="447"/>
                      <a:pt x="50778" y="141"/>
                    </a:cubicBezTo>
                    <a:cubicBezTo>
                      <a:pt x="49566" y="71"/>
                      <a:pt x="47418" y="0"/>
                      <a:pt x="447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5416;p74">
                <a:extLst>
                  <a:ext uri="{FF2B5EF4-FFF2-40B4-BE49-F238E27FC236}">
                    <a16:creationId xmlns:a16="http://schemas.microsoft.com/office/drawing/2014/main" id="{41E9737A-17F7-B693-0352-189BF94A6C30}"/>
                  </a:ext>
                </a:extLst>
              </p:cNvPr>
              <p:cNvSpPr/>
              <p:nvPr/>
            </p:nvSpPr>
            <p:spPr>
              <a:xfrm>
                <a:off x="4542713" y="2352705"/>
                <a:ext cx="456221" cy="377094"/>
              </a:xfrm>
              <a:custGeom>
                <a:avLst/>
                <a:gdLst/>
                <a:ahLst/>
                <a:cxnLst/>
                <a:rect l="l" t="t" r="r" b="b"/>
                <a:pathLst>
                  <a:path w="21114" h="17452" extrusionOk="0">
                    <a:moveTo>
                      <a:pt x="1" y="0"/>
                    </a:moveTo>
                    <a:lnTo>
                      <a:pt x="1" y="1903"/>
                    </a:lnTo>
                    <a:cubicBezTo>
                      <a:pt x="1" y="1903"/>
                      <a:pt x="9875" y="6103"/>
                      <a:pt x="17423" y="17452"/>
                    </a:cubicBezTo>
                    <a:lnTo>
                      <a:pt x="21113" y="17452"/>
                    </a:lnTo>
                    <a:cubicBezTo>
                      <a:pt x="17201" y="11946"/>
                      <a:pt x="9438" y="171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5417;p74">
                <a:extLst>
                  <a:ext uri="{FF2B5EF4-FFF2-40B4-BE49-F238E27FC236}">
                    <a16:creationId xmlns:a16="http://schemas.microsoft.com/office/drawing/2014/main" id="{A083B2A6-C277-8145-5610-6C8FB693A6F8}"/>
                  </a:ext>
                </a:extLst>
              </p:cNvPr>
              <p:cNvSpPr/>
              <p:nvPr/>
            </p:nvSpPr>
            <p:spPr>
              <a:xfrm>
                <a:off x="2924530" y="2750658"/>
                <a:ext cx="1284804" cy="703022"/>
              </a:xfrm>
              <a:custGeom>
                <a:avLst/>
                <a:gdLst/>
                <a:ahLst/>
                <a:cxnLst/>
                <a:rect l="l" t="t" r="r" b="b"/>
                <a:pathLst>
                  <a:path w="59461" h="32536" extrusionOk="0">
                    <a:moveTo>
                      <a:pt x="56202" y="8203"/>
                    </a:moveTo>
                    <a:cubicBezTo>
                      <a:pt x="56647" y="8203"/>
                      <a:pt x="57009" y="8566"/>
                      <a:pt x="57009" y="9010"/>
                    </a:cubicBezTo>
                    <a:cubicBezTo>
                      <a:pt x="57009" y="9450"/>
                      <a:pt x="56647" y="9812"/>
                      <a:pt x="56202" y="9812"/>
                    </a:cubicBezTo>
                    <a:lnTo>
                      <a:pt x="47035" y="9812"/>
                    </a:lnTo>
                    <a:cubicBezTo>
                      <a:pt x="46595" y="9812"/>
                      <a:pt x="46233" y="9451"/>
                      <a:pt x="46233" y="9010"/>
                    </a:cubicBezTo>
                    <a:cubicBezTo>
                      <a:pt x="46233" y="8566"/>
                      <a:pt x="46594" y="8203"/>
                      <a:pt x="47035" y="8203"/>
                    </a:cubicBezTo>
                    <a:close/>
                    <a:moveTo>
                      <a:pt x="57449" y="1"/>
                    </a:moveTo>
                    <a:lnTo>
                      <a:pt x="4303" y="2234"/>
                    </a:lnTo>
                    <a:cubicBezTo>
                      <a:pt x="4220" y="2545"/>
                      <a:pt x="1" y="18634"/>
                      <a:pt x="5333" y="32536"/>
                    </a:cubicBezTo>
                    <a:lnTo>
                      <a:pt x="47275" y="32536"/>
                    </a:lnTo>
                    <a:cubicBezTo>
                      <a:pt x="47275" y="32536"/>
                      <a:pt x="53418" y="32252"/>
                      <a:pt x="56445" y="26995"/>
                    </a:cubicBezTo>
                    <a:cubicBezTo>
                      <a:pt x="56786" y="26405"/>
                      <a:pt x="57083" y="25760"/>
                      <a:pt x="57331" y="25039"/>
                    </a:cubicBezTo>
                    <a:cubicBezTo>
                      <a:pt x="59461" y="18857"/>
                      <a:pt x="57912" y="3939"/>
                      <a:pt x="57449" y="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5418;p74">
                <a:extLst>
                  <a:ext uri="{FF2B5EF4-FFF2-40B4-BE49-F238E27FC236}">
                    <a16:creationId xmlns:a16="http://schemas.microsoft.com/office/drawing/2014/main" id="{D94D1E6A-F586-A46E-0B9F-1B564E20DEE9}"/>
                  </a:ext>
                </a:extLst>
              </p:cNvPr>
              <p:cNvSpPr/>
              <p:nvPr/>
            </p:nvSpPr>
            <p:spPr>
              <a:xfrm>
                <a:off x="4026160" y="2407484"/>
                <a:ext cx="137942" cy="332518"/>
              </a:xfrm>
              <a:custGeom>
                <a:avLst/>
                <a:gdLst/>
                <a:ahLst/>
                <a:cxnLst/>
                <a:rect l="l" t="t" r="r" b="b"/>
                <a:pathLst>
                  <a:path w="6384" h="15389" extrusionOk="0">
                    <a:moveTo>
                      <a:pt x="1" y="0"/>
                    </a:moveTo>
                    <a:lnTo>
                      <a:pt x="781" y="15389"/>
                    </a:lnTo>
                    <a:lnTo>
                      <a:pt x="6384" y="15148"/>
                    </a:lnTo>
                    <a:cubicBezTo>
                      <a:pt x="6361" y="14996"/>
                      <a:pt x="6352" y="14917"/>
                      <a:pt x="6352" y="14917"/>
                    </a:cubicBezTo>
                    <a:lnTo>
                      <a:pt x="3962" y="35"/>
                    </a:lnTo>
                    <a:cubicBezTo>
                      <a:pt x="2631" y="22"/>
                      <a:pt x="1314" y="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5419;p74">
                <a:extLst>
                  <a:ext uri="{FF2B5EF4-FFF2-40B4-BE49-F238E27FC236}">
                    <a16:creationId xmlns:a16="http://schemas.microsoft.com/office/drawing/2014/main" id="{E5C3D16E-F7F6-C011-4D45-814F8735F24B}"/>
                  </a:ext>
                </a:extLst>
              </p:cNvPr>
              <p:cNvSpPr/>
              <p:nvPr/>
            </p:nvSpPr>
            <p:spPr>
              <a:xfrm>
                <a:off x="2062354" y="2402751"/>
                <a:ext cx="3198429" cy="1154597"/>
              </a:xfrm>
              <a:custGeom>
                <a:avLst/>
                <a:gdLst/>
                <a:ahLst/>
                <a:cxnLst/>
                <a:rect l="l" t="t" r="r" b="b"/>
                <a:pathLst>
                  <a:path w="148024" h="53435" extrusionOk="0">
                    <a:moveTo>
                      <a:pt x="59485" y="1"/>
                    </a:moveTo>
                    <a:lnTo>
                      <a:pt x="59485" y="1"/>
                    </a:lnTo>
                    <a:cubicBezTo>
                      <a:pt x="58080" y="642"/>
                      <a:pt x="56540" y="1414"/>
                      <a:pt x="54917" y="2279"/>
                    </a:cubicBezTo>
                    <a:lnTo>
                      <a:pt x="32735" y="18282"/>
                    </a:lnTo>
                    <a:lnTo>
                      <a:pt x="26239" y="17916"/>
                    </a:lnTo>
                    <a:lnTo>
                      <a:pt x="26239" y="17911"/>
                    </a:lnTo>
                    <a:cubicBezTo>
                      <a:pt x="25349" y="18225"/>
                      <a:pt x="24607" y="18400"/>
                      <a:pt x="24054" y="18404"/>
                    </a:cubicBezTo>
                    <a:cubicBezTo>
                      <a:pt x="24054" y="18404"/>
                      <a:pt x="5597" y="20372"/>
                      <a:pt x="0" y="28570"/>
                    </a:cubicBezTo>
                    <a:lnTo>
                      <a:pt x="1143" y="28570"/>
                    </a:lnTo>
                    <a:cubicBezTo>
                      <a:pt x="1296" y="28400"/>
                      <a:pt x="1452" y="28229"/>
                      <a:pt x="1622" y="28059"/>
                    </a:cubicBezTo>
                    <a:cubicBezTo>
                      <a:pt x="3141" y="26540"/>
                      <a:pt x="4853" y="25637"/>
                      <a:pt x="6011" y="25637"/>
                    </a:cubicBezTo>
                    <a:cubicBezTo>
                      <a:pt x="6420" y="25637"/>
                      <a:pt x="6760" y="25749"/>
                      <a:pt x="6997" y="25987"/>
                    </a:cubicBezTo>
                    <a:cubicBezTo>
                      <a:pt x="7504" y="26493"/>
                      <a:pt x="7443" y="27457"/>
                      <a:pt x="6937" y="28570"/>
                    </a:cubicBezTo>
                    <a:lnTo>
                      <a:pt x="21836" y="26588"/>
                    </a:lnTo>
                    <a:cubicBezTo>
                      <a:pt x="23430" y="26380"/>
                      <a:pt x="24938" y="25764"/>
                      <a:pt x="26225" y="24804"/>
                    </a:cubicBezTo>
                    <a:lnTo>
                      <a:pt x="42919" y="12356"/>
                    </a:lnTo>
                    <a:lnTo>
                      <a:pt x="59485" y="1"/>
                    </a:lnTo>
                    <a:close/>
                    <a:moveTo>
                      <a:pt x="103037" y="44268"/>
                    </a:moveTo>
                    <a:cubicBezTo>
                      <a:pt x="103486" y="44268"/>
                      <a:pt x="103857" y="44635"/>
                      <a:pt x="103857" y="45084"/>
                    </a:cubicBezTo>
                    <a:cubicBezTo>
                      <a:pt x="103857" y="45534"/>
                      <a:pt x="103486" y="45903"/>
                      <a:pt x="103037" y="45903"/>
                    </a:cubicBezTo>
                    <a:lnTo>
                      <a:pt x="97413" y="45903"/>
                    </a:lnTo>
                    <a:cubicBezTo>
                      <a:pt x="96963" y="45903"/>
                      <a:pt x="96597" y="45534"/>
                      <a:pt x="96597" y="45084"/>
                    </a:cubicBezTo>
                    <a:cubicBezTo>
                      <a:pt x="96597" y="44635"/>
                      <a:pt x="96963" y="44268"/>
                      <a:pt x="97413" y="44268"/>
                    </a:cubicBezTo>
                    <a:close/>
                    <a:moveTo>
                      <a:pt x="128237" y="26706"/>
                    </a:moveTo>
                    <a:cubicBezTo>
                      <a:pt x="108456" y="26706"/>
                      <a:pt x="106641" y="43095"/>
                      <a:pt x="106641" y="43095"/>
                    </a:cubicBezTo>
                    <a:lnTo>
                      <a:pt x="96343" y="43095"/>
                    </a:lnTo>
                    <a:cubicBezTo>
                      <a:pt x="93316" y="48352"/>
                      <a:pt x="87173" y="48636"/>
                      <a:pt x="87173" y="48636"/>
                    </a:cubicBezTo>
                    <a:lnTo>
                      <a:pt x="41535" y="48636"/>
                    </a:lnTo>
                    <a:cubicBezTo>
                      <a:pt x="41609" y="50506"/>
                      <a:pt x="41474" y="51742"/>
                      <a:pt x="41474" y="51742"/>
                    </a:cubicBezTo>
                    <a:cubicBezTo>
                      <a:pt x="41474" y="51742"/>
                      <a:pt x="69750" y="51783"/>
                      <a:pt x="89300" y="51783"/>
                    </a:cubicBezTo>
                    <a:cubicBezTo>
                      <a:pt x="99076" y="51783"/>
                      <a:pt x="106669" y="51772"/>
                      <a:pt x="107456" y="51742"/>
                    </a:cubicBezTo>
                    <a:cubicBezTo>
                      <a:pt x="109816" y="51650"/>
                      <a:pt x="111199" y="47868"/>
                      <a:pt x="111199" y="47868"/>
                    </a:cubicBezTo>
                    <a:lnTo>
                      <a:pt x="111212" y="47868"/>
                    </a:lnTo>
                    <a:cubicBezTo>
                      <a:pt x="111401" y="41122"/>
                      <a:pt x="114009" y="31873"/>
                      <a:pt x="126759" y="31326"/>
                    </a:cubicBezTo>
                    <a:cubicBezTo>
                      <a:pt x="127131" y="31310"/>
                      <a:pt x="127495" y="31303"/>
                      <a:pt x="127851" y="31303"/>
                    </a:cubicBezTo>
                    <a:cubicBezTo>
                      <a:pt x="146811" y="31303"/>
                      <a:pt x="143125" y="53434"/>
                      <a:pt x="143125" y="53434"/>
                    </a:cubicBezTo>
                    <a:lnTo>
                      <a:pt x="143129" y="53430"/>
                    </a:lnTo>
                    <a:cubicBezTo>
                      <a:pt x="145175" y="51611"/>
                      <a:pt x="146413" y="49185"/>
                      <a:pt x="147138" y="46658"/>
                    </a:cubicBezTo>
                    <a:lnTo>
                      <a:pt x="147134" y="46658"/>
                    </a:lnTo>
                    <a:cubicBezTo>
                      <a:pt x="147134" y="46658"/>
                      <a:pt x="148024" y="26706"/>
                      <a:pt x="128237" y="267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5420;p74">
                <a:extLst>
                  <a:ext uri="{FF2B5EF4-FFF2-40B4-BE49-F238E27FC236}">
                    <a16:creationId xmlns:a16="http://schemas.microsoft.com/office/drawing/2014/main" id="{7EFAD5C3-9A16-A1CA-4015-B547A9C9156B}"/>
                  </a:ext>
                </a:extLst>
              </p:cNvPr>
              <p:cNvSpPr/>
              <p:nvPr/>
            </p:nvSpPr>
            <p:spPr>
              <a:xfrm>
                <a:off x="1904151" y="2324440"/>
                <a:ext cx="3375956" cy="1258550"/>
              </a:xfrm>
              <a:custGeom>
                <a:avLst/>
                <a:gdLst/>
                <a:ahLst/>
                <a:cxnLst/>
                <a:rect l="l" t="t" r="r" b="b"/>
                <a:pathLst>
                  <a:path w="156240" h="58246" extrusionOk="0">
                    <a:moveTo>
                      <a:pt x="41789" y="29699"/>
                    </a:moveTo>
                    <a:cubicBezTo>
                      <a:pt x="42539" y="29699"/>
                      <a:pt x="43149" y="30074"/>
                      <a:pt x="43149" y="30536"/>
                    </a:cubicBezTo>
                    <a:cubicBezTo>
                      <a:pt x="43149" y="30999"/>
                      <a:pt x="42539" y="31374"/>
                      <a:pt x="41789" y="31374"/>
                    </a:cubicBezTo>
                    <a:cubicBezTo>
                      <a:pt x="41034" y="31374"/>
                      <a:pt x="40427" y="30999"/>
                      <a:pt x="40427" y="30536"/>
                    </a:cubicBezTo>
                    <a:cubicBezTo>
                      <a:pt x="40427" y="30074"/>
                      <a:pt x="41034" y="29699"/>
                      <a:pt x="41789" y="29699"/>
                    </a:cubicBezTo>
                    <a:close/>
                    <a:moveTo>
                      <a:pt x="7759" y="38673"/>
                    </a:moveTo>
                    <a:cubicBezTo>
                      <a:pt x="8346" y="38673"/>
                      <a:pt x="8886" y="38884"/>
                      <a:pt x="9249" y="39310"/>
                    </a:cubicBezTo>
                    <a:cubicBezTo>
                      <a:pt x="10017" y="40209"/>
                      <a:pt x="9720" y="41713"/>
                      <a:pt x="8591" y="42678"/>
                    </a:cubicBezTo>
                    <a:cubicBezTo>
                      <a:pt x="7999" y="43183"/>
                      <a:pt x="7296" y="43438"/>
                      <a:pt x="6651" y="43438"/>
                    </a:cubicBezTo>
                    <a:cubicBezTo>
                      <a:pt x="6064" y="43438"/>
                      <a:pt x="5525" y="43227"/>
                      <a:pt x="5161" y="42800"/>
                    </a:cubicBezTo>
                    <a:cubicBezTo>
                      <a:pt x="4393" y="41906"/>
                      <a:pt x="4690" y="40396"/>
                      <a:pt x="5820" y="39433"/>
                    </a:cubicBezTo>
                    <a:cubicBezTo>
                      <a:pt x="6411" y="38928"/>
                      <a:pt x="7114" y="38673"/>
                      <a:pt x="7759" y="38673"/>
                    </a:cubicBezTo>
                    <a:close/>
                    <a:moveTo>
                      <a:pt x="93813" y="0"/>
                    </a:moveTo>
                    <a:cubicBezTo>
                      <a:pt x="83966" y="0"/>
                      <a:pt x="74440" y="615"/>
                      <a:pt x="69219" y="2604"/>
                    </a:cubicBezTo>
                    <a:cubicBezTo>
                      <a:pt x="68472" y="2887"/>
                      <a:pt x="67670" y="3228"/>
                      <a:pt x="66814" y="3621"/>
                    </a:cubicBezTo>
                    <a:lnTo>
                      <a:pt x="66806" y="3625"/>
                    </a:lnTo>
                    <a:lnTo>
                      <a:pt x="50240" y="15980"/>
                    </a:lnTo>
                    <a:lnTo>
                      <a:pt x="33547" y="28429"/>
                    </a:lnTo>
                    <a:cubicBezTo>
                      <a:pt x="32260" y="29388"/>
                      <a:pt x="30751" y="30004"/>
                      <a:pt x="29157" y="30214"/>
                    </a:cubicBezTo>
                    <a:lnTo>
                      <a:pt x="14258" y="32194"/>
                    </a:lnTo>
                    <a:cubicBezTo>
                      <a:pt x="13853" y="33084"/>
                      <a:pt x="13162" y="34066"/>
                      <a:pt x="12246" y="34982"/>
                    </a:cubicBezTo>
                    <a:cubicBezTo>
                      <a:pt x="10727" y="36501"/>
                      <a:pt x="9015" y="37405"/>
                      <a:pt x="7859" y="37405"/>
                    </a:cubicBezTo>
                    <a:cubicBezTo>
                      <a:pt x="7451" y="37405"/>
                      <a:pt x="7112" y="37292"/>
                      <a:pt x="6875" y="37054"/>
                    </a:cubicBezTo>
                    <a:cubicBezTo>
                      <a:pt x="6038" y="36217"/>
                      <a:pt x="6749" y="34122"/>
                      <a:pt x="8464" y="32194"/>
                    </a:cubicBezTo>
                    <a:lnTo>
                      <a:pt x="7321" y="32194"/>
                    </a:lnTo>
                    <a:cubicBezTo>
                      <a:pt x="7321" y="32194"/>
                      <a:pt x="5781" y="33886"/>
                      <a:pt x="4480" y="34341"/>
                    </a:cubicBezTo>
                    <a:cubicBezTo>
                      <a:pt x="4480" y="34341"/>
                      <a:pt x="3752" y="35654"/>
                      <a:pt x="2875" y="37455"/>
                    </a:cubicBezTo>
                    <a:cubicBezTo>
                      <a:pt x="1998" y="39257"/>
                      <a:pt x="2360" y="42312"/>
                      <a:pt x="1391" y="42839"/>
                    </a:cubicBezTo>
                    <a:cubicBezTo>
                      <a:pt x="427" y="43371"/>
                      <a:pt x="365" y="44096"/>
                      <a:pt x="183" y="45445"/>
                    </a:cubicBezTo>
                    <a:cubicBezTo>
                      <a:pt x="0" y="46788"/>
                      <a:pt x="998" y="48345"/>
                      <a:pt x="998" y="48345"/>
                    </a:cubicBezTo>
                    <a:lnTo>
                      <a:pt x="4533" y="58096"/>
                    </a:lnTo>
                    <a:lnTo>
                      <a:pt x="4533" y="58101"/>
                    </a:lnTo>
                    <a:cubicBezTo>
                      <a:pt x="4981" y="58150"/>
                      <a:pt x="5462" y="58201"/>
                      <a:pt x="5959" y="58245"/>
                    </a:cubicBezTo>
                    <a:lnTo>
                      <a:pt x="5977" y="58245"/>
                    </a:lnTo>
                    <a:cubicBezTo>
                      <a:pt x="6030" y="58245"/>
                      <a:pt x="6083" y="58245"/>
                      <a:pt x="6136" y="58245"/>
                    </a:cubicBezTo>
                    <a:cubicBezTo>
                      <a:pt x="12394" y="58245"/>
                      <a:pt x="14127" y="55405"/>
                      <a:pt x="14127" y="55405"/>
                    </a:cubicBezTo>
                    <a:cubicBezTo>
                      <a:pt x="14127" y="55405"/>
                      <a:pt x="12765" y="34371"/>
                      <a:pt x="31915" y="34371"/>
                    </a:cubicBezTo>
                    <a:cubicBezTo>
                      <a:pt x="46418" y="34371"/>
                      <a:pt x="48634" y="46413"/>
                      <a:pt x="48856" y="52260"/>
                    </a:cubicBezTo>
                    <a:lnTo>
                      <a:pt x="52552" y="52260"/>
                    </a:lnTo>
                    <a:cubicBezTo>
                      <a:pt x="47220" y="38358"/>
                      <a:pt x="51439" y="22267"/>
                      <a:pt x="51522" y="21958"/>
                    </a:cubicBezTo>
                    <a:lnTo>
                      <a:pt x="51522" y="21958"/>
                    </a:lnTo>
                    <a:lnTo>
                      <a:pt x="45156" y="22224"/>
                    </a:lnTo>
                    <a:cubicBezTo>
                      <a:pt x="45151" y="22224"/>
                      <a:pt x="45146" y="22224"/>
                      <a:pt x="45141" y="22224"/>
                    </a:cubicBezTo>
                    <a:cubicBezTo>
                      <a:pt x="44789" y="22224"/>
                      <a:pt x="44620" y="21785"/>
                      <a:pt x="44895" y="21552"/>
                    </a:cubicBezTo>
                    <a:cubicBezTo>
                      <a:pt x="46025" y="20605"/>
                      <a:pt x="48159" y="18843"/>
                      <a:pt x="50855" y="16806"/>
                    </a:cubicBezTo>
                    <a:cubicBezTo>
                      <a:pt x="51439" y="16364"/>
                      <a:pt x="52055" y="15907"/>
                      <a:pt x="52687" y="15444"/>
                    </a:cubicBezTo>
                    <a:cubicBezTo>
                      <a:pt x="58477" y="11216"/>
                      <a:pt x="66112" y="6343"/>
                      <a:pt x="72212" y="4964"/>
                    </a:cubicBezTo>
                    <a:cubicBezTo>
                      <a:pt x="80102" y="3183"/>
                      <a:pt x="89758" y="2780"/>
                      <a:pt x="96215" y="2780"/>
                    </a:cubicBezTo>
                    <a:cubicBezTo>
                      <a:pt x="98935" y="2780"/>
                      <a:pt x="101087" y="2852"/>
                      <a:pt x="102300" y="2922"/>
                    </a:cubicBezTo>
                    <a:cubicBezTo>
                      <a:pt x="107570" y="3227"/>
                      <a:pt x="119040" y="2988"/>
                      <a:pt x="126733" y="16958"/>
                    </a:cubicBezTo>
                    <a:cubicBezTo>
                      <a:pt x="127186" y="17782"/>
                      <a:pt x="126615" y="18803"/>
                      <a:pt x="125672" y="18842"/>
                    </a:cubicBezTo>
                    <a:lnTo>
                      <a:pt x="104668" y="19723"/>
                    </a:lnTo>
                    <a:cubicBezTo>
                      <a:pt x="105131" y="23663"/>
                      <a:pt x="106680" y="38581"/>
                      <a:pt x="104550" y="44763"/>
                    </a:cubicBezTo>
                    <a:cubicBezTo>
                      <a:pt x="104302" y="45484"/>
                      <a:pt x="104005" y="46129"/>
                      <a:pt x="103664" y="46718"/>
                    </a:cubicBezTo>
                    <a:lnTo>
                      <a:pt x="113962" y="46718"/>
                    </a:lnTo>
                    <a:cubicBezTo>
                      <a:pt x="113962" y="46718"/>
                      <a:pt x="115777" y="30330"/>
                      <a:pt x="135559" y="30330"/>
                    </a:cubicBezTo>
                    <a:cubicBezTo>
                      <a:pt x="155345" y="30330"/>
                      <a:pt x="154455" y="50282"/>
                      <a:pt x="154455" y="50282"/>
                    </a:cubicBezTo>
                    <a:lnTo>
                      <a:pt x="154459" y="50282"/>
                    </a:lnTo>
                    <a:cubicBezTo>
                      <a:pt x="156239" y="44074"/>
                      <a:pt x="154935" y="37251"/>
                      <a:pt x="154935" y="37251"/>
                    </a:cubicBezTo>
                    <a:lnTo>
                      <a:pt x="154939" y="37251"/>
                    </a:lnTo>
                    <a:cubicBezTo>
                      <a:pt x="154294" y="35872"/>
                      <a:pt x="153622" y="34973"/>
                      <a:pt x="153255" y="34868"/>
                    </a:cubicBezTo>
                    <a:lnTo>
                      <a:pt x="151780" y="34746"/>
                    </a:lnTo>
                    <a:cubicBezTo>
                      <a:pt x="151344" y="34707"/>
                      <a:pt x="150939" y="34506"/>
                      <a:pt x="150645" y="34180"/>
                    </a:cubicBezTo>
                    <a:cubicBezTo>
                      <a:pt x="149416" y="32809"/>
                      <a:pt x="146100" y="29083"/>
                      <a:pt x="145703" y="28380"/>
                    </a:cubicBezTo>
                    <a:cubicBezTo>
                      <a:pt x="145214" y="27517"/>
                      <a:pt x="142365" y="24807"/>
                      <a:pt x="143979" y="24680"/>
                    </a:cubicBezTo>
                    <a:cubicBezTo>
                      <a:pt x="144046" y="24675"/>
                      <a:pt x="144119" y="24673"/>
                      <a:pt x="144197" y="24673"/>
                    </a:cubicBezTo>
                    <a:cubicBezTo>
                      <a:pt x="145979" y="24673"/>
                      <a:pt x="150328" y="25954"/>
                      <a:pt x="150328" y="25954"/>
                    </a:cubicBezTo>
                    <a:cubicBezTo>
                      <a:pt x="150105" y="25493"/>
                      <a:pt x="149882" y="25109"/>
                      <a:pt x="149673" y="24843"/>
                    </a:cubicBezTo>
                    <a:cubicBezTo>
                      <a:pt x="148129" y="22887"/>
                      <a:pt x="147631" y="24296"/>
                      <a:pt x="145589" y="22028"/>
                    </a:cubicBezTo>
                    <a:cubicBezTo>
                      <a:pt x="145152" y="21544"/>
                      <a:pt x="144341" y="20349"/>
                      <a:pt x="143215" y="18760"/>
                    </a:cubicBezTo>
                    <a:lnTo>
                      <a:pt x="139525" y="18760"/>
                    </a:lnTo>
                    <a:cubicBezTo>
                      <a:pt x="131977" y="7413"/>
                      <a:pt x="122103" y="3211"/>
                      <a:pt x="122103" y="3211"/>
                    </a:cubicBezTo>
                    <a:lnTo>
                      <a:pt x="122103" y="1308"/>
                    </a:lnTo>
                    <a:lnTo>
                      <a:pt x="122103" y="1304"/>
                    </a:lnTo>
                    <a:cubicBezTo>
                      <a:pt x="121562" y="1203"/>
                      <a:pt x="121017" y="1133"/>
                      <a:pt x="120463" y="1094"/>
                    </a:cubicBezTo>
                    <a:cubicBezTo>
                      <a:pt x="113967" y="624"/>
                      <a:pt x="103728" y="0"/>
                      <a:pt x="93813"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5421;p74">
                <a:extLst>
                  <a:ext uri="{FF2B5EF4-FFF2-40B4-BE49-F238E27FC236}">
                    <a16:creationId xmlns:a16="http://schemas.microsoft.com/office/drawing/2014/main" id="{06D1E914-581A-7A34-0271-9D61DD3DDE9C}"/>
                  </a:ext>
                </a:extLst>
              </p:cNvPr>
              <p:cNvSpPr/>
              <p:nvPr/>
            </p:nvSpPr>
            <p:spPr>
              <a:xfrm>
                <a:off x="2392223" y="3257975"/>
                <a:ext cx="2622632" cy="408339"/>
              </a:xfrm>
              <a:custGeom>
                <a:avLst/>
                <a:gdLst/>
                <a:ahLst/>
                <a:cxnLst/>
                <a:rect l="l" t="t" r="r" b="b"/>
                <a:pathLst>
                  <a:path w="121376" h="18898" extrusionOk="0">
                    <a:moveTo>
                      <a:pt x="113252" y="743"/>
                    </a:moveTo>
                    <a:cubicBezTo>
                      <a:pt x="113971" y="743"/>
                      <a:pt x="114503" y="1414"/>
                      <a:pt x="114342" y="2113"/>
                    </a:cubicBezTo>
                    <a:lnTo>
                      <a:pt x="113165" y="7235"/>
                    </a:lnTo>
                    <a:cubicBezTo>
                      <a:pt x="113216" y="7257"/>
                      <a:pt x="113270" y="7278"/>
                      <a:pt x="113317" y="7300"/>
                    </a:cubicBezTo>
                    <a:lnTo>
                      <a:pt x="116127" y="2810"/>
                    </a:lnTo>
                    <a:cubicBezTo>
                      <a:pt x="116341" y="2465"/>
                      <a:pt x="116707" y="2284"/>
                      <a:pt x="117076" y="2284"/>
                    </a:cubicBezTo>
                    <a:cubicBezTo>
                      <a:pt x="117360" y="2284"/>
                      <a:pt x="117646" y="2391"/>
                      <a:pt x="117868" y="2613"/>
                    </a:cubicBezTo>
                    <a:lnTo>
                      <a:pt x="118941" y="3688"/>
                    </a:lnTo>
                    <a:cubicBezTo>
                      <a:pt x="119452" y="4194"/>
                      <a:pt x="119351" y="5044"/>
                      <a:pt x="118746" y="5423"/>
                    </a:cubicBezTo>
                    <a:lnTo>
                      <a:pt x="114256" y="8238"/>
                    </a:lnTo>
                    <a:cubicBezTo>
                      <a:pt x="114282" y="8286"/>
                      <a:pt x="114299" y="8342"/>
                      <a:pt x="114321" y="8400"/>
                    </a:cubicBezTo>
                    <a:lnTo>
                      <a:pt x="119482" y="7208"/>
                    </a:lnTo>
                    <a:cubicBezTo>
                      <a:pt x="119567" y="7188"/>
                      <a:pt x="119652" y="7179"/>
                      <a:pt x="119735" y="7179"/>
                    </a:cubicBezTo>
                    <a:cubicBezTo>
                      <a:pt x="120336" y="7179"/>
                      <a:pt x="120848" y="7666"/>
                      <a:pt x="120848" y="8299"/>
                    </a:cubicBezTo>
                    <a:lnTo>
                      <a:pt x="120848" y="9818"/>
                    </a:lnTo>
                    <a:cubicBezTo>
                      <a:pt x="120848" y="10449"/>
                      <a:pt x="120337" y="10937"/>
                      <a:pt x="119737" y="10937"/>
                    </a:cubicBezTo>
                    <a:cubicBezTo>
                      <a:pt x="119653" y="10937"/>
                      <a:pt x="119568" y="10928"/>
                      <a:pt x="119482" y="10908"/>
                    </a:cubicBezTo>
                    <a:lnTo>
                      <a:pt x="114299" y="9717"/>
                    </a:lnTo>
                    <a:cubicBezTo>
                      <a:pt x="114285" y="9760"/>
                      <a:pt x="114268" y="9796"/>
                      <a:pt x="114250" y="9835"/>
                    </a:cubicBezTo>
                    <a:lnTo>
                      <a:pt x="118776" y="12662"/>
                    </a:lnTo>
                    <a:cubicBezTo>
                      <a:pt x="119381" y="13046"/>
                      <a:pt x="119477" y="13893"/>
                      <a:pt x="118967" y="14404"/>
                    </a:cubicBezTo>
                    <a:lnTo>
                      <a:pt x="117894" y="15476"/>
                    </a:lnTo>
                    <a:cubicBezTo>
                      <a:pt x="117674" y="15697"/>
                      <a:pt x="117389" y="15804"/>
                      <a:pt x="117105" y="15804"/>
                    </a:cubicBezTo>
                    <a:cubicBezTo>
                      <a:pt x="116736" y="15804"/>
                      <a:pt x="116370" y="15623"/>
                      <a:pt x="116153" y="15275"/>
                    </a:cubicBezTo>
                    <a:lnTo>
                      <a:pt x="113326" y="10755"/>
                    </a:lnTo>
                    <a:cubicBezTo>
                      <a:pt x="113268" y="10786"/>
                      <a:pt x="113203" y="10813"/>
                      <a:pt x="113133" y="10835"/>
                    </a:cubicBezTo>
                    <a:lnTo>
                      <a:pt x="114342" y="16088"/>
                    </a:lnTo>
                    <a:cubicBezTo>
                      <a:pt x="114503" y="16789"/>
                      <a:pt x="113971" y="17457"/>
                      <a:pt x="113251" y="17457"/>
                    </a:cubicBezTo>
                    <a:lnTo>
                      <a:pt x="111738" y="17457"/>
                    </a:lnTo>
                    <a:cubicBezTo>
                      <a:pt x="111018" y="17457"/>
                      <a:pt x="110486" y="16789"/>
                      <a:pt x="110647" y="16088"/>
                    </a:cubicBezTo>
                    <a:lnTo>
                      <a:pt x="111860" y="10813"/>
                    </a:lnTo>
                    <a:cubicBezTo>
                      <a:pt x="111811" y="10799"/>
                      <a:pt x="111760" y="10777"/>
                      <a:pt x="111711" y="10755"/>
                    </a:cubicBezTo>
                    <a:lnTo>
                      <a:pt x="108862" y="15307"/>
                    </a:lnTo>
                    <a:cubicBezTo>
                      <a:pt x="108645" y="15652"/>
                      <a:pt x="108280" y="15832"/>
                      <a:pt x="107911" y="15832"/>
                    </a:cubicBezTo>
                    <a:cubicBezTo>
                      <a:pt x="107628" y="15832"/>
                      <a:pt x="107344" y="15726"/>
                      <a:pt x="107122" y="15507"/>
                    </a:cubicBezTo>
                    <a:lnTo>
                      <a:pt x="106048" y="14434"/>
                    </a:lnTo>
                    <a:cubicBezTo>
                      <a:pt x="105542" y="13923"/>
                      <a:pt x="105634" y="13072"/>
                      <a:pt x="106245" y="12692"/>
                    </a:cubicBezTo>
                    <a:lnTo>
                      <a:pt x="110799" y="9839"/>
                    </a:lnTo>
                    <a:cubicBezTo>
                      <a:pt x="110778" y="9796"/>
                      <a:pt x="110760" y="9752"/>
                      <a:pt x="110743" y="9704"/>
                    </a:cubicBezTo>
                    <a:lnTo>
                      <a:pt x="105507" y="10908"/>
                    </a:lnTo>
                    <a:cubicBezTo>
                      <a:pt x="105422" y="10927"/>
                      <a:pt x="105337" y="10937"/>
                      <a:pt x="105254" y="10937"/>
                    </a:cubicBezTo>
                    <a:cubicBezTo>
                      <a:pt x="104652" y="10937"/>
                      <a:pt x="104137" y="10449"/>
                      <a:pt x="104137" y="9818"/>
                    </a:cubicBezTo>
                    <a:lnTo>
                      <a:pt x="104137" y="8299"/>
                    </a:lnTo>
                    <a:cubicBezTo>
                      <a:pt x="104137" y="7666"/>
                      <a:pt x="104652" y="7179"/>
                      <a:pt x="105254" y="7179"/>
                    </a:cubicBezTo>
                    <a:cubicBezTo>
                      <a:pt x="105337" y="7179"/>
                      <a:pt x="105422" y="7188"/>
                      <a:pt x="105507" y="7208"/>
                    </a:cubicBezTo>
                    <a:lnTo>
                      <a:pt x="110721" y="8413"/>
                    </a:lnTo>
                    <a:cubicBezTo>
                      <a:pt x="110743" y="8347"/>
                      <a:pt x="110769" y="8282"/>
                      <a:pt x="110795" y="8225"/>
                    </a:cubicBezTo>
                    <a:lnTo>
                      <a:pt x="106275" y="5393"/>
                    </a:lnTo>
                    <a:cubicBezTo>
                      <a:pt x="105664" y="5014"/>
                      <a:pt x="105569" y="4167"/>
                      <a:pt x="106080" y="3657"/>
                    </a:cubicBezTo>
                    <a:lnTo>
                      <a:pt x="107152" y="2583"/>
                    </a:lnTo>
                    <a:cubicBezTo>
                      <a:pt x="107372" y="2362"/>
                      <a:pt x="107656" y="2255"/>
                      <a:pt x="107940" y="2255"/>
                    </a:cubicBezTo>
                    <a:cubicBezTo>
                      <a:pt x="108309" y="2255"/>
                      <a:pt x="108676" y="2437"/>
                      <a:pt x="108894" y="2780"/>
                    </a:cubicBezTo>
                    <a:lnTo>
                      <a:pt x="111721" y="7304"/>
                    </a:lnTo>
                    <a:cubicBezTo>
                      <a:pt x="111751" y="7287"/>
                      <a:pt x="111790" y="7270"/>
                      <a:pt x="111830" y="7257"/>
                    </a:cubicBezTo>
                    <a:lnTo>
                      <a:pt x="110647" y="2113"/>
                    </a:lnTo>
                    <a:cubicBezTo>
                      <a:pt x="110486" y="1414"/>
                      <a:pt x="111018" y="743"/>
                      <a:pt x="111738" y="743"/>
                    </a:cubicBezTo>
                    <a:close/>
                    <a:moveTo>
                      <a:pt x="112313" y="1"/>
                    </a:moveTo>
                    <a:cubicBezTo>
                      <a:pt x="107318" y="1"/>
                      <a:pt x="103257" y="4063"/>
                      <a:pt x="103257" y="9059"/>
                    </a:cubicBezTo>
                    <a:cubicBezTo>
                      <a:pt x="103257" y="14054"/>
                      <a:pt x="107318" y="18121"/>
                      <a:pt x="112313" y="18121"/>
                    </a:cubicBezTo>
                    <a:cubicBezTo>
                      <a:pt x="117309" y="18121"/>
                      <a:pt x="121376" y="14054"/>
                      <a:pt x="121376" y="9059"/>
                    </a:cubicBezTo>
                    <a:cubicBezTo>
                      <a:pt x="121376" y="4063"/>
                      <a:pt x="117309" y="1"/>
                      <a:pt x="112313" y="1"/>
                    </a:cubicBezTo>
                    <a:close/>
                    <a:moveTo>
                      <a:pt x="10001" y="1519"/>
                    </a:moveTo>
                    <a:cubicBezTo>
                      <a:pt x="10717" y="1519"/>
                      <a:pt x="11253" y="2191"/>
                      <a:pt x="11092" y="2890"/>
                    </a:cubicBezTo>
                    <a:lnTo>
                      <a:pt x="9913" y="8012"/>
                    </a:lnTo>
                    <a:cubicBezTo>
                      <a:pt x="9966" y="8033"/>
                      <a:pt x="10018" y="8051"/>
                      <a:pt x="10067" y="8076"/>
                    </a:cubicBezTo>
                    <a:lnTo>
                      <a:pt x="12877" y="3587"/>
                    </a:lnTo>
                    <a:cubicBezTo>
                      <a:pt x="13092" y="3241"/>
                      <a:pt x="13456" y="3060"/>
                      <a:pt x="13825" y="3060"/>
                    </a:cubicBezTo>
                    <a:cubicBezTo>
                      <a:pt x="14108" y="3060"/>
                      <a:pt x="14394" y="3166"/>
                      <a:pt x="14617" y="3386"/>
                    </a:cubicBezTo>
                    <a:lnTo>
                      <a:pt x="15691" y="4460"/>
                    </a:lnTo>
                    <a:cubicBezTo>
                      <a:pt x="16196" y="4970"/>
                      <a:pt x="16101" y="5820"/>
                      <a:pt x="15490" y="6200"/>
                    </a:cubicBezTo>
                    <a:lnTo>
                      <a:pt x="11000" y="9010"/>
                    </a:lnTo>
                    <a:cubicBezTo>
                      <a:pt x="11026" y="9063"/>
                      <a:pt x="11048" y="9119"/>
                      <a:pt x="11069" y="9172"/>
                    </a:cubicBezTo>
                    <a:lnTo>
                      <a:pt x="16227" y="7984"/>
                    </a:lnTo>
                    <a:cubicBezTo>
                      <a:pt x="16313" y="7965"/>
                      <a:pt x="16397" y="7956"/>
                      <a:pt x="16481" y="7956"/>
                    </a:cubicBezTo>
                    <a:cubicBezTo>
                      <a:pt x="17082" y="7956"/>
                      <a:pt x="17596" y="8443"/>
                      <a:pt x="17596" y="9076"/>
                    </a:cubicBezTo>
                    <a:lnTo>
                      <a:pt x="17596" y="10594"/>
                    </a:lnTo>
                    <a:cubicBezTo>
                      <a:pt x="17596" y="11226"/>
                      <a:pt x="17082" y="11714"/>
                      <a:pt x="16482" y="11714"/>
                    </a:cubicBezTo>
                    <a:cubicBezTo>
                      <a:pt x="16398" y="11714"/>
                      <a:pt x="16313" y="11704"/>
                      <a:pt x="16227" y="11684"/>
                    </a:cubicBezTo>
                    <a:lnTo>
                      <a:pt x="11048" y="10494"/>
                    </a:lnTo>
                    <a:cubicBezTo>
                      <a:pt x="11030" y="10537"/>
                      <a:pt x="11013" y="10573"/>
                      <a:pt x="10996" y="10612"/>
                    </a:cubicBezTo>
                    <a:lnTo>
                      <a:pt x="15520" y="13439"/>
                    </a:lnTo>
                    <a:cubicBezTo>
                      <a:pt x="16131" y="13823"/>
                      <a:pt x="16223" y="14668"/>
                      <a:pt x="15717" y="15174"/>
                    </a:cubicBezTo>
                    <a:lnTo>
                      <a:pt x="14643" y="16249"/>
                    </a:lnTo>
                    <a:cubicBezTo>
                      <a:pt x="14421" y="16471"/>
                      <a:pt x="14135" y="16578"/>
                      <a:pt x="13852" y="16578"/>
                    </a:cubicBezTo>
                    <a:cubicBezTo>
                      <a:pt x="13484" y="16578"/>
                      <a:pt x="13120" y="16397"/>
                      <a:pt x="12903" y="16052"/>
                    </a:cubicBezTo>
                    <a:lnTo>
                      <a:pt x="10074" y="11532"/>
                    </a:lnTo>
                    <a:cubicBezTo>
                      <a:pt x="10014" y="11562"/>
                      <a:pt x="9952" y="11584"/>
                      <a:pt x="9883" y="11611"/>
                    </a:cubicBezTo>
                    <a:lnTo>
                      <a:pt x="11091" y="16864"/>
                    </a:lnTo>
                    <a:cubicBezTo>
                      <a:pt x="11253" y="17562"/>
                      <a:pt x="10717" y="18233"/>
                      <a:pt x="10001" y="18233"/>
                    </a:cubicBezTo>
                    <a:lnTo>
                      <a:pt x="8482" y="18233"/>
                    </a:lnTo>
                    <a:cubicBezTo>
                      <a:pt x="7762" y="18233"/>
                      <a:pt x="7230" y="17562"/>
                      <a:pt x="7392" y="16864"/>
                    </a:cubicBezTo>
                    <a:lnTo>
                      <a:pt x="8609" y="11588"/>
                    </a:lnTo>
                    <a:cubicBezTo>
                      <a:pt x="8557" y="11571"/>
                      <a:pt x="8508" y="11554"/>
                      <a:pt x="8461" y="11528"/>
                    </a:cubicBezTo>
                    <a:lnTo>
                      <a:pt x="5612" y="16083"/>
                    </a:lnTo>
                    <a:cubicBezTo>
                      <a:pt x="5395" y="16428"/>
                      <a:pt x="5029" y="16608"/>
                      <a:pt x="4661" y="16608"/>
                    </a:cubicBezTo>
                    <a:cubicBezTo>
                      <a:pt x="4377" y="16608"/>
                      <a:pt x="4091" y="16501"/>
                      <a:pt x="3871" y="16279"/>
                    </a:cubicBezTo>
                    <a:lnTo>
                      <a:pt x="2798" y="15206"/>
                    </a:lnTo>
                    <a:cubicBezTo>
                      <a:pt x="2287" y="14700"/>
                      <a:pt x="2382" y="13849"/>
                      <a:pt x="2993" y="13469"/>
                    </a:cubicBezTo>
                    <a:lnTo>
                      <a:pt x="7549" y="10616"/>
                    </a:lnTo>
                    <a:cubicBezTo>
                      <a:pt x="7523" y="10573"/>
                      <a:pt x="7509" y="10524"/>
                      <a:pt x="7492" y="10481"/>
                    </a:cubicBezTo>
                    <a:lnTo>
                      <a:pt x="2251" y="11684"/>
                    </a:lnTo>
                    <a:cubicBezTo>
                      <a:pt x="2167" y="11704"/>
                      <a:pt x="2082" y="11713"/>
                      <a:pt x="2000" y="11713"/>
                    </a:cubicBezTo>
                    <a:cubicBezTo>
                      <a:pt x="1402" y="11713"/>
                      <a:pt x="887" y="11226"/>
                      <a:pt x="887" y="10594"/>
                    </a:cubicBezTo>
                    <a:lnTo>
                      <a:pt x="887" y="9076"/>
                    </a:lnTo>
                    <a:cubicBezTo>
                      <a:pt x="887" y="8443"/>
                      <a:pt x="1402" y="7956"/>
                      <a:pt x="2000" y="7956"/>
                    </a:cubicBezTo>
                    <a:cubicBezTo>
                      <a:pt x="2082" y="7956"/>
                      <a:pt x="2167" y="7965"/>
                      <a:pt x="2251" y="7984"/>
                    </a:cubicBezTo>
                    <a:lnTo>
                      <a:pt x="7470" y="9185"/>
                    </a:lnTo>
                    <a:cubicBezTo>
                      <a:pt x="7492" y="9123"/>
                      <a:pt x="7519" y="9059"/>
                      <a:pt x="7545" y="9001"/>
                    </a:cubicBezTo>
                    <a:lnTo>
                      <a:pt x="3019" y="6170"/>
                    </a:lnTo>
                    <a:cubicBezTo>
                      <a:pt x="2414" y="5790"/>
                      <a:pt x="2318" y="4944"/>
                      <a:pt x="2828" y="4434"/>
                    </a:cubicBezTo>
                    <a:lnTo>
                      <a:pt x="3901" y="3360"/>
                    </a:lnTo>
                    <a:cubicBezTo>
                      <a:pt x="4121" y="3138"/>
                      <a:pt x="4406" y="3031"/>
                      <a:pt x="4690" y="3031"/>
                    </a:cubicBezTo>
                    <a:cubicBezTo>
                      <a:pt x="5058" y="3031"/>
                      <a:pt x="5423" y="3211"/>
                      <a:pt x="5638" y="3557"/>
                    </a:cubicBezTo>
                    <a:lnTo>
                      <a:pt x="8465" y="8081"/>
                    </a:lnTo>
                    <a:cubicBezTo>
                      <a:pt x="8500" y="8064"/>
                      <a:pt x="8540" y="8046"/>
                      <a:pt x="8579" y="8033"/>
                    </a:cubicBezTo>
                    <a:lnTo>
                      <a:pt x="7392" y="2890"/>
                    </a:lnTo>
                    <a:cubicBezTo>
                      <a:pt x="7230" y="2191"/>
                      <a:pt x="7763" y="1519"/>
                      <a:pt x="8482" y="1519"/>
                    </a:cubicBezTo>
                    <a:close/>
                    <a:moveTo>
                      <a:pt x="9063" y="773"/>
                    </a:moveTo>
                    <a:cubicBezTo>
                      <a:pt x="4068" y="773"/>
                      <a:pt x="1" y="4840"/>
                      <a:pt x="1" y="9835"/>
                    </a:cubicBezTo>
                    <a:cubicBezTo>
                      <a:pt x="1" y="14831"/>
                      <a:pt x="4068" y="18897"/>
                      <a:pt x="9063" y="18897"/>
                    </a:cubicBezTo>
                    <a:cubicBezTo>
                      <a:pt x="14059" y="18897"/>
                      <a:pt x="18126" y="14831"/>
                      <a:pt x="18126" y="9835"/>
                    </a:cubicBezTo>
                    <a:cubicBezTo>
                      <a:pt x="18126" y="4840"/>
                      <a:pt x="14059" y="773"/>
                      <a:pt x="9063" y="77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5422;p74">
                <a:extLst>
                  <a:ext uri="{FF2B5EF4-FFF2-40B4-BE49-F238E27FC236}">
                    <a16:creationId xmlns:a16="http://schemas.microsoft.com/office/drawing/2014/main" id="{5D0DA111-CB7F-4301-E464-17A742447178}"/>
                  </a:ext>
                </a:extLst>
              </p:cNvPr>
              <p:cNvSpPr/>
              <p:nvPr/>
            </p:nvSpPr>
            <p:spPr>
              <a:xfrm>
                <a:off x="2355941" y="3221585"/>
                <a:ext cx="2695298" cy="481005"/>
              </a:xfrm>
              <a:custGeom>
                <a:avLst/>
                <a:gdLst/>
                <a:ahLst/>
                <a:cxnLst/>
                <a:rect l="l" t="t" r="r" b="b"/>
                <a:pathLst>
                  <a:path w="124739" h="22261" extrusionOk="0">
                    <a:moveTo>
                      <a:pt x="114202" y="8810"/>
                    </a:moveTo>
                    <a:cubicBezTo>
                      <a:pt x="113958" y="8810"/>
                      <a:pt x="113722" y="8857"/>
                      <a:pt x="113508" y="8941"/>
                    </a:cubicBezTo>
                    <a:cubicBezTo>
                      <a:pt x="113469" y="8954"/>
                      <a:pt x="113430" y="8971"/>
                      <a:pt x="113400" y="8988"/>
                    </a:cubicBezTo>
                    <a:cubicBezTo>
                      <a:pt x="112989" y="9177"/>
                      <a:pt x="112667" y="9503"/>
                      <a:pt x="112474" y="9909"/>
                    </a:cubicBezTo>
                    <a:cubicBezTo>
                      <a:pt x="112448" y="9966"/>
                      <a:pt x="112422" y="10031"/>
                      <a:pt x="112400" y="10097"/>
                    </a:cubicBezTo>
                    <a:cubicBezTo>
                      <a:pt x="112334" y="10288"/>
                      <a:pt x="112300" y="10494"/>
                      <a:pt x="112300" y="10717"/>
                    </a:cubicBezTo>
                    <a:cubicBezTo>
                      <a:pt x="112300" y="10953"/>
                      <a:pt x="112343" y="11178"/>
                      <a:pt x="112422" y="11388"/>
                    </a:cubicBezTo>
                    <a:cubicBezTo>
                      <a:pt x="112439" y="11436"/>
                      <a:pt x="112457" y="11480"/>
                      <a:pt x="112480" y="11523"/>
                    </a:cubicBezTo>
                    <a:cubicBezTo>
                      <a:pt x="112667" y="11925"/>
                      <a:pt x="112990" y="12248"/>
                      <a:pt x="113391" y="12439"/>
                    </a:cubicBezTo>
                    <a:cubicBezTo>
                      <a:pt x="113439" y="12461"/>
                      <a:pt x="113490" y="12483"/>
                      <a:pt x="113539" y="12497"/>
                    </a:cubicBezTo>
                    <a:cubicBezTo>
                      <a:pt x="113744" y="12579"/>
                      <a:pt x="113971" y="12619"/>
                      <a:pt x="114202" y="12619"/>
                    </a:cubicBezTo>
                    <a:cubicBezTo>
                      <a:pt x="114415" y="12619"/>
                      <a:pt x="114625" y="12583"/>
                      <a:pt x="114813" y="12519"/>
                    </a:cubicBezTo>
                    <a:cubicBezTo>
                      <a:pt x="114882" y="12497"/>
                      <a:pt x="114949" y="12470"/>
                      <a:pt x="115005" y="12439"/>
                    </a:cubicBezTo>
                    <a:cubicBezTo>
                      <a:pt x="115415" y="12253"/>
                      <a:pt x="115742" y="11925"/>
                      <a:pt x="115929" y="11519"/>
                    </a:cubicBezTo>
                    <a:cubicBezTo>
                      <a:pt x="115947" y="11480"/>
                      <a:pt x="115965" y="11444"/>
                      <a:pt x="115978" y="11401"/>
                    </a:cubicBezTo>
                    <a:cubicBezTo>
                      <a:pt x="116065" y="11187"/>
                      <a:pt x="116109" y="10957"/>
                      <a:pt x="116109" y="10717"/>
                    </a:cubicBezTo>
                    <a:cubicBezTo>
                      <a:pt x="116109" y="10494"/>
                      <a:pt x="116069" y="10280"/>
                      <a:pt x="116000" y="10084"/>
                    </a:cubicBezTo>
                    <a:cubicBezTo>
                      <a:pt x="115978" y="10026"/>
                      <a:pt x="115961" y="9970"/>
                      <a:pt x="115935" y="9922"/>
                    </a:cubicBezTo>
                    <a:cubicBezTo>
                      <a:pt x="115742" y="9507"/>
                      <a:pt x="115410" y="9172"/>
                      <a:pt x="114996" y="8984"/>
                    </a:cubicBezTo>
                    <a:cubicBezTo>
                      <a:pt x="114949" y="8962"/>
                      <a:pt x="114895" y="8941"/>
                      <a:pt x="114844" y="8919"/>
                    </a:cubicBezTo>
                    <a:cubicBezTo>
                      <a:pt x="114647" y="8849"/>
                      <a:pt x="114430" y="8810"/>
                      <a:pt x="114202" y="8810"/>
                    </a:cubicBezTo>
                    <a:close/>
                    <a:moveTo>
                      <a:pt x="10951" y="9586"/>
                    </a:moveTo>
                    <a:cubicBezTo>
                      <a:pt x="10702" y="9586"/>
                      <a:pt x="10468" y="9630"/>
                      <a:pt x="10258" y="9717"/>
                    </a:cubicBezTo>
                    <a:cubicBezTo>
                      <a:pt x="10219" y="9730"/>
                      <a:pt x="10179" y="9748"/>
                      <a:pt x="10144" y="9765"/>
                    </a:cubicBezTo>
                    <a:cubicBezTo>
                      <a:pt x="9739" y="9953"/>
                      <a:pt x="9411" y="10280"/>
                      <a:pt x="9224" y="10685"/>
                    </a:cubicBezTo>
                    <a:cubicBezTo>
                      <a:pt x="9198" y="10743"/>
                      <a:pt x="9172" y="10807"/>
                      <a:pt x="9149" y="10869"/>
                    </a:cubicBezTo>
                    <a:cubicBezTo>
                      <a:pt x="9084" y="11060"/>
                      <a:pt x="9044" y="11270"/>
                      <a:pt x="9044" y="11489"/>
                    </a:cubicBezTo>
                    <a:cubicBezTo>
                      <a:pt x="9044" y="11729"/>
                      <a:pt x="9089" y="11955"/>
                      <a:pt x="9171" y="12165"/>
                    </a:cubicBezTo>
                    <a:cubicBezTo>
                      <a:pt x="9189" y="12208"/>
                      <a:pt x="9202" y="12257"/>
                      <a:pt x="9228" y="12300"/>
                    </a:cubicBezTo>
                    <a:cubicBezTo>
                      <a:pt x="9415" y="12701"/>
                      <a:pt x="9739" y="13025"/>
                      <a:pt x="10140" y="13212"/>
                    </a:cubicBezTo>
                    <a:cubicBezTo>
                      <a:pt x="10187" y="13238"/>
                      <a:pt x="10236" y="13255"/>
                      <a:pt x="10288" y="13273"/>
                    </a:cubicBezTo>
                    <a:cubicBezTo>
                      <a:pt x="10493" y="13355"/>
                      <a:pt x="10721" y="13396"/>
                      <a:pt x="10951" y="13396"/>
                    </a:cubicBezTo>
                    <a:cubicBezTo>
                      <a:pt x="11165" y="13396"/>
                      <a:pt x="11371" y="13355"/>
                      <a:pt x="11562" y="13295"/>
                    </a:cubicBezTo>
                    <a:cubicBezTo>
                      <a:pt x="11632" y="13269"/>
                      <a:pt x="11693" y="13246"/>
                      <a:pt x="11755" y="13216"/>
                    </a:cubicBezTo>
                    <a:cubicBezTo>
                      <a:pt x="12160" y="13029"/>
                      <a:pt x="12487" y="12701"/>
                      <a:pt x="12675" y="12296"/>
                    </a:cubicBezTo>
                    <a:cubicBezTo>
                      <a:pt x="12692" y="12257"/>
                      <a:pt x="12709" y="12221"/>
                      <a:pt x="12727" y="12178"/>
                    </a:cubicBezTo>
                    <a:cubicBezTo>
                      <a:pt x="12810" y="11963"/>
                      <a:pt x="12853" y="11732"/>
                      <a:pt x="12853" y="11489"/>
                    </a:cubicBezTo>
                    <a:cubicBezTo>
                      <a:pt x="12853" y="11266"/>
                      <a:pt x="12819" y="11056"/>
                      <a:pt x="12748" y="10856"/>
                    </a:cubicBezTo>
                    <a:cubicBezTo>
                      <a:pt x="12727" y="10803"/>
                      <a:pt x="12705" y="10747"/>
                      <a:pt x="12679" y="10694"/>
                    </a:cubicBezTo>
                    <a:cubicBezTo>
                      <a:pt x="12491" y="10280"/>
                      <a:pt x="12160" y="9949"/>
                      <a:pt x="11746" y="9760"/>
                    </a:cubicBezTo>
                    <a:cubicBezTo>
                      <a:pt x="11697" y="9735"/>
                      <a:pt x="11645" y="9717"/>
                      <a:pt x="11592" y="9696"/>
                    </a:cubicBezTo>
                    <a:cubicBezTo>
                      <a:pt x="11397" y="9625"/>
                      <a:pt x="11174" y="9586"/>
                      <a:pt x="10951" y="9586"/>
                    </a:cubicBezTo>
                    <a:close/>
                    <a:moveTo>
                      <a:pt x="113992" y="1685"/>
                    </a:moveTo>
                    <a:cubicBezTo>
                      <a:pt x="118988" y="1685"/>
                      <a:pt x="123055" y="5747"/>
                      <a:pt x="123055" y="10743"/>
                    </a:cubicBezTo>
                    <a:cubicBezTo>
                      <a:pt x="123055" y="15738"/>
                      <a:pt x="118988" y="19805"/>
                      <a:pt x="113992" y="19805"/>
                    </a:cubicBezTo>
                    <a:cubicBezTo>
                      <a:pt x="108997" y="19805"/>
                      <a:pt x="104936" y="15738"/>
                      <a:pt x="104936" y="10743"/>
                    </a:cubicBezTo>
                    <a:cubicBezTo>
                      <a:pt x="104936" y="5747"/>
                      <a:pt x="108997" y="1685"/>
                      <a:pt x="113992" y="1685"/>
                    </a:cubicBezTo>
                    <a:close/>
                    <a:moveTo>
                      <a:pt x="10742" y="2457"/>
                    </a:moveTo>
                    <a:cubicBezTo>
                      <a:pt x="15738" y="2457"/>
                      <a:pt x="19805" y="6524"/>
                      <a:pt x="19805" y="11519"/>
                    </a:cubicBezTo>
                    <a:cubicBezTo>
                      <a:pt x="19805" y="16515"/>
                      <a:pt x="15738" y="20580"/>
                      <a:pt x="10742" y="20580"/>
                    </a:cubicBezTo>
                    <a:cubicBezTo>
                      <a:pt x="5747" y="20580"/>
                      <a:pt x="1680" y="16515"/>
                      <a:pt x="1680" y="11519"/>
                    </a:cubicBezTo>
                    <a:cubicBezTo>
                      <a:pt x="1680" y="6524"/>
                      <a:pt x="5747" y="2457"/>
                      <a:pt x="10742" y="2457"/>
                    </a:cubicBezTo>
                    <a:close/>
                    <a:moveTo>
                      <a:pt x="113992" y="1"/>
                    </a:moveTo>
                    <a:cubicBezTo>
                      <a:pt x="108072" y="1"/>
                      <a:pt x="103250" y="4822"/>
                      <a:pt x="103252" y="10743"/>
                    </a:cubicBezTo>
                    <a:cubicBezTo>
                      <a:pt x="103252" y="16667"/>
                      <a:pt x="108072" y="21489"/>
                      <a:pt x="113992" y="21489"/>
                    </a:cubicBezTo>
                    <a:cubicBezTo>
                      <a:pt x="119918" y="21489"/>
                      <a:pt x="124739" y="16667"/>
                      <a:pt x="124739" y="10743"/>
                    </a:cubicBezTo>
                    <a:cubicBezTo>
                      <a:pt x="124739" y="4822"/>
                      <a:pt x="119918" y="1"/>
                      <a:pt x="113992" y="1"/>
                    </a:cubicBezTo>
                    <a:close/>
                    <a:moveTo>
                      <a:pt x="10742" y="777"/>
                    </a:moveTo>
                    <a:cubicBezTo>
                      <a:pt x="4816" y="777"/>
                      <a:pt x="0" y="5595"/>
                      <a:pt x="0" y="11519"/>
                    </a:cubicBezTo>
                    <a:cubicBezTo>
                      <a:pt x="0" y="17444"/>
                      <a:pt x="4818" y="22261"/>
                      <a:pt x="10742" y="22261"/>
                    </a:cubicBezTo>
                    <a:cubicBezTo>
                      <a:pt x="16667" y="22261"/>
                      <a:pt x="21484" y="17444"/>
                      <a:pt x="21484" y="11519"/>
                    </a:cubicBezTo>
                    <a:cubicBezTo>
                      <a:pt x="21484" y="5595"/>
                      <a:pt x="16667" y="777"/>
                      <a:pt x="10742" y="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5423;p74">
                <a:extLst>
                  <a:ext uri="{FF2B5EF4-FFF2-40B4-BE49-F238E27FC236}">
                    <a16:creationId xmlns:a16="http://schemas.microsoft.com/office/drawing/2014/main" id="{20C7B53B-C382-795C-40C7-1A2B516F603B}"/>
                  </a:ext>
                </a:extLst>
              </p:cNvPr>
              <p:cNvSpPr/>
              <p:nvPr/>
            </p:nvSpPr>
            <p:spPr>
              <a:xfrm>
                <a:off x="1895075" y="3067145"/>
                <a:ext cx="3410744" cy="568061"/>
              </a:xfrm>
              <a:custGeom>
                <a:avLst/>
                <a:gdLst/>
                <a:ahLst/>
                <a:cxnLst/>
                <a:rect l="l" t="t" r="r" b="b"/>
                <a:pathLst>
                  <a:path w="157850" h="26290" extrusionOk="0">
                    <a:moveTo>
                      <a:pt x="155355" y="2881"/>
                    </a:moveTo>
                    <a:cubicBezTo>
                      <a:pt x="155355" y="2881"/>
                      <a:pt x="156659" y="9704"/>
                      <a:pt x="154879" y="15912"/>
                    </a:cubicBezTo>
                    <a:cubicBezTo>
                      <a:pt x="154154" y="18439"/>
                      <a:pt x="152916" y="20865"/>
                      <a:pt x="150870" y="22684"/>
                    </a:cubicBezTo>
                    <a:cubicBezTo>
                      <a:pt x="151070" y="22606"/>
                      <a:pt x="157492" y="19932"/>
                      <a:pt x="157672" y="17697"/>
                    </a:cubicBezTo>
                    <a:cubicBezTo>
                      <a:pt x="157850" y="15429"/>
                      <a:pt x="156170" y="17199"/>
                      <a:pt x="156899" y="11798"/>
                    </a:cubicBezTo>
                    <a:cubicBezTo>
                      <a:pt x="157344" y="8478"/>
                      <a:pt x="156385" y="5076"/>
                      <a:pt x="155359" y="2881"/>
                    </a:cubicBezTo>
                    <a:close/>
                    <a:moveTo>
                      <a:pt x="32335" y="1"/>
                    </a:moveTo>
                    <a:cubicBezTo>
                      <a:pt x="13185" y="1"/>
                      <a:pt x="14547" y="21035"/>
                      <a:pt x="14547" y="21035"/>
                    </a:cubicBezTo>
                    <a:cubicBezTo>
                      <a:pt x="14547" y="21035"/>
                      <a:pt x="12813" y="23877"/>
                      <a:pt x="6552" y="23877"/>
                    </a:cubicBezTo>
                    <a:cubicBezTo>
                      <a:pt x="6500" y="23877"/>
                      <a:pt x="6449" y="23876"/>
                      <a:pt x="6397" y="23876"/>
                    </a:cubicBezTo>
                    <a:lnTo>
                      <a:pt x="6379" y="23876"/>
                    </a:lnTo>
                    <a:cubicBezTo>
                      <a:pt x="5882" y="23831"/>
                      <a:pt x="5401" y="23780"/>
                      <a:pt x="4953" y="23732"/>
                    </a:cubicBezTo>
                    <a:lnTo>
                      <a:pt x="4953" y="23728"/>
                    </a:lnTo>
                    <a:lnTo>
                      <a:pt x="1418" y="13975"/>
                    </a:lnTo>
                    <a:cubicBezTo>
                      <a:pt x="1418" y="13975"/>
                      <a:pt x="0" y="19556"/>
                      <a:pt x="581" y="22810"/>
                    </a:cubicBezTo>
                    <a:cubicBezTo>
                      <a:pt x="581" y="22810"/>
                      <a:pt x="995" y="23235"/>
                      <a:pt x="2295" y="23265"/>
                    </a:cubicBezTo>
                    <a:cubicBezTo>
                      <a:pt x="2295" y="23265"/>
                      <a:pt x="2810" y="25970"/>
                      <a:pt x="3657" y="26135"/>
                    </a:cubicBezTo>
                    <a:cubicBezTo>
                      <a:pt x="4364" y="26278"/>
                      <a:pt x="12988" y="26289"/>
                      <a:pt x="15863" y="26289"/>
                    </a:cubicBezTo>
                    <a:cubicBezTo>
                      <a:pt x="16443" y="26289"/>
                      <a:pt x="16789" y="26289"/>
                      <a:pt x="16789" y="26289"/>
                    </a:cubicBezTo>
                    <a:lnTo>
                      <a:pt x="16937" y="24412"/>
                    </a:lnTo>
                    <a:cubicBezTo>
                      <a:pt x="16937" y="24412"/>
                      <a:pt x="16497" y="20721"/>
                      <a:pt x="17186" y="16375"/>
                    </a:cubicBezTo>
                    <a:cubicBezTo>
                      <a:pt x="18177" y="10136"/>
                      <a:pt x="21497" y="2540"/>
                      <a:pt x="31795" y="2540"/>
                    </a:cubicBezTo>
                    <a:cubicBezTo>
                      <a:pt x="41885" y="2540"/>
                      <a:pt x="45437" y="9748"/>
                      <a:pt x="46632" y="15839"/>
                    </a:cubicBezTo>
                    <a:cubicBezTo>
                      <a:pt x="47509" y="20290"/>
                      <a:pt x="47129" y="24142"/>
                      <a:pt x="47129" y="24142"/>
                    </a:cubicBezTo>
                    <a:lnTo>
                      <a:pt x="119552" y="24142"/>
                    </a:lnTo>
                    <a:cubicBezTo>
                      <a:pt x="119552" y="24142"/>
                      <a:pt x="119172" y="18565"/>
                      <a:pt x="120987" y="13046"/>
                    </a:cubicBezTo>
                    <a:cubicBezTo>
                      <a:pt x="122772" y="7630"/>
                      <a:pt x="126666" y="2270"/>
                      <a:pt x="135112" y="2270"/>
                    </a:cubicBezTo>
                    <a:cubicBezTo>
                      <a:pt x="135129" y="2270"/>
                      <a:pt x="135146" y="2270"/>
                      <a:pt x="135163" y="2270"/>
                    </a:cubicBezTo>
                    <a:cubicBezTo>
                      <a:pt x="144425" y="2296"/>
                      <a:pt x="148260" y="8278"/>
                      <a:pt x="149827" y="13758"/>
                    </a:cubicBezTo>
                    <a:cubicBezTo>
                      <a:pt x="151162" y="18404"/>
                      <a:pt x="150866" y="22688"/>
                      <a:pt x="150866" y="22688"/>
                    </a:cubicBezTo>
                    <a:cubicBezTo>
                      <a:pt x="150866" y="22688"/>
                      <a:pt x="154552" y="558"/>
                      <a:pt x="135594" y="558"/>
                    </a:cubicBezTo>
                    <a:cubicBezTo>
                      <a:pt x="135237" y="558"/>
                      <a:pt x="134873" y="566"/>
                      <a:pt x="134500" y="582"/>
                    </a:cubicBezTo>
                    <a:cubicBezTo>
                      <a:pt x="121750" y="1127"/>
                      <a:pt x="119142" y="10376"/>
                      <a:pt x="118953" y="17122"/>
                    </a:cubicBezTo>
                    <a:lnTo>
                      <a:pt x="118940" y="17122"/>
                    </a:lnTo>
                    <a:cubicBezTo>
                      <a:pt x="118940" y="17122"/>
                      <a:pt x="117559" y="20904"/>
                      <a:pt x="115197" y="20996"/>
                    </a:cubicBezTo>
                    <a:cubicBezTo>
                      <a:pt x="114411" y="21026"/>
                      <a:pt x="106817" y="21037"/>
                      <a:pt x="97042" y="21037"/>
                    </a:cubicBezTo>
                    <a:cubicBezTo>
                      <a:pt x="77492" y="21037"/>
                      <a:pt x="49216" y="20996"/>
                      <a:pt x="49216" y="20996"/>
                    </a:cubicBezTo>
                    <a:cubicBezTo>
                      <a:pt x="49216" y="20996"/>
                      <a:pt x="49351" y="19760"/>
                      <a:pt x="49276" y="17890"/>
                    </a:cubicBezTo>
                    <a:cubicBezTo>
                      <a:pt x="49054" y="12043"/>
                      <a:pt x="46838" y="1"/>
                      <a:pt x="32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5424;p74">
                <a:extLst>
                  <a:ext uri="{FF2B5EF4-FFF2-40B4-BE49-F238E27FC236}">
                    <a16:creationId xmlns:a16="http://schemas.microsoft.com/office/drawing/2014/main" id="{8D4D39C6-685C-D072-8C1A-0A14C9D3067D}"/>
                  </a:ext>
                </a:extLst>
              </p:cNvPr>
              <p:cNvSpPr/>
              <p:nvPr/>
            </p:nvSpPr>
            <p:spPr>
              <a:xfrm>
                <a:off x="4242730" y="2819656"/>
                <a:ext cx="143258" cy="160198"/>
              </a:xfrm>
              <a:custGeom>
                <a:avLst/>
                <a:gdLst/>
                <a:ahLst/>
                <a:cxnLst/>
                <a:rect l="l" t="t" r="r" b="b"/>
                <a:pathLst>
                  <a:path w="6630" h="7414" extrusionOk="0">
                    <a:moveTo>
                      <a:pt x="3310" y="2916"/>
                    </a:moveTo>
                    <a:cubicBezTo>
                      <a:pt x="4081" y="2916"/>
                      <a:pt x="4704" y="3657"/>
                      <a:pt x="4704" y="4572"/>
                    </a:cubicBezTo>
                    <a:cubicBezTo>
                      <a:pt x="4705" y="5485"/>
                      <a:pt x="4081" y="6227"/>
                      <a:pt x="3310" y="6227"/>
                    </a:cubicBezTo>
                    <a:cubicBezTo>
                      <a:pt x="2541" y="6227"/>
                      <a:pt x="1917" y="5485"/>
                      <a:pt x="1917" y="4572"/>
                    </a:cubicBezTo>
                    <a:cubicBezTo>
                      <a:pt x="1917" y="3658"/>
                      <a:pt x="2541" y="2916"/>
                      <a:pt x="3310" y="2916"/>
                    </a:cubicBezTo>
                    <a:close/>
                    <a:moveTo>
                      <a:pt x="3310" y="1621"/>
                    </a:moveTo>
                    <a:cubicBezTo>
                      <a:pt x="1982" y="1621"/>
                      <a:pt x="905" y="2722"/>
                      <a:pt x="905" y="4081"/>
                    </a:cubicBezTo>
                    <a:cubicBezTo>
                      <a:pt x="905" y="5440"/>
                      <a:pt x="1982" y="6542"/>
                      <a:pt x="3310" y="6542"/>
                    </a:cubicBezTo>
                    <a:cubicBezTo>
                      <a:pt x="4641" y="6542"/>
                      <a:pt x="5718" y="5440"/>
                      <a:pt x="5718" y="4081"/>
                    </a:cubicBezTo>
                    <a:cubicBezTo>
                      <a:pt x="5718" y="2722"/>
                      <a:pt x="4641" y="1621"/>
                      <a:pt x="3310" y="1621"/>
                    </a:cubicBezTo>
                    <a:close/>
                    <a:moveTo>
                      <a:pt x="3315" y="434"/>
                    </a:moveTo>
                    <a:cubicBezTo>
                      <a:pt x="4928" y="434"/>
                      <a:pt x="6241" y="1903"/>
                      <a:pt x="6241" y="3707"/>
                    </a:cubicBezTo>
                    <a:cubicBezTo>
                      <a:pt x="6241" y="5511"/>
                      <a:pt x="4928" y="6979"/>
                      <a:pt x="3315" y="6979"/>
                    </a:cubicBezTo>
                    <a:cubicBezTo>
                      <a:pt x="1701" y="6979"/>
                      <a:pt x="388" y="5511"/>
                      <a:pt x="388" y="3707"/>
                    </a:cubicBezTo>
                    <a:cubicBezTo>
                      <a:pt x="388" y="1903"/>
                      <a:pt x="1701" y="434"/>
                      <a:pt x="3315" y="434"/>
                    </a:cubicBezTo>
                    <a:close/>
                    <a:moveTo>
                      <a:pt x="3315" y="0"/>
                    </a:moveTo>
                    <a:cubicBezTo>
                      <a:pt x="1487" y="0"/>
                      <a:pt x="0" y="1662"/>
                      <a:pt x="0" y="3707"/>
                    </a:cubicBezTo>
                    <a:cubicBezTo>
                      <a:pt x="0" y="5751"/>
                      <a:pt x="1487" y="7413"/>
                      <a:pt x="3315" y="7413"/>
                    </a:cubicBezTo>
                    <a:cubicBezTo>
                      <a:pt x="5142" y="7413"/>
                      <a:pt x="6629" y="5751"/>
                      <a:pt x="6629" y="3707"/>
                    </a:cubicBezTo>
                    <a:cubicBezTo>
                      <a:pt x="6629" y="1662"/>
                      <a:pt x="5142" y="0"/>
                      <a:pt x="33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5425;p74">
                <a:extLst>
                  <a:ext uri="{FF2B5EF4-FFF2-40B4-BE49-F238E27FC236}">
                    <a16:creationId xmlns:a16="http://schemas.microsoft.com/office/drawing/2014/main" id="{B67D6755-6F2E-5B66-8B56-29C1A4C78EE6}"/>
                  </a:ext>
                </a:extLst>
              </p:cNvPr>
              <p:cNvSpPr/>
              <p:nvPr/>
            </p:nvSpPr>
            <p:spPr>
              <a:xfrm>
                <a:off x="2282577" y="3148222"/>
                <a:ext cx="2841926" cy="627698"/>
              </a:xfrm>
              <a:custGeom>
                <a:avLst/>
                <a:gdLst/>
                <a:ahLst/>
                <a:cxnLst/>
                <a:rect l="l" t="t" r="r" b="b"/>
                <a:pathLst>
                  <a:path w="131525" h="29050" extrusionOk="0">
                    <a:moveTo>
                      <a:pt x="117387" y="3396"/>
                    </a:moveTo>
                    <a:cubicBezTo>
                      <a:pt x="123313" y="3396"/>
                      <a:pt x="128134" y="8217"/>
                      <a:pt x="128134" y="14138"/>
                    </a:cubicBezTo>
                    <a:cubicBezTo>
                      <a:pt x="128134" y="20062"/>
                      <a:pt x="123313" y="24884"/>
                      <a:pt x="117387" y="24884"/>
                    </a:cubicBezTo>
                    <a:cubicBezTo>
                      <a:pt x="111467" y="24884"/>
                      <a:pt x="106645" y="20062"/>
                      <a:pt x="106645" y="14138"/>
                    </a:cubicBezTo>
                    <a:cubicBezTo>
                      <a:pt x="106645" y="8217"/>
                      <a:pt x="111467" y="3396"/>
                      <a:pt x="117387" y="3396"/>
                    </a:cubicBezTo>
                    <a:close/>
                    <a:moveTo>
                      <a:pt x="14137" y="4172"/>
                    </a:moveTo>
                    <a:cubicBezTo>
                      <a:pt x="20062" y="4172"/>
                      <a:pt x="24879" y="8990"/>
                      <a:pt x="24879" y="14914"/>
                    </a:cubicBezTo>
                    <a:cubicBezTo>
                      <a:pt x="24879" y="20839"/>
                      <a:pt x="20062" y="25656"/>
                      <a:pt x="14137" y="25656"/>
                    </a:cubicBezTo>
                    <a:cubicBezTo>
                      <a:pt x="8213" y="25656"/>
                      <a:pt x="3395" y="20839"/>
                      <a:pt x="3395" y="14914"/>
                    </a:cubicBezTo>
                    <a:cubicBezTo>
                      <a:pt x="3395" y="8990"/>
                      <a:pt x="8213" y="4172"/>
                      <a:pt x="14137" y="4172"/>
                    </a:cubicBezTo>
                    <a:close/>
                    <a:moveTo>
                      <a:pt x="117387" y="1"/>
                    </a:moveTo>
                    <a:cubicBezTo>
                      <a:pt x="111167" y="1"/>
                      <a:pt x="105888" y="4020"/>
                      <a:pt x="103998" y="9604"/>
                    </a:cubicBezTo>
                    <a:cubicBezTo>
                      <a:pt x="103518" y="11026"/>
                      <a:pt x="103256" y="12549"/>
                      <a:pt x="103256" y="14138"/>
                    </a:cubicBezTo>
                    <a:cubicBezTo>
                      <a:pt x="103256" y="21943"/>
                      <a:pt x="109582" y="28273"/>
                      <a:pt x="117387" y="28273"/>
                    </a:cubicBezTo>
                    <a:cubicBezTo>
                      <a:pt x="125197" y="28273"/>
                      <a:pt x="131524" y="21943"/>
                      <a:pt x="131524" y="14138"/>
                    </a:cubicBezTo>
                    <a:cubicBezTo>
                      <a:pt x="131524" y="12793"/>
                      <a:pt x="131336" y="11497"/>
                      <a:pt x="130988" y="10268"/>
                    </a:cubicBezTo>
                    <a:cubicBezTo>
                      <a:pt x="129307" y="4342"/>
                      <a:pt x="123854" y="1"/>
                      <a:pt x="117387" y="1"/>
                    </a:cubicBezTo>
                    <a:close/>
                    <a:moveTo>
                      <a:pt x="14137" y="777"/>
                    </a:moveTo>
                    <a:cubicBezTo>
                      <a:pt x="7065" y="777"/>
                      <a:pt x="1201" y="5978"/>
                      <a:pt x="163" y="12759"/>
                    </a:cubicBezTo>
                    <a:cubicBezTo>
                      <a:pt x="58" y="13462"/>
                      <a:pt x="0" y="14181"/>
                      <a:pt x="0" y="14914"/>
                    </a:cubicBezTo>
                    <a:cubicBezTo>
                      <a:pt x="0" y="22720"/>
                      <a:pt x="6332" y="29050"/>
                      <a:pt x="14137" y="29050"/>
                    </a:cubicBezTo>
                    <a:cubicBezTo>
                      <a:pt x="21943" y="29050"/>
                      <a:pt x="28273" y="22720"/>
                      <a:pt x="28273" y="14914"/>
                    </a:cubicBezTo>
                    <a:cubicBezTo>
                      <a:pt x="28273" y="13994"/>
                      <a:pt x="28187" y="13091"/>
                      <a:pt x="28015" y="12218"/>
                    </a:cubicBezTo>
                    <a:cubicBezTo>
                      <a:pt x="26759" y="5704"/>
                      <a:pt x="21022" y="777"/>
                      <a:pt x="14137" y="777"/>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 name="Google Shape;5426;p74">
              <a:extLst>
                <a:ext uri="{FF2B5EF4-FFF2-40B4-BE49-F238E27FC236}">
                  <a16:creationId xmlns:a16="http://schemas.microsoft.com/office/drawing/2014/main" id="{4C64D0AC-68A5-04FB-9864-9B2071A4672D}"/>
                </a:ext>
              </a:extLst>
            </p:cNvPr>
            <p:cNvSpPr/>
            <p:nvPr/>
          </p:nvSpPr>
          <p:spPr>
            <a:xfrm>
              <a:off x="6168158" y="3390200"/>
              <a:ext cx="2478729" cy="17292"/>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8" name="Google Shape;5427;p74">
            <a:extLst>
              <a:ext uri="{FF2B5EF4-FFF2-40B4-BE49-F238E27FC236}">
                <a16:creationId xmlns:a16="http://schemas.microsoft.com/office/drawing/2014/main" id="{D69966CC-6732-91E2-C0CD-526799DB28C6}"/>
              </a:ext>
            </a:extLst>
          </p:cNvPr>
          <p:cNvGrpSpPr/>
          <p:nvPr/>
        </p:nvGrpSpPr>
        <p:grpSpPr>
          <a:xfrm>
            <a:off x="-208963" y="1725967"/>
            <a:ext cx="3001889" cy="1681500"/>
            <a:chOff x="-208963" y="1725967"/>
            <a:chExt cx="3001889" cy="1681500"/>
          </a:xfrm>
        </p:grpSpPr>
        <p:grpSp>
          <p:nvGrpSpPr>
            <p:cNvPr id="49" name="Google Shape;5428;p74">
              <a:extLst>
                <a:ext uri="{FF2B5EF4-FFF2-40B4-BE49-F238E27FC236}">
                  <a16:creationId xmlns:a16="http://schemas.microsoft.com/office/drawing/2014/main" id="{F02C0E48-BB7A-E266-8387-C3B36CC2B8EF}"/>
                </a:ext>
              </a:extLst>
            </p:cNvPr>
            <p:cNvGrpSpPr/>
            <p:nvPr/>
          </p:nvGrpSpPr>
          <p:grpSpPr>
            <a:xfrm flipH="1">
              <a:off x="-208963" y="1725967"/>
              <a:ext cx="3001889" cy="1681281"/>
              <a:chOff x="4076158" y="2230153"/>
              <a:chExt cx="4895448" cy="2913327"/>
            </a:xfrm>
          </p:grpSpPr>
          <p:sp>
            <p:nvSpPr>
              <p:cNvPr id="101" name="Google Shape;5429;p74">
                <a:extLst>
                  <a:ext uri="{FF2B5EF4-FFF2-40B4-BE49-F238E27FC236}">
                    <a16:creationId xmlns:a16="http://schemas.microsoft.com/office/drawing/2014/main" id="{90F512AB-E449-E4C3-802B-6B0595BDAB44}"/>
                  </a:ext>
                </a:extLst>
              </p:cNvPr>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5430;p74">
                <a:extLst>
                  <a:ext uri="{FF2B5EF4-FFF2-40B4-BE49-F238E27FC236}">
                    <a16:creationId xmlns:a16="http://schemas.microsoft.com/office/drawing/2014/main" id="{89AAE83B-A00C-6689-D84B-627CE877F240}"/>
                  </a:ext>
                </a:extLst>
              </p:cNvPr>
              <p:cNvSpPr/>
              <p:nvPr/>
            </p:nvSpPr>
            <p:spPr>
              <a:xfrm>
                <a:off x="4076158" y="2957760"/>
                <a:ext cx="4841117" cy="2185661"/>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0" name="Google Shape;5431;p74">
              <a:extLst>
                <a:ext uri="{FF2B5EF4-FFF2-40B4-BE49-F238E27FC236}">
                  <a16:creationId xmlns:a16="http://schemas.microsoft.com/office/drawing/2014/main" id="{51B128B1-2328-0443-0A88-E0E3A09498C9}"/>
                </a:ext>
              </a:extLst>
            </p:cNvPr>
            <p:cNvGrpSpPr/>
            <p:nvPr/>
          </p:nvGrpSpPr>
          <p:grpSpPr>
            <a:xfrm>
              <a:off x="314183" y="2246258"/>
              <a:ext cx="2478742" cy="1161209"/>
              <a:chOff x="713225" y="2253700"/>
              <a:chExt cx="5046298" cy="2364025"/>
            </a:xfrm>
          </p:grpSpPr>
          <p:sp>
            <p:nvSpPr>
              <p:cNvPr id="54" name="Google Shape;5432;p74">
                <a:extLst>
                  <a:ext uri="{FF2B5EF4-FFF2-40B4-BE49-F238E27FC236}">
                    <a16:creationId xmlns:a16="http://schemas.microsoft.com/office/drawing/2014/main" id="{860760C6-DCD2-6B36-DF90-606A597213FA}"/>
                  </a:ext>
                </a:extLst>
              </p:cNvPr>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433;p74">
                <a:extLst>
                  <a:ext uri="{FF2B5EF4-FFF2-40B4-BE49-F238E27FC236}">
                    <a16:creationId xmlns:a16="http://schemas.microsoft.com/office/drawing/2014/main" id="{922AE810-542B-383C-338F-A4490F696AFD}"/>
                  </a:ext>
                </a:extLst>
              </p:cNvPr>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434;p74">
                <a:extLst>
                  <a:ext uri="{FF2B5EF4-FFF2-40B4-BE49-F238E27FC236}">
                    <a16:creationId xmlns:a16="http://schemas.microsoft.com/office/drawing/2014/main" id="{36245B8B-A191-0052-1291-CDD2409B39B8}"/>
                  </a:ext>
                </a:extLst>
              </p:cNvPr>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435;p74">
                <a:extLst>
                  <a:ext uri="{FF2B5EF4-FFF2-40B4-BE49-F238E27FC236}">
                    <a16:creationId xmlns:a16="http://schemas.microsoft.com/office/drawing/2014/main" id="{C1C60E53-5472-1C01-FEA7-B4D7330E6D14}"/>
                  </a:ext>
                </a:extLst>
              </p:cNvPr>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436;p74">
                <a:extLst>
                  <a:ext uri="{FF2B5EF4-FFF2-40B4-BE49-F238E27FC236}">
                    <a16:creationId xmlns:a16="http://schemas.microsoft.com/office/drawing/2014/main" id="{13772AA2-EFC8-3A16-259F-890DCCC2D7E0}"/>
                  </a:ext>
                </a:extLst>
              </p:cNvPr>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437;p74">
                <a:extLst>
                  <a:ext uri="{FF2B5EF4-FFF2-40B4-BE49-F238E27FC236}">
                    <a16:creationId xmlns:a16="http://schemas.microsoft.com/office/drawing/2014/main" id="{142D1807-A471-E4D1-B622-9F960E829185}"/>
                  </a:ext>
                </a:extLst>
              </p:cNvPr>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5438;p74">
                <a:extLst>
                  <a:ext uri="{FF2B5EF4-FFF2-40B4-BE49-F238E27FC236}">
                    <a16:creationId xmlns:a16="http://schemas.microsoft.com/office/drawing/2014/main" id="{A177B12F-958C-E447-E5AE-D3799401CBD0}"/>
                  </a:ext>
                </a:extLst>
              </p:cNvPr>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5439;p74">
                <a:extLst>
                  <a:ext uri="{FF2B5EF4-FFF2-40B4-BE49-F238E27FC236}">
                    <a16:creationId xmlns:a16="http://schemas.microsoft.com/office/drawing/2014/main" id="{F4735F0E-C015-A703-FB45-46A3712EFC82}"/>
                  </a:ext>
                </a:extLst>
              </p:cNvPr>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5440;p74">
                <a:extLst>
                  <a:ext uri="{FF2B5EF4-FFF2-40B4-BE49-F238E27FC236}">
                    <a16:creationId xmlns:a16="http://schemas.microsoft.com/office/drawing/2014/main" id="{14344595-BC97-A270-228F-18D1C2251605}"/>
                  </a:ext>
                </a:extLst>
              </p:cNvPr>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5441;p74">
                <a:extLst>
                  <a:ext uri="{FF2B5EF4-FFF2-40B4-BE49-F238E27FC236}">
                    <a16:creationId xmlns:a16="http://schemas.microsoft.com/office/drawing/2014/main" id="{E6E2AC5E-E508-54FB-586D-143B6EEF288F}"/>
                  </a:ext>
                </a:extLst>
              </p:cNvPr>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5442;p74">
                <a:extLst>
                  <a:ext uri="{FF2B5EF4-FFF2-40B4-BE49-F238E27FC236}">
                    <a16:creationId xmlns:a16="http://schemas.microsoft.com/office/drawing/2014/main" id="{4CB1BAFE-DDEA-A658-BCAE-00FFC1766D1E}"/>
                  </a:ext>
                </a:extLst>
              </p:cNvPr>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5443;p74">
                <a:extLst>
                  <a:ext uri="{FF2B5EF4-FFF2-40B4-BE49-F238E27FC236}">
                    <a16:creationId xmlns:a16="http://schemas.microsoft.com/office/drawing/2014/main" id="{7B1583EB-99AD-DF24-3F08-489BEDEE0479}"/>
                  </a:ext>
                </a:extLst>
              </p:cNvPr>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5444;p74">
                <a:extLst>
                  <a:ext uri="{FF2B5EF4-FFF2-40B4-BE49-F238E27FC236}">
                    <a16:creationId xmlns:a16="http://schemas.microsoft.com/office/drawing/2014/main" id="{FFE49C18-4F71-DB4D-EF70-436370DE9591}"/>
                  </a:ext>
                </a:extLst>
              </p:cNvPr>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5445;p74">
                <a:extLst>
                  <a:ext uri="{FF2B5EF4-FFF2-40B4-BE49-F238E27FC236}">
                    <a16:creationId xmlns:a16="http://schemas.microsoft.com/office/drawing/2014/main" id="{B54F8632-153B-C067-AC0A-1F47E50F507F}"/>
                  </a:ext>
                </a:extLst>
              </p:cNvPr>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5446;p74">
                <a:extLst>
                  <a:ext uri="{FF2B5EF4-FFF2-40B4-BE49-F238E27FC236}">
                    <a16:creationId xmlns:a16="http://schemas.microsoft.com/office/drawing/2014/main" id="{C0864193-E2AD-3B0D-7106-EE4858B49FA0}"/>
                  </a:ext>
                </a:extLst>
              </p:cNvPr>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5447;p74">
                <a:extLst>
                  <a:ext uri="{FF2B5EF4-FFF2-40B4-BE49-F238E27FC236}">
                    <a16:creationId xmlns:a16="http://schemas.microsoft.com/office/drawing/2014/main" id="{4466400B-1426-A306-B469-5F86A9623364}"/>
                  </a:ext>
                </a:extLst>
              </p:cNvPr>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5448;p74">
                <a:extLst>
                  <a:ext uri="{FF2B5EF4-FFF2-40B4-BE49-F238E27FC236}">
                    <a16:creationId xmlns:a16="http://schemas.microsoft.com/office/drawing/2014/main" id="{D370C4A9-D712-8687-A86E-77A83E0CEB15}"/>
                  </a:ext>
                </a:extLst>
              </p:cNvPr>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5449;p74">
                <a:extLst>
                  <a:ext uri="{FF2B5EF4-FFF2-40B4-BE49-F238E27FC236}">
                    <a16:creationId xmlns:a16="http://schemas.microsoft.com/office/drawing/2014/main" id="{73CD1F86-0996-04C4-8C98-39C26C942BF0}"/>
                  </a:ext>
                </a:extLst>
              </p:cNvPr>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5450;p74">
                <a:extLst>
                  <a:ext uri="{FF2B5EF4-FFF2-40B4-BE49-F238E27FC236}">
                    <a16:creationId xmlns:a16="http://schemas.microsoft.com/office/drawing/2014/main" id="{5BE453D4-798D-191A-A805-A915E61F2217}"/>
                  </a:ext>
                </a:extLst>
              </p:cNvPr>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5451;p74">
                <a:extLst>
                  <a:ext uri="{FF2B5EF4-FFF2-40B4-BE49-F238E27FC236}">
                    <a16:creationId xmlns:a16="http://schemas.microsoft.com/office/drawing/2014/main" id="{C719DC78-BE63-E3AD-8280-0EA7F97FB6DC}"/>
                  </a:ext>
                </a:extLst>
              </p:cNvPr>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5452;p74">
                <a:extLst>
                  <a:ext uri="{FF2B5EF4-FFF2-40B4-BE49-F238E27FC236}">
                    <a16:creationId xmlns:a16="http://schemas.microsoft.com/office/drawing/2014/main" id="{A1900ACF-CE2C-DB6A-1960-E1FE908AE168}"/>
                  </a:ext>
                </a:extLst>
              </p:cNvPr>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5453;p74">
                <a:extLst>
                  <a:ext uri="{FF2B5EF4-FFF2-40B4-BE49-F238E27FC236}">
                    <a16:creationId xmlns:a16="http://schemas.microsoft.com/office/drawing/2014/main" id="{43442821-92F6-17FA-9023-ED7B854BEBB2}"/>
                  </a:ext>
                </a:extLst>
              </p:cNvPr>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5454;p74">
                <a:extLst>
                  <a:ext uri="{FF2B5EF4-FFF2-40B4-BE49-F238E27FC236}">
                    <a16:creationId xmlns:a16="http://schemas.microsoft.com/office/drawing/2014/main" id="{CE348EDA-A6A5-51EA-C624-29E3A07C91E7}"/>
                  </a:ext>
                </a:extLst>
              </p:cNvPr>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5455;p74">
                <a:extLst>
                  <a:ext uri="{FF2B5EF4-FFF2-40B4-BE49-F238E27FC236}">
                    <a16:creationId xmlns:a16="http://schemas.microsoft.com/office/drawing/2014/main" id="{052532E4-67FC-DEC9-20F5-4AB443B27FC7}"/>
                  </a:ext>
                </a:extLst>
              </p:cNvPr>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5456;p74">
                <a:extLst>
                  <a:ext uri="{FF2B5EF4-FFF2-40B4-BE49-F238E27FC236}">
                    <a16:creationId xmlns:a16="http://schemas.microsoft.com/office/drawing/2014/main" id="{994A92C8-A877-3E25-75FF-8FDD02EF146F}"/>
                  </a:ext>
                </a:extLst>
              </p:cNvPr>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5457;p74">
                <a:extLst>
                  <a:ext uri="{FF2B5EF4-FFF2-40B4-BE49-F238E27FC236}">
                    <a16:creationId xmlns:a16="http://schemas.microsoft.com/office/drawing/2014/main" id="{6B0086F7-4730-5EB1-AC13-F1117F1567C6}"/>
                  </a:ext>
                </a:extLst>
              </p:cNvPr>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5458;p74">
                <a:extLst>
                  <a:ext uri="{FF2B5EF4-FFF2-40B4-BE49-F238E27FC236}">
                    <a16:creationId xmlns:a16="http://schemas.microsoft.com/office/drawing/2014/main" id="{3A46A9BC-C0AA-EBE2-C7FD-2FDDAE1AB604}"/>
                  </a:ext>
                </a:extLst>
              </p:cNvPr>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5459;p74">
                <a:extLst>
                  <a:ext uri="{FF2B5EF4-FFF2-40B4-BE49-F238E27FC236}">
                    <a16:creationId xmlns:a16="http://schemas.microsoft.com/office/drawing/2014/main" id="{BB4498A0-26F6-D0B9-6629-BE3C1FF1D948}"/>
                  </a:ext>
                </a:extLst>
              </p:cNvPr>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5460;p74">
                <a:extLst>
                  <a:ext uri="{FF2B5EF4-FFF2-40B4-BE49-F238E27FC236}">
                    <a16:creationId xmlns:a16="http://schemas.microsoft.com/office/drawing/2014/main" id="{8D12F53E-2366-2DAE-268C-A315153FC125}"/>
                  </a:ext>
                </a:extLst>
              </p:cNvPr>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5461;p74">
                <a:extLst>
                  <a:ext uri="{FF2B5EF4-FFF2-40B4-BE49-F238E27FC236}">
                    <a16:creationId xmlns:a16="http://schemas.microsoft.com/office/drawing/2014/main" id="{8B90FF62-875C-A545-1A0C-6481162AAE61}"/>
                  </a:ext>
                </a:extLst>
              </p:cNvPr>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5462;p74">
                <a:extLst>
                  <a:ext uri="{FF2B5EF4-FFF2-40B4-BE49-F238E27FC236}">
                    <a16:creationId xmlns:a16="http://schemas.microsoft.com/office/drawing/2014/main" id="{D6692F26-6293-820D-7C5C-EA1F1E77D866}"/>
                  </a:ext>
                </a:extLst>
              </p:cNvPr>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5463;p74">
                <a:extLst>
                  <a:ext uri="{FF2B5EF4-FFF2-40B4-BE49-F238E27FC236}">
                    <a16:creationId xmlns:a16="http://schemas.microsoft.com/office/drawing/2014/main" id="{D41CC2DF-FB50-8E89-5C8A-F2C45050DCEF}"/>
                  </a:ext>
                </a:extLst>
              </p:cNvPr>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5464;p74">
                <a:extLst>
                  <a:ext uri="{FF2B5EF4-FFF2-40B4-BE49-F238E27FC236}">
                    <a16:creationId xmlns:a16="http://schemas.microsoft.com/office/drawing/2014/main" id="{8AD77A92-F36E-886B-6EED-18EE03E3C914}"/>
                  </a:ext>
                </a:extLst>
              </p:cNvPr>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5465;p74">
                <a:extLst>
                  <a:ext uri="{FF2B5EF4-FFF2-40B4-BE49-F238E27FC236}">
                    <a16:creationId xmlns:a16="http://schemas.microsoft.com/office/drawing/2014/main" id="{08594C44-D34B-14DE-7630-6AC0E6F6778C}"/>
                  </a:ext>
                </a:extLst>
              </p:cNvPr>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5466;p74">
                <a:extLst>
                  <a:ext uri="{FF2B5EF4-FFF2-40B4-BE49-F238E27FC236}">
                    <a16:creationId xmlns:a16="http://schemas.microsoft.com/office/drawing/2014/main" id="{A0E70238-DD67-A9FB-11D6-F2C1399AB24F}"/>
                  </a:ext>
                </a:extLst>
              </p:cNvPr>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5467;p74">
                <a:extLst>
                  <a:ext uri="{FF2B5EF4-FFF2-40B4-BE49-F238E27FC236}">
                    <a16:creationId xmlns:a16="http://schemas.microsoft.com/office/drawing/2014/main" id="{758B535E-036D-E6BB-F65E-7734D247447A}"/>
                  </a:ext>
                </a:extLst>
              </p:cNvPr>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5468;p74">
                <a:extLst>
                  <a:ext uri="{FF2B5EF4-FFF2-40B4-BE49-F238E27FC236}">
                    <a16:creationId xmlns:a16="http://schemas.microsoft.com/office/drawing/2014/main" id="{C89C5BFA-D0C4-89D5-61A0-FC1CFDDE1FBD}"/>
                  </a:ext>
                </a:extLst>
              </p:cNvPr>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5469;p74">
                <a:extLst>
                  <a:ext uri="{FF2B5EF4-FFF2-40B4-BE49-F238E27FC236}">
                    <a16:creationId xmlns:a16="http://schemas.microsoft.com/office/drawing/2014/main" id="{21552455-0DF9-A32E-9FCB-C568DD1FE521}"/>
                  </a:ext>
                </a:extLst>
              </p:cNvPr>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5470;p74">
                <a:extLst>
                  <a:ext uri="{FF2B5EF4-FFF2-40B4-BE49-F238E27FC236}">
                    <a16:creationId xmlns:a16="http://schemas.microsoft.com/office/drawing/2014/main" id="{5630EAC3-D52C-40D7-1945-91683B5F8141}"/>
                  </a:ext>
                </a:extLst>
              </p:cNvPr>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5471;p74">
                <a:extLst>
                  <a:ext uri="{FF2B5EF4-FFF2-40B4-BE49-F238E27FC236}">
                    <a16:creationId xmlns:a16="http://schemas.microsoft.com/office/drawing/2014/main" id="{914FDF46-A932-98EF-304A-934596E23FC2}"/>
                  </a:ext>
                </a:extLst>
              </p:cNvPr>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5472;p74">
                <a:extLst>
                  <a:ext uri="{FF2B5EF4-FFF2-40B4-BE49-F238E27FC236}">
                    <a16:creationId xmlns:a16="http://schemas.microsoft.com/office/drawing/2014/main" id="{77C61CBB-7FC7-832A-0D93-5A3849D18B2C}"/>
                  </a:ext>
                </a:extLst>
              </p:cNvPr>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5473;p74">
                <a:extLst>
                  <a:ext uri="{FF2B5EF4-FFF2-40B4-BE49-F238E27FC236}">
                    <a16:creationId xmlns:a16="http://schemas.microsoft.com/office/drawing/2014/main" id="{BE5F5587-984D-155A-EC66-D86034F4B1A8}"/>
                  </a:ext>
                </a:extLst>
              </p:cNvPr>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5474;p74">
                <a:extLst>
                  <a:ext uri="{FF2B5EF4-FFF2-40B4-BE49-F238E27FC236}">
                    <a16:creationId xmlns:a16="http://schemas.microsoft.com/office/drawing/2014/main" id="{1870ECBA-F33D-0CE5-B5FA-0CCA6A20DCAB}"/>
                  </a:ext>
                </a:extLst>
              </p:cNvPr>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5475;p74">
                <a:extLst>
                  <a:ext uri="{FF2B5EF4-FFF2-40B4-BE49-F238E27FC236}">
                    <a16:creationId xmlns:a16="http://schemas.microsoft.com/office/drawing/2014/main" id="{E75EA0B5-1F07-D9CD-5684-22B563AB430C}"/>
                  </a:ext>
                </a:extLst>
              </p:cNvPr>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5476;p74">
                <a:extLst>
                  <a:ext uri="{FF2B5EF4-FFF2-40B4-BE49-F238E27FC236}">
                    <a16:creationId xmlns:a16="http://schemas.microsoft.com/office/drawing/2014/main" id="{41EE9D57-E90B-46DD-DE97-51489AF14C35}"/>
                  </a:ext>
                </a:extLst>
              </p:cNvPr>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5477;p74">
                <a:extLst>
                  <a:ext uri="{FF2B5EF4-FFF2-40B4-BE49-F238E27FC236}">
                    <a16:creationId xmlns:a16="http://schemas.microsoft.com/office/drawing/2014/main" id="{88BCB2F7-EABC-D297-A419-85B46FBDD2AB}"/>
                  </a:ext>
                </a:extLst>
              </p:cNvPr>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5478;p74">
                <a:extLst>
                  <a:ext uri="{FF2B5EF4-FFF2-40B4-BE49-F238E27FC236}">
                    <a16:creationId xmlns:a16="http://schemas.microsoft.com/office/drawing/2014/main" id="{93C87BD9-56CF-B30E-CA3C-3ADB5FB1F4A7}"/>
                  </a:ext>
                </a:extLst>
              </p:cNvPr>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 name="Google Shape;5479;p74">
              <a:extLst>
                <a:ext uri="{FF2B5EF4-FFF2-40B4-BE49-F238E27FC236}">
                  <a16:creationId xmlns:a16="http://schemas.microsoft.com/office/drawing/2014/main" id="{59F2C0E0-D5E4-4D28-AF43-D7DFF1A863FA}"/>
                </a:ext>
              </a:extLst>
            </p:cNvPr>
            <p:cNvSpPr/>
            <p:nvPr/>
          </p:nvSpPr>
          <p:spPr>
            <a:xfrm>
              <a:off x="934607" y="2046599"/>
              <a:ext cx="316673" cy="40320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5480;p74">
              <a:extLst>
                <a:ext uri="{FF2B5EF4-FFF2-40B4-BE49-F238E27FC236}">
                  <a16:creationId xmlns:a16="http://schemas.microsoft.com/office/drawing/2014/main" id="{77B2FE9D-F086-5EA4-BAB2-6E1C995B094F}"/>
                </a:ext>
              </a:extLst>
            </p:cNvPr>
            <p:cNvSpPr/>
            <p:nvPr/>
          </p:nvSpPr>
          <p:spPr>
            <a:xfrm>
              <a:off x="1307274" y="2252225"/>
              <a:ext cx="209161" cy="2663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5481;p74">
              <a:extLst>
                <a:ext uri="{FF2B5EF4-FFF2-40B4-BE49-F238E27FC236}">
                  <a16:creationId xmlns:a16="http://schemas.microsoft.com/office/drawing/2014/main" id="{A13B6CE0-9123-329F-EF48-B9BC3D68F985}"/>
                </a:ext>
              </a:extLst>
            </p:cNvPr>
            <p:cNvSpPr/>
            <p:nvPr/>
          </p:nvSpPr>
          <p:spPr>
            <a:xfrm flipH="1">
              <a:off x="1717478" y="2127449"/>
              <a:ext cx="253134" cy="32235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3" name="Google Shape;5482;p74">
            <a:extLst>
              <a:ext uri="{FF2B5EF4-FFF2-40B4-BE49-F238E27FC236}">
                <a16:creationId xmlns:a16="http://schemas.microsoft.com/office/drawing/2014/main" id="{87DA5A36-1888-EFAB-42F6-4FC7924B2AC4}"/>
              </a:ext>
            </a:extLst>
          </p:cNvPr>
          <p:cNvSpPr/>
          <p:nvPr/>
        </p:nvSpPr>
        <p:spPr>
          <a:xfrm>
            <a:off x="7123887" y="1149500"/>
            <a:ext cx="1328546" cy="31485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5483;p74">
            <a:extLst>
              <a:ext uri="{FF2B5EF4-FFF2-40B4-BE49-F238E27FC236}">
                <a16:creationId xmlns:a16="http://schemas.microsoft.com/office/drawing/2014/main" id="{D58823CF-1428-751C-A285-6CA03B793F5E}"/>
              </a:ext>
            </a:extLst>
          </p:cNvPr>
          <p:cNvSpPr/>
          <p:nvPr/>
        </p:nvSpPr>
        <p:spPr>
          <a:xfrm>
            <a:off x="1016402" y="1318688"/>
            <a:ext cx="1003712" cy="23787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156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orld EV (Electric Vehicles) Day by Slidesgo">
  <a:themeElements>
    <a:clrScheme name="Simple Light">
      <a:dk1>
        <a:srgbClr val="3F5A42"/>
      </a:dk1>
      <a:lt1>
        <a:srgbClr val="1B667A"/>
      </a:lt1>
      <a:dk2>
        <a:srgbClr val="FD7964"/>
      </a:dk2>
      <a:lt2>
        <a:srgbClr val="718A1D"/>
      </a:lt2>
      <a:accent1>
        <a:srgbClr val="CCCA69"/>
      </a:accent1>
      <a:accent2>
        <a:srgbClr val="F8D304"/>
      </a:accent2>
      <a:accent3>
        <a:srgbClr val="9DA6EC"/>
      </a:accent3>
      <a:accent4>
        <a:srgbClr val="D2D6FF"/>
      </a:accent4>
      <a:accent5>
        <a:srgbClr val="E8EBE5"/>
      </a:accent5>
      <a:accent6>
        <a:srgbClr val="FFFFFF"/>
      </a:accent6>
      <a:hlink>
        <a:srgbClr val="34364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3758</TotalTime>
  <Words>4919</Words>
  <Application>Microsoft Office PowerPoint</Application>
  <PresentationFormat>On-screen Show (16:9)</PresentationFormat>
  <Paragraphs>402</Paragraphs>
  <Slides>54</Slides>
  <Notes>15</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54</vt:i4>
      </vt:variant>
    </vt:vector>
  </HeadingPairs>
  <TitlesOfParts>
    <vt:vector size="71" baseType="lpstr">
      <vt:lpstr>Arial</vt:lpstr>
      <vt:lpstr>Calibri</vt:lpstr>
      <vt:lpstr>Cambria Math</vt:lpstr>
      <vt:lpstr>Fira Sans</vt:lpstr>
      <vt:lpstr>Merriweather</vt:lpstr>
      <vt:lpstr>Montserrat</vt:lpstr>
      <vt:lpstr>Montserrat ExtraBold</vt:lpstr>
      <vt:lpstr>Nanum Gothic</vt:lpstr>
      <vt:lpstr>Nunito</vt:lpstr>
      <vt:lpstr>Nunito Medium</vt:lpstr>
      <vt:lpstr>Pangolin</vt:lpstr>
      <vt:lpstr>Poppins</vt:lpstr>
      <vt:lpstr>Roboto</vt:lpstr>
      <vt:lpstr>SF Pro Text</vt:lpstr>
      <vt:lpstr>Times New Roman</vt:lpstr>
      <vt:lpstr>Wingdings</vt:lpstr>
      <vt:lpstr>World EV (Electric Vehicles) Day by Slidesgo</vt:lpstr>
      <vt:lpstr>Major Project Design and Performance Analysis of Electric Motor Drive System for a six seater Electric Vehicle</vt:lpstr>
      <vt:lpstr>TABLE OF CONTENT</vt:lpstr>
      <vt:lpstr>Abstract</vt:lpstr>
      <vt:lpstr>Introduction</vt:lpstr>
      <vt:lpstr>Introduction</vt:lpstr>
      <vt:lpstr>PowerPoint Presentation</vt:lpstr>
      <vt:lpstr>02</vt:lpstr>
      <vt:lpstr>Research Breakdown</vt:lpstr>
      <vt:lpstr>PowerPoint Presentation</vt:lpstr>
      <vt:lpstr>PowerPoint Presentation</vt:lpstr>
      <vt:lpstr>PowerPoint Presentation</vt:lpstr>
      <vt:lpstr>Electric Vehicle Technology  </vt:lpstr>
      <vt:lpstr>Electric Motor Drive System    </vt:lpstr>
      <vt:lpstr>PowerPoint Presentation</vt:lpstr>
      <vt:lpstr>Motor Control Algorithms, Regenerative Braking and Vehicle Dynamics    </vt:lpstr>
      <vt:lpstr>Battery Technology for EVs     </vt:lpstr>
      <vt:lpstr>PowerPoint Presentation</vt:lpstr>
      <vt:lpstr>03</vt:lpstr>
      <vt:lpstr>PowerPoint Presentation</vt:lpstr>
      <vt:lpstr>PowerPoint Presentation</vt:lpstr>
      <vt:lpstr>PowerPoint Presentation</vt:lpstr>
      <vt:lpstr>Research Gaps and Objectives</vt:lpstr>
      <vt:lpstr>PowerPoint Presentation</vt:lpstr>
      <vt:lpstr>Design Development</vt:lpstr>
      <vt:lpstr>05</vt:lpstr>
      <vt:lpstr>Motor Drives of Golf Cart </vt:lpstr>
      <vt:lpstr>General specification of Golf Cart </vt:lpstr>
      <vt:lpstr>PowerPoint Presentation</vt:lpstr>
      <vt:lpstr>PowerPoint Presentation</vt:lpstr>
      <vt:lpstr>Components &amp; specifications of transmission </vt:lpstr>
      <vt:lpstr>Motor</vt:lpstr>
      <vt:lpstr>PowerPoint Presentation</vt:lpstr>
      <vt:lpstr>Classification of Motor</vt:lpstr>
      <vt:lpstr>PowerPoint Presentation</vt:lpstr>
      <vt:lpstr>PowerPoint Presentation</vt:lpstr>
      <vt:lpstr>Calculation of Rated Power</vt:lpstr>
      <vt:lpstr>Calculation of Rated Power</vt:lpstr>
      <vt:lpstr>Calculation of Rated Current</vt:lpstr>
      <vt:lpstr>Why 48 Volts Motor? </vt:lpstr>
      <vt:lpstr>Why 48 Volts Motor? </vt:lpstr>
      <vt:lpstr>Calculation of Maximum Speed</vt:lpstr>
      <vt:lpstr>Calculation of Torque Generated</vt:lpstr>
      <vt:lpstr>Golf Cart Controller</vt:lpstr>
      <vt:lpstr>The Curtis Model 1226BL</vt:lpstr>
      <vt:lpstr>The Weber Drivetrain’s Controller </vt:lpstr>
      <vt:lpstr>Some Other Controllers </vt:lpstr>
      <vt:lpstr>06</vt:lpstr>
      <vt:lpstr>Conclusion</vt:lpstr>
      <vt:lpstr>Conclusion</vt:lpstr>
      <vt:lpstr>Conclusion</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Electric drive of EV</dc:title>
  <dc:creator>Rohan Agrawal</dc:creator>
  <cp:lastModifiedBy>Anshul Yadav</cp:lastModifiedBy>
  <cp:revision>85</cp:revision>
  <dcterms:modified xsi:type="dcterms:W3CDTF">2026-03-08T14:22:52Z</dcterms:modified>
  <cp:version>2.1</cp:version>
</cp:coreProperties>
</file>